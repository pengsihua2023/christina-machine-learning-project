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8FB99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12505F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0020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8FB9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家禽队列 · SVM-RBF 建模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148840"/>
            <a:ext cx="10332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火鸡单独，还是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火鸡与鸡合并？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397764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E9FA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PRJNA644054（火鸡 45）与 PRJNA379944（鸡 6）的对照分析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914400" y="4617720"/>
            <a:ext cx="3291840" cy="36576"/>
          </a:xfrm>
          <a:prstGeom prst="rect">
            <a:avLst/>
          </a:prstGeom>
          <a:solidFill>
            <a:srgbClr val="8FB996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8006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B9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结论：合并使五项指标全部下降；但火鸡队列内部的笼效应与感染效应同量级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614476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佐治亚大学 · 公共卫生学院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0" y="6144768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E9FA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summary_Chicken_51_sample.md ｜ summary_Turkey_45_sample.md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8707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870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执行摘要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核心结论一览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430000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870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0.930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204825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火鸡单独 n=45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234086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AUC，本队列最优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91840" y="137160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26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0.895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291840" y="204825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合并 n=51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291840" y="234086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AUC，反而更低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035040" y="137160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26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−0.035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035040" y="204825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合并的代价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035040" y="234086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五项指标全部下降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78240" y="137160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FB9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p=0.0050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778240" y="204825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置换检验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778240" y="234086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信号真实，但余量有限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26700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这一页刻意不把 AUC 放在最大号：n=51 时纯噪声的置换零分布最高可达 0.798，任何单一分数都必须与它并读。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090672"/>
            <a:ext cx="5486400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3090672"/>
            <a:ext cx="68580" cy="1572768"/>
          </a:xfrm>
          <a:prstGeom prst="rect">
            <a:avLst/>
          </a:prstGeom>
          <a:solidFill>
            <a:srgbClr val="18707F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3236976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我们做了什么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04672" y="3621024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对火鸡队列 PRJNA644054（n=45）单独建模，再与并入鸡队列 PRJNA379944（n=6）后的 51 样本队列对照。两者用完全相同的无泄漏流程：原始计数 + PrevalenceCLR 折内拟合，嵌套 CV（外层 5×10，内层 4 折）。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09360" y="3090672"/>
            <a:ext cx="5303520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09360" y="3090672"/>
            <a:ext cx="68580" cy="1572768"/>
          </a:xfrm>
          <a:prstGeom prst="rect">
            <a:avLst/>
          </a:prstGeom>
          <a:solidFill>
            <a:srgbClr val="8FB996"/>
          </a:solidFill>
          <a:ln/>
        </p:spPr>
      </p:sp>
      <p:sp>
        <p:nvSpPr>
          <p:cNvPr id="25" name="Text 23"/>
          <p:cNvSpPr/>
          <p:nvPr/>
        </p:nvSpPr>
        <p:spPr>
          <a:xfrm>
            <a:off x="6565392" y="3236976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两个结论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565392" y="3621024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（1）合并没有带来任何收益，6 个鸡样本对模型是纯噪声。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（2）但火鸡队列单独也不能直接解读：隔离器与感染状态完全共线，纯笼效应平均 AUC 0.908，与感染效应 0.967 同量级。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4800600"/>
            <a:ext cx="11064240" cy="1051560"/>
          </a:xfrm>
          <a:prstGeom prst="rect">
            <a:avLst/>
          </a:prstGeom>
          <a:solidFill>
            <a:srgbClr val="FBEDE7"/>
          </a:solidFill>
          <a:ln/>
        </p:spPr>
      </p:sp>
      <p:sp>
        <p:nvSpPr>
          <p:cNvPr id="28" name="Shape 26"/>
          <p:cNvSpPr/>
          <p:nvPr/>
        </p:nvSpPr>
        <p:spPr>
          <a:xfrm>
            <a:off x="548640" y="4800600"/>
            <a:ext cx="68580" cy="1051560"/>
          </a:xfrm>
          <a:prstGeom prst="rect">
            <a:avLst/>
          </a:prstGeom>
          <a:solidFill>
            <a:srgbClr val="D2603A"/>
          </a:solidFill>
          <a:ln/>
        </p:spPr>
      </p:sp>
      <p:sp>
        <p:nvSpPr>
          <p:cNvPr id="29" name="Text 27"/>
          <p:cNvSpPr/>
          <p:nvPr/>
        </p:nvSpPr>
        <p:spPr>
          <a:xfrm>
            <a:off x="804672" y="489204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7A2E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三条边界：（1）n=51、少数类仅 16，特异度 0.581 的置信区间极宽。（2）流行度 ≥10% 时 p/n = 1.33，已是 p &gt; n 的高维问题，与主队列的鸭群不可直接类比。（3）AUC 0.930 中有多少来自感染、多少来自笼号，本设计下无法拆分。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8707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870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两个队列的构成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430000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188720"/>
                <a:gridCol w="2743200"/>
                <a:gridCol w="1188720"/>
                <a:gridCol w="1188720"/>
                <a:gridCol w="118872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BioProject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宿主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研究中心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阴性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阳性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阳性率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PRJNA644054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火鸡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Ohio State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13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32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45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71.1%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PRJNA379944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鸡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华南农业大学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50.0%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合并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F75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F75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16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35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51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68.6%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3657600"/>
            <a:ext cx="11064240" cy="1371600"/>
          </a:xfrm>
          <a:prstGeom prst="rect">
            <a:avLst/>
          </a:prstGeom>
          <a:solidFill>
            <a:srgbClr val="FBEDE7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3657600"/>
            <a:ext cx="68580" cy="1371600"/>
          </a:xfrm>
          <a:prstGeom prst="rect">
            <a:avLst/>
          </a:prstGeom>
          <a:solidFill>
            <a:srgbClr val="D2603A"/>
          </a:solidFill>
          <a:ln/>
        </p:spPr>
      </p:sp>
      <p:sp>
        <p:nvSpPr>
          <p:cNvPr id="9" name="Text 6"/>
          <p:cNvSpPr/>
          <p:nvPr/>
        </p:nvSpPr>
        <p:spPr>
          <a:xfrm>
            <a:off x="804672" y="3803904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两个 project 在技术上完全不可比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04672" y="4187952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A2E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以下四个属性与 BioProject 完全共线，没有任何一个样本打破这个对应：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A2E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  宿主  火鸡 45 / 鸡 6        研究中心  Ohio State / 华南农大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A2E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  Assay.Type  OTHER / CTS      LibrarySource  OTHER / METAGENOMIC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A2E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合并等于把两批用不同建库方法、在不同实验室、对不同物种测的数据放在一起。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5212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文件名沿用 summary_Chicken_51_sample.md 中的 Chicken，但该队列实际以火鸡为主（45/51 = 88%），鸡仅 6 个样本。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8707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870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 · 结构性差异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为什么不能照搬主队列的读法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430000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8346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维度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主队列（鸭）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本队列（家禽）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含义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样本量 n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260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26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51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估计方差大得多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少数类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109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26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16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每折测试集约 3 个阴性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基线 accuracy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0.581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0.686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真实增益的参照点更高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p/n（流行度 ≥10%）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70/260 = 0.27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26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68/51 = 1.33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26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 &gt; n，高维问题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置换零分布最大值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0.614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26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0.798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噪声可达的上限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434840"/>
            <a:ext cx="5394960" cy="1463040"/>
          </a:xfrm>
          <a:prstGeom prst="rect">
            <a:avLst/>
          </a:prstGeom>
          <a:solidFill>
            <a:srgbClr val="FBEDE7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4434840"/>
            <a:ext cx="68580" cy="1463040"/>
          </a:xfrm>
          <a:prstGeom prst="rect">
            <a:avLst/>
          </a:prstGeom>
          <a:solidFill>
            <a:srgbClr val="D2603A"/>
          </a:solidFill>
          <a:ln/>
        </p:spPr>
      </p:sp>
      <p:sp>
        <p:nvSpPr>
          <p:cNvPr id="9" name="Text 6"/>
          <p:cNvSpPr/>
          <p:nvPr/>
        </p:nvSpPr>
        <p:spPr>
          <a:xfrm>
            <a:off x="804672" y="4581144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p/n 从 0.27 翻转到 1.33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04672" y="4965192"/>
            <a:ext cx="4937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A2E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特征数超过样本数，模型可以完美拟合训练集。主队列「不需要 PCA、不需要激进特征选择」的判断在这里不成立。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17920" y="4434840"/>
            <a:ext cx="5394960" cy="1463040"/>
          </a:xfrm>
          <a:prstGeom prst="rect">
            <a:avLst/>
          </a:prstGeom>
          <a:solidFill>
            <a:srgbClr val="FBEDE7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217920" y="4434840"/>
            <a:ext cx="68580" cy="1463040"/>
          </a:xfrm>
          <a:prstGeom prst="rect">
            <a:avLst/>
          </a:prstGeom>
          <a:solidFill>
            <a:srgbClr val="D2603A"/>
          </a:solidFill>
          <a:ln/>
        </p:spPr>
      </p:sp>
      <p:sp>
        <p:nvSpPr>
          <p:cNvPr id="13" name="Text 10"/>
          <p:cNvSpPr/>
          <p:nvPr/>
        </p:nvSpPr>
        <p:spPr>
          <a:xfrm>
            <a:off x="6473952" y="4581144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噪声上限 0.798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473952" y="4965192"/>
            <a:ext cx="4937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A2E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n=51 时纯随机就能跑出接近 0.8 的 AUC（主队列只有 0.614）。因此本队列中低于 0.80 的 AUC 基本不具解释力。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8FB996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205740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4E9FA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2834640" y="228600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建模结果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2880360" y="3154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B9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两个队列并排，同一套无泄漏流程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8707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870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结果 · 主表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两个队列的全指标对照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430000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2984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嵌套 CV：外层 RepeatedStratifiedKFold（5 折 × 10 次 = 50 折），内层 4 折调参；流行度阈值 0.10；两者选中的超参均为 C = 1.0, gamma = scale。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286000"/>
                <a:gridCol w="2011680"/>
                <a:gridCol w="1737360"/>
                <a:gridCol w="30175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指标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火鸡单独 n=45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合并 n=51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差值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ROC-AUC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0.930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0.895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26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−0.035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F75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噪声上限 0.798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PR-AUC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0.971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0.952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26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−0.019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F75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基线 = 阳性率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Accuracy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0.860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0.825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26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−0.035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F75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基线 0.711 / 0.686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平衡准确率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0.806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0.759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26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−0.047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F75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基线 0.500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灵敏度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0.934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0.937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F75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+0.003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F75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阳性占多数，虚高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特异度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0.677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26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0.581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26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−0.096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26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两者都弱，见第 8 页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精确率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0.877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0.830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26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−0.047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F1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0.905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0.881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26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−0.024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F75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基线 F1 0.831 / 0.814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MCC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0.647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0.576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26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−0.071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F758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基线 0，最可靠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669280"/>
            <a:ext cx="1106424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5669280"/>
            <a:ext cx="68580" cy="685800"/>
          </a:xfrm>
          <a:prstGeom prst="rect">
            <a:avLst/>
          </a:prstGeom>
          <a:solidFill>
            <a:srgbClr val="18707F"/>
          </a:solidFill>
          <a:ln/>
        </p:spPr>
      </p:sp>
      <p:sp>
        <p:nvSpPr>
          <p:cNvPr id="10" name="Text 7"/>
          <p:cNvSpPr/>
          <p:nvPr/>
        </p:nvSpPr>
        <p:spPr>
          <a:xfrm>
            <a:off x="804672" y="5833872"/>
            <a:ext cx="10607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除灵敏度外，火鸡单独在所有指标上都优于合并。灵敏度的 +0.003 不构成例外——它随阳性率上升而虚高（合并后阳性率从 71.1% 降到 68.6%，本应略降）。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8707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870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结果 · 错误结构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混淆矩阵：错在哪里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430000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50 折折外预测合并，计数已除以重复次数 10，因此可直接读作「平均每次交叉验证的结果」。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18288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火鸡单独 n=45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2240280"/>
          <a:ext cx="4206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预测阴性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预测阳性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真实阴性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8.8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26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4.2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真实阳性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26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2.1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29.9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675120" y="18288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合并 n=51</a:t>
            </a:r>
            <a:endParaRPr lang="en-US" sz="16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2240280"/>
          <a:ext cx="4206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预测阴性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预测阳性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真实阴性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9.3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26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6.7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真实阳性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26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2.2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32.8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48640" y="3977640"/>
            <a:ext cx="5394960" cy="1737360"/>
          </a:xfrm>
          <a:prstGeom prst="rect">
            <a:avLst/>
          </a:prstGeom>
          <a:solidFill>
            <a:srgbClr val="FBEDE7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48640" y="3977640"/>
            <a:ext cx="68580" cy="1737360"/>
          </a:xfrm>
          <a:prstGeom prst="rect">
            <a:avLst/>
          </a:prstGeom>
          <a:solidFill>
            <a:srgbClr val="D2603A"/>
          </a:solidFill>
          <a:ln/>
        </p:spPr>
      </p:sp>
      <p:sp>
        <p:nvSpPr>
          <p:cNvPr id="13" name="Text 9"/>
          <p:cNvSpPr/>
          <p:nvPr/>
        </p:nvSpPr>
        <p:spPr>
          <a:xfrm>
            <a:off x="804672" y="4123944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错误集中在阴性样本上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804672" y="4507992"/>
            <a:ext cx="49377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A2E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火鸡：13 个阴性判错 4.2 个（32%）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A2E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合并：16 个阴性判错 6.7 个（42%）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A2E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阳性几乎不出错（35 个中错 2.2 个），因为阳性本来就占 68.6%——模型顺着多数类猜就能拿到高灵敏度。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217920" y="3977640"/>
            <a:ext cx="53949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17920" y="3977640"/>
            <a:ext cx="68580" cy="1737360"/>
          </a:xfrm>
          <a:prstGeom prst="rect">
            <a:avLst/>
          </a:prstGeom>
          <a:solidFill>
            <a:srgbClr val="18707F"/>
          </a:solidFill>
          <a:ln/>
        </p:spPr>
      </p:sp>
      <p:sp>
        <p:nvSpPr>
          <p:cNvPr id="17" name="Text 13"/>
          <p:cNvSpPr/>
          <p:nvPr/>
        </p:nvSpPr>
        <p:spPr>
          <a:xfrm>
            <a:off x="6473952" y="4123944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为什么必须看混淆矩阵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6473952" y="4507992"/>
            <a:ext cx="49377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合并后 TP 从 29.9 升到 32.8 看似进步，但那只是因为总样本变多了。真正变化的是 FP：从 4.2 升到 6.7。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单看 accuracy（0.860 → 0.825）只知道变差了 0.035，看混淆矩阵才知道差在哪。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8707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870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结果 · 局限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最需要警惕的数字：特异度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430000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146304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870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0.677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213969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火鸡单独 n=45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243230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 个阴性中判对 8.8 个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480560" y="146304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26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0.581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480560" y="213969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合并 n=51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480560" y="243230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 个阴性中判对 9.3 个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138160" y="146304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0.937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138160" y="213969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对照：灵敏度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138160" y="243230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看起来很好，但…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200400"/>
            <a:ext cx="11064240" cy="1371600"/>
          </a:xfrm>
          <a:prstGeom prst="rect">
            <a:avLst/>
          </a:prstGeom>
          <a:solidFill>
            <a:srgbClr val="FBEDE7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200400"/>
            <a:ext cx="68580" cy="1371600"/>
          </a:xfrm>
          <a:prstGeom prst="rect">
            <a:avLst/>
          </a:prstGeom>
          <a:solidFill>
            <a:srgbClr val="D2603A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3346704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为什么这个数字不可靠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04672" y="3730752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A2E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少数类只有 13（火鸡）或 16（合并）个样本。5 折交叉验证下，每折测试集只有约 3 个阴性——判错一个，该折的特异度就跳 33 个百分点。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A2E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这意味着 0.581 与 0.677 之间的差距虽然方向明确，但两者各自的置信区间都极宽。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754880"/>
            <a:ext cx="1106424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4754880"/>
            <a:ext cx="68580" cy="1143000"/>
          </a:xfrm>
          <a:prstGeom prst="rect">
            <a:avLst/>
          </a:prstGeom>
          <a:solidFill>
            <a:srgbClr val="18707F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4901184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报告时的硬性要求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04672" y="5285232"/>
            <a:ext cx="106070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灵敏度 0.937 与特异度 0.581 必须并列出现。只报灵敏度会让读者以为模型接近可用，而实际上它对阴性样本的判别能力只比抛硬币好一点——这与主队列 10 月分层（特异度 0.533）是同一类问题。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8707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870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验证 · 过拟合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信号是真的吗：置换检验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430000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打乱标签 200 次，每次重跑整条 pipeline。若模型能在噪声里找出结构，实测分数就没有意义。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182880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870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0.967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22960" y="250545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实测 AUC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279806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单层 CV、固定超参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480560" y="182880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0.492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480560" y="250545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零分布均值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480560" y="279806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± 0.121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138160" y="182880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FB9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 = 0.0050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8138160" y="250545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经验 p 值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138160" y="279806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200 次中 0 次达到实测值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520440"/>
            <a:ext cx="53949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520440"/>
            <a:ext cx="68580" cy="1600200"/>
          </a:xfrm>
          <a:prstGeom prst="rect">
            <a:avLst/>
          </a:prstGeom>
          <a:solidFill>
            <a:srgbClr val="8FB996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3666744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通过了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04672" y="4050792"/>
            <a:ext cx="49377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零分布均值 0.492，正好落在理论值 0.5 上——说明流程本身没有泄漏。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实测 0.967 远高于零分布，p = 0.0050。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3520440"/>
            <a:ext cx="5394960" cy="1600200"/>
          </a:xfrm>
          <a:prstGeom prst="rect">
            <a:avLst/>
          </a:prstGeom>
          <a:solidFill>
            <a:srgbClr val="FBEDE7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0" y="3520440"/>
            <a:ext cx="68580" cy="1600200"/>
          </a:xfrm>
          <a:prstGeom prst="rect">
            <a:avLst/>
          </a:prstGeom>
          <a:solidFill>
            <a:srgbClr val="D2603A"/>
          </a:solidFill>
          <a:ln/>
        </p:spPr>
      </p:sp>
      <p:sp>
        <p:nvSpPr>
          <p:cNvPr id="22" name="Text 20"/>
          <p:cNvSpPr/>
          <p:nvPr/>
        </p:nvSpPr>
        <p:spPr>
          <a:xfrm>
            <a:off x="6473952" y="3666744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但余量比主队列小得多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73952" y="4050792"/>
            <a:ext cx="49377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A2E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零分布标准差 0.121（主队列 0.049），最大值达 0.798。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A2E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换言之，n=51 时纯噪声就能跑出接近 0.8 的 AUC——本队列中低于 0.80 的结果基本不具解释力。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303520"/>
            <a:ext cx="11064240" cy="685800"/>
          </a:xfrm>
          <a:prstGeom prst="rect">
            <a:avLst/>
          </a:prstGeom>
          <a:solidFill>
            <a:srgbClr val="FBEDE7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5303520"/>
            <a:ext cx="68580" cy="685800"/>
          </a:xfrm>
          <a:prstGeom prst="rect">
            <a:avLst/>
          </a:prstGeom>
          <a:solidFill>
            <a:srgbClr val="D2603A"/>
          </a:solidFill>
          <a:ln/>
        </p:spPr>
      </p:sp>
      <p:sp>
        <p:nvSpPr>
          <p:cNvPr id="26" name="Text 24"/>
          <p:cNvSpPr/>
          <p:nvPr/>
        </p:nvSpPr>
        <p:spPr>
          <a:xfrm>
            <a:off x="804672" y="53949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7A2E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注意此处实测值 0.967 来自单层 CV + 固定超参，与主表的 0.895 口径不同。嵌套 CV 的 0.895 才是可辩护的性能估计；0.967 仅用于与零分布比较（两者口径一致）。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8707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870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验证 · 稳健性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结论稳不稳：两项稳健性检查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430000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2984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流行度阈值扫描（固定超参 C=5，单层 CV，仅供比较趋势）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54864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188720"/>
                <a:gridCol w="1188720"/>
                <a:gridCol w="11887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流行度阈值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特征数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p/n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AUC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≥ 0.05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92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26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1.80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0.976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≥ 0.10（采用）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68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1.33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0.976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≥ 0.15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55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1.08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0.940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≥ 0.20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51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1.00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0.945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≥ 0.30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45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0.88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0.949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≥ 0.40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39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0.76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0.955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00800" y="1645920"/>
            <a:ext cx="521208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0" y="1645920"/>
            <a:ext cx="68580" cy="1234440"/>
          </a:xfrm>
          <a:prstGeom prst="rect">
            <a:avLst/>
          </a:prstGeom>
          <a:solidFill>
            <a:srgbClr val="8FB996"/>
          </a:solidFill>
          <a:ln/>
        </p:spPr>
      </p:sp>
      <p:sp>
        <p:nvSpPr>
          <p:cNvPr id="10" name="Text 7"/>
          <p:cNvSpPr/>
          <p:nvPr/>
        </p:nvSpPr>
        <p:spPr>
          <a:xfrm>
            <a:off x="6656832" y="179222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阈值不影响结论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656832" y="2176272"/>
            <a:ext cx="47548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AUC 在 0.940–0.976 之间波动，与阈值无系统关系。为与主队列保持一致，主结果仍用 0.10。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00800" y="30632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留一法（LOO）与 5 折的差异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400800" y="3401568"/>
            <a:ext cx="5212080" cy="1417320"/>
          </a:xfrm>
          <a:prstGeom prst="rect">
            <a:avLst/>
          </a:prstGeom>
          <a:solidFill>
            <a:srgbClr val="FBEDE7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00800" y="3401568"/>
            <a:ext cx="68580" cy="1417320"/>
          </a:xfrm>
          <a:prstGeom prst="rect">
            <a:avLst/>
          </a:prstGeom>
          <a:solidFill>
            <a:srgbClr val="D2603A"/>
          </a:solidFill>
          <a:ln/>
        </p:spPr>
      </p:sp>
      <p:sp>
        <p:nvSpPr>
          <p:cNvPr id="15" name="Text 12"/>
          <p:cNvSpPr/>
          <p:nvPr/>
        </p:nvSpPr>
        <p:spPr>
          <a:xfrm>
            <a:off x="6656832" y="354787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差 0.078，反映划分方差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656832" y="3931920"/>
            <a:ext cx="47548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A2E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留一法 LOO      AUC 0.973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A2E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折 × 10 重复   AUC 0.895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A2E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LOO 训练集更大因而更乐观。两者都不应单独引用——嵌套 5 折的 0.895 更保守、更可辩护。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48640" y="4069080"/>
            <a:ext cx="5486400" cy="1234440"/>
          </a:xfrm>
          <a:prstGeom prst="rect">
            <a:avLst/>
          </a:prstGeom>
          <a:solidFill>
            <a:srgbClr val="FBEDE7"/>
          </a:solidFill>
          <a:ln/>
        </p:spPr>
      </p:sp>
      <p:sp>
        <p:nvSpPr>
          <p:cNvPr id="18" name="Shape 15"/>
          <p:cNvSpPr/>
          <p:nvPr/>
        </p:nvSpPr>
        <p:spPr>
          <a:xfrm>
            <a:off x="548640" y="4069080"/>
            <a:ext cx="68580" cy="1234440"/>
          </a:xfrm>
          <a:prstGeom prst="rect">
            <a:avLst/>
          </a:prstGeom>
          <a:solidFill>
            <a:srgbClr val="D2603A"/>
          </a:solidFill>
          <a:ln/>
        </p:spPr>
      </p:sp>
      <p:sp>
        <p:nvSpPr>
          <p:cNvPr id="19" name="Text 16"/>
          <p:cNvSpPr/>
          <p:nvPr/>
        </p:nvSpPr>
        <p:spPr>
          <a:xfrm>
            <a:off x="804672" y="4160520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7A2E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p/n 在所有阈值下都接近或超过 1。即使提高到 ≥0.40，样本量本身也只有 51——高维不是靠调阈值能解决的，只能靠更多样本。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8707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870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验证 · 批次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合并为什么没用：批次检查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430000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如果模型只是在学「这是火鸡还是鸡」，那么高 AUC 就毫无意义。两个检验回答这个问题。</a:t>
            </a:r>
            <a:endParaRPr lang="en-US" sz="12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2011680"/>
                <a:gridCol w="411480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检验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AUC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含义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菌群 → 预测 project（鸡 vs 火鸡）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26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1.000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两个 project 的菌群完全可分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project → 预测感染状态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0.499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project 归属对标签毫无信息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3200400"/>
            <a:ext cx="110642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3200400"/>
            <a:ext cx="68580" cy="1234440"/>
          </a:xfrm>
          <a:prstGeom prst="rect">
            <a:avLst/>
          </a:prstGeom>
          <a:solidFill>
            <a:srgbClr val="8FB996"/>
          </a:solidFill>
          <a:ln/>
        </p:spPr>
      </p:sp>
      <p:sp>
        <p:nvSpPr>
          <p:cNvPr id="10" name="Text 7"/>
          <p:cNvSpPr/>
          <p:nvPr/>
        </p:nvSpPr>
        <p:spPr>
          <a:xfrm>
            <a:off x="804672" y="3346704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这两个数字合起来说明：批次效应是稀释，不是混杂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04672" y="3730752"/>
            <a:ext cx="10607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菌群完全能分辨鸡与火鸡（不同宿主 + 不同实验室，意料之中），但 project 归属与感染状态无关。因此批次没有虚高 AUC——它只是给模型增加了必须绕开的无关变异。那 6 个鸡样本对模型而言是纯噪声。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4617720"/>
            <a:ext cx="110642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48640" y="4617720"/>
            <a:ext cx="68580" cy="1280160"/>
          </a:xfrm>
          <a:prstGeom prst="rect">
            <a:avLst/>
          </a:prstGeom>
          <a:solidFill>
            <a:srgbClr val="18707F"/>
          </a:solidFill>
          <a:ln/>
        </p:spPr>
      </p:sp>
      <p:sp>
        <p:nvSpPr>
          <p:cNvPr id="14" name="Text 11"/>
          <p:cNvSpPr/>
          <p:nvPr/>
        </p:nvSpPr>
        <p:spPr>
          <a:xfrm>
            <a:off x="804672" y="4764024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与主队列的混杂对照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04672" y="5148072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主队列中采样月份既影响菌群、也影响标签（仅协变量即达 AUC 0.881），那是真正的混杂，必须靠分层处理。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本队列的批次只影响特征、不影响标签——性质不同，处理方式也不同：混杂要分层，稀释要剔除。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8FB996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205740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4E9FA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2834640" y="228600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队列内部的混杂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2880360" y="3154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B9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把火鸡队列单独拿出来后，新的问题出现了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8707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870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混杂结构 · PRJNA644054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隔离器与感染状态完全共线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430000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前面十页只检查了「两个 project 之间」的批次效应。火鸡队列内部还有一层：饲养隔离器。</a:t>
            </a:r>
            <a:endParaRPr lang="en-US" sz="12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46634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554480"/>
                <a:gridCol w="15544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Isolator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阴性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阳性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26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26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26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26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7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669280" y="1737360"/>
            <a:ext cx="5943600" cy="1572768"/>
          </a:xfrm>
          <a:prstGeom prst="rect">
            <a:avLst/>
          </a:prstGeom>
          <a:solidFill>
            <a:srgbClr val="FBEDE7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669280" y="1737360"/>
            <a:ext cx="68580" cy="1572768"/>
          </a:xfrm>
          <a:prstGeom prst="rect">
            <a:avLst/>
          </a:prstGeom>
          <a:solidFill>
            <a:srgbClr val="D2603A"/>
          </a:solidFill>
          <a:ln/>
        </p:spPr>
      </p:sp>
      <p:sp>
        <p:nvSpPr>
          <p:cNvPr id="10" name="Text 7"/>
          <p:cNvSpPr/>
          <p:nvPr/>
        </p:nvSpPr>
        <p:spPr>
          <a:xfrm>
            <a:off x="5925312" y="1883664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DNA 提取批次：独立且部分共线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925312" y="2267712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A2E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18-11-06 批次的 16 个样本全部为阳性。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A2E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  菌群 → 预测提取批次              AUC 0.921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A2E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  仅在阳性组内（感染状态固定）      AUC 0.940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A2E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第二个数字是关键：固定标签后批次仍高度可预测。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669280" y="3493008"/>
            <a:ext cx="5943600" cy="12435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669280" y="3493008"/>
            <a:ext cx="68580" cy="1243584"/>
          </a:xfrm>
          <a:prstGeom prst="rect">
            <a:avLst/>
          </a:prstGeom>
          <a:solidFill>
            <a:srgbClr val="8FB996"/>
          </a:solidFill>
          <a:ln/>
        </p:spPr>
      </p:sp>
      <p:sp>
        <p:nvSpPr>
          <p:cNvPr id="14" name="Text 11"/>
          <p:cNvSpPr/>
          <p:nvPr/>
        </p:nvSpPr>
        <p:spPr>
          <a:xfrm>
            <a:off x="5925312" y="3639312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阴性对照：性别 AUC 0.454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925312" y="4023360"/>
            <a:ext cx="5486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性别在两组间分布均衡，菌群预测它的 AUC 接近随机。同一套流程作用在无混杂的变量上就得不出信号——前面那些高 AUC 不是方法学假象。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48640" y="4937760"/>
            <a:ext cx="11064240" cy="868680"/>
          </a:xfrm>
          <a:prstGeom prst="rect">
            <a:avLst/>
          </a:prstGeom>
          <a:solidFill>
            <a:srgbClr val="FBEDE7"/>
          </a:solidFill>
          <a:ln/>
        </p:spPr>
      </p:sp>
      <p:sp>
        <p:nvSpPr>
          <p:cNvPr id="17" name="Shape 14"/>
          <p:cNvSpPr/>
          <p:nvPr/>
        </p:nvSpPr>
        <p:spPr>
          <a:xfrm>
            <a:off x="548640" y="4937760"/>
            <a:ext cx="68580" cy="868680"/>
          </a:xfrm>
          <a:prstGeom prst="rect">
            <a:avLst/>
          </a:prstGeom>
          <a:solidFill>
            <a:srgbClr val="D2603A"/>
          </a:solidFill>
          <a:ln/>
        </p:spPr>
      </p:sp>
      <p:sp>
        <p:nvSpPr>
          <p:cNvPr id="18" name="Text 15"/>
          <p:cNvSpPr/>
          <p:nvPr/>
        </p:nvSpPr>
        <p:spPr>
          <a:xfrm>
            <a:off x="804672" y="502920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7A2E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每个隔离器只含一种感染状态。这是实验设计使然（对照与感染必须分笼以防交叉感染），但代价是隔离器效应与感染效应在统计上不可分离——没有任何「同笼内既有阳性又有阴性」的样本可供拆解。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8707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870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混杂结构 · 决定性检验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纯笼效应与感染效应几乎同量级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430000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共线不代表无法量化。CKPA 占据隔离器 3 与 4，因此在 3 vs 4 的对比中，毒株、批次、感染状态全部固定，只有笼号不同。</a:t>
            </a:r>
            <a:endParaRPr lang="en-US" sz="12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55648"/>
          <a:ext cx="110642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749040"/>
                <a:gridCol w="914400"/>
                <a:gridCol w="1554480"/>
                <a:gridCol w="1645920"/>
                <a:gridCol w="91440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对比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固定条件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AUC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零分布最大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隔离器 3 vs 4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同 CKPA、同 10-30、同阳性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16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26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0.919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0.938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0.0066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隔离器 5 vs 6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同 TKMN、同 11-06、同阳性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16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26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0.906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1.000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0.0166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隔离器 1 vs 2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同 Mock、同 10-30、同阴性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13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26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0.900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0.969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0.0332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1005840" y="3639312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26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0.908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1005840" y="431596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纯笼效应平均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005840" y="460857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三组对比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0" y="3639312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870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0.967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4572000" y="431596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感染效应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572000" y="460857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n=45，全队列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138160" y="3639312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FB9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/ 3</a:t>
            </a:r>
            <a:endParaRPr lang="en-US" sz="3600" dirty="0"/>
          </a:p>
        </p:txBody>
      </p:sp>
      <p:sp>
        <p:nvSpPr>
          <p:cNvPr id="15" name="Text 12"/>
          <p:cNvSpPr/>
          <p:nvPr/>
        </p:nvSpPr>
        <p:spPr>
          <a:xfrm>
            <a:off x="8138160" y="431596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置换检验显著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8138160" y="460857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300 次，全部 p&lt;0.05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48640" y="4956048"/>
            <a:ext cx="539496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48640" y="4956048"/>
            <a:ext cx="68580" cy="1078992"/>
          </a:xfrm>
          <a:prstGeom prst="rect">
            <a:avLst/>
          </a:prstGeom>
          <a:solidFill>
            <a:srgbClr val="18707F"/>
          </a:solidFill>
          <a:ln/>
        </p:spPr>
      </p:sp>
      <p:sp>
        <p:nvSpPr>
          <p:cNvPr id="19" name="Text 16"/>
          <p:cNvSpPr/>
          <p:nvPr/>
        </p:nvSpPr>
        <p:spPr>
          <a:xfrm>
            <a:off x="804672" y="5102352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笼效应是多变量的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804672" y="5486400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逐菌差异丰度在三组对比中只有 0、1、3 个特征 FDR&lt;0.05——单个菌几乎都不显著，模型却能到 AUC 0.90。同笼鸟的菌群是整体趋同。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217920" y="4956048"/>
            <a:ext cx="5394960" cy="1078992"/>
          </a:xfrm>
          <a:prstGeom prst="rect">
            <a:avLst/>
          </a:prstGeom>
          <a:solidFill>
            <a:srgbClr val="FBEDE7"/>
          </a:solidFill>
          <a:ln/>
        </p:spPr>
      </p:sp>
      <p:sp>
        <p:nvSpPr>
          <p:cNvPr id="22" name="Shape 19"/>
          <p:cNvSpPr/>
          <p:nvPr/>
        </p:nvSpPr>
        <p:spPr>
          <a:xfrm>
            <a:off x="6217920" y="4956048"/>
            <a:ext cx="68580" cy="1078992"/>
          </a:xfrm>
          <a:prstGeom prst="rect">
            <a:avLst/>
          </a:prstGeom>
          <a:solidFill>
            <a:srgbClr val="D2603A"/>
          </a:solidFill>
          <a:ln/>
        </p:spPr>
      </p:sp>
      <p:sp>
        <p:nvSpPr>
          <p:cNvPr id="23" name="Text 20"/>
          <p:cNvSpPr/>
          <p:nvPr/>
        </p:nvSpPr>
        <p:spPr>
          <a:xfrm>
            <a:off x="6473952" y="5047488"/>
            <a:ext cx="4937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7A2E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样本量提醒：笼效应基于 n=16 或 13，零分布标准差 0.19–0.22。可以断定 0.908 与 0.967 量级相当，不能断定孰高孰低。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8707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870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生物学 · 差异丰度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驱动预测的菌：多一道笼效应筛查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430000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62 个特征中 19 个 FDR&lt;0.05，与 permutation importance 取交集得 11 个，再剔除在阳性组内部即因隔离器显著不同的，剩 7 个。</a:t>
            </a:r>
            <a:endParaRPr lang="en-US" sz="12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743200"/>
                <a:gridCol w="1280160"/>
                <a:gridCol w="1737360"/>
                <a:gridCol w="1280160"/>
                <a:gridCol w="1371600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Genus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Family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方向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importance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FDR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HT002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Lactobacillaceae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Pos↓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0.0130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−3.89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0.0057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Pediococcus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Lactobacillaceae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26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Pos↑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0.0129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+4.32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0.0010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（未定属）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Lactobacillaceae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Pos↓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0.0064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−4.15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0.0017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Incertae_Sedis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Pos↓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0.0022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−2.60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0.0499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Weissella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Lactobacillaceae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Pos↓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0.0020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−3.56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0.0087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Escherichia-Shigella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Enterobacteriaceae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26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Pos↑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0.0015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26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+5.64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0.0004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Pseudomonas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Pseudomonadaceae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D2603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Pos↑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0.00004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+3.49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52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0.0057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572000"/>
            <a:ext cx="53949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4572000"/>
            <a:ext cx="68580" cy="1325880"/>
          </a:xfrm>
          <a:prstGeom prst="rect">
            <a:avLst/>
          </a:prstGeom>
          <a:solidFill>
            <a:srgbClr val="8FB996"/>
          </a:solidFill>
          <a:ln/>
        </p:spPr>
      </p:sp>
      <p:sp>
        <p:nvSpPr>
          <p:cNvPr id="10" name="Text 7"/>
          <p:cNvSpPr/>
          <p:nvPr/>
        </p:nvSpPr>
        <p:spPr>
          <a:xfrm>
            <a:off x="804672" y="4718304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模式符合免疫学预期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04672" y="5102352"/>
            <a:ext cx="49377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乳酸菌科四个属中三个在感染组降低，机会致病菌 Escherichia-Shigella 与 Pseudomonas 升高——共生菌减少、机会致病菌扩张的典型菌群失调。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217920" y="4572000"/>
            <a:ext cx="5394960" cy="1325880"/>
          </a:xfrm>
          <a:prstGeom prst="rect">
            <a:avLst/>
          </a:prstGeom>
          <a:solidFill>
            <a:srgbClr val="FBEDE7"/>
          </a:solidFill>
          <a:ln/>
        </p:spPr>
      </p:sp>
      <p:sp>
        <p:nvSpPr>
          <p:cNvPr id="13" name="Shape 10"/>
          <p:cNvSpPr/>
          <p:nvPr/>
        </p:nvSpPr>
        <p:spPr>
          <a:xfrm>
            <a:off x="6217920" y="4572000"/>
            <a:ext cx="68580" cy="1325880"/>
          </a:xfrm>
          <a:prstGeom prst="rect">
            <a:avLst/>
          </a:prstGeom>
          <a:solidFill>
            <a:srgbClr val="D2603A"/>
          </a:solidFill>
          <a:ln/>
        </p:spPr>
      </p:sp>
      <p:sp>
        <p:nvSpPr>
          <p:cNvPr id="14" name="Text 11"/>
          <p:cNvSpPr/>
          <p:nvPr/>
        </p:nvSpPr>
        <p:spPr>
          <a:xfrm>
            <a:off x="6473952" y="4663440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7A2E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被剔除的最强反例：Negativibacillus 的 importance 最高（0.0133）、t=+5.87、FDR&lt;0.0001，单看这两项会认为它是最好的 biomarker。但它在同为阳性的四个隔离器之间也显著不同，无法归因于感染。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8FB996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205740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4E9FA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2834640" y="228600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结论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2880360" y="3154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B9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合并的代价，以及下一步该做什么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8707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870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结论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建议：不要合并，用火鸡队列单独建模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430000" y="63550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5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solidFill>
            <a:srgbClr val="FBEDE7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463040"/>
            <a:ext cx="68580" cy="1371600"/>
          </a:xfrm>
          <a:prstGeom prst="rect">
            <a:avLst/>
          </a:prstGeom>
          <a:solidFill>
            <a:srgbClr val="D2603A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1773936"/>
            <a:ext cx="566928" cy="566928"/>
          </a:xfrm>
          <a:prstGeom prst="ellipse">
            <a:avLst/>
          </a:prstGeom>
          <a:solidFill>
            <a:srgbClr val="0B3C49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87452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91640" y="1645920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合并后五项指标全部下降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691640" y="201168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7A2E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AUC −0.035、Accuracy −0.035、特异度 −0.096、F1 −0.024、MCC −0.071。唯一上升的灵敏度（+0.003）随阳性率虚高，不构成例外。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035808"/>
            <a:ext cx="11064240" cy="1371600"/>
          </a:xfrm>
          <a:prstGeom prst="rect">
            <a:avLst/>
          </a:prstGeom>
          <a:solidFill>
            <a:srgbClr val="FBEDE7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035808"/>
            <a:ext cx="68580" cy="1371600"/>
          </a:xfrm>
          <a:prstGeom prst="rect">
            <a:avLst/>
          </a:prstGeom>
          <a:solidFill>
            <a:srgbClr val="D2603A"/>
          </a:solidFill>
          <a:ln/>
        </p:spPr>
      </p:sp>
      <p:sp>
        <p:nvSpPr>
          <p:cNvPr id="14" name="Shape 12"/>
          <p:cNvSpPr/>
          <p:nvPr/>
        </p:nvSpPr>
        <p:spPr>
          <a:xfrm>
            <a:off x="868680" y="3346704"/>
            <a:ext cx="566928" cy="566928"/>
          </a:xfrm>
          <a:prstGeom prst="ellipse">
            <a:avLst/>
          </a:prstGeom>
          <a:solidFill>
            <a:srgbClr val="0B3C49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447288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91640" y="3218688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个样本无法支撑任何跨宿主结论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91640" y="358444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7A2E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PRJNA379944 只有 3 阳 3 阴。若目的是检验跨宿主泛化，正确做法是「训练火鸡、测试鸡」而非合并——但 6 个样本也做不了这件事，AUC 会完全由个别样本决定。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608576"/>
            <a:ext cx="11064240" cy="1371600"/>
          </a:xfrm>
          <a:prstGeom prst="rect">
            <a:avLst/>
          </a:prstGeom>
          <a:solidFill>
            <a:srgbClr val="FBEDE7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4608576"/>
            <a:ext cx="68580" cy="1371600"/>
          </a:xfrm>
          <a:prstGeom prst="rect">
            <a:avLst/>
          </a:prstGeom>
          <a:solidFill>
            <a:srgbClr val="D2603A"/>
          </a:solidFill>
          <a:ln/>
        </p:spPr>
      </p:sp>
      <p:sp>
        <p:nvSpPr>
          <p:cNvPr id="20" name="Shape 18"/>
          <p:cNvSpPr/>
          <p:nvPr/>
        </p:nvSpPr>
        <p:spPr>
          <a:xfrm>
            <a:off x="868680" y="4919472"/>
            <a:ext cx="566928" cy="566928"/>
          </a:xfrm>
          <a:prstGeom prst="ellipse">
            <a:avLst/>
          </a:prstGeom>
          <a:solidFill>
            <a:srgbClr val="0B3C49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5020056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691640" y="4791456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52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火鸡单独更好，但那个 0.930 不能当作感染信号来读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691640" y="5157216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7A2E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AUC 0.930、MCC 0.647、F1 0.905，且内部同质（单一宿主、单一中心、单一建库方法）。但隔离器与感染状态完全共线，纯笼效应平均 0.908，报告时必须把笼效应一并给出。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8FB99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14300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若火鸡队列要写进论文，尚需补做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19202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B9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前三项（混杂结构、驱动菌、跨宿主比较）已完成，见第 13–15 页；下面是剩下的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2514600"/>
            <a:ext cx="10332720" cy="777240"/>
          </a:xfrm>
          <a:prstGeom prst="rect">
            <a:avLst/>
          </a:prstGeom>
          <a:solidFill>
            <a:srgbClr val="12505F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514600"/>
            <a:ext cx="68580" cy="777240"/>
          </a:xfrm>
          <a:prstGeom prst="rect">
            <a:avLst/>
          </a:prstGeom>
          <a:solidFill>
            <a:srgbClr val="8FB996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2606040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拆分笼效应与感染效应需要重做实验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34440" y="2916936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B9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每个隔离器内同时放阳性与阴性个体。这是设计问题，不是分析问题，现有数据无法补救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914400" y="3447288"/>
            <a:ext cx="10332720" cy="777240"/>
          </a:xfrm>
          <a:prstGeom prst="rect">
            <a:avLst/>
          </a:prstGeom>
          <a:solidFill>
            <a:srgbClr val="12505F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3447288"/>
            <a:ext cx="68580" cy="777240"/>
          </a:xfrm>
          <a:prstGeom prst="rect">
            <a:avLst/>
          </a:prstGeom>
          <a:solidFill>
            <a:srgbClr val="8FB996"/>
          </a:solidFill>
          <a:ln/>
        </p:spPr>
      </p:sp>
      <p:sp>
        <p:nvSpPr>
          <p:cNvPr id="11" name="Text 9"/>
          <p:cNvSpPr/>
          <p:nvPr/>
        </p:nvSpPr>
        <p:spPr>
          <a:xfrm>
            <a:off x="1234440" y="353872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在两队列特征交集上重做跨宿主检验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34440" y="3849624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B9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火鸡只保留 62 个特征，鸭队列九菌中多数根本没进候选池——目前的「不一致」更可能是特征空间不同所致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14400" y="4379976"/>
            <a:ext cx="10332720" cy="777240"/>
          </a:xfrm>
          <a:prstGeom prst="rect">
            <a:avLst/>
          </a:prstGeom>
          <a:solidFill>
            <a:srgbClr val="12505F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" y="4379976"/>
            <a:ext cx="68580" cy="777240"/>
          </a:xfrm>
          <a:prstGeom prst="rect">
            <a:avLst/>
          </a:prstGeom>
          <a:solidFill>
            <a:srgbClr val="8FB996"/>
          </a:solidFill>
          <a:ln/>
        </p:spPr>
      </p:sp>
      <p:sp>
        <p:nvSpPr>
          <p:cNvPr id="15" name="Text 13"/>
          <p:cNvSpPr/>
          <p:nvPr/>
        </p:nvSpPr>
        <p:spPr>
          <a:xfrm>
            <a:off x="1234440" y="4471416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纳入一致性检查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34440" y="4782312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B9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该队列的 results/ 存档接入 check_consistency.py 与 pre-commit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14400" y="5312664"/>
            <a:ext cx="10332720" cy="777240"/>
          </a:xfrm>
          <a:prstGeom prst="rect">
            <a:avLst/>
          </a:prstGeom>
          <a:solidFill>
            <a:srgbClr val="12505F"/>
          </a:solidFill>
          <a:ln/>
        </p:spPr>
      </p:sp>
      <p:sp>
        <p:nvSpPr>
          <p:cNvPr id="18" name="Shape 16"/>
          <p:cNvSpPr/>
          <p:nvPr/>
        </p:nvSpPr>
        <p:spPr>
          <a:xfrm>
            <a:off x="914400" y="5312664"/>
            <a:ext cx="68580" cy="777240"/>
          </a:xfrm>
          <a:prstGeom prst="rect">
            <a:avLst/>
          </a:prstGeom>
          <a:solidFill>
            <a:srgbClr val="8FB996"/>
          </a:solidFill>
          <a:ln/>
        </p:spPr>
      </p:sp>
      <p:sp>
        <p:nvSpPr>
          <p:cNvPr id="19" name="Text 17"/>
          <p:cNvSpPr/>
          <p:nvPr/>
        </p:nvSpPr>
        <p:spPr>
          <a:xfrm>
            <a:off x="1234440" y="5404104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核实两列体重数据重复的问题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34440" y="5715000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B99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Bird_weight.g. 与 Bursa.BodyWeight.Ratio1000 数值完全相同，需联系数据提供方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14400" y="62636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9FA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完整结果见 summary_Chicken_51_sample.md 与 summary_Turkey_45_sample.md ｜ 复现：poultry_cohort.py、turkey_confounding_biomarkers.py、turkey_strain_cage.py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University of Georgia, College of Public Health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家禽队列结果：火鸡单独 vs 火鸡+鸡合并</dc:title>
  <dc:subject>PptxGenJS Presentation</dc:subject>
  <dc:creator>Sihua Peng</dc:creator>
  <cp:lastModifiedBy>Sihua Peng</cp:lastModifiedBy>
  <cp:revision>1</cp:revision>
  <dcterms:created xsi:type="dcterms:W3CDTF">2026-08-25T00:02:31Z</dcterms:created>
  <dcterms:modified xsi:type="dcterms:W3CDTF">2026-08-25T00:02:31Z</dcterms:modified>
</cp:coreProperties>
</file>