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21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25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002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禽流感感染状态预测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肠道菌群作为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诊断信号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9319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基于野生水禽 16S rRNA 菌群图谱的机器学习研究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3291840" cy="36576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7548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只野鸭  ·  70 个菌群特征  ·  6 种模型横向比较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61447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佐治亚大学 · 公共卫生学院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0" y="6144768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github.com/pengsihua2023/Christina-machine-learning-project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执行摘要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核心结论一览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0.839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09397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ROC-AUC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86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SVM-RBF，嵌套 CV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91840" y="141732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0.531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91840" y="209397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MCC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291840" y="2386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基线 = 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35040" y="141732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p=0.0099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035040" y="209397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035040" y="2386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信号真实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778240" y="14173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778240" y="209397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 Biomarker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778240" y="23865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三方法一致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880360"/>
            <a:ext cx="548640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2880360"/>
            <a:ext cx="68580" cy="16002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02666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我们确立了什么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04672" y="3410712"/>
            <a:ext cx="50292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野鸭肠道菌群携带真实且可复现的流感感染信号。该关联通过了置换检验与月份分层分析的考验，且部分来自菌群之间的非线性交互。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2880360"/>
            <a:ext cx="530352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309360" y="2880360"/>
            <a:ext cx="68580" cy="16002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4" name="Text 22"/>
          <p:cNvSpPr/>
          <p:nvPr/>
        </p:nvSpPr>
        <p:spPr>
          <a:xfrm>
            <a:off x="6565392" y="30266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我们如何确立它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65392" y="3410712"/>
            <a:ext cx="484632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嵌套交叉验证，所有预处理均在训练折内拟合；六种模型在完全相同的折划分上比较；三套独立的特征排序方法相互交叉验证。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4709160"/>
            <a:ext cx="68580" cy="10058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800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本报告所有结论都受两条边界约束：（1）仅用采样季节等协变量即可达到 AUC 0.881，因此菌群的价值必须相对这一混杂基线来陈述；（2）结论仅在 UC Davis 野鸭队列内成立——跨研究泛化失败（AUC 0.54 ± 0.29）。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路线图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本报告的内容结构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数据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三个输入文件、四个研究，以及为何只对其中一个建模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4630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463040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数据处理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19672" y="19933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标签泄漏、成分数据变换，以及无泄漏的 pipeline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944368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944368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建模评估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" y="34747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 CV 协议与六模型横向比较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63640" y="2944368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2944368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  有效性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19672" y="34747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置换检验、混杂因子与分层再分析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425696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4425696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457200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  生物学发现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04672" y="495604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三方法交集的 Biomarker；非线性结构的证据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63640" y="4425696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4425696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9672" y="457200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  已知局限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519672" y="495604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六项局限，如实陈述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三个文件、四个研究、326 个样本——以及唯一值得建模的那个队列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输入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三个输入文件，完全对齐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23774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文件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角色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genus_raw_counts_by_featureID.csv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326 样本 × 275 个 FeatureID，整数计数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特征矩阵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taxonomy_key.csv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275 个 FeatureID 的七级分类学注释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注释表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metadata_all_samples-0810.csv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326 样本 × 102 列元数据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标签 + 协变量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sample_counts_by_study_host_infection.csv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 × 宿主 × 感染的 8 行汇总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仅用于 Table 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062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20624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525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对齐已核实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7365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三个文件的 SampleID 匹配 326/326。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FeatureID 与分类学表匹配 275/275。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无缺失值，无重复标识符。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42062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20624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43525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标签分布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47365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Influenza 阳性 = 196   ·   阴性 = 130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总体阳性率 60%，建模队列内 58%。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轻度不平衡——用类别权重处理，不做重采样。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队列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四个研究，一个建模队列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22860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BioProject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研究中心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宿主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PRJNA464410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UC Davis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野鸭（泄殖腔拭子）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PRJNA644054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俄亥俄州立大学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火鸡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PRJNA347583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中国科学院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大天鹅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PRJNA379944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华南农业大学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4"/>
          <p:cNvSpPr/>
          <p:nvPr/>
        </p:nvSpPr>
        <p:spPr>
          <a:xfrm>
            <a:off x="548640" y="4114800"/>
            <a:ext cx="1106424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114800"/>
            <a:ext cx="68580" cy="96012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2611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为何主分析只用 PRJNA464410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645152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它是唯一样本量足以建模的研究（326 中的 260 个），且内部同质——同一中心、同一宿主物种、同一组织类型。另外三个在宿主、组织、地域上完全不同，各自只贡献 6–45 个样本。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5257800"/>
            <a:ext cx="11064240" cy="7772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12" name="Shape 9"/>
          <p:cNvSpPr/>
          <p:nvPr/>
        </p:nvSpPr>
        <p:spPr>
          <a:xfrm>
            <a:off x="548640" y="5257800"/>
            <a:ext cx="68580" cy="7772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804672" y="534924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把四个研究合并很有诱惑力，但行不通：按 BioProject 做 GroupKFold 时 AUC 塌缩到 0.54 ± 0.29，与随机猜测无异。详见「已知局限」一页。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特性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特征矩阵长什么样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90.2%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零值占比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极度稀疏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8328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5000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38328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测序深度上限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38328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326 个中 208 个恰好等于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275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21792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 FeatureID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21792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155 个属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052560" y="141732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70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052560" y="209397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过滤后特征数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052560" y="23865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 ≥ 10%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92608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292608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072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流行度过滤阶梯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04672" y="345643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5%  → 117 个特征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10% → 79 个特征   （本项目采用）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20% → 36 个特征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50% → 10 个特征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0" y="292608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292608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072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分类学分辨率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345643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 → 科：275 个中有 262–274 个有注释。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属：220 个有注释，55 个未定。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种：完全空白。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因此生物学解释只能到属/科水平。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846320"/>
            <a:ext cx="11064240" cy="86868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484632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9377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对禽类肠道 16S 数据而言，275 个特征异常地少（通常有数千个 ASV）。该表几乎可以肯定被上游按某个未知规则预过滤过——这是本项目最大的未决风险。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剔除会泄漏的，变换属于成分数据的，并让每一折保持诚实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泄漏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最大的陷阱：标签泄漏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102 列元数据中，有相当一部分就是标签本身或标签的确定性函数。保留其中任何一列，都会得到 100% 准确率和零信息量。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320040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列名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泄漏方式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Infection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与 Influenza 标签逐字节完全相同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CoreGroup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直接编码 HostGroup_标签，如 "Duck_Pos"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HASubType / NASubType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阴性全为字符串 "neg"，阳性携带亚型数字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Log10_Virus_titer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病毒滴度是感染的直接物理测量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True_or_Neg, Infection_Status,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Infecting_Agent, experimental_group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实验感染分组标注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isolation_source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对照组为 "mock"，感染组为 "Intestine N"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120640"/>
            <a:ext cx="1106424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120640"/>
            <a:ext cx="68580" cy="10515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7" name="Text 7"/>
          <p:cNvSpPr/>
          <p:nvPr/>
        </p:nvSpPr>
        <p:spPr>
          <a:xfrm>
            <a:off x="804672" y="526694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另外剔除的列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65099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个样本标识列（326 个全唯一，且带有命名规则，树模型会直接背下来），以及 17 个与 BioProject 一一对应的批次代理列。审计清单固化在 mb_common.py 的 LEAKAGE_COLS 中；build_features.py 会打印每一列与标签的可分性，供人工核查而非盲信。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变换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菌群数据是成分数据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每个样本的总和固定于测序深度，因此丰度只携带相对信息。把原始计数直接喂给线性模型是方法学错误。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Shape 7"/>
          <p:cNvSpPr/>
          <p:nvPr/>
        </p:nvSpPr>
        <p:spPr>
          <a:xfrm>
            <a:off x="768096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68096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68096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保留在 ≥10% 样本中出现的特征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172968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401568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01568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6" name="Shape 14"/>
          <p:cNvSpPr/>
          <p:nvPr/>
        </p:nvSpPr>
        <p:spPr>
          <a:xfrm>
            <a:off x="3621024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3621024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21024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加伪计数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621024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每格加 0.5，使对数有定义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025896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254496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54496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73952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相对丰度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73952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每行除以该行总和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878824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107424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107424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0" name="Shape 28"/>
          <p:cNvSpPr/>
          <p:nvPr/>
        </p:nvSpPr>
        <p:spPr>
          <a:xfrm>
            <a:off x="9326880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31" name="Text 29"/>
          <p:cNvSpPr/>
          <p:nvPr/>
        </p:nvSpPr>
        <p:spPr>
          <a:xfrm>
            <a:off x="9326880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326880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 变换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9326880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取对数后减去该行的对数均值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11480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8640" y="411480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6" name="Text 34"/>
          <p:cNvSpPr/>
          <p:nvPr/>
        </p:nvSpPr>
        <p:spPr>
          <a:xfrm>
            <a:off x="804672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04672" y="464515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个样本对应 70 个 CLR 特征——p/n ≈ 0.27。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不属于高维问题：无需 PCA，也无需激进的特征选择。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17920" y="411480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217920" y="4114800"/>
            <a:ext cx="68580" cy="16916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40" name="Text 38"/>
          <p:cNvSpPr/>
          <p:nvPr/>
        </p:nvSpPr>
        <p:spPr>
          <a:xfrm>
            <a:off x="6473952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属层聚合保留未注释特征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473952" y="464515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个特征没有属注释。它们被保留为 Genus_unassigned_&lt;ID&gt; 而非丢弃——丢弃会破坏成分数据的封闭性并使 CLR 失真。因此是 275 → 210，而不是 155。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无泄漏 CV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让每一折保持诚实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2148840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17320"/>
            <a:ext cx="68580" cy="21488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636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常见错误做法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47672"/>
            <a:ext cx="49377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先在全量数据上过滤特征，再做交叉验证。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验证折会悄悄影响「哪些特征被保留」。报出的 AUC 会虚高约 0.01–0.02——数值不大，但这是诚实数字与不诚实数字的分界。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394960" cy="2148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17320"/>
            <a:ext cx="68580" cy="21488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5636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本项目的做法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73952" y="1947672"/>
            <a:ext cx="49377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流行度过滤与 CLR 被封装成 scikit-learn 变换器 PrevalenceCLR，在每一个训练折内部重新拟合。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 本身是逐行运算，不存在跨样本泄漏——真正需要防护的只有过滤这一步。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11064240" cy="91440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Pipeline([('clr', PrevalenceCLR(0.10)), ('sc', StandardScaler()), ('clf', SVC(kernel='rbf'))])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64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983480"/>
            <a:ext cx="68580" cy="9144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51297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为何这比选哪个模型更重要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551383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已发表的菌群分类器中，多数报出的单一数字来自「特征选择看过全量数据」的 pipeline。把这一步做对，纸面上损失几个 AUC 点，换来的是结果的可信度。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建模与评估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一套嵌套协议，六种模型，一次诚实的比较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协议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评估协议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5661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17320"/>
            <a:ext cx="68580" cy="178308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6362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外层循环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47672"/>
            <a:ext cx="31089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RepeatedStratifiedKFold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折 × 5 次重复 = 25 折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用途：性能评估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417320"/>
            <a:ext cx="35661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97680" y="1417320"/>
            <a:ext cx="68580" cy="17830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2" name="Text 10"/>
          <p:cNvSpPr/>
          <p:nvPr/>
        </p:nvSpPr>
        <p:spPr>
          <a:xfrm>
            <a:off x="4553712" y="156362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内层循环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53712" y="1947672"/>
            <a:ext cx="31089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StratifiedKFold，4 折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 ROC-AUC 为目标做 GridSearchCV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用途：超参数搜索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1417320"/>
            <a:ext cx="35661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417320"/>
            <a:ext cx="68580" cy="178308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156362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共用折划分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02752" y="1947672"/>
            <a:ext cx="31089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所有模型看到完全相同的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折划分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用途：保证可比性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429000"/>
            <a:ext cx="54864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342900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57530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为何要嵌套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04672" y="3959352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在同一批折上既调参又评估会让结果虚高。嵌套把两者隔离，因此报出的 AUC 不含调参偏倚。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3429000"/>
            <a:ext cx="53035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309360" y="342900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6565392" y="357530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报告的指标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65392" y="3959352"/>
            <a:ext cx="4846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ROC-AUC · PR-AUC · 准确率 · 平衡准确率 · 灵敏度 · 特异度 · 精确率 · F1 · MCC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5029200"/>
            <a:ext cx="11064240" cy="86868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502920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51206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所有准确率均在固定阈值 0.5 下计算。阈值 0.55 表现更好，但那是看着测试数据挑出来的——若要采用，必须把阈值选择也放进内层循环。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比较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六种模型，相同折划分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3072384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966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966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模型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平衡准确率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ROC-AUC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灵敏度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特异度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RandomForest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0.553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0.433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HistGB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0.423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L1-LR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0.692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0.414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L2-LR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0.690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0.686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0.373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SVM-linear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0.692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0.672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0.549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0.362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基线（全猜阳性）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754880"/>
            <a:ext cx="11064240" cy="179222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754879"/>
            <a:ext cx="68580" cy="1792223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9011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在九项指标中赢下八项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5285232"/>
            <a:ext cx="10607040" cy="202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随机森林只在灵敏度上略胜（0.850 对 0.820），代价是特异度仅 0.553——意味着它在阴性样本上比抛硬币好不了多少。SVM-RBF 是唯一 MCC 超过 0.5 的模型。</a:t>
            </a:r>
            <a:endParaRPr lang="en-US" sz="1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65F2EA-A785-49D7-A8F3-49AC7E9717AF}"/>
              </a:ext>
            </a:extLst>
          </p:cNvPr>
          <p:cNvSpPr/>
          <p:nvPr/>
        </p:nvSpPr>
        <p:spPr>
          <a:xfrm>
            <a:off x="668003" y="5611402"/>
            <a:ext cx="43407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 L1-LR,L2-LR: two kinds of </a:t>
            </a:r>
            <a:r>
              <a:rPr lang="en-US" dirty="0" err="1"/>
              <a:t>LogisticRegression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168EDC-E900-4ED9-B510-A84DB2FB733C}"/>
              </a:ext>
            </a:extLst>
          </p:cNvPr>
          <p:cNvSpPr/>
          <p:nvPr/>
        </p:nvSpPr>
        <p:spPr>
          <a:xfrm>
            <a:off x="668003" y="6054444"/>
            <a:ext cx="38730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/>
              <a:t>HistGB</a:t>
            </a:r>
            <a:r>
              <a:rPr lang="en-US" dirty="0"/>
              <a:t>: </a:t>
            </a:r>
            <a:r>
              <a:rPr lang="en-US" dirty="0" err="1"/>
              <a:t>HistGradientBoostingClassifier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显著性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差距是真的吗？配对检验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折间标准差为 ±0.05，仅比较平均 AUC 不足以下结论。我们在同一批 25 折上做逐折配对比较。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400800" cy="13716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Δ 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胜出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Wilcoxon p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配对 t p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 vs 随机森林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+0.029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17/25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0.021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0.013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 vs L1-LR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+0.052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21/25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&lt;0.0001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8" name="Image 0" descr="/mnt/d/claude-code-project/group-corparation/Christina-project/slides/img/roc6_z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481328"/>
            <a:ext cx="4069080" cy="32826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452360" y="4791456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折外 ROC：单次 5 折划分 + 固定超参，非上一页的嵌套 CV 估计值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48640" y="3383280"/>
            <a:ext cx="64008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48640" y="338328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8"/>
          <p:cNvSpPr/>
          <p:nvPr/>
        </p:nvSpPr>
        <p:spPr>
          <a:xfrm>
            <a:off x="804672" y="3529584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804672" y="3913632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显著优于其余所有模型——不只是数值上领先。早先一轮漏掉 SVM 的比较曾得出「四个模型无显著差异」，加入 RBF 核后该结论被推翻。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5" name="Text 11"/>
          <p:cNvSpPr/>
          <p:nvPr/>
        </p:nvSpPr>
        <p:spPr>
          <a:xfrm>
            <a:off x="868680" y="559612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SVM-linear 只有 0.766——赢的是核函数，不是 SVM 本身。这是真实非线性结构的第一个线索。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指标解读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这些指标会以三种方式误导你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1064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1773936"/>
            <a:ext cx="566928" cy="566928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87452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91640" y="164592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准确率的基线是 0.581，不是 0.5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91640" y="201168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58% 的样本为阳性，因此一个永远预测阳性的模型已经能拿 0.581。SVM-RBF 的 0.771 对应的真实增益是 19 个百分点，不是 27。报告准确率时必须同时给出这条基线。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35808"/>
            <a:ext cx="11064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035808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4" name="Shape 12"/>
          <p:cNvSpPr/>
          <p:nvPr/>
        </p:nvSpPr>
        <p:spPr>
          <a:xfrm>
            <a:off x="868680" y="3346704"/>
            <a:ext cx="566928" cy="566928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447288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91640" y="3218688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F1 不能用于模型选择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91640" y="3584448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全猜阳性的基线模型 F1 = 0.735，比 L2-LR 的 0.725 还高。阳性占多数时 F1 会严重虚高——在这里它把一个毫无用处的模型排在了一个可用模型之上。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608576"/>
            <a:ext cx="11064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4608576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0" name="Shape 18"/>
          <p:cNvSpPr/>
          <p:nvPr/>
        </p:nvSpPr>
        <p:spPr>
          <a:xfrm>
            <a:off x="868680" y="4919472"/>
            <a:ext cx="566928" cy="566928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020056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691640" y="4791456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准确率掩盖了两类之间的不对称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691640" y="5157216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随机森林准确率 0.725，却只识别出 55% 的阴性样本。MCC 与平衡准确率的基线均为 0，能立刻暴露这一点——它们才是应该用来比较的指标。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稳健性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是不是调参调出来的？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我们把网格远远扩展出原范围——C 从 [0.1…10] 扩到 [0.01…500]，gamma 扩到 [1e-4…0.1] 外加 'scale'——然后重跑嵌套 CV。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2414016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  \  gamma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1e-4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1e-3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scale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5.0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10.0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50.0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500.0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572000"/>
            <a:ext cx="35204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572000"/>
            <a:ext cx="68580" cy="14630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71830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未触及边界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102352"/>
            <a:ext cx="3063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折中有 0 折选中网格边缘值。C = 5 是内部最优解。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51960" y="4572000"/>
            <a:ext cx="35204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51960" y="4572000"/>
            <a:ext cx="68580" cy="14630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1"/>
          <p:cNvSpPr/>
          <p:nvPr/>
        </p:nvSpPr>
        <p:spPr>
          <a:xfrm>
            <a:off x="4507992" y="471830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性能未变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507992" y="5102352"/>
            <a:ext cx="3063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扩展网格下 AUC 0.838 ± 0.052，原网格为 0.839。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55280" y="4572000"/>
            <a:ext cx="36576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955280" y="4572000"/>
            <a:ext cx="68580" cy="14630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7" name="Text 15"/>
          <p:cNvSpPr/>
          <p:nvPr/>
        </p:nvSpPr>
        <p:spPr>
          <a:xfrm>
            <a:off x="8211312" y="471830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曲面平坦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211312" y="5102352"/>
            <a:ext cx="3200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整个曲面跨度仅 0.73–0.81——性能并不依赖精细调参。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信号是真的吗？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置换检验、混杂因子与分层再分析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过拟合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把标签打乱 100 次，每次重跑整条 pipeline。如果模型能在噪声里找出结构，那么实测分数就毫无意义。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0.743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6426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实测 AUC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29352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真实标签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297680" y="19659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0.501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297680" y="26426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零分布均值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297680" y="29352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± 0.049，最大 0.614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0" y="196596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 = 0.0099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772400" y="264261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经验 p 值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72400" y="29352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次打乱中 0 次达到实测分数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106424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703320"/>
            <a:ext cx="68580" cy="10515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84962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如何解读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423367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零分布正好落在理论值 0.50 上，100 次打乱中的最大值为 0.614，远低于实测的 0.743。说明 pipeline 没有从噪声中制造信号。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1106424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937760"/>
            <a:ext cx="68580" cy="96012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508406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它不能证明什么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04672" y="5468112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置换检验排除的是过拟合，对混杂完全无能为力——一个纯粹靠采样季节做预测的模型同样能通过。这个问题在下一页处理。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混杂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混杂因子：采样月份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996928" cy="13716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84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84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18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18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184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184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月份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3154680"/>
            <a:ext cx="5394960" cy="1481328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3154680"/>
            <a:ext cx="68580" cy="1481328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33009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问题所在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36850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11–12 月 100% 阳性，1 月 90% 阴性。仅凭采样月份就能达到 AUC 0.777——此时还没考虑任何一个菌。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3154680"/>
            <a:ext cx="5394960" cy="1481328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3154680"/>
            <a:ext cx="68580" cy="1481328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33009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它同样污染了特征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36850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→ 预测「是否采样于 11–12 月」：AUC 0.777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→ 预测采样地点：AUC 0.795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菌群编码了这只鸟在何时何地被捕获。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4864608"/>
            <a:ext cx="1106424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48640" y="4864608"/>
            <a:ext cx="68580" cy="10972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7" name="Text 14"/>
          <p:cNvSpPr/>
          <p:nvPr/>
        </p:nvSpPr>
        <p:spPr>
          <a:xfrm>
            <a:off x="804672" y="501091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为何这并非致命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04672" y="539496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禽流感流行率的季节性是真实的生物学现象，不只是采样安排的产物。真正的问题是：固定季节之后还剩下什么——这需要分层再分析，而不是一个 p 值。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分层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在同一月份内部重跑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2633472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阳性数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+ 10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/ 11 月+12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 / 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 / 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少数类过少，无法建模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51960"/>
            <a:ext cx="539496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251960"/>
            <a:ext cx="68580" cy="14173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982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信号存活下来了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78231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固定采样月份后，夏季各层的 AUC 仍保持在 0.86–0.96。季节混杂无法解释掉这一关联。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4251960"/>
            <a:ext cx="5394960" cy="1417320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251960"/>
            <a:ext cx="68580" cy="141732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43982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但效应并不均匀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478231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月 + 10 月降到 0.668。效应在季节之间高度异质，只报 0.944 属于挑选有利结果。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消融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菌群到底贡献了多少？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仅协变量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9110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季节、地点、物种、性别、月份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611880" y="1645920"/>
            <a:ext cx="6949440" cy="475488"/>
          </a:xfrm>
          <a:prstGeom prst="rect">
            <a:avLst/>
          </a:prstGeom>
          <a:solidFill>
            <a:srgbClr val="E8EEF0"/>
          </a:solidFill>
          <a:ln/>
        </p:spPr>
      </p:sp>
      <p:sp>
        <p:nvSpPr>
          <p:cNvPr id="9" name="Shape 7"/>
          <p:cNvSpPr/>
          <p:nvPr/>
        </p:nvSpPr>
        <p:spPr>
          <a:xfrm>
            <a:off x="3611880" y="1645920"/>
            <a:ext cx="5883859" cy="475488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0" name="Text 8"/>
          <p:cNvSpPr/>
          <p:nvPr/>
        </p:nvSpPr>
        <p:spPr>
          <a:xfrm>
            <a:off x="10698480" y="166420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0.881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2651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仅菌群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962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70 个 CLR 特征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11880" y="2697480"/>
            <a:ext cx="6949440" cy="475488"/>
          </a:xfrm>
          <a:prstGeom prst="rect">
            <a:avLst/>
          </a:prstGeom>
          <a:solidFill>
            <a:srgbClr val="E8EEF0"/>
          </a:solidFill>
          <a:ln/>
        </p:spPr>
      </p:sp>
      <p:sp>
        <p:nvSpPr>
          <p:cNvPr id="14" name="Shape 12"/>
          <p:cNvSpPr/>
          <p:nvPr/>
        </p:nvSpPr>
        <p:spPr>
          <a:xfrm>
            <a:off x="3611880" y="2697480"/>
            <a:ext cx="4107891" cy="475488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5" name="Text 13"/>
          <p:cNvSpPr/>
          <p:nvPr/>
        </p:nvSpPr>
        <p:spPr>
          <a:xfrm>
            <a:off x="10698480" y="271576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0.766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48640" y="3703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+ 协变量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4014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合并模型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11880" y="3749040"/>
            <a:ext cx="6949440" cy="475488"/>
          </a:xfrm>
          <a:prstGeom prst="rect">
            <a:avLst/>
          </a:prstGeom>
          <a:solidFill>
            <a:srgbClr val="E8EEF0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1880" y="3749040"/>
            <a:ext cx="6547917" cy="47548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0" name="Text 18"/>
          <p:cNvSpPr/>
          <p:nvPr/>
        </p:nvSpPr>
        <p:spPr>
          <a:xfrm>
            <a:off x="10698480" y="376732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0.924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361188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（条形起点 = 0.50）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5074920"/>
            <a:ext cx="11064240" cy="1051560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5074920"/>
            <a:ext cx="68580" cy="105156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522122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这一页请仔细读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04672" y="560527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菌群在协变量之上带来 +0.043 的增量——真实但有限的独立贡献。协变量本身就已达到 0.881。任何「肠道菌群可预测流感」的表述，都必须相对这条基线陈述，而不是相对 0.50。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生物学发现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哪些菌携带信号——以及方法之间在哪里产生分歧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BIOMARKER 面板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九个 Biomarker，三套独立方法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 permutation importance、L1 稳定性选择（200 次 bootstrap）、差异丰度（CLR + Welch t + BH-FDR）三套方法独立运行后取交集。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521440" cy="3456432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属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 重要性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 频率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FDR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（未定属）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Ruminococcaceae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0.0198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Varibaculum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Actinomycetaceae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0.0131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0.985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Rothia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Micrococcaceae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0.995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2e-06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Psittacicella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Pasteurellaceae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0.0079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Staphylococcus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Staphylococcaceae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1e-03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Lawsonella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Corynebacteriaceae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0.0055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Candidatus Arthromitus (SFB)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Clostridiaceae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0.0050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0.995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3F7A4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4e-05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 个未注释特征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≥ 0.915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≤ 1e-04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285232"/>
            <a:ext cx="11064240" cy="9875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285232"/>
            <a:ext cx="68580" cy="987552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4315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Candidatus Arthromitus 是最具可解释性的一个命中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8155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分节丝状菌（SFB）在感染个体中富集。SFB 是已知的 Th17 与黏膜 IgA 应答诱导者——这为该关联提供了一条独立的免疫学支持证据。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解读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方法之间的分歧在哪里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交集是最安全的名单。而生物学恰恰藏在分歧里。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39496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828800"/>
            <a:ext cx="68580" cy="22860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Veillonella——被 L1 剔除，但真实存在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04672" y="2359152"/>
            <a:ext cx="49377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permutation importance 排名第 2，且在 25 折中 100% 为正。FDR = 2.3e-05。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然而它的 L1 选中频率只有 0.105。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这是教科书式的共线性：L1 在一组相关特征中只保留一个，丢弃其余。因为 L1 没选它就排除 Veillonella，是错误的。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539496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1828800"/>
            <a:ext cx="68580" cy="2286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3" name="Text 11"/>
          <p:cNvSpPr/>
          <p:nvPr/>
        </p:nvSpPr>
        <p:spPr>
          <a:xfrm>
            <a:off x="6473952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Moraxella、Fusibacter、Cetobacterium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73952" y="2359152"/>
            <a:ext cx="49377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permutation importance 为 0.008–0.009，在 88% 的折中为正。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单变量 FDR：0.87、0.90、0.97——完全不显著。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它们只通过与其他菌的交互起作用。任何单变量检验都不可能发现它们——而这正是 RBF 核所利用的东西。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343400"/>
            <a:ext cx="11064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4343400"/>
            <a:ext cx="68580" cy="137160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44897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对论文写作的实际影响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04672" y="487375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任何单一方法导出的 biomarker 面板，都会以一种特定且可预测的方式出错：单变量检验漏掉交互驱动的菌；L1 漏掉共线的菌；permutation importance 单独使用则给不出效应方向。报告三者交集并点名例外，比任何单一排序都更站得住脚，而代价只是多做一次分析。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非线性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存在真实非线性结构的证据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9202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证据一——核函数带来的差距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    AUC 0.839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SVM-linear  AUC 0.766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两个模型仅在核函数上不同，却差出 0.073。带来性能的是非线性，而不是最大间隔这一形式本身。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39496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63040"/>
            <a:ext cx="68580" cy="19202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证据二——「隐形」的菌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73952" y="1993392"/>
            <a:ext cx="49377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若干特征具有可观的 permutation importance，但在单变量检验中完全不显著（FDR 0.87–0.97）。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它们的效应只存在于与其他菌的组合之中。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110642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611880"/>
            <a:ext cx="68580" cy="1143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7581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生物学解读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04672" y="4142232"/>
            <a:ext cx="10607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这与已知的肠道菌群规律一致：菌通过菌群联合体与代谢交叉喂养发挥作用，而非孤立起效。单个属很少能独自决定一个免疫表型。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13892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一处需要记录在案的修正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8680" y="541324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早先一轮分析基于「线性模型与树模型表现相当」得出「非线性成分不强」的结论。加入 RBF 核后该结论被推翻。结论改变是因为模型类别不完整，而非数据发生了变化。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局限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六项已知局限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325880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3258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 跨研究泛化失败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BioProject 做 GroupKFold：AUC 0.54 ± 0.29。四个研究的宿主、组织与地域各不相同。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463040"/>
            <a:ext cx="5394960" cy="1325880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463040"/>
            <a:ext cx="68580" cy="13258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 上游过滤规则未知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519672" y="1993392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275 个特征对禽类 16S 而言远远偏少。若过滤时用到了标签，本报告所有数字都被高估。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980944"/>
            <a:ext cx="5394960" cy="1325880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980944"/>
            <a:ext cx="68580" cy="13258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12724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 抽平方式不严谨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04672" y="3511296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208 个样本恰好 5000，118 个低于此值。CLR 绕开了该问题，但依赖深度的指标绕不开。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2980944"/>
            <a:ext cx="5394960" cy="1325880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2980944"/>
            <a:ext cx="68580" cy="13258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312724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  判决阈值未优化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519672" y="3511296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所有准确率均在固定阈值 0.5 下计算。调优需把阈值选择嵌套进 CV。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498848"/>
            <a:ext cx="5394960" cy="1325880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4498848"/>
            <a:ext cx="68580" cy="13258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464515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5.  分类学分辨率受限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04672" y="5029200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种水平完全空白，55 个特征无属注释。生物学解释止步于属/科。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263640" y="4498848"/>
            <a:ext cx="5394960" cy="1325880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4498848"/>
            <a:ext cx="68580" cy="13258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6519672" y="464515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  混杂基线偏高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519672" y="5029200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仅协变量即达 0.881。关于菌群的结论必须始终相对这条基线陈述。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 README 中的表述完全一致——未因汇报场合而弱化。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26464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49961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389888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野鸭肠道菌群携带真实且可复现的流感感染信号（置换检验 p = 0.0099）。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212848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2860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2176272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是最优模型——AUC 0.839、MCC 0.531——并显著优于随机森林（p = 0.021）与 L1-LR（p &lt; 0.001）。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2999232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0723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962656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信号部分来自非线性：RBF 核比线性核多出 0.073 的 AUC，且若干菌只在组合中起作用。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3785616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85876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374904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九个菌通过了三套独立筛选方法的交叉验证；其中 Candidatus Arthromitus（SFB）有独立的免疫学证据支持。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4572000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64515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535424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采样季节是严重的混杂因子（仅协变量即达 AUC 0.881），但分层分析表明它无法解释掉全部信号。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5358384"/>
            <a:ext cx="457200" cy="4572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543153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88720" y="5321808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结论仅适用于 UC Davis 野鸭队列，不可跨宿主或跨研究外推。</a:t>
            </a:r>
            <a:endParaRPr lang="en-US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可复现性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全流程可复现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2523744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脚本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功能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build_features.py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构建特征矩阵 + 质控报告（深度、稀疏度、泄漏审计）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export_ml_dataset.py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导出含元数据与协变量的开箱即用建模数据集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train_eval.py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嵌套 CV、置换检验、混杂检查、月份分层、稳定性选择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compare_models.py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六模型 × 九指标横向比较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svm_analysis.py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超参网格扩展 + permutation importance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97680"/>
            <a:ext cx="11064240" cy="96012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446227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https://github.com/pengsihua2023/Christina-machine-learning-project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8680" y="4809744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build_features.py &amp;&amp; python3 train_eval.py &amp;&amp; python3 compare_models.py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5440680"/>
            <a:ext cx="68580" cy="7315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9"/>
          <p:cNvSpPr/>
          <p:nvPr/>
        </p:nvSpPr>
        <p:spPr>
          <a:xfrm>
            <a:off x="804672" y="5605272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 个文件纳入版本控制：全部代码、全部输入数据、全部结果表与图，以及中文（README.md）与英文（README.en.md）两份文档。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3444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下一步工作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31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459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确认上游过滤规则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2807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唯一可能推翻全部性能数字的因素。需要向数据提供方核实。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3474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474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" y="3602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把判决阈值纳入嵌套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950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将阈值选择放进 CV 内层，以得到无偏的准确率。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4617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617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" y="4745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扩充队列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5093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跨研究泛化需要的是更多同一宿主的个体，而不是更多不同宿主的研究。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61722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Sihua Peng  ·  佐治亚大学公共卫生学院  ·  pengsihua99@gmail.com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2080</Words>
  <Application>Microsoft Office PowerPoint</Application>
  <PresentationFormat>Widescreen</PresentationFormat>
  <Paragraphs>664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微软雅黑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University of Georgia, College of Public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基于肠道菌群的禽流感感染预测</dc:title>
  <dc:subject>PptxGenJS Presentation</dc:subject>
  <dc:creator>Sihua Peng</dc:creator>
  <cp:lastModifiedBy>Sihua Peng</cp:lastModifiedBy>
  <cp:revision>3</cp:revision>
  <dcterms:created xsi:type="dcterms:W3CDTF">2026-08-10T21:28:23Z</dcterms:created>
  <dcterms:modified xsi:type="dcterms:W3CDTF">2026-08-10T21:57:38Z</dcterms:modified>
</cp:coreProperties>
</file>