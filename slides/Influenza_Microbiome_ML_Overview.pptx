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0.73–0.97</a:t>
            </a:r>
            <a:endParaRPr lang="en-US" sz="3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Effect within a season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microbiome only</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2800" b="1" dirty="0">
                <a:solidFill>
                  <a:srgbClr val="12505F"/>
                </a:solidFill>
                <a:latin typeface="Georgia" pitchFamily="34" charset="0"/>
                <a:ea typeface="Georgia" pitchFamily="34" charset="-122"/>
                <a:cs typeface="Georgia" pitchFamily="34" charset="-120"/>
              </a:rPr>
              <a:t>+0.04–0.11</a:t>
            </a:r>
            <a:endParaRPr lang="en-US" sz="28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Adds over covariates</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model-dependent increment</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no consistent ranking exists among the leading models (AUC 0.825–0.858, all within fold-to-fold noise),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This Section Should Be Read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Text 17"/>
          <p:cNvSpPr/>
          <p:nvPr/>
        </p:nvSpPr>
        <p:spPr>
          <a:xfrm>
            <a:off x="548640" y="3200400"/>
            <a:ext cx="11064240" cy="320040"/>
          </a:xfrm>
          <a:prstGeom prst="rect">
            <a:avLst/>
          </a:prstGeom>
          <a:noFill/>
          <a:ln/>
        </p:spPr>
        <p:txBody>
          <a:bodyPr wrap="square" lIns="0" tIns="0" rIns="0" bIns="0" rtlCol="0" anchor="ctr"/>
          <a:lstStyle/>
          <a:p>
            <a:pPr indent="0" marL="0">
              <a:buNone/>
            </a:pPr>
            <a:r>
              <a:rPr lang="en-US" sz="1700" b="1" dirty="0">
                <a:solidFill>
                  <a:srgbClr val="16252C"/>
                </a:solidFill>
                <a:latin typeface="Georgia" pitchFamily="34" charset="0"/>
                <a:ea typeface="Georgia" pitchFamily="34" charset="-122"/>
                <a:cs typeface="Georgia" pitchFamily="34" charset="-120"/>
              </a:rPr>
              <a:t>Three ways the metrics mislead</a:t>
            </a:r>
            <a:endParaRPr lang="en-US" sz="1700" dirty="0"/>
          </a:p>
        </p:txBody>
      </p:sp>
      <p:sp>
        <p:nvSpPr>
          <p:cNvPr id="20" name="Shape 18"/>
          <p:cNvSpPr/>
          <p:nvPr/>
        </p:nvSpPr>
        <p:spPr>
          <a:xfrm>
            <a:off x="54864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3611880"/>
            <a:ext cx="68580" cy="1371600"/>
          </a:xfrm>
          <a:prstGeom prst="rect">
            <a:avLst/>
          </a:prstGeom>
          <a:solidFill>
            <a:srgbClr val="D2603A"/>
          </a:solidFill>
          <a:ln/>
        </p:spPr>
      </p:sp>
      <p:sp>
        <p:nvSpPr>
          <p:cNvPr id="22" name="Text 20"/>
          <p:cNvSpPr/>
          <p:nvPr/>
        </p:nvSpPr>
        <p:spPr>
          <a:xfrm>
            <a:off x="80467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Accuracy's baseline is 0.581</a:t>
            </a:r>
            <a:endParaRPr lang="en-US" sz="1250" dirty="0"/>
          </a:p>
        </p:txBody>
      </p:sp>
      <p:sp>
        <p:nvSpPr>
          <p:cNvPr id="23" name="Text 21"/>
          <p:cNvSpPr/>
          <p:nvPr/>
        </p:nvSpPr>
        <p:spPr>
          <a:xfrm>
            <a:off x="80467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58% of samples are positive, so always-Pos already scores 0.581. Never report accuracy without that number beside it.</a:t>
            </a:r>
            <a:endParaRPr lang="en-US" sz="1100" dirty="0"/>
          </a:p>
        </p:txBody>
      </p:sp>
      <p:sp>
        <p:nvSpPr>
          <p:cNvPr id="24" name="Shape 22"/>
          <p:cNvSpPr/>
          <p:nvPr/>
        </p:nvSpPr>
        <p:spPr>
          <a:xfrm>
            <a:off x="429768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5" name="Shape 23"/>
          <p:cNvSpPr/>
          <p:nvPr/>
        </p:nvSpPr>
        <p:spPr>
          <a:xfrm>
            <a:off x="4297680" y="3611880"/>
            <a:ext cx="68580" cy="1371600"/>
          </a:xfrm>
          <a:prstGeom prst="rect">
            <a:avLst/>
          </a:prstGeom>
          <a:solidFill>
            <a:srgbClr val="D2603A"/>
          </a:solidFill>
          <a:ln/>
        </p:spPr>
      </p:sp>
      <p:sp>
        <p:nvSpPr>
          <p:cNvPr id="26" name="Text 24"/>
          <p:cNvSpPr/>
          <p:nvPr/>
        </p:nvSpPr>
        <p:spPr>
          <a:xfrm>
            <a:off x="455371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F1 cannot rank models</a:t>
            </a:r>
            <a:endParaRPr lang="en-US" sz="1250" dirty="0"/>
          </a:p>
        </p:txBody>
      </p:sp>
      <p:sp>
        <p:nvSpPr>
          <p:cNvPr id="27" name="Text 25"/>
          <p:cNvSpPr/>
          <p:nvPr/>
        </p:nvSpPr>
        <p:spPr>
          <a:xfrm>
            <a:off x="455371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always-Pos baseline scores F1 = 0.735 — above L2-LR's 0.699. F1 inflates when positives dominate.</a:t>
            </a:r>
            <a:endParaRPr lang="en-US" sz="1100" dirty="0"/>
          </a:p>
        </p:txBody>
      </p:sp>
      <p:sp>
        <p:nvSpPr>
          <p:cNvPr id="28" name="Shape 26"/>
          <p:cNvSpPr/>
          <p:nvPr/>
        </p:nvSpPr>
        <p:spPr>
          <a:xfrm>
            <a:off x="8046720" y="3611880"/>
            <a:ext cx="3566160" cy="137160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9" name="Shape 27"/>
          <p:cNvSpPr/>
          <p:nvPr/>
        </p:nvSpPr>
        <p:spPr>
          <a:xfrm>
            <a:off x="8046720" y="3611880"/>
            <a:ext cx="68580" cy="1371600"/>
          </a:xfrm>
          <a:prstGeom prst="rect">
            <a:avLst/>
          </a:prstGeom>
          <a:solidFill>
            <a:srgbClr val="D2603A"/>
          </a:solidFill>
          <a:ln/>
        </p:spPr>
      </p:sp>
      <p:sp>
        <p:nvSpPr>
          <p:cNvPr id="30" name="Text 28"/>
          <p:cNvSpPr/>
          <p:nvPr/>
        </p:nvSpPr>
        <p:spPr>
          <a:xfrm>
            <a:off x="8302752" y="3758184"/>
            <a:ext cx="31089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MCC has a zero baseline</a:t>
            </a:r>
            <a:endParaRPr lang="en-US" sz="1250" dirty="0"/>
          </a:p>
        </p:txBody>
      </p:sp>
      <p:sp>
        <p:nvSpPr>
          <p:cNvPr id="31" name="Text 29"/>
          <p:cNvSpPr/>
          <p:nvPr/>
        </p:nvSpPr>
        <p:spPr>
          <a:xfrm>
            <a:off x="8302752" y="4142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does balanced accuracy. They expose class asymmetry at once: RF reaches 0.718 accuracy while catching 54% of negatives.</a:t>
            </a:r>
            <a:endParaRPr lang="en-US" sz="1100" dirty="0"/>
          </a:p>
        </p:txBody>
      </p:sp>
      <p:sp>
        <p:nvSpPr>
          <p:cNvPr id="32" name="Shape 30"/>
          <p:cNvSpPr/>
          <p:nvPr/>
        </p:nvSpPr>
        <p:spPr>
          <a:xfrm>
            <a:off x="548640" y="5166360"/>
            <a:ext cx="11064240" cy="777240"/>
          </a:xfrm>
          <a:prstGeom prst="rect">
            <a:avLst/>
          </a:prstGeom>
          <a:solidFill>
            <a:srgbClr val="FBEDE7"/>
          </a:solidFill>
          <a:ln/>
        </p:spPr>
      </p:sp>
      <p:sp>
        <p:nvSpPr>
          <p:cNvPr id="33" name="Shape 31"/>
          <p:cNvSpPr/>
          <p:nvPr/>
        </p:nvSpPr>
        <p:spPr>
          <a:xfrm>
            <a:off x="548640" y="5166360"/>
            <a:ext cx="68580" cy="777240"/>
          </a:xfrm>
          <a:prstGeom prst="rect">
            <a:avLst/>
          </a:prstGeom>
          <a:solidFill>
            <a:srgbClr val="D2603A"/>
          </a:solidFill>
          <a:ln/>
        </p:spPr>
      </p:sp>
      <p:sp>
        <p:nvSpPr>
          <p:cNvPr id="34" name="Text 32"/>
          <p:cNvSpPr/>
          <p:nvPr/>
        </p:nvSpPr>
        <p:spPr>
          <a:xfrm>
            <a:off x="804672" y="525780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0.887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0.463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0.615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0.475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0.399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0.679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0.402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ExtraTrees leads only nominally (p=0.041, uncorrected); SVM-RBF, the ensemble and SVM-poly are mutually indistinguishable (next slide). Real separation starts at GP-RBF.</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.539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.809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is nominally ahead of everything (p = 0.041 vs SVM-RBF) but fails the Bonferroni threshold for 15 tests (0.0033) and wins only 14/25 folds.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SVM-RBF, ensemble and SVM-poly are mutually inseparable (p = 0.270–0.539).</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
        <p:nvSpPr>
          <p:cNvPr id="20" name="Text 17"/>
          <p:cNvSpPr/>
          <p:nvPr/>
        </p:nvSpPr>
        <p:spPr>
          <a:xfrm>
            <a:off x="548640" y="6035040"/>
            <a:ext cx="10607040" cy="292608"/>
          </a:xfrm>
          <a:prstGeom prst="rect">
            <a:avLst/>
          </a:prstGeom>
          <a:noFill/>
          <a:ln/>
        </p:spPr>
        <p:txBody>
          <a:bodyPr wrap="square" lIns="0" tIns="0" rIns="0" bIns="0" rtlCol="0" anchor="ctr"/>
          <a:lstStyle/>
          <a:p>
            <a:pPr indent="0" marL="0">
              <a:buNone/>
            </a:pPr>
            <a:r>
              <a:rPr lang="en-US" sz="900" i="1" dirty="0">
                <a:solidFill>
                  <a:srgbClr val="5F7580"/>
                </a:solidFill>
                <a:latin typeface="Calibri" pitchFamily="34" charset="0"/>
                <a:ea typeface="Calibri" pitchFamily="34" charset="-122"/>
                <a:cs typeface="Calibri" pitchFamily="34" charset="-120"/>
              </a:rPr>
              <a:t>Hyperparameter robustness: grid expanded to C ∈ [0.01, 500], gamma ∈ [1e-4, 0.1] + scale. 0 of 15 folds hit a boundary; AUC essentially unchanged; the surface spans only 0.73–0.81.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0.023 AUC lead at p=0.041, uncorrected for 15 comparisons, does not settle a model choice. The decisive test is where each model stands when the signal is weak — so we re-ran both inside every sampling-month stratum.</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18</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PRIMARY ESTIMATE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Microbiome Effect, With Season Held Fixed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Season is a confounder, not an exposure of interest — so it does not belong in the model. Instead we fix the month and compare within strata. The model contains nothing but the 70 CLR features.</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1097280"/>
                <a:gridCol w="1371600"/>
                <a:gridCol w="1554480"/>
                <a:gridCol w="1371600"/>
                <a:gridCol w="123444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All samples (unstratified)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0.833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0.772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August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0.838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0.667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0.618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October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0.734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0.571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0.533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Jul + 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0.626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463040"/>
          </a:xfrm>
          <a:prstGeom prst="rect">
            <a:avLst/>
          </a:prstGeom>
          <a:solidFill>
            <a:srgbClr val="18707F"/>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Report the range, not an average</a:t>
            </a:r>
            <a:endParaRPr lang="en-US" sz="1400" dirty="0"/>
          </a:p>
        </p:txBody>
      </p:sp>
      <p:sp>
        <p:nvSpPr>
          <p:cNvPr id="11" name="Text 8"/>
          <p:cNvSpPr/>
          <p:nvPr/>
        </p:nvSpPr>
        <p:spPr>
          <a:xfrm>
            <a:off x="80467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AUC 0.734–0.965 · accuracy 0.676–0.949 · MCC 0.328–0.893.</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 sample-weighted mean (0.894) would hide October, and its weights come from field-campaign size, not scientific relevance.</a:t>
            </a:r>
            <a:endParaRPr lang="en-US" sz="1100" dirty="0"/>
          </a:p>
        </p:txBody>
      </p:sp>
      <p:sp>
        <p:nvSpPr>
          <p:cNvPr id="12" name="Shape 9"/>
          <p:cNvSpPr/>
          <p:nvPr/>
        </p:nvSpPr>
        <p:spPr>
          <a:xfrm>
            <a:off x="6217920" y="4434840"/>
            <a:ext cx="5394960" cy="14630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463040"/>
          </a:xfrm>
          <a:prstGeom prst="rect">
            <a:avLst/>
          </a:prstGeom>
          <a:solidFill>
            <a:srgbClr val="D2603A"/>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Two caveats that travel with these numbers</a:t>
            </a:r>
            <a:endParaRPr lang="en-US" sz="1400" dirty="0"/>
          </a:p>
        </p:txBody>
      </p:sp>
      <p:sp>
        <p:nvSpPr>
          <p:cNvPr id="15" name="Text 12"/>
          <p:cNvSpPr/>
          <p:nvPr/>
        </p:nvSpPr>
        <p:spPr>
          <a:xfrm>
            <a:off x="647395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October specificity is 0.533 — barely better than chance on negatives.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Only 165 of 260 samples can be stratified at all: November and December are 100% positive, so AUC is undefined there.</a:t>
            </a:r>
            <a:endParaRPr lang="en-US" sz="1100" dirty="0"/>
          </a:p>
        </p:txBody>
      </p:sp>
      <p:sp>
        <p:nvSpPr>
          <p:cNvPr id="16" name="Text 13"/>
          <p:cNvSpPr/>
          <p:nvPr/>
        </p:nvSpPr>
        <p:spPr>
          <a:xfrm>
            <a:off x="548640" y="5989320"/>
            <a:ext cx="1078992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Under covariate adjustment instead, the increment is +0.043 (L2-LR) to +0.105 (SVM-RBF) — model-dependent, which is why stratification is the primary estimate.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914400"/>
        </p:xfrm>
        <a:graphic>
          <a:graphicData uri="http://schemas.openxmlformats.org/drawingml/2006/table">
            <a:tbl>
              <a:tblPr/>
              <a:tblGrid>
                <a:gridCol w="1920240"/>
                <a:gridCol w="1234440"/>
                <a:gridCol w="1234440"/>
                <a:gridCol w="109728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6309360" y="1828800"/>
            <a:ext cx="5303520" cy="1773936"/>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914400"/>
        </p:xfrm>
        <a:graphic>
          <a:graphicData uri="http://schemas.openxmlformats.org/drawingml/2006/table">
            <a:tbl>
              <a:tblPr/>
              <a:tblGrid>
                <a:gridCol w="2331720"/>
                <a:gridCol w="960120"/>
                <a:gridCol w="96012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4" name="Shape 10"/>
          <p:cNvSpPr/>
          <p:nvPr/>
        </p:nvSpPr>
        <p:spPr>
          <a:xfrm>
            <a:off x="6309360" y="4206240"/>
            <a:ext cx="530352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25</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0.755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+0.080, winning 24 of 25 folds, Wilcoxon p &lt; 0.0001.</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0.835, MCC 0.535 — significantly beating Random Forest (p = 0.017), XGBoost (p = 0.005)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Season is a confounder, so the primary estimate keeps only microbiome features and fixes the month: AUC 0.734 (October) to 0.965 (July), accuracy 0.676 to 0.949. The effect is real but strongly season-dependent.</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0.858, p = 0.041 uncorrected)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2026-08-11T00:47:00Z</dcterms:created>
  <dcterms:modified xsi:type="dcterms:W3CDTF">2026-08-11T00:47:00Z</dcterms:modified>
</cp:coreProperties>
</file>