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0.73–0.97</a:t>
            </a:r>
            <a:endParaRPr lang="en-US" sz="3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Effect within a season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microbiome only</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2800" b="1" dirty="0">
                <a:solidFill>
                  <a:srgbClr val="12505F"/>
                </a:solidFill>
                <a:latin typeface="Georgia" pitchFamily="34" charset="0"/>
                <a:ea typeface="Georgia" pitchFamily="34" charset="-122"/>
                <a:cs typeface="Georgia" pitchFamily="34" charset="-120"/>
              </a:rPr>
              <a:t>+0.04–0.11</a:t>
            </a:r>
            <a:endParaRPr lang="en-US" sz="28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Adds over covariates</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model-dependent increment</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the four best of 17 models are statistically indistinguishable (AUC 0.834–0.859),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indent="0" marL="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0.725.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0.725 accuracy while catching 55%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0.481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two leaders cannot be told apart, and three of these four are mutually indistinguishable (next slide). Their order here is largely noise;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.554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.420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vs SVM-RBF: p = 0.085. SVM-RBF, ensemble and SVM-poly: mutually not separable (p = 0.360–0.609). Yet ExtraTrees does separate from those two.</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No consistent ranking exists among the leaders.</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35040"/>
            <a:ext cx="10607040" cy="292608"/>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Hyperparameter robustness: grid expanded to C ∈ [0.01, 500], gamma ∈ [1e-4, 0.1] + scale. 0 of 15 folds hit a boundary; AUC unchanged (0.838 vs 0.839); surface spans only 0.73–0.81.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PRIMARY ESTIMATE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Microbiome Effect, With Season Held Fixed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Season is a confounder, not an exposure of interest — so it does not belong in the model. Instead we fix the month and compare within strata. The model contains nothing but the 70 CLR features.</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1097280"/>
                <a:gridCol w="1371600"/>
                <a:gridCol w="1554480"/>
                <a:gridCol w="1371600"/>
                <a:gridCol w="123444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All samples (unstratified)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0.833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0.772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August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0.910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0.838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0.667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0.618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October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0.734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0.571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0.533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0.328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Jul + 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0.626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0.896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434840"/>
            <a:ext cx="539496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434840"/>
            <a:ext cx="68580" cy="1463040"/>
          </a:xfrm>
          <a:prstGeom prst="rect">
            <a:avLst/>
          </a:prstGeom>
          <a:solidFill>
            <a:srgbClr val="18707F"/>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Report the range, not an average</a:t>
            </a:r>
            <a:endParaRPr lang="en-US" sz="1400" dirty="0"/>
          </a:p>
        </p:txBody>
      </p:sp>
      <p:sp>
        <p:nvSpPr>
          <p:cNvPr id="11" name="Text 8"/>
          <p:cNvSpPr/>
          <p:nvPr/>
        </p:nvSpPr>
        <p:spPr>
          <a:xfrm>
            <a:off x="80467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AUC 0.734–0.965 · accuracy 0.676–0.949 · MCC 0.328–0.893.</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 sample-weighted mean (0.894) would hide October, and its weights come from field-campaign size, not scientific relevance.</a:t>
            </a:r>
            <a:endParaRPr lang="en-US" sz="1100" dirty="0"/>
          </a:p>
        </p:txBody>
      </p:sp>
      <p:sp>
        <p:nvSpPr>
          <p:cNvPr id="12" name="Shape 9"/>
          <p:cNvSpPr/>
          <p:nvPr/>
        </p:nvSpPr>
        <p:spPr>
          <a:xfrm>
            <a:off x="6217920" y="4434840"/>
            <a:ext cx="5394960" cy="14630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434840"/>
            <a:ext cx="68580" cy="1463040"/>
          </a:xfrm>
          <a:prstGeom prst="rect">
            <a:avLst/>
          </a:prstGeom>
          <a:solidFill>
            <a:srgbClr val="D2603A"/>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Two caveats that travel with these numbers</a:t>
            </a:r>
            <a:endParaRPr lang="en-US" sz="1400" dirty="0"/>
          </a:p>
        </p:txBody>
      </p:sp>
      <p:sp>
        <p:nvSpPr>
          <p:cNvPr id="15" name="Text 12"/>
          <p:cNvSpPr/>
          <p:nvPr/>
        </p:nvSpPr>
        <p:spPr>
          <a:xfrm>
            <a:off x="647395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October specificity is 0.533 — barely better than chance on negatives.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Only 165 of 260 samples can be stratified at all: November and December are 100% positive, so AUC is undefined there.</a:t>
            </a:r>
            <a:endParaRPr lang="en-US" sz="1100" dirty="0"/>
          </a:p>
        </p:txBody>
      </p:sp>
      <p:sp>
        <p:nvSpPr>
          <p:cNvPr id="16" name="Text 13"/>
          <p:cNvSpPr/>
          <p:nvPr/>
        </p:nvSpPr>
        <p:spPr>
          <a:xfrm>
            <a:off x="548640" y="5989320"/>
            <a:ext cx="1078992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Under covariate adjustment instead, the increment is +0.043 (L2-LR) to +0.105 (SVM-RBF) — model-dependent, which is why stratification is the primary estimate.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914400"/>
        </p:xfrm>
        <a:graphic>
          <a:graphicData uri="http://schemas.openxmlformats.org/drawingml/2006/table">
            <a:tbl>
              <a:tblPr/>
              <a:tblGrid>
                <a:gridCol w="2468880"/>
                <a:gridCol w="1280160"/>
                <a:gridCol w="1371600"/>
                <a:gridCol w="118872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7132320" y="1828800"/>
            <a:ext cx="4480560" cy="2011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GENERALIZATION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Would It Work at a New Wetland?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Random cross-validation lets a model score by recognising the site. Grouping by site removes that shortcut. The naive result looks catastrophic — and is misleading.</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486400" cy="914400"/>
        </p:xfrm>
        <a:graphic>
          <a:graphicData uri="http://schemas.openxmlformats.org/drawingml/2006/table">
            <a:tbl>
              <a:tblPr/>
              <a:tblGrid>
                <a:gridCol w="1920240"/>
                <a:gridCol w="1234440"/>
                <a:gridCol w="1234440"/>
                <a:gridCol w="109728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Leave-one-site-out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LOLO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Random CV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Drop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−0.308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6309360" y="1828800"/>
            <a:ext cx="5303520" cy="1773936"/>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6309360" y="1828800"/>
            <a:ext cx="68580" cy="1773936"/>
          </a:xfrm>
          <a:prstGeom prst="rect">
            <a:avLst/>
          </a:prstGeom>
          <a:solidFill>
            <a:srgbClr val="D2603A"/>
          </a:solidFill>
          <a:ln/>
        </p:spPr>
      </p:sp>
      <p:sp>
        <p:nvSpPr>
          <p:cNvPr id="10" name="Text 7"/>
          <p:cNvSpPr/>
          <p:nvPr/>
        </p:nvSpPr>
        <p:spPr>
          <a:xfrm>
            <a:off x="6565392" y="197510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Why it is misleading</a:t>
            </a:r>
            <a:endParaRPr lang="en-US" sz="1400" dirty="0"/>
          </a:p>
        </p:txBody>
      </p:sp>
      <p:sp>
        <p:nvSpPr>
          <p:cNvPr id="11" name="Text 8"/>
          <p:cNvSpPr/>
          <p:nvPr/>
        </p:nvSpPr>
        <p:spPr>
          <a:xfrm>
            <a:off x="6565392" y="2359152"/>
            <a:ext cx="4846320" cy="1115568"/>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Site and month are nearly interchangeable here: Sacramento is 46/80 January, GIWA 82/96 July–August, ConawayRanch autumn only.</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leave-one-site-out is also leave-one-season-out.</a:t>
            </a:r>
            <a:endParaRPr lang="en-US" sz="1100" dirty="0"/>
          </a:p>
        </p:txBody>
      </p:sp>
      <p:sp>
        <p:nvSpPr>
          <p:cNvPr id="12" name="Text 9"/>
          <p:cNvSpPr/>
          <p:nvPr/>
        </p:nvSpPr>
        <p:spPr>
          <a:xfrm>
            <a:off x="548640" y="3840480"/>
            <a:ext cx="11064240" cy="274320"/>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Hold season fixed (July–August only) and repeat leave-one-site-out:</a:t>
            </a:r>
            <a:endParaRPr lang="en-US" sz="15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486400" cy="914400"/>
        </p:xfrm>
        <a:graphic>
          <a:graphicData uri="http://schemas.openxmlformats.org/drawingml/2006/table">
            <a:tbl>
              <a:tblPr/>
              <a:tblGrid>
                <a:gridCol w="2331720"/>
                <a:gridCol w="960120"/>
                <a:gridCol w="96012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Held-out site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GIWA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0.919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MandevilleIsland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SuisunMarsh/Balboa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mean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14" name="Shape 10"/>
          <p:cNvSpPr/>
          <p:nvPr/>
        </p:nvSpPr>
        <p:spPr>
          <a:xfrm>
            <a:off x="6309360" y="4206240"/>
            <a:ext cx="5303520" cy="153619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1"/>
          <p:cNvSpPr/>
          <p:nvPr/>
        </p:nvSpPr>
        <p:spPr>
          <a:xfrm>
            <a:off x="6309360" y="4206240"/>
            <a:ext cx="68580" cy="1536192"/>
          </a:xfrm>
          <a:prstGeom prst="rect">
            <a:avLst/>
          </a:prstGeom>
          <a:solidFill>
            <a:srgbClr val="8FB996"/>
          </a:solidFill>
          <a:ln/>
        </p:spPr>
      </p:sp>
      <p:sp>
        <p:nvSpPr>
          <p:cNvPr id="16" name="Text 12"/>
          <p:cNvSpPr/>
          <p:nvPr/>
        </p:nvSpPr>
        <p:spPr>
          <a:xfrm>
            <a:off x="6565392" y="435254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Spatial generalization is not the bottleneck</a:t>
            </a:r>
            <a:endParaRPr lang="en-US" sz="1400" dirty="0"/>
          </a:p>
        </p:txBody>
      </p:sp>
      <p:sp>
        <p:nvSpPr>
          <p:cNvPr id="17" name="Text 13"/>
          <p:cNvSpPr/>
          <p:nvPr/>
        </p:nvSpPr>
        <p:spPr>
          <a:xfrm>
            <a:off x="6565392" y="4736592"/>
            <a:ext cx="4846320" cy="877824"/>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With season comparable, the model transfers across wetlands at AUC 0.84–0.92.</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Sacramento fold that dragged the naive average down had 46 January samples with a single positive — that AUC is one bird's percentile rank, not an estimate.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+0.073, winning 25 of 25 folds, Wilcoxon p = 1e-5.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8.  Sampling design binds space to time</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Site and month are nearly interchangeable, so cross-season deployment cannot be tested. Cross-site transfer itself is fine (0.84–0.92).</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Season is a confounder, so the primary estimate keeps only microbiome features and fixes the month: AUC 0.734 (October) to 0.965 (July), accuracy 0.676 to 0.949. The effect is real but strongly season-dependent.</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2026-08-11T00:03:06Z</dcterms:created>
  <dcterms:modified xsi:type="dcterms:W3CDTF">2026-08-11T00:03:06Z</dcterms:modified>
</cp:coreProperties>
</file>