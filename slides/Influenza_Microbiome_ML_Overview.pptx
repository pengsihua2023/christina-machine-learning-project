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8FB996"/>
          </a:solidFill>
          <a:ln/>
        </p:spPr>
      </p:sp>
      <p:sp>
        <p:nvSpPr>
          <p:cNvPr id="3" name="Shape 1"/>
          <p:cNvSpPr/>
          <p:nvPr/>
        </p:nvSpPr>
        <p:spPr>
          <a:xfrm>
            <a:off x="0" y="6035040"/>
            <a:ext cx="12191695" cy="822960"/>
          </a:xfrm>
          <a:prstGeom prst="rect">
            <a:avLst/>
          </a:prstGeom>
          <a:solidFill>
            <a:srgbClr val="12505F"/>
          </a:solidFill>
          <a:ln/>
        </p:spPr>
      </p:sp>
      <p:sp>
        <p:nvSpPr>
          <p:cNvPr id="4" name="Text 2"/>
          <p:cNvSpPr/>
          <p:nvPr/>
        </p:nvSpPr>
        <p:spPr>
          <a:xfrm>
            <a:off x="914400" y="1600200"/>
            <a:ext cx="10332720" cy="548640"/>
          </a:xfrm>
          <a:prstGeom prst="rect">
            <a:avLst/>
          </a:prstGeom>
          <a:noFill/>
          <a:ln/>
        </p:spPr>
        <p:txBody>
          <a:bodyPr wrap="square" lIns="0" tIns="0" rIns="0" bIns="0" rtlCol="0" anchor="ctr"/>
          <a:lstStyle/>
          <a:p>
            <a:pPr indent="0" marL="0">
              <a:buNone/>
            </a:pPr>
            <a:r>
              <a:rPr lang="en-US" sz="1500" b="1" spc="300" kern="0" dirty="0">
                <a:solidFill>
                  <a:srgbClr val="8FB996"/>
                </a:solidFill>
                <a:latin typeface="Calibri" pitchFamily="34" charset="0"/>
                <a:ea typeface="Calibri" pitchFamily="34" charset="-122"/>
                <a:cs typeface="Calibri" pitchFamily="34" charset="-120"/>
              </a:rPr>
              <a:t>PREDICTING AVIAN INFLUENZA INFECTION</a:t>
            </a:r>
            <a:endParaRPr lang="en-US" sz="1500" dirty="0"/>
          </a:p>
        </p:txBody>
      </p:sp>
      <p:sp>
        <p:nvSpPr>
          <p:cNvPr id="5" name="Text 3"/>
          <p:cNvSpPr/>
          <p:nvPr/>
        </p:nvSpPr>
        <p:spPr>
          <a:xfrm>
            <a:off x="914400" y="2148840"/>
            <a:ext cx="1033272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Georgia" pitchFamily="34" charset="0"/>
                <a:ea typeface="Georgia" pitchFamily="34" charset="-122"/>
                <a:cs typeface="Georgia" pitchFamily="34" charset="-120"/>
              </a:rPr>
              <a:t>Gut Microbiota as a</a:t>
            </a:r>
            <a:endParaRPr lang="en-US" sz="4600" dirty="0"/>
          </a:p>
          <a:p>
            <a:pPr indent="0" marL="0">
              <a:lnSpc>
                <a:spcPct val="105000"/>
              </a:lnSpc>
              <a:buNone/>
            </a:pPr>
            <a:r>
              <a:rPr lang="en-US" sz="4600" b="1" dirty="0">
                <a:solidFill>
                  <a:srgbClr val="FFFFFF"/>
                </a:solidFill>
                <a:latin typeface="Georgia" pitchFamily="34" charset="0"/>
                <a:ea typeface="Georgia" pitchFamily="34" charset="-122"/>
                <a:cs typeface="Georgia" pitchFamily="34" charset="-120"/>
              </a:rPr>
              <a:t>Diagnostic Signal</a:t>
            </a:r>
            <a:endParaRPr lang="en-US" sz="4600" dirty="0"/>
          </a:p>
        </p:txBody>
      </p:sp>
      <p:sp>
        <p:nvSpPr>
          <p:cNvPr id="6" name="Text 4"/>
          <p:cNvSpPr/>
          <p:nvPr/>
        </p:nvSpPr>
        <p:spPr>
          <a:xfrm>
            <a:off x="914400" y="3931920"/>
            <a:ext cx="10332720" cy="411480"/>
          </a:xfrm>
          <a:prstGeom prst="rect">
            <a:avLst/>
          </a:prstGeom>
          <a:noFill/>
          <a:ln/>
        </p:spPr>
        <p:txBody>
          <a:bodyPr wrap="square" lIns="0" tIns="0" rIns="0" bIns="0" rtlCol="0" anchor="ctr"/>
          <a:lstStyle/>
          <a:p>
            <a:pPr indent="0" marL="0">
              <a:buNone/>
            </a:pPr>
            <a:r>
              <a:rPr lang="en-US" sz="1700" dirty="0">
                <a:solidFill>
                  <a:srgbClr val="4E9FAD"/>
                </a:solidFill>
                <a:latin typeface="Calibri" pitchFamily="34" charset="0"/>
                <a:ea typeface="Calibri" pitchFamily="34" charset="-122"/>
                <a:cs typeface="Calibri" pitchFamily="34" charset="-120"/>
              </a:rPr>
              <a:t>A machine-learning study on 16S rRNA profiles from wild waterfowl</a:t>
            </a:r>
            <a:endParaRPr lang="en-US" sz="1700" dirty="0"/>
          </a:p>
        </p:txBody>
      </p:sp>
      <p:sp>
        <p:nvSpPr>
          <p:cNvPr id="7" name="Shape 5"/>
          <p:cNvSpPr/>
          <p:nvPr/>
        </p:nvSpPr>
        <p:spPr>
          <a:xfrm>
            <a:off x="914400" y="4572000"/>
            <a:ext cx="3291840" cy="36576"/>
          </a:xfrm>
          <a:prstGeom prst="rect">
            <a:avLst/>
          </a:prstGeom>
          <a:solidFill>
            <a:srgbClr val="8FB996"/>
          </a:solidFill>
          <a:ln/>
        </p:spPr>
      </p:sp>
      <p:sp>
        <p:nvSpPr>
          <p:cNvPr id="8" name="Text 6"/>
          <p:cNvSpPr/>
          <p:nvPr/>
        </p:nvSpPr>
        <p:spPr>
          <a:xfrm>
            <a:off x="914400" y="4754880"/>
            <a:ext cx="10332720" cy="365760"/>
          </a:xfrm>
          <a:prstGeom prst="rect">
            <a:avLst/>
          </a:prstGeom>
          <a:noFill/>
          <a:ln/>
        </p:spPr>
        <p:txBody>
          <a:bodyPr wrap="square" lIns="0" tIns="0" rIns="0" bIns="0" rtlCol="0" anchor="ctr"/>
          <a:lstStyle/>
          <a:p>
            <a:pPr indent="0" marL="0">
              <a:buNone/>
            </a:pPr>
            <a:r>
              <a:rPr lang="en-US" sz="1300" dirty="0">
                <a:solidFill>
                  <a:srgbClr val="8FB996"/>
                </a:solidFill>
                <a:latin typeface="Calibri" pitchFamily="34" charset="0"/>
                <a:ea typeface="Calibri" pitchFamily="34" charset="-122"/>
                <a:cs typeface="Calibri" pitchFamily="34" charset="-120"/>
              </a:rPr>
              <a:t>260 wild ducks  ·  70 microbial features  ·  6 models compared</a:t>
            </a:r>
            <a:endParaRPr lang="en-US" sz="1300" dirty="0"/>
          </a:p>
        </p:txBody>
      </p:sp>
      <p:sp>
        <p:nvSpPr>
          <p:cNvPr id="9" name="Text 7"/>
          <p:cNvSpPr/>
          <p:nvPr/>
        </p:nvSpPr>
        <p:spPr>
          <a:xfrm>
            <a:off x="914400" y="6144768"/>
            <a:ext cx="64008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University of Georgia · College of Public Health</a:t>
            </a:r>
            <a:endParaRPr lang="en-US" sz="1200" dirty="0"/>
          </a:p>
        </p:txBody>
      </p:sp>
      <p:sp>
        <p:nvSpPr>
          <p:cNvPr id="10" name="Text 8"/>
          <p:cNvSpPr/>
          <p:nvPr/>
        </p:nvSpPr>
        <p:spPr>
          <a:xfrm>
            <a:off x="5029200" y="6144768"/>
            <a:ext cx="6217920" cy="365760"/>
          </a:xfrm>
          <a:prstGeom prst="rect">
            <a:avLst/>
          </a:prstGeom>
          <a:noFill/>
          <a:ln/>
        </p:spPr>
        <p:txBody>
          <a:bodyPr wrap="square" lIns="0" tIns="0" rIns="0" bIns="0" rtlCol="0" anchor="ctr"/>
          <a:lstStyle/>
          <a:p>
            <a:pPr algn="r" indent="0" marL="0">
              <a:buNone/>
            </a:pPr>
            <a:r>
              <a:rPr lang="en-US" sz="1100" dirty="0">
                <a:solidFill>
                  <a:srgbClr val="4E9FAD"/>
                </a:solidFill>
                <a:latin typeface="Calibri" pitchFamily="34" charset="0"/>
                <a:ea typeface="Calibri" pitchFamily="34" charset="-122"/>
                <a:cs typeface="Calibri" pitchFamily="34" charset="-120"/>
              </a:rPr>
              <a:t>github.com/pengsihua2023/Christina-machine-learning-project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At a Glance</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1417320"/>
            <a:ext cx="260604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0.839</a:t>
            </a:r>
            <a:endParaRPr lang="en-US" sz="4000" dirty="0"/>
          </a:p>
        </p:txBody>
      </p:sp>
      <p:sp>
        <p:nvSpPr>
          <p:cNvPr id="7" name="Text 5"/>
          <p:cNvSpPr/>
          <p:nvPr/>
        </p:nvSpPr>
        <p:spPr>
          <a:xfrm>
            <a:off x="548640" y="2093976"/>
            <a:ext cx="26060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ROC-AUC</a:t>
            </a:r>
            <a:endParaRPr lang="en-US" sz="1150" dirty="0"/>
          </a:p>
        </p:txBody>
      </p:sp>
      <p:sp>
        <p:nvSpPr>
          <p:cNvPr id="8" name="Text 6"/>
          <p:cNvSpPr/>
          <p:nvPr/>
        </p:nvSpPr>
        <p:spPr>
          <a:xfrm>
            <a:off x="548640" y="2386584"/>
            <a:ext cx="260604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SVM-RBF, nested CV</a:t>
            </a:r>
            <a:endParaRPr lang="en-US" sz="1000" dirty="0"/>
          </a:p>
        </p:txBody>
      </p:sp>
      <p:sp>
        <p:nvSpPr>
          <p:cNvPr id="9" name="Text 7"/>
          <p:cNvSpPr/>
          <p:nvPr/>
        </p:nvSpPr>
        <p:spPr>
          <a:xfrm>
            <a:off x="3291840" y="1417320"/>
            <a:ext cx="2606040" cy="658368"/>
          </a:xfrm>
          <a:prstGeom prst="rect">
            <a:avLst/>
          </a:prstGeom>
          <a:noFill/>
          <a:ln/>
        </p:spPr>
        <p:txBody>
          <a:bodyPr wrap="square" lIns="0" tIns="0" rIns="0" bIns="0" rtlCol="0" anchor="ctr"/>
          <a:lstStyle/>
          <a:p>
            <a:pPr algn="ctr" indent="0" marL="0">
              <a:buNone/>
            </a:pPr>
            <a:r>
              <a:rPr lang="en-US" sz="4000" b="1" dirty="0">
                <a:solidFill>
                  <a:srgbClr val="12505F"/>
                </a:solidFill>
                <a:latin typeface="Georgia" pitchFamily="34" charset="0"/>
                <a:ea typeface="Georgia" pitchFamily="34" charset="-122"/>
                <a:cs typeface="Georgia" pitchFamily="34" charset="-120"/>
              </a:rPr>
              <a:t>0.531</a:t>
            </a:r>
            <a:endParaRPr lang="en-US" sz="4000" dirty="0"/>
          </a:p>
        </p:txBody>
      </p:sp>
      <p:sp>
        <p:nvSpPr>
          <p:cNvPr id="10" name="Text 8"/>
          <p:cNvSpPr/>
          <p:nvPr/>
        </p:nvSpPr>
        <p:spPr>
          <a:xfrm>
            <a:off x="3291840" y="2093976"/>
            <a:ext cx="26060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MCC</a:t>
            </a:r>
            <a:endParaRPr lang="en-US" sz="1150" dirty="0"/>
          </a:p>
        </p:txBody>
      </p:sp>
      <p:sp>
        <p:nvSpPr>
          <p:cNvPr id="11" name="Text 9"/>
          <p:cNvSpPr/>
          <p:nvPr/>
        </p:nvSpPr>
        <p:spPr>
          <a:xfrm>
            <a:off x="3291840" y="2386584"/>
            <a:ext cx="260604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baseline = 0</a:t>
            </a:r>
            <a:endParaRPr lang="en-US" sz="1000" dirty="0"/>
          </a:p>
        </p:txBody>
      </p:sp>
      <p:sp>
        <p:nvSpPr>
          <p:cNvPr id="12" name="Text 10"/>
          <p:cNvSpPr/>
          <p:nvPr/>
        </p:nvSpPr>
        <p:spPr>
          <a:xfrm>
            <a:off x="6035040" y="1417320"/>
            <a:ext cx="2606040" cy="658368"/>
          </a:xfrm>
          <a:prstGeom prst="rect">
            <a:avLst/>
          </a:prstGeom>
          <a:noFill/>
          <a:ln/>
        </p:spPr>
        <p:txBody>
          <a:bodyPr wrap="square" lIns="0" tIns="0" rIns="0" bIns="0" rtlCol="0" anchor="ctr"/>
          <a:lstStyle/>
          <a:p>
            <a:pPr algn="ctr" indent="0" marL="0">
              <a:buNone/>
            </a:pPr>
            <a:r>
              <a:rPr lang="en-US" sz="3200" b="1" dirty="0">
                <a:solidFill>
                  <a:srgbClr val="12505F"/>
                </a:solidFill>
                <a:latin typeface="Georgia" pitchFamily="34" charset="0"/>
                <a:ea typeface="Georgia" pitchFamily="34" charset="-122"/>
                <a:cs typeface="Georgia" pitchFamily="34" charset="-120"/>
              </a:rPr>
              <a:t>p=0.0099</a:t>
            </a:r>
            <a:endParaRPr lang="en-US" sz="3200" dirty="0"/>
          </a:p>
        </p:txBody>
      </p:sp>
      <p:sp>
        <p:nvSpPr>
          <p:cNvPr id="13" name="Text 11"/>
          <p:cNvSpPr/>
          <p:nvPr/>
        </p:nvSpPr>
        <p:spPr>
          <a:xfrm>
            <a:off x="6035040" y="2093976"/>
            <a:ext cx="26060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Permutation test</a:t>
            </a:r>
            <a:endParaRPr lang="en-US" sz="1150" dirty="0"/>
          </a:p>
        </p:txBody>
      </p:sp>
      <p:sp>
        <p:nvSpPr>
          <p:cNvPr id="14" name="Text 12"/>
          <p:cNvSpPr/>
          <p:nvPr/>
        </p:nvSpPr>
        <p:spPr>
          <a:xfrm>
            <a:off x="6035040" y="2386584"/>
            <a:ext cx="260604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signal is real</a:t>
            </a:r>
            <a:endParaRPr lang="en-US" sz="1000" dirty="0"/>
          </a:p>
        </p:txBody>
      </p:sp>
      <p:sp>
        <p:nvSpPr>
          <p:cNvPr id="15" name="Text 13"/>
          <p:cNvSpPr/>
          <p:nvPr/>
        </p:nvSpPr>
        <p:spPr>
          <a:xfrm>
            <a:off x="8778240" y="1417320"/>
            <a:ext cx="2834640" cy="658368"/>
          </a:xfrm>
          <a:prstGeom prst="rect">
            <a:avLst/>
          </a:prstGeom>
          <a:noFill/>
          <a:ln/>
        </p:spPr>
        <p:txBody>
          <a:bodyPr wrap="square" lIns="0" tIns="0" rIns="0" bIns="0" rtlCol="0" anchor="ctr"/>
          <a:lstStyle/>
          <a:p>
            <a:pPr algn="ctr" indent="0" marL="0">
              <a:buNone/>
            </a:pPr>
            <a:r>
              <a:rPr lang="en-US" sz="4000" b="1" dirty="0">
                <a:solidFill>
                  <a:srgbClr val="8FB996"/>
                </a:solidFill>
                <a:latin typeface="Georgia" pitchFamily="34" charset="0"/>
                <a:ea typeface="Georgia" pitchFamily="34" charset="-122"/>
                <a:cs typeface="Georgia" pitchFamily="34" charset="-120"/>
              </a:rPr>
              <a:t>9</a:t>
            </a:r>
            <a:endParaRPr lang="en-US" sz="4000" dirty="0"/>
          </a:p>
        </p:txBody>
      </p:sp>
      <p:sp>
        <p:nvSpPr>
          <p:cNvPr id="16" name="Text 14"/>
          <p:cNvSpPr/>
          <p:nvPr/>
        </p:nvSpPr>
        <p:spPr>
          <a:xfrm>
            <a:off x="8778240" y="2093976"/>
            <a:ext cx="28346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Biomarkers</a:t>
            </a:r>
            <a:endParaRPr lang="en-US" sz="1150" dirty="0"/>
          </a:p>
        </p:txBody>
      </p:sp>
      <p:sp>
        <p:nvSpPr>
          <p:cNvPr id="17" name="Text 15"/>
          <p:cNvSpPr/>
          <p:nvPr/>
        </p:nvSpPr>
        <p:spPr>
          <a:xfrm>
            <a:off x="8778240" y="2386584"/>
            <a:ext cx="283464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3 methods agree</a:t>
            </a:r>
            <a:endParaRPr lang="en-US" sz="1000" dirty="0"/>
          </a:p>
        </p:txBody>
      </p:sp>
      <p:sp>
        <p:nvSpPr>
          <p:cNvPr id="18" name="Shape 16"/>
          <p:cNvSpPr/>
          <p:nvPr/>
        </p:nvSpPr>
        <p:spPr>
          <a:xfrm>
            <a:off x="548640" y="2880360"/>
            <a:ext cx="5486400" cy="16002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9" name="Shape 17"/>
          <p:cNvSpPr/>
          <p:nvPr/>
        </p:nvSpPr>
        <p:spPr>
          <a:xfrm>
            <a:off x="548640" y="2880360"/>
            <a:ext cx="68580" cy="1600200"/>
          </a:xfrm>
          <a:prstGeom prst="rect">
            <a:avLst/>
          </a:prstGeom>
          <a:solidFill>
            <a:srgbClr val="18707F"/>
          </a:solidFill>
          <a:ln/>
        </p:spPr>
      </p:sp>
      <p:sp>
        <p:nvSpPr>
          <p:cNvPr id="20" name="Text 18"/>
          <p:cNvSpPr/>
          <p:nvPr/>
        </p:nvSpPr>
        <p:spPr>
          <a:xfrm>
            <a:off x="804672" y="3026664"/>
            <a:ext cx="502920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we established</a:t>
            </a:r>
            <a:endParaRPr lang="en-US" sz="1500" dirty="0"/>
          </a:p>
        </p:txBody>
      </p:sp>
      <p:sp>
        <p:nvSpPr>
          <p:cNvPr id="21" name="Text 19"/>
          <p:cNvSpPr/>
          <p:nvPr/>
        </p:nvSpPr>
        <p:spPr>
          <a:xfrm>
            <a:off x="804672" y="3410712"/>
            <a:ext cx="5029200" cy="9418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Duck gut microbiota carry a genuine, reproducible signal for influenza infection status. The association survives permutation testing and month-stratified analysis, and is driven partly by nonlinear interactions between taxa.</a:t>
            </a:r>
            <a:endParaRPr lang="en-US" sz="1200" dirty="0"/>
          </a:p>
        </p:txBody>
      </p:sp>
      <p:sp>
        <p:nvSpPr>
          <p:cNvPr id="22" name="Shape 20"/>
          <p:cNvSpPr/>
          <p:nvPr/>
        </p:nvSpPr>
        <p:spPr>
          <a:xfrm>
            <a:off x="6309360" y="2880360"/>
            <a:ext cx="5303520" cy="16002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3" name="Shape 21"/>
          <p:cNvSpPr/>
          <p:nvPr/>
        </p:nvSpPr>
        <p:spPr>
          <a:xfrm>
            <a:off x="6309360" y="2880360"/>
            <a:ext cx="68580" cy="1600200"/>
          </a:xfrm>
          <a:prstGeom prst="rect">
            <a:avLst/>
          </a:prstGeom>
          <a:solidFill>
            <a:srgbClr val="8FB996"/>
          </a:solidFill>
          <a:ln/>
        </p:spPr>
      </p:sp>
      <p:sp>
        <p:nvSpPr>
          <p:cNvPr id="24" name="Text 22"/>
          <p:cNvSpPr/>
          <p:nvPr/>
        </p:nvSpPr>
        <p:spPr>
          <a:xfrm>
            <a:off x="6565392" y="3026664"/>
            <a:ext cx="484632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How we established it</a:t>
            </a:r>
            <a:endParaRPr lang="en-US" sz="1500" dirty="0"/>
          </a:p>
        </p:txBody>
      </p:sp>
      <p:sp>
        <p:nvSpPr>
          <p:cNvPr id="25" name="Text 23"/>
          <p:cNvSpPr/>
          <p:nvPr/>
        </p:nvSpPr>
        <p:spPr>
          <a:xfrm>
            <a:off x="6565392" y="3410712"/>
            <a:ext cx="4846320" cy="9418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Nested cross-validation with all preprocessing fitted inside training folds; six models compared on identical splits; three independent feature-ranking methods cross-checked against each other.</a:t>
            </a:r>
            <a:endParaRPr lang="en-US" sz="1200" dirty="0"/>
          </a:p>
        </p:txBody>
      </p:sp>
      <p:sp>
        <p:nvSpPr>
          <p:cNvPr id="26" name="Shape 24"/>
          <p:cNvSpPr/>
          <p:nvPr/>
        </p:nvSpPr>
        <p:spPr>
          <a:xfrm>
            <a:off x="548640" y="4709160"/>
            <a:ext cx="11064240" cy="1005840"/>
          </a:xfrm>
          <a:prstGeom prst="rect">
            <a:avLst/>
          </a:prstGeom>
          <a:solidFill>
            <a:srgbClr val="FBEDE7"/>
          </a:solidFill>
          <a:ln/>
        </p:spPr>
      </p:sp>
      <p:sp>
        <p:nvSpPr>
          <p:cNvPr id="27" name="Shape 25"/>
          <p:cNvSpPr/>
          <p:nvPr/>
        </p:nvSpPr>
        <p:spPr>
          <a:xfrm>
            <a:off x="548640" y="4709160"/>
            <a:ext cx="68580" cy="1005840"/>
          </a:xfrm>
          <a:prstGeom prst="rect">
            <a:avLst/>
          </a:prstGeom>
          <a:solidFill>
            <a:srgbClr val="D2603A"/>
          </a:solidFill>
          <a:ln/>
        </p:spPr>
      </p:sp>
      <p:sp>
        <p:nvSpPr>
          <p:cNvPr id="28" name="Text 26"/>
          <p:cNvSpPr/>
          <p:nvPr/>
        </p:nvSpPr>
        <p:spPr>
          <a:xfrm>
            <a:off x="804672" y="4800600"/>
            <a:ext cx="10607040" cy="822960"/>
          </a:xfrm>
          <a:prstGeom prst="rect">
            <a:avLst/>
          </a:prstGeom>
          <a:noFill/>
          <a:ln/>
        </p:spPr>
        <p:txBody>
          <a:bodyPr wrap="square" lIns="0" tIns="0" rIns="0" bIns="0" rtlCol="0" anchor="t"/>
          <a:lstStyle/>
          <a:p>
            <a:pPr indent="0" marL="0">
              <a:lnSpc>
                <a:spcPct val="110000"/>
              </a:lnSpc>
              <a:buNone/>
            </a:pPr>
            <a:r>
              <a:rPr lang="en-US" sz="1200" dirty="0">
                <a:solidFill>
                  <a:srgbClr val="7A2E14"/>
                </a:solidFill>
                <a:latin typeface="Calibri" pitchFamily="34" charset="0"/>
                <a:ea typeface="Calibri" pitchFamily="34" charset="-122"/>
                <a:cs typeface="Calibri" pitchFamily="34" charset="-120"/>
              </a:rPr>
              <a:t>Two boundaries on every claim in this deck:  (1) sampling season alone reaches AUC 0.881, so microbiome value must always be quoted relative to that confounder baseline;  (2) results hold only within the UC Davis wild-duck cohort — cross-study generalization fails (AUC 0.54 ± 0.29).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ROADMAP</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What This Deck Covers</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463040"/>
            <a:ext cx="539496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463040"/>
            <a:ext cx="68580" cy="1280160"/>
          </a:xfrm>
          <a:prstGeom prst="rect">
            <a:avLst/>
          </a:prstGeom>
          <a:solidFill>
            <a:srgbClr val="18707F"/>
          </a:solidFill>
          <a:ln/>
        </p:spPr>
      </p:sp>
      <p:sp>
        <p:nvSpPr>
          <p:cNvPr id="8" name="Text 6"/>
          <p:cNvSpPr/>
          <p:nvPr/>
        </p:nvSpPr>
        <p:spPr>
          <a:xfrm>
            <a:off x="804672" y="1609344"/>
            <a:ext cx="4937760" cy="329184"/>
          </a:xfrm>
          <a:prstGeom prst="rect">
            <a:avLst/>
          </a:prstGeom>
          <a:noFill/>
          <a:ln/>
        </p:spPr>
        <p:txBody>
          <a:bodyPr wrap="square" lIns="0" tIns="0" rIns="0" bIns="0" rtlCol="0" anchor="t"/>
          <a:lstStyle/>
          <a:p>
            <a:pPr indent="0" marL="0">
              <a:buNone/>
            </a:pPr>
            <a:r>
              <a:rPr lang="en-US" sz="1600" b="1" dirty="0">
                <a:solidFill>
                  <a:srgbClr val="16252C"/>
                </a:solidFill>
                <a:latin typeface="Georgia" pitchFamily="34" charset="0"/>
                <a:ea typeface="Georgia" pitchFamily="34" charset="-122"/>
                <a:cs typeface="Georgia" pitchFamily="34" charset="-120"/>
              </a:rPr>
              <a:t>01   Data</a:t>
            </a:r>
            <a:endParaRPr lang="en-US" sz="1600" dirty="0"/>
          </a:p>
        </p:txBody>
      </p:sp>
      <p:sp>
        <p:nvSpPr>
          <p:cNvPr id="9" name="Text 7"/>
          <p:cNvSpPr/>
          <p:nvPr/>
        </p:nvSpPr>
        <p:spPr>
          <a:xfrm>
            <a:off x="804672" y="1993392"/>
            <a:ext cx="493776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Three input files, four studies, and why we model only one of them</a:t>
            </a:r>
            <a:endParaRPr lang="en-US" sz="1200" dirty="0"/>
          </a:p>
        </p:txBody>
      </p:sp>
      <p:sp>
        <p:nvSpPr>
          <p:cNvPr id="10" name="Shape 8"/>
          <p:cNvSpPr/>
          <p:nvPr/>
        </p:nvSpPr>
        <p:spPr>
          <a:xfrm>
            <a:off x="6263640" y="1463040"/>
            <a:ext cx="539496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9"/>
          <p:cNvSpPr/>
          <p:nvPr/>
        </p:nvSpPr>
        <p:spPr>
          <a:xfrm>
            <a:off x="6263640" y="1463040"/>
            <a:ext cx="68580" cy="1280160"/>
          </a:xfrm>
          <a:prstGeom prst="rect">
            <a:avLst/>
          </a:prstGeom>
          <a:solidFill>
            <a:srgbClr val="8FB996"/>
          </a:solidFill>
          <a:ln/>
        </p:spPr>
      </p:sp>
      <p:sp>
        <p:nvSpPr>
          <p:cNvPr id="12" name="Text 10"/>
          <p:cNvSpPr/>
          <p:nvPr/>
        </p:nvSpPr>
        <p:spPr>
          <a:xfrm>
            <a:off x="6519672" y="1609344"/>
            <a:ext cx="4937760" cy="329184"/>
          </a:xfrm>
          <a:prstGeom prst="rect">
            <a:avLst/>
          </a:prstGeom>
          <a:noFill/>
          <a:ln/>
        </p:spPr>
        <p:txBody>
          <a:bodyPr wrap="square" lIns="0" tIns="0" rIns="0" bIns="0" rtlCol="0" anchor="t"/>
          <a:lstStyle/>
          <a:p>
            <a:pPr indent="0" marL="0">
              <a:buNone/>
            </a:pPr>
            <a:r>
              <a:rPr lang="en-US" sz="1600" b="1" dirty="0">
                <a:solidFill>
                  <a:srgbClr val="16252C"/>
                </a:solidFill>
                <a:latin typeface="Georgia" pitchFamily="34" charset="0"/>
                <a:ea typeface="Georgia" pitchFamily="34" charset="-122"/>
                <a:cs typeface="Georgia" pitchFamily="34" charset="-120"/>
              </a:rPr>
              <a:t>02   Processing</a:t>
            </a:r>
            <a:endParaRPr lang="en-US" sz="1600" dirty="0"/>
          </a:p>
        </p:txBody>
      </p:sp>
      <p:sp>
        <p:nvSpPr>
          <p:cNvPr id="13" name="Text 11"/>
          <p:cNvSpPr/>
          <p:nvPr/>
        </p:nvSpPr>
        <p:spPr>
          <a:xfrm>
            <a:off x="6519672" y="1993392"/>
            <a:ext cx="493776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Label leakage, compositional transformation, and leak-free pipelines</a:t>
            </a:r>
            <a:endParaRPr lang="en-US" sz="1200" dirty="0"/>
          </a:p>
        </p:txBody>
      </p:sp>
      <p:sp>
        <p:nvSpPr>
          <p:cNvPr id="14" name="Shape 12"/>
          <p:cNvSpPr/>
          <p:nvPr/>
        </p:nvSpPr>
        <p:spPr>
          <a:xfrm>
            <a:off x="548640" y="2944368"/>
            <a:ext cx="539496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5" name="Shape 13"/>
          <p:cNvSpPr/>
          <p:nvPr/>
        </p:nvSpPr>
        <p:spPr>
          <a:xfrm>
            <a:off x="548640" y="2944368"/>
            <a:ext cx="68580" cy="1280160"/>
          </a:xfrm>
          <a:prstGeom prst="rect">
            <a:avLst/>
          </a:prstGeom>
          <a:solidFill>
            <a:srgbClr val="18707F"/>
          </a:solidFill>
          <a:ln/>
        </p:spPr>
      </p:sp>
      <p:sp>
        <p:nvSpPr>
          <p:cNvPr id="16" name="Text 14"/>
          <p:cNvSpPr/>
          <p:nvPr/>
        </p:nvSpPr>
        <p:spPr>
          <a:xfrm>
            <a:off x="804672" y="3090672"/>
            <a:ext cx="4937760" cy="329184"/>
          </a:xfrm>
          <a:prstGeom prst="rect">
            <a:avLst/>
          </a:prstGeom>
          <a:noFill/>
          <a:ln/>
        </p:spPr>
        <p:txBody>
          <a:bodyPr wrap="square" lIns="0" tIns="0" rIns="0" bIns="0" rtlCol="0" anchor="t"/>
          <a:lstStyle/>
          <a:p>
            <a:pPr indent="0" marL="0">
              <a:buNone/>
            </a:pPr>
            <a:r>
              <a:rPr lang="en-US" sz="1600" b="1" dirty="0">
                <a:solidFill>
                  <a:srgbClr val="16252C"/>
                </a:solidFill>
                <a:latin typeface="Georgia" pitchFamily="34" charset="0"/>
                <a:ea typeface="Georgia" pitchFamily="34" charset="-122"/>
                <a:cs typeface="Georgia" pitchFamily="34" charset="-120"/>
              </a:rPr>
              <a:t>03   Modeling</a:t>
            </a:r>
            <a:endParaRPr lang="en-US" sz="1600" dirty="0"/>
          </a:p>
        </p:txBody>
      </p:sp>
      <p:sp>
        <p:nvSpPr>
          <p:cNvPr id="17" name="Text 15"/>
          <p:cNvSpPr/>
          <p:nvPr/>
        </p:nvSpPr>
        <p:spPr>
          <a:xfrm>
            <a:off x="804672" y="3474720"/>
            <a:ext cx="493776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Nested CV protocol and a seventeen-model comparison</a:t>
            </a:r>
            <a:endParaRPr lang="en-US" sz="1200" dirty="0"/>
          </a:p>
        </p:txBody>
      </p:sp>
      <p:sp>
        <p:nvSpPr>
          <p:cNvPr id="18" name="Shape 16"/>
          <p:cNvSpPr/>
          <p:nvPr/>
        </p:nvSpPr>
        <p:spPr>
          <a:xfrm>
            <a:off x="6263640" y="2944368"/>
            <a:ext cx="539496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9" name="Shape 17"/>
          <p:cNvSpPr/>
          <p:nvPr/>
        </p:nvSpPr>
        <p:spPr>
          <a:xfrm>
            <a:off x="6263640" y="2944368"/>
            <a:ext cx="68580" cy="1280160"/>
          </a:xfrm>
          <a:prstGeom prst="rect">
            <a:avLst/>
          </a:prstGeom>
          <a:solidFill>
            <a:srgbClr val="8FB996"/>
          </a:solidFill>
          <a:ln/>
        </p:spPr>
      </p:sp>
      <p:sp>
        <p:nvSpPr>
          <p:cNvPr id="20" name="Text 18"/>
          <p:cNvSpPr/>
          <p:nvPr/>
        </p:nvSpPr>
        <p:spPr>
          <a:xfrm>
            <a:off x="6519672" y="3090672"/>
            <a:ext cx="4937760" cy="329184"/>
          </a:xfrm>
          <a:prstGeom prst="rect">
            <a:avLst/>
          </a:prstGeom>
          <a:noFill/>
          <a:ln/>
        </p:spPr>
        <p:txBody>
          <a:bodyPr wrap="square" lIns="0" tIns="0" rIns="0" bIns="0" rtlCol="0" anchor="t"/>
          <a:lstStyle/>
          <a:p>
            <a:pPr indent="0" marL="0">
              <a:buNone/>
            </a:pPr>
            <a:r>
              <a:rPr lang="en-US" sz="1600" b="1" dirty="0">
                <a:solidFill>
                  <a:srgbClr val="16252C"/>
                </a:solidFill>
                <a:latin typeface="Georgia" pitchFamily="34" charset="0"/>
                <a:ea typeface="Georgia" pitchFamily="34" charset="-122"/>
                <a:cs typeface="Georgia" pitchFamily="34" charset="-120"/>
              </a:rPr>
              <a:t>04   Validity</a:t>
            </a:r>
            <a:endParaRPr lang="en-US" sz="1600" dirty="0"/>
          </a:p>
        </p:txBody>
      </p:sp>
      <p:sp>
        <p:nvSpPr>
          <p:cNvPr id="21" name="Text 19"/>
          <p:cNvSpPr/>
          <p:nvPr/>
        </p:nvSpPr>
        <p:spPr>
          <a:xfrm>
            <a:off x="6519672" y="3474720"/>
            <a:ext cx="493776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Permutation testing, confounders, and stratified re-analysis</a:t>
            </a:r>
            <a:endParaRPr lang="en-US" sz="1200" dirty="0"/>
          </a:p>
        </p:txBody>
      </p:sp>
      <p:sp>
        <p:nvSpPr>
          <p:cNvPr id="22" name="Shape 20"/>
          <p:cNvSpPr/>
          <p:nvPr/>
        </p:nvSpPr>
        <p:spPr>
          <a:xfrm>
            <a:off x="548640" y="4425696"/>
            <a:ext cx="539496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3" name="Shape 21"/>
          <p:cNvSpPr/>
          <p:nvPr/>
        </p:nvSpPr>
        <p:spPr>
          <a:xfrm>
            <a:off x="548640" y="4425696"/>
            <a:ext cx="68580" cy="1280160"/>
          </a:xfrm>
          <a:prstGeom prst="rect">
            <a:avLst/>
          </a:prstGeom>
          <a:solidFill>
            <a:srgbClr val="18707F"/>
          </a:solidFill>
          <a:ln/>
        </p:spPr>
      </p:sp>
      <p:sp>
        <p:nvSpPr>
          <p:cNvPr id="24" name="Text 22"/>
          <p:cNvSpPr/>
          <p:nvPr/>
        </p:nvSpPr>
        <p:spPr>
          <a:xfrm>
            <a:off x="804672" y="4572000"/>
            <a:ext cx="4937760" cy="329184"/>
          </a:xfrm>
          <a:prstGeom prst="rect">
            <a:avLst/>
          </a:prstGeom>
          <a:noFill/>
          <a:ln/>
        </p:spPr>
        <p:txBody>
          <a:bodyPr wrap="square" lIns="0" tIns="0" rIns="0" bIns="0" rtlCol="0" anchor="t"/>
          <a:lstStyle/>
          <a:p>
            <a:pPr indent="0" marL="0">
              <a:buNone/>
            </a:pPr>
            <a:r>
              <a:rPr lang="en-US" sz="1600" b="1" dirty="0">
                <a:solidFill>
                  <a:srgbClr val="16252C"/>
                </a:solidFill>
                <a:latin typeface="Georgia" pitchFamily="34" charset="0"/>
                <a:ea typeface="Georgia" pitchFamily="34" charset="-122"/>
                <a:cs typeface="Georgia" pitchFamily="34" charset="-120"/>
              </a:rPr>
              <a:t>05   Findings</a:t>
            </a:r>
            <a:endParaRPr lang="en-US" sz="1600" dirty="0"/>
          </a:p>
        </p:txBody>
      </p:sp>
      <p:sp>
        <p:nvSpPr>
          <p:cNvPr id="25" name="Text 23"/>
          <p:cNvSpPr/>
          <p:nvPr/>
        </p:nvSpPr>
        <p:spPr>
          <a:xfrm>
            <a:off x="804672" y="4956048"/>
            <a:ext cx="493776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Biomarkers from three independent methods; evidence of nonlinearity</a:t>
            </a:r>
            <a:endParaRPr lang="en-US" sz="1200" dirty="0"/>
          </a:p>
        </p:txBody>
      </p:sp>
      <p:sp>
        <p:nvSpPr>
          <p:cNvPr id="26" name="Shape 24"/>
          <p:cNvSpPr/>
          <p:nvPr/>
        </p:nvSpPr>
        <p:spPr>
          <a:xfrm>
            <a:off x="6263640" y="4425696"/>
            <a:ext cx="539496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7" name="Shape 25"/>
          <p:cNvSpPr/>
          <p:nvPr/>
        </p:nvSpPr>
        <p:spPr>
          <a:xfrm>
            <a:off x="6263640" y="4425696"/>
            <a:ext cx="68580" cy="1280160"/>
          </a:xfrm>
          <a:prstGeom prst="rect">
            <a:avLst/>
          </a:prstGeom>
          <a:solidFill>
            <a:srgbClr val="8FB996"/>
          </a:solidFill>
          <a:ln/>
        </p:spPr>
      </p:sp>
      <p:sp>
        <p:nvSpPr>
          <p:cNvPr id="28" name="Text 26"/>
          <p:cNvSpPr/>
          <p:nvPr/>
        </p:nvSpPr>
        <p:spPr>
          <a:xfrm>
            <a:off x="6519672" y="4572000"/>
            <a:ext cx="4937760" cy="329184"/>
          </a:xfrm>
          <a:prstGeom prst="rect">
            <a:avLst/>
          </a:prstGeom>
          <a:noFill/>
          <a:ln/>
        </p:spPr>
        <p:txBody>
          <a:bodyPr wrap="square" lIns="0" tIns="0" rIns="0" bIns="0" rtlCol="0" anchor="t"/>
          <a:lstStyle/>
          <a:p>
            <a:pPr indent="0" marL="0">
              <a:buNone/>
            </a:pPr>
            <a:r>
              <a:rPr lang="en-US" sz="1600" b="1" dirty="0">
                <a:solidFill>
                  <a:srgbClr val="16252C"/>
                </a:solidFill>
                <a:latin typeface="Georgia" pitchFamily="34" charset="0"/>
                <a:ea typeface="Georgia" pitchFamily="34" charset="-122"/>
                <a:cs typeface="Georgia" pitchFamily="34" charset="-120"/>
              </a:rPr>
              <a:t>06   Limits</a:t>
            </a:r>
            <a:endParaRPr lang="en-US" sz="1600" dirty="0"/>
          </a:p>
        </p:txBody>
      </p:sp>
      <p:sp>
        <p:nvSpPr>
          <p:cNvPr id="29" name="Text 27"/>
          <p:cNvSpPr/>
          <p:nvPr/>
        </p:nvSpPr>
        <p:spPr>
          <a:xfrm>
            <a:off x="6519672" y="4956048"/>
            <a:ext cx="493776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Seven known limitations, stated plainly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Data</a:t>
            </a:r>
            <a:endParaRPr lang="en-US" sz="3800" dirty="0"/>
          </a:p>
        </p:txBody>
      </p:sp>
      <p:sp>
        <p:nvSpPr>
          <p:cNvPr id="5" name="Text 3"/>
          <p:cNvSpPr/>
          <p:nvPr/>
        </p:nvSpPr>
        <p:spPr>
          <a:xfrm>
            <a:off x="2880360" y="315468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Three files, four studies, 326 samples — and one cohort worth modeling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DATA · INPUTS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Three Input Files, Perfectly Aligned</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114800"/>
                <a:gridCol w="4480560"/>
                <a:gridCol w="2468880"/>
              </a:tblGrid>
              <a:tr h="47548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Contents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7548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genus_raw_counts_by_featureID.csv</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326 samples × 275 FeatureIDs, integer counts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Feature matrix</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7548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taxonomy_key.csv</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Seven-level taxonomy for all 275 FeatureIDs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Annotation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7548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metadata_all_samples-0810.csv</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326 samples × 102 metadata columns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Labels + covariates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7548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sample_counts_by_study_host_infection.csv</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8-row summary of study × host × infection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Table 1 only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206240"/>
            <a:ext cx="539496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4206240"/>
            <a:ext cx="68580" cy="1371600"/>
          </a:xfrm>
          <a:prstGeom prst="rect">
            <a:avLst/>
          </a:prstGeom>
          <a:solidFill>
            <a:srgbClr val="8FB996"/>
          </a:solidFill>
          <a:ln/>
        </p:spPr>
      </p:sp>
      <p:sp>
        <p:nvSpPr>
          <p:cNvPr id="9" name="Text 6"/>
          <p:cNvSpPr/>
          <p:nvPr/>
        </p:nvSpPr>
        <p:spPr>
          <a:xfrm>
            <a:off x="804672" y="435254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Alignment verified</a:t>
            </a:r>
            <a:endParaRPr lang="en-US" sz="1500" dirty="0"/>
          </a:p>
        </p:txBody>
      </p:sp>
      <p:sp>
        <p:nvSpPr>
          <p:cNvPr id="10" name="Text 7"/>
          <p:cNvSpPr/>
          <p:nvPr/>
        </p:nvSpPr>
        <p:spPr>
          <a:xfrm>
            <a:off x="804672" y="4736592"/>
            <a:ext cx="4937760" cy="7132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SampleIDs match 326/326 across all files.</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FeatureIDs match 275/275 against the taxonomy.</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No missing values, no duplicate identifiers.</a:t>
            </a:r>
            <a:endParaRPr lang="en-US" sz="1200" dirty="0"/>
          </a:p>
        </p:txBody>
      </p:sp>
      <p:sp>
        <p:nvSpPr>
          <p:cNvPr id="11" name="Shape 8"/>
          <p:cNvSpPr/>
          <p:nvPr/>
        </p:nvSpPr>
        <p:spPr>
          <a:xfrm>
            <a:off x="6217920" y="4206240"/>
            <a:ext cx="539496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2" name="Shape 9"/>
          <p:cNvSpPr/>
          <p:nvPr/>
        </p:nvSpPr>
        <p:spPr>
          <a:xfrm>
            <a:off x="6217920" y="4206240"/>
            <a:ext cx="68580" cy="1371600"/>
          </a:xfrm>
          <a:prstGeom prst="rect">
            <a:avLst/>
          </a:prstGeom>
          <a:solidFill>
            <a:srgbClr val="18707F"/>
          </a:solidFill>
          <a:ln/>
        </p:spPr>
      </p:sp>
      <p:sp>
        <p:nvSpPr>
          <p:cNvPr id="13" name="Text 10"/>
          <p:cNvSpPr/>
          <p:nvPr/>
        </p:nvSpPr>
        <p:spPr>
          <a:xfrm>
            <a:off x="6473952" y="435254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Label distribution</a:t>
            </a:r>
            <a:endParaRPr lang="en-US" sz="1500" dirty="0"/>
          </a:p>
        </p:txBody>
      </p:sp>
      <p:sp>
        <p:nvSpPr>
          <p:cNvPr id="14" name="Text 11"/>
          <p:cNvSpPr/>
          <p:nvPr/>
        </p:nvSpPr>
        <p:spPr>
          <a:xfrm>
            <a:off x="6473952" y="4736592"/>
            <a:ext cx="4937760" cy="7132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Influenza Pos = 196   ·   Neg = 130</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Positive rate 60% overall, 58% in the modeling cohort.</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Mild imbalance — handled with class weighting, not resampling.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DATA · COHORT</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Four Studies, One Modeling Cohort</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286000"/>
                <a:gridCol w="3200400"/>
                <a:gridCol w="2834640"/>
                <a:gridCol w="914400"/>
                <a:gridCol w="914400"/>
                <a:gridCol w="91440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BioProject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Center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Host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PRJNA464410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UC Davis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Wild duck (cloacal)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260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109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151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PRJNA644054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Ohio State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Turkey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PRJNA347583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Chinese Acad. of Sciences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Whooper swan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PRJNA379944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South China Agricultural U.</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Chicken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114800"/>
            <a:ext cx="11064240" cy="9601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4114800"/>
            <a:ext cx="68580" cy="960120"/>
          </a:xfrm>
          <a:prstGeom prst="rect">
            <a:avLst/>
          </a:prstGeom>
          <a:solidFill>
            <a:srgbClr val="18707F"/>
          </a:solidFill>
          <a:ln/>
        </p:spPr>
      </p:sp>
      <p:sp>
        <p:nvSpPr>
          <p:cNvPr id="9" name="Text 6"/>
          <p:cNvSpPr/>
          <p:nvPr/>
        </p:nvSpPr>
        <p:spPr>
          <a:xfrm>
            <a:off x="804672" y="42611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Why we restrict the primary analysis to PRJNA464410</a:t>
            </a:r>
            <a:endParaRPr lang="en-US" sz="1500" dirty="0"/>
          </a:p>
        </p:txBody>
      </p:sp>
      <p:sp>
        <p:nvSpPr>
          <p:cNvPr id="10" name="Text 7"/>
          <p:cNvSpPr/>
          <p:nvPr/>
        </p:nvSpPr>
        <p:spPr>
          <a:xfrm>
            <a:off x="804672" y="4645152"/>
            <a:ext cx="10607040" cy="30175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It is the only study with enough samples to model (260 of 326), and it is internally homogeneous — one center, one host species, one tissue type. The other three differ in host, tissue, and geography, and contribute 6–45 samples each.</a:t>
            </a:r>
            <a:endParaRPr lang="en-US" sz="1200" dirty="0"/>
          </a:p>
        </p:txBody>
      </p:sp>
      <p:sp>
        <p:nvSpPr>
          <p:cNvPr id="11" name="Shape 8"/>
          <p:cNvSpPr/>
          <p:nvPr/>
        </p:nvSpPr>
        <p:spPr>
          <a:xfrm>
            <a:off x="548640" y="5257800"/>
            <a:ext cx="11064240" cy="777240"/>
          </a:xfrm>
          <a:prstGeom prst="rect">
            <a:avLst/>
          </a:prstGeom>
          <a:solidFill>
            <a:srgbClr val="FBEDE7"/>
          </a:solidFill>
          <a:ln/>
        </p:spPr>
      </p:sp>
      <p:sp>
        <p:nvSpPr>
          <p:cNvPr id="12" name="Shape 9"/>
          <p:cNvSpPr/>
          <p:nvPr/>
        </p:nvSpPr>
        <p:spPr>
          <a:xfrm>
            <a:off x="548640" y="5257800"/>
            <a:ext cx="68580" cy="777240"/>
          </a:xfrm>
          <a:prstGeom prst="rect">
            <a:avLst/>
          </a:prstGeom>
          <a:solidFill>
            <a:srgbClr val="D2603A"/>
          </a:solidFill>
          <a:ln/>
        </p:spPr>
      </p:sp>
      <p:sp>
        <p:nvSpPr>
          <p:cNvPr id="13" name="Text 10"/>
          <p:cNvSpPr/>
          <p:nvPr/>
        </p:nvSpPr>
        <p:spPr>
          <a:xfrm>
            <a:off x="804672" y="5349240"/>
            <a:ext cx="10607040" cy="594360"/>
          </a:xfrm>
          <a:prstGeom prst="rect">
            <a:avLst/>
          </a:prstGeom>
          <a:noFill/>
          <a:ln/>
        </p:spPr>
        <p:txBody>
          <a:bodyPr wrap="square" lIns="0" tIns="0" rIns="0" bIns="0" rtlCol="0" anchor="t"/>
          <a:lstStyle/>
          <a:p>
            <a:pPr indent="0" marL="0">
              <a:lnSpc>
                <a:spcPct val="110000"/>
              </a:lnSpc>
              <a:buNone/>
            </a:pPr>
            <a:r>
              <a:rPr lang="en-US" sz="1200" dirty="0">
                <a:solidFill>
                  <a:srgbClr val="7A2E14"/>
                </a:solidFill>
                <a:latin typeface="Calibri" pitchFamily="34" charset="0"/>
                <a:ea typeface="Calibri" pitchFamily="34" charset="-122"/>
                <a:cs typeface="Calibri" pitchFamily="34" charset="-120"/>
              </a:rPr>
              <a:t>Pooling all four is tempting but does not work: under GroupKFold by BioProject, AUC collapses to 0.54 ± 0.29 — indistinguishable from chance. See slide on limitations.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DATA · CHARACTERISTICS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What the Feature Matrix Looks Like</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7</a:t>
            </a:r>
            <a:endParaRPr lang="en-US" sz="1000" dirty="0"/>
          </a:p>
        </p:txBody>
      </p:sp>
      <p:sp>
        <p:nvSpPr>
          <p:cNvPr id="6" name="Text 4"/>
          <p:cNvSpPr/>
          <p:nvPr/>
        </p:nvSpPr>
        <p:spPr>
          <a:xfrm>
            <a:off x="548640" y="1417320"/>
            <a:ext cx="265176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90.2%</a:t>
            </a:r>
            <a:endParaRPr lang="en-US" sz="4000" dirty="0"/>
          </a:p>
        </p:txBody>
      </p:sp>
      <p:sp>
        <p:nvSpPr>
          <p:cNvPr id="7" name="Text 5"/>
          <p:cNvSpPr/>
          <p:nvPr/>
        </p:nvSpPr>
        <p:spPr>
          <a:xfrm>
            <a:off x="548640" y="2093976"/>
            <a:ext cx="26517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Zero cells</a:t>
            </a:r>
            <a:endParaRPr lang="en-US" sz="1150" dirty="0"/>
          </a:p>
        </p:txBody>
      </p:sp>
      <p:sp>
        <p:nvSpPr>
          <p:cNvPr id="8" name="Text 6"/>
          <p:cNvSpPr/>
          <p:nvPr/>
        </p:nvSpPr>
        <p:spPr>
          <a:xfrm>
            <a:off x="548640" y="2386584"/>
            <a:ext cx="265176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extreme sparsity</a:t>
            </a:r>
            <a:endParaRPr lang="en-US" sz="1000" dirty="0"/>
          </a:p>
        </p:txBody>
      </p:sp>
      <p:sp>
        <p:nvSpPr>
          <p:cNvPr id="9" name="Text 7"/>
          <p:cNvSpPr/>
          <p:nvPr/>
        </p:nvSpPr>
        <p:spPr>
          <a:xfrm>
            <a:off x="3383280" y="1417320"/>
            <a:ext cx="2651760" cy="658368"/>
          </a:xfrm>
          <a:prstGeom prst="rect">
            <a:avLst/>
          </a:prstGeom>
          <a:noFill/>
          <a:ln/>
        </p:spPr>
        <p:txBody>
          <a:bodyPr wrap="square" lIns="0" tIns="0" rIns="0" bIns="0" rtlCol="0" anchor="ctr"/>
          <a:lstStyle/>
          <a:p>
            <a:pPr algn="ctr" indent="0" marL="0">
              <a:buNone/>
            </a:pPr>
            <a:r>
              <a:rPr lang="en-US" sz="4000" b="1" dirty="0">
                <a:solidFill>
                  <a:srgbClr val="12505F"/>
                </a:solidFill>
                <a:latin typeface="Georgia" pitchFamily="34" charset="0"/>
                <a:ea typeface="Georgia" pitchFamily="34" charset="-122"/>
                <a:cs typeface="Georgia" pitchFamily="34" charset="-120"/>
              </a:rPr>
              <a:t>5000</a:t>
            </a:r>
            <a:endParaRPr lang="en-US" sz="4000" dirty="0"/>
          </a:p>
        </p:txBody>
      </p:sp>
      <p:sp>
        <p:nvSpPr>
          <p:cNvPr id="10" name="Text 8"/>
          <p:cNvSpPr/>
          <p:nvPr/>
        </p:nvSpPr>
        <p:spPr>
          <a:xfrm>
            <a:off x="3383280" y="2093976"/>
            <a:ext cx="26517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Read depth cap</a:t>
            </a:r>
            <a:endParaRPr lang="en-US" sz="1150" dirty="0"/>
          </a:p>
        </p:txBody>
      </p:sp>
      <p:sp>
        <p:nvSpPr>
          <p:cNvPr id="11" name="Text 9"/>
          <p:cNvSpPr/>
          <p:nvPr/>
        </p:nvSpPr>
        <p:spPr>
          <a:xfrm>
            <a:off x="3383280" y="2386584"/>
            <a:ext cx="265176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208 of 326 samples exactly</a:t>
            </a:r>
            <a:endParaRPr lang="en-US" sz="1000" dirty="0"/>
          </a:p>
        </p:txBody>
      </p:sp>
      <p:sp>
        <p:nvSpPr>
          <p:cNvPr id="12" name="Text 10"/>
          <p:cNvSpPr/>
          <p:nvPr/>
        </p:nvSpPr>
        <p:spPr>
          <a:xfrm>
            <a:off x="6217920" y="1417320"/>
            <a:ext cx="2651760" cy="658368"/>
          </a:xfrm>
          <a:prstGeom prst="rect">
            <a:avLst/>
          </a:prstGeom>
          <a:noFill/>
          <a:ln/>
        </p:spPr>
        <p:txBody>
          <a:bodyPr wrap="square" lIns="0" tIns="0" rIns="0" bIns="0" rtlCol="0" anchor="ctr"/>
          <a:lstStyle/>
          <a:p>
            <a:pPr algn="ctr" indent="0" marL="0">
              <a:buNone/>
            </a:pPr>
            <a:r>
              <a:rPr lang="en-US" sz="4000" b="1" dirty="0">
                <a:solidFill>
                  <a:srgbClr val="12505F"/>
                </a:solidFill>
                <a:latin typeface="Georgia" pitchFamily="34" charset="0"/>
                <a:ea typeface="Georgia" pitchFamily="34" charset="-122"/>
                <a:cs typeface="Georgia" pitchFamily="34" charset="-120"/>
              </a:rPr>
              <a:t>275</a:t>
            </a:r>
            <a:endParaRPr lang="en-US" sz="4000" dirty="0"/>
          </a:p>
        </p:txBody>
      </p:sp>
      <p:sp>
        <p:nvSpPr>
          <p:cNvPr id="13" name="Text 11"/>
          <p:cNvSpPr/>
          <p:nvPr/>
        </p:nvSpPr>
        <p:spPr>
          <a:xfrm>
            <a:off x="6217920" y="2093976"/>
            <a:ext cx="26517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FeatureIDs</a:t>
            </a:r>
            <a:endParaRPr lang="en-US" sz="1150" dirty="0"/>
          </a:p>
        </p:txBody>
      </p:sp>
      <p:sp>
        <p:nvSpPr>
          <p:cNvPr id="14" name="Text 12"/>
          <p:cNvSpPr/>
          <p:nvPr/>
        </p:nvSpPr>
        <p:spPr>
          <a:xfrm>
            <a:off x="6217920" y="2386584"/>
            <a:ext cx="265176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 155 genera</a:t>
            </a:r>
            <a:endParaRPr lang="en-US" sz="1000" dirty="0"/>
          </a:p>
        </p:txBody>
      </p:sp>
      <p:sp>
        <p:nvSpPr>
          <p:cNvPr id="15" name="Text 13"/>
          <p:cNvSpPr/>
          <p:nvPr/>
        </p:nvSpPr>
        <p:spPr>
          <a:xfrm>
            <a:off x="9052560" y="1417320"/>
            <a:ext cx="2560320" cy="658368"/>
          </a:xfrm>
          <a:prstGeom prst="rect">
            <a:avLst/>
          </a:prstGeom>
          <a:noFill/>
          <a:ln/>
        </p:spPr>
        <p:txBody>
          <a:bodyPr wrap="square" lIns="0" tIns="0" rIns="0" bIns="0" rtlCol="0" anchor="ctr"/>
          <a:lstStyle/>
          <a:p>
            <a:pPr algn="ctr" indent="0" marL="0">
              <a:buNone/>
            </a:pPr>
            <a:r>
              <a:rPr lang="en-US" sz="4000" b="1" dirty="0">
                <a:solidFill>
                  <a:srgbClr val="8FB996"/>
                </a:solidFill>
                <a:latin typeface="Georgia" pitchFamily="34" charset="0"/>
                <a:ea typeface="Georgia" pitchFamily="34" charset="-122"/>
                <a:cs typeface="Georgia" pitchFamily="34" charset="-120"/>
              </a:rPr>
              <a:t>70</a:t>
            </a:r>
            <a:endParaRPr lang="en-US" sz="4000" dirty="0"/>
          </a:p>
        </p:txBody>
      </p:sp>
      <p:sp>
        <p:nvSpPr>
          <p:cNvPr id="16" name="Text 14"/>
          <p:cNvSpPr/>
          <p:nvPr/>
        </p:nvSpPr>
        <p:spPr>
          <a:xfrm>
            <a:off x="9052560" y="2093976"/>
            <a:ext cx="256032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After filtering</a:t>
            </a:r>
            <a:endParaRPr lang="en-US" sz="1150" dirty="0"/>
          </a:p>
        </p:txBody>
      </p:sp>
      <p:sp>
        <p:nvSpPr>
          <p:cNvPr id="17" name="Text 15"/>
          <p:cNvSpPr/>
          <p:nvPr/>
        </p:nvSpPr>
        <p:spPr>
          <a:xfrm>
            <a:off x="9052560" y="2386584"/>
            <a:ext cx="256032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prevalence ≥ 10%</a:t>
            </a:r>
            <a:endParaRPr lang="en-US" sz="1000" dirty="0"/>
          </a:p>
        </p:txBody>
      </p:sp>
      <p:sp>
        <p:nvSpPr>
          <p:cNvPr id="18" name="Shape 16"/>
          <p:cNvSpPr/>
          <p:nvPr/>
        </p:nvSpPr>
        <p:spPr>
          <a:xfrm>
            <a:off x="548640" y="2926080"/>
            <a:ext cx="539496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9" name="Shape 17"/>
          <p:cNvSpPr/>
          <p:nvPr/>
        </p:nvSpPr>
        <p:spPr>
          <a:xfrm>
            <a:off x="548640" y="2926080"/>
            <a:ext cx="68580" cy="1691640"/>
          </a:xfrm>
          <a:prstGeom prst="rect">
            <a:avLst/>
          </a:prstGeom>
          <a:solidFill>
            <a:srgbClr val="18707F"/>
          </a:solidFill>
          <a:ln/>
        </p:spPr>
      </p:sp>
      <p:sp>
        <p:nvSpPr>
          <p:cNvPr id="20" name="Text 18"/>
          <p:cNvSpPr/>
          <p:nvPr/>
        </p:nvSpPr>
        <p:spPr>
          <a:xfrm>
            <a:off x="804672" y="307238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Prevalence filtering ladder</a:t>
            </a:r>
            <a:endParaRPr lang="en-US" sz="1500" dirty="0"/>
          </a:p>
        </p:txBody>
      </p:sp>
      <p:sp>
        <p:nvSpPr>
          <p:cNvPr id="21" name="Text 19"/>
          <p:cNvSpPr/>
          <p:nvPr/>
        </p:nvSpPr>
        <p:spPr>
          <a:xfrm>
            <a:off x="804672" y="3456432"/>
            <a:ext cx="4937760" cy="10332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 5%  → 117 features</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 10% → 79 features   (used here)</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 20% → 36 features</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 50% → 10 features</a:t>
            </a:r>
            <a:endParaRPr lang="en-US" sz="1200" dirty="0"/>
          </a:p>
        </p:txBody>
      </p:sp>
      <p:sp>
        <p:nvSpPr>
          <p:cNvPr id="22" name="Shape 20"/>
          <p:cNvSpPr/>
          <p:nvPr/>
        </p:nvSpPr>
        <p:spPr>
          <a:xfrm>
            <a:off x="6217920" y="2926080"/>
            <a:ext cx="539496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3" name="Shape 21"/>
          <p:cNvSpPr/>
          <p:nvPr/>
        </p:nvSpPr>
        <p:spPr>
          <a:xfrm>
            <a:off x="6217920" y="2926080"/>
            <a:ext cx="68580" cy="1691640"/>
          </a:xfrm>
          <a:prstGeom prst="rect">
            <a:avLst/>
          </a:prstGeom>
          <a:solidFill>
            <a:srgbClr val="18707F"/>
          </a:solidFill>
          <a:ln/>
        </p:spPr>
      </p:sp>
      <p:sp>
        <p:nvSpPr>
          <p:cNvPr id="24" name="Text 22"/>
          <p:cNvSpPr/>
          <p:nvPr/>
        </p:nvSpPr>
        <p:spPr>
          <a:xfrm>
            <a:off x="6473952" y="307238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Taxonomic resolution</a:t>
            </a:r>
            <a:endParaRPr lang="en-US" sz="1500" dirty="0"/>
          </a:p>
        </p:txBody>
      </p:sp>
      <p:sp>
        <p:nvSpPr>
          <p:cNvPr id="25" name="Text 23"/>
          <p:cNvSpPr/>
          <p:nvPr/>
        </p:nvSpPr>
        <p:spPr>
          <a:xfrm>
            <a:off x="6473952" y="3456432"/>
            <a:ext cx="4937760" cy="10332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Phylum → Family annotated for 262–274 of 275.</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Genus annotated for 220; 55 unassigned.</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Species level is entirely empty.</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Interpretation is therefore capped at genus/family.</a:t>
            </a:r>
            <a:endParaRPr lang="en-US" sz="1200" dirty="0"/>
          </a:p>
        </p:txBody>
      </p:sp>
      <p:sp>
        <p:nvSpPr>
          <p:cNvPr id="26" name="Shape 24"/>
          <p:cNvSpPr/>
          <p:nvPr/>
        </p:nvSpPr>
        <p:spPr>
          <a:xfrm>
            <a:off x="548640" y="4846320"/>
            <a:ext cx="11064240" cy="868680"/>
          </a:xfrm>
          <a:prstGeom prst="rect">
            <a:avLst/>
          </a:prstGeom>
          <a:solidFill>
            <a:srgbClr val="FBEDE7"/>
          </a:solidFill>
          <a:ln/>
        </p:spPr>
      </p:sp>
      <p:sp>
        <p:nvSpPr>
          <p:cNvPr id="27" name="Shape 25"/>
          <p:cNvSpPr/>
          <p:nvPr/>
        </p:nvSpPr>
        <p:spPr>
          <a:xfrm>
            <a:off x="548640" y="4846320"/>
            <a:ext cx="68580" cy="868680"/>
          </a:xfrm>
          <a:prstGeom prst="rect">
            <a:avLst/>
          </a:prstGeom>
          <a:solidFill>
            <a:srgbClr val="D2603A"/>
          </a:solidFill>
          <a:ln/>
        </p:spPr>
      </p:sp>
      <p:sp>
        <p:nvSpPr>
          <p:cNvPr id="28" name="Text 26"/>
          <p:cNvSpPr/>
          <p:nvPr/>
        </p:nvSpPr>
        <p:spPr>
          <a:xfrm>
            <a:off x="804672" y="4937760"/>
            <a:ext cx="10607040" cy="685800"/>
          </a:xfrm>
          <a:prstGeom prst="rect">
            <a:avLst/>
          </a:prstGeom>
          <a:noFill/>
          <a:ln/>
        </p:spPr>
        <p:txBody>
          <a:bodyPr wrap="square" lIns="0" tIns="0" rIns="0" bIns="0" rtlCol="0" anchor="t"/>
          <a:lstStyle/>
          <a:p>
            <a:pPr indent="0" marL="0">
              <a:lnSpc>
                <a:spcPct val="110000"/>
              </a:lnSpc>
              <a:buNone/>
            </a:pPr>
            <a:r>
              <a:rPr lang="en-US" sz="1200" dirty="0">
                <a:solidFill>
                  <a:srgbClr val="7A2E14"/>
                </a:solidFill>
                <a:latin typeface="Calibri" pitchFamily="34" charset="0"/>
                <a:ea typeface="Calibri" pitchFamily="34" charset="-122"/>
                <a:cs typeface="Calibri" pitchFamily="34" charset="-120"/>
              </a:rPr>
              <a:t>275 features is unusually few for avian gut 16S data (typically thousands of ASVs). The table was almost certainly pre-filtered upstream by an unknown rule — the single largest open risk in this project.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Data Processing</a:t>
            </a:r>
            <a:endParaRPr lang="en-US" sz="3800" dirty="0"/>
          </a:p>
        </p:txBody>
      </p:sp>
      <p:sp>
        <p:nvSpPr>
          <p:cNvPr id="5" name="Text 3"/>
          <p:cNvSpPr/>
          <p:nvPr/>
        </p:nvSpPr>
        <p:spPr>
          <a:xfrm>
            <a:off x="2880360" y="315468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Removing what leaks, transforming what is compositional, and keeping folds honest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PROCESSING · LEAKAGE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The Biggest Trap: Label Leakage</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548640" y="1353312"/>
            <a:ext cx="11064240" cy="365760"/>
          </a:xfrm>
          <a:prstGeom prst="rect">
            <a:avLst/>
          </a:prstGeom>
          <a:noFill/>
          <a:ln/>
        </p:spPr>
        <p:txBody>
          <a:bodyPr wrap="square" lIns="0" tIns="0" rIns="0" bIns="0" rtlCol="0" anchor="ctr"/>
          <a:lstStyle/>
          <a:p>
            <a:pPr indent="0" marL="0">
              <a:buNone/>
            </a:pPr>
            <a:r>
              <a:rPr lang="en-US" sz="1300" dirty="0">
                <a:solidFill>
                  <a:srgbClr val="5F7580"/>
                </a:solidFill>
                <a:latin typeface="Calibri" pitchFamily="34" charset="0"/>
                <a:ea typeface="Calibri" pitchFamily="34" charset="-122"/>
                <a:cs typeface="Calibri" pitchFamily="34" charset="-120"/>
              </a:rPr>
              <a:t>Of 102 metadata columns, many are the label itself or a deterministic function of it. Keeping any one of them yields 100% accuracy and zero insight.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4206240"/>
                <a:gridCol w="6858000"/>
              </a:tblGrid>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How it leaks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Infection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Byte-for-byte identical to the Influenza label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CoreGroup</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Encodes HostGroup_label directly, e.g. "Duck_Pos"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HASubType / NASubType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Negatives are the literal string "neg"; positives carry a subtype number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Log10_Virus_titer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Viral titer is a direct physical measurement of infection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True_or_Neg, Infection_Status,</a:t>
                      </a:r>
                      <a:endParaRPr lang="en-US" sz="1150" dirty="0">
                        <a:latin typeface="Calibri" charset="0"/>
                        <a:ea typeface="Calibri" charset="0"/>
                        <a:cs typeface="Calibri" charset="0"/>
                      </a:endParaRPr>
                    </a:p>
                    <a:p>
                      <a:pPr algn="l" indent="0" marL="0">
                        <a:buNone/>
                      </a:pPr>
                      <a:r>
                        <a:rPr lang="en-US" sz="1150" dirty="0">
                          <a:solidFill>
                            <a:srgbClr val="16252C"/>
                          </a:solidFill>
                          <a:latin typeface="Calibri" pitchFamily="34" charset="0"/>
                          <a:ea typeface="Calibri" pitchFamily="34" charset="-122"/>
                          <a:cs typeface="Calibri" pitchFamily="34" charset="-120"/>
                        </a:rPr>
                        <a:t>Infecting_Agent, experimental_group</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Experimental infection-group annotations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isolation_source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"mock" for controls vs "Intestine N" for infected birds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5120640"/>
            <a:ext cx="11064240" cy="10515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5120640"/>
            <a:ext cx="68580" cy="1051560"/>
          </a:xfrm>
          <a:prstGeom prst="rect">
            <a:avLst/>
          </a:prstGeom>
          <a:solidFill>
            <a:srgbClr val="8FB996"/>
          </a:solidFill>
          <a:ln/>
        </p:spPr>
      </p:sp>
      <p:sp>
        <p:nvSpPr>
          <p:cNvPr id="10" name="Text 7"/>
          <p:cNvSpPr/>
          <p:nvPr/>
        </p:nvSpPr>
        <p:spPr>
          <a:xfrm>
            <a:off x="804672" y="526694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Also removed</a:t>
            </a:r>
            <a:endParaRPr lang="en-US" sz="1500" dirty="0"/>
          </a:p>
        </p:txBody>
      </p:sp>
      <p:sp>
        <p:nvSpPr>
          <p:cNvPr id="11" name="Text 8"/>
          <p:cNvSpPr/>
          <p:nvPr/>
        </p:nvSpPr>
        <p:spPr>
          <a:xfrm>
            <a:off x="804672" y="5650992"/>
            <a:ext cx="10607040" cy="3931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10 sample-identifier columns (all 326 unique, and carrying naming conventions a tree model would memorize) and 17 batch-proxy columns that map one-to-one onto BioProject. The audit is codified in mb_common.py: LEAKAGE_COLS, and build_features.py prints each column's label-separability so it can be inspected rather than trusted.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PROCESSING · TRANSFORMATION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Microbiome Data Is Compositional</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548640" y="1353312"/>
            <a:ext cx="11064240" cy="365760"/>
          </a:xfrm>
          <a:prstGeom prst="rect">
            <a:avLst/>
          </a:prstGeom>
          <a:noFill/>
          <a:ln/>
        </p:spPr>
        <p:txBody>
          <a:bodyPr wrap="square" lIns="0" tIns="0" rIns="0" bIns="0" rtlCol="0" anchor="ctr"/>
          <a:lstStyle/>
          <a:p>
            <a:pPr indent="0" marL="0">
              <a:buNone/>
            </a:pPr>
            <a:r>
              <a:rPr lang="en-US" sz="1300" dirty="0">
                <a:solidFill>
                  <a:srgbClr val="5F7580"/>
                </a:solidFill>
                <a:latin typeface="Calibri" pitchFamily="34" charset="0"/>
                <a:ea typeface="Calibri" pitchFamily="34" charset="-122"/>
                <a:cs typeface="Calibri" pitchFamily="34" charset="-120"/>
              </a:rPr>
              <a:t>Each sample sums to a fixed sequencing depth, so abundances carry only relative information. Feeding raw counts to a linear model is a methodological error.</a:t>
            </a:r>
            <a:endParaRPr lang="en-US" sz="1300" dirty="0"/>
          </a:p>
        </p:txBody>
      </p:sp>
      <p:sp>
        <p:nvSpPr>
          <p:cNvPr id="7" name="Shape 5"/>
          <p:cNvSpPr/>
          <p:nvPr/>
        </p:nvSpPr>
        <p:spPr>
          <a:xfrm>
            <a:off x="548640" y="1965960"/>
            <a:ext cx="260604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6"/>
          <p:cNvSpPr/>
          <p:nvPr/>
        </p:nvSpPr>
        <p:spPr>
          <a:xfrm>
            <a:off x="548640" y="1965960"/>
            <a:ext cx="2606040" cy="68580"/>
          </a:xfrm>
          <a:prstGeom prst="rect">
            <a:avLst/>
          </a:prstGeom>
          <a:solidFill>
            <a:srgbClr val="18707F"/>
          </a:solidFill>
          <a:ln/>
        </p:spPr>
      </p:sp>
      <p:sp>
        <p:nvSpPr>
          <p:cNvPr id="9" name="Shape 7"/>
          <p:cNvSpPr/>
          <p:nvPr/>
        </p:nvSpPr>
        <p:spPr>
          <a:xfrm>
            <a:off x="768096" y="2194560"/>
            <a:ext cx="457200" cy="457200"/>
          </a:xfrm>
          <a:prstGeom prst="ellipse">
            <a:avLst/>
          </a:prstGeom>
          <a:solidFill>
            <a:srgbClr val="0B3C49"/>
          </a:solidFill>
          <a:ln/>
        </p:spPr>
      </p:sp>
      <p:sp>
        <p:nvSpPr>
          <p:cNvPr id="10" name="Text 8"/>
          <p:cNvSpPr/>
          <p:nvPr/>
        </p:nvSpPr>
        <p:spPr>
          <a:xfrm>
            <a:off x="768096" y="2258568"/>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768096" y="2761488"/>
            <a:ext cx="2194560" cy="292608"/>
          </a:xfrm>
          <a:prstGeom prst="rect">
            <a:avLst/>
          </a:prstGeom>
          <a:noFill/>
          <a:ln/>
        </p:spPr>
        <p:txBody>
          <a:bodyPr wrap="square" lIns="0" tIns="0" rIns="0" bIns="0" rtlCol="0" anchor="ctr"/>
          <a:lstStyle/>
          <a:p>
            <a:pPr indent="0" marL="0">
              <a:buNone/>
            </a:pPr>
            <a:r>
              <a:rPr lang="en-US" sz="1350" b="1" dirty="0">
                <a:solidFill>
                  <a:srgbClr val="16252C"/>
                </a:solidFill>
                <a:latin typeface="Georgia" pitchFamily="34" charset="0"/>
                <a:ea typeface="Georgia" pitchFamily="34" charset="-122"/>
                <a:cs typeface="Georgia" pitchFamily="34" charset="-120"/>
              </a:rPr>
              <a:t>Prevalence filter</a:t>
            </a:r>
            <a:endParaRPr lang="en-US" sz="1350" dirty="0"/>
          </a:p>
        </p:txBody>
      </p:sp>
      <p:sp>
        <p:nvSpPr>
          <p:cNvPr id="12" name="Text 10"/>
          <p:cNvSpPr/>
          <p:nvPr/>
        </p:nvSpPr>
        <p:spPr>
          <a:xfrm>
            <a:off x="768096" y="3054096"/>
            <a:ext cx="2194560" cy="45720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Keep features present in ≥ 10% of samples</a:t>
            </a:r>
            <a:endParaRPr lang="en-US" sz="1050" dirty="0"/>
          </a:p>
        </p:txBody>
      </p:sp>
      <p:sp>
        <p:nvSpPr>
          <p:cNvPr id="13" name="Text 11"/>
          <p:cNvSpPr/>
          <p:nvPr/>
        </p:nvSpPr>
        <p:spPr>
          <a:xfrm>
            <a:off x="3172968" y="2651760"/>
            <a:ext cx="228600" cy="365760"/>
          </a:xfrm>
          <a:prstGeom prst="rect">
            <a:avLst/>
          </a:prstGeom>
          <a:noFill/>
          <a:ln/>
        </p:spPr>
        <p:txBody>
          <a:bodyPr wrap="square" lIns="0" tIns="0" rIns="0" bIns="0" rtlCol="0" anchor="ctr"/>
          <a:lstStyle/>
          <a:p>
            <a:pPr algn="ctr" indent="0" marL="0">
              <a:buNone/>
            </a:pPr>
            <a:r>
              <a:rPr lang="en-US" sz="1800" dirty="0">
                <a:solidFill>
                  <a:srgbClr val="4E9FAD"/>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3401568" y="1965960"/>
            <a:ext cx="260604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5" name="Shape 13"/>
          <p:cNvSpPr/>
          <p:nvPr/>
        </p:nvSpPr>
        <p:spPr>
          <a:xfrm>
            <a:off x="3401568" y="1965960"/>
            <a:ext cx="2606040" cy="68580"/>
          </a:xfrm>
          <a:prstGeom prst="rect">
            <a:avLst/>
          </a:prstGeom>
          <a:solidFill>
            <a:srgbClr val="18707F"/>
          </a:solidFill>
          <a:ln/>
        </p:spPr>
      </p:sp>
      <p:sp>
        <p:nvSpPr>
          <p:cNvPr id="16" name="Shape 14"/>
          <p:cNvSpPr/>
          <p:nvPr/>
        </p:nvSpPr>
        <p:spPr>
          <a:xfrm>
            <a:off x="3621024" y="2194560"/>
            <a:ext cx="457200" cy="457200"/>
          </a:xfrm>
          <a:prstGeom prst="ellipse">
            <a:avLst/>
          </a:prstGeom>
          <a:solidFill>
            <a:srgbClr val="0B3C49"/>
          </a:solidFill>
          <a:ln/>
        </p:spPr>
      </p:sp>
      <p:sp>
        <p:nvSpPr>
          <p:cNvPr id="17" name="Text 15"/>
          <p:cNvSpPr/>
          <p:nvPr/>
        </p:nvSpPr>
        <p:spPr>
          <a:xfrm>
            <a:off x="3621024" y="2258568"/>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8" name="Text 16"/>
          <p:cNvSpPr/>
          <p:nvPr/>
        </p:nvSpPr>
        <p:spPr>
          <a:xfrm>
            <a:off x="3621024" y="2761488"/>
            <a:ext cx="2194560" cy="292608"/>
          </a:xfrm>
          <a:prstGeom prst="rect">
            <a:avLst/>
          </a:prstGeom>
          <a:noFill/>
          <a:ln/>
        </p:spPr>
        <p:txBody>
          <a:bodyPr wrap="square" lIns="0" tIns="0" rIns="0" bIns="0" rtlCol="0" anchor="ctr"/>
          <a:lstStyle/>
          <a:p>
            <a:pPr indent="0" marL="0">
              <a:buNone/>
            </a:pPr>
            <a:r>
              <a:rPr lang="en-US" sz="1350" b="1" dirty="0">
                <a:solidFill>
                  <a:srgbClr val="16252C"/>
                </a:solidFill>
                <a:latin typeface="Georgia" pitchFamily="34" charset="0"/>
                <a:ea typeface="Georgia" pitchFamily="34" charset="-122"/>
                <a:cs typeface="Georgia" pitchFamily="34" charset="-120"/>
              </a:rPr>
              <a:t>Pseudocount</a:t>
            </a:r>
            <a:endParaRPr lang="en-US" sz="1350" dirty="0"/>
          </a:p>
        </p:txBody>
      </p:sp>
      <p:sp>
        <p:nvSpPr>
          <p:cNvPr id="19" name="Text 17"/>
          <p:cNvSpPr/>
          <p:nvPr/>
        </p:nvSpPr>
        <p:spPr>
          <a:xfrm>
            <a:off x="3621024" y="3054096"/>
            <a:ext cx="2194560" cy="45720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Add 0.5 to every cell so logs are defined</a:t>
            </a:r>
            <a:endParaRPr lang="en-US" sz="1050" dirty="0"/>
          </a:p>
        </p:txBody>
      </p:sp>
      <p:sp>
        <p:nvSpPr>
          <p:cNvPr id="20" name="Text 18"/>
          <p:cNvSpPr/>
          <p:nvPr/>
        </p:nvSpPr>
        <p:spPr>
          <a:xfrm>
            <a:off x="6025896" y="2651760"/>
            <a:ext cx="228600" cy="365760"/>
          </a:xfrm>
          <a:prstGeom prst="rect">
            <a:avLst/>
          </a:prstGeom>
          <a:noFill/>
          <a:ln/>
        </p:spPr>
        <p:txBody>
          <a:bodyPr wrap="square" lIns="0" tIns="0" rIns="0" bIns="0" rtlCol="0" anchor="ctr"/>
          <a:lstStyle/>
          <a:p>
            <a:pPr algn="ctr" indent="0" marL="0">
              <a:buNone/>
            </a:pPr>
            <a:r>
              <a:rPr lang="en-US" sz="1800" dirty="0">
                <a:solidFill>
                  <a:srgbClr val="4E9FAD"/>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6254496" y="1965960"/>
            <a:ext cx="260604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2" name="Shape 20"/>
          <p:cNvSpPr/>
          <p:nvPr/>
        </p:nvSpPr>
        <p:spPr>
          <a:xfrm>
            <a:off x="6254496" y="1965960"/>
            <a:ext cx="2606040" cy="68580"/>
          </a:xfrm>
          <a:prstGeom prst="rect">
            <a:avLst/>
          </a:prstGeom>
          <a:solidFill>
            <a:srgbClr val="18707F"/>
          </a:solidFill>
          <a:ln/>
        </p:spPr>
      </p:sp>
      <p:sp>
        <p:nvSpPr>
          <p:cNvPr id="23" name="Shape 21"/>
          <p:cNvSpPr/>
          <p:nvPr/>
        </p:nvSpPr>
        <p:spPr>
          <a:xfrm>
            <a:off x="6473952" y="2194560"/>
            <a:ext cx="457200" cy="457200"/>
          </a:xfrm>
          <a:prstGeom prst="ellipse">
            <a:avLst/>
          </a:prstGeom>
          <a:solidFill>
            <a:srgbClr val="0B3C49"/>
          </a:solidFill>
          <a:ln/>
        </p:spPr>
      </p:sp>
      <p:sp>
        <p:nvSpPr>
          <p:cNvPr id="24" name="Text 22"/>
          <p:cNvSpPr/>
          <p:nvPr/>
        </p:nvSpPr>
        <p:spPr>
          <a:xfrm>
            <a:off x="6473952" y="2258568"/>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5" name="Text 23"/>
          <p:cNvSpPr/>
          <p:nvPr/>
        </p:nvSpPr>
        <p:spPr>
          <a:xfrm>
            <a:off x="6473952" y="2761488"/>
            <a:ext cx="2194560" cy="292608"/>
          </a:xfrm>
          <a:prstGeom prst="rect">
            <a:avLst/>
          </a:prstGeom>
          <a:noFill/>
          <a:ln/>
        </p:spPr>
        <p:txBody>
          <a:bodyPr wrap="square" lIns="0" tIns="0" rIns="0" bIns="0" rtlCol="0" anchor="ctr"/>
          <a:lstStyle/>
          <a:p>
            <a:pPr indent="0" marL="0">
              <a:buNone/>
            </a:pPr>
            <a:r>
              <a:rPr lang="en-US" sz="1350" b="1" dirty="0">
                <a:solidFill>
                  <a:srgbClr val="16252C"/>
                </a:solidFill>
                <a:latin typeface="Georgia" pitchFamily="34" charset="0"/>
                <a:ea typeface="Georgia" pitchFamily="34" charset="-122"/>
                <a:cs typeface="Georgia" pitchFamily="34" charset="-120"/>
              </a:rPr>
              <a:t>Relative abundance</a:t>
            </a:r>
            <a:endParaRPr lang="en-US" sz="1350" dirty="0"/>
          </a:p>
        </p:txBody>
      </p:sp>
      <p:sp>
        <p:nvSpPr>
          <p:cNvPr id="26" name="Text 24"/>
          <p:cNvSpPr/>
          <p:nvPr/>
        </p:nvSpPr>
        <p:spPr>
          <a:xfrm>
            <a:off x="6473952" y="3054096"/>
            <a:ext cx="2194560" cy="45720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Divide each row by its own total</a:t>
            </a:r>
            <a:endParaRPr lang="en-US" sz="1050" dirty="0"/>
          </a:p>
        </p:txBody>
      </p:sp>
      <p:sp>
        <p:nvSpPr>
          <p:cNvPr id="27" name="Text 25"/>
          <p:cNvSpPr/>
          <p:nvPr/>
        </p:nvSpPr>
        <p:spPr>
          <a:xfrm>
            <a:off x="8878824" y="2651760"/>
            <a:ext cx="228600" cy="365760"/>
          </a:xfrm>
          <a:prstGeom prst="rect">
            <a:avLst/>
          </a:prstGeom>
          <a:noFill/>
          <a:ln/>
        </p:spPr>
        <p:txBody>
          <a:bodyPr wrap="square" lIns="0" tIns="0" rIns="0" bIns="0" rtlCol="0" anchor="ctr"/>
          <a:lstStyle/>
          <a:p>
            <a:pPr algn="ctr" indent="0" marL="0">
              <a:buNone/>
            </a:pPr>
            <a:r>
              <a:rPr lang="en-US" sz="1800" dirty="0">
                <a:solidFill>
                  <a:srgbClr val="4E9FAD"/>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107424" y="1965960"/>
            <a:ext cx="260604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9" name="Shape 27"/>
          <p:cNvSpPr/>
          <p:nvPr/>
        </p:nvSpPr>
        <p:spPr>
          <a:xfrm>
            <a:off x="9107424" y="1965960"/>
            <a:ext cx="2606040" cy="68580"/>
          </a:xfrm>
          <a:prstGeom prst="rect">
            <a:avLst/>
          </a:prstGeom>
          <a:solidFill>
            <a:srgbClr val="18707F"/>
          </a:solidFill>
          <a:ln/>
        </p:spPr>
      </p:sp>
      <p:sp>
        <p:nvSpPr>
          <p:cNvPr id="30" name="Shape 28"/>
          <p:cNvSpPr/>
          <p:nvPr/>
        </p:nvSpPr>
        <p:spPr>
          <a:xfrm>
            <a:off x="9326880" y="2194560"/>
            <a:ext cx="457200" cy="457200"/>
          </a:xfrm>
          <a:prstGeom prst="ellipse">
            <a:avLst/>
          </a:prstGeom>
          <a:solidFill>
            <a:srgbClr val="0B3C49"/>
          </a:solidFill>
          <a:ln/>
        </p:spPr>
      </p:sp>
      <p:sp>
        <p:nvSpPr>
          <p:cNvPr id="31" name="Text 29"/>
          <p:cNvSpPr/>
          <p:nvPr/>
        </p:nvSpPr>
        <p:spPr>
          <a:xfrm>
            <a:off x="9326880" y="2258568"/>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32" name="Text 30"/>
          <p:cNvSpPr/>
          <p:nvPr/>
        </p:nvSpPr>
        <p:spPr>
          <a:xfrm>
            <a:off x="9326880" y="2761488"/>
            <a:ext cx="2194560" cy="292608"/>
          </a:xfrm>
          <a:prstGeom prst="rect">
            <a:avLst/>
          </a:prstGeom>
          <a:noFill/>
          <a:ln/>
        </p:spPr>
        <p:txBody>
          <a:bodyPr wrap="square" lIns="0" tIns="0" rIns="0" bIns="0" rtlCol="0" anchor="ctr"/>
          <a:lstStyle/>
          <a:p>
            <a:pPr indent="0" marL="0">
              <a:buNone/>
            </a:pPr>
            <a:r>
              <a:rPr lang="en-US" sz="1350" b="1" dirty="0">
                <a:solidFill>
                  <a:srgbClr val="16252C"/>
                </a:solidFill>
                <a:latin typeface="Georgia" pitchFamily="34" charset="0"/>
                <a:ea typeface="Georgia" pitchFamily="34" charset="-122"/>
                <a:cs typeface="Georgia" pitchFamily="34" charset="-120"/>
              </a:rPr>
              <a:t>CLR</a:t>
            </a:r>
            <a:endParaRPr lang="en-US" sz="1350" dirty="0"/>
          </a:p>
        </p:txBody>
      </p:sp>
      <p:sp>
        <p:nvSpPr>
          <p:cNvPr id="33" name="Text 31"/>
          <p:cNvSpPr/>
          <p:nvPr/>
        </p:nvSpPr>
        <p:spPr>
          <a:xfrm>
            <a:off x="9326880" y="3054096"/>
            <a:ext cx="2194560" cy="45720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Log, then subtract each row's log-mean</a:t>
            </a:r>
            <a:endParaRPr lang="en-US" sz="1050" dirty="0"/>
          </a:p>
        </p:txBody>
      </p:sp>
      <p:sp>
        <p:nvSpPr>
          <p:cNvPr id="34" name="Shape 32"/>
          <p:cNvSpPr/>
          <p:nvPr/>
        </p:nvSpPr>
        <p:spPr>
          <a:xfrm>
            <a:off x="548640" y="4114800"/>
            <a:ext cx="539496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35" name="Shape 33"/>
          <p:cNvSpPr/>
          <p:nvPr/>
        </p:nvSpPr>
        <p:spPr>
          <a:xfrm>
            <a:off x="548640" y="4114800"/>
            <a:ext cx="68580" cy="1691640"/>
          </a:xfrm>
          <a:prstGeom prst="rect">
            <a:avLst/>
          </a:prstGeom>
          <a:solidFill>
            <a:srgbClr val="18707F"/>
          </a:solidFill>
          <a:ln/>
        </p:spPr>
      </p:sp>
      <p:sp>
        <p:nvSpPr>
          <p:cNvPr id="36" name="Text 34"/>
          <p:cNvSpPr/>
          <p:nvPr/>
        </p:nvSpPr>
        <p:spPr>
          <a:xfrm>
            <a:off x="804672" y="426110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Result</a:t>
            </a:r>
            <a:endParaRPr lang="en-US" sz="1500" dirty="0"/>
          </a:p>
        </p:txBody>
      </p:sp>
      <p:sp>
        <p:nvSpPr>
          <p:cNvPr id="37" name="Text 35"/>
          <p:cNvSpPr/>
          <p:nvPr/>
        </p:nvSpPr>
        <p:spPr>
          <a:xfrm>
            <a:off x="804672" y="4645152"/>
            <a:ext cx="4937760" cy="10332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70 CLR features for 260 samples — p/n ≈ 0.27.</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Not a high-dimensional problem: no PCA, no aggressive selection needed.</a:t>
            </a:r>
            <a:endParaRPr lang="en-US" sz="1200" dirty="0"/>
          </a:p>
        </p:txBody>
      </p:sp>
      <p:sp>
        <p:nvSpPr>
          <p:cNvPr id="38" name="Shape 36"/>
          <p:cNvSpPr/>
          <p:nvPr/>
        </p:nvSpPr>
        <p:spPr>
          <a:xfrm>
            <a:off x="6217920" y="4114800"/>
            <a:ext cx="539496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39" name="Shape 37"/>
          <p:cNvSpPr/>
          <p:nvPr/>
        </p:nvSpPr>
        <p:spPr>
          <a:xfrm>
            <a:off x="6217920" y="4114800"/>
            <a:ext cx="68580" cy="1691640"/>
          </a:xfrm>
          <a:prstGeom prst="rect">
            <a:avLst/>
          </a:prstGeom>
          <a:solidFill>
            <a:srgbClr val="8FB996"/>
          </a:solidFill>
          <a:ln/>
        </p:spPr>
      </p:sp>
      <p:sp>
        <p:nvSpPr>
          <p:cNvPr id="40" name="Text 38"/>
          <p:cNvSpPr/>
          <p:nvPr/>
        </p:nvSpPr>
        <p:spPr>
          <a:xfrm>
            <a:off x="6473952" y="426110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Genus aggregation keeps the unassigned</a:t>
            </a:r>
            <a:endParaRPr lang="en-US" sz="1500" dirty="0"/>
          </a:p>
        </p:txBody>
      </p:sp>
      <p:sp>
        <p:nvSpPr>
          <p:cNvPr id="41" name="Text 39"/>
          <p:cNvSpPr/>
          <p:nvPr/>
        </p:nvSpPr>
        <p:spPr>
          <a:xfrm>
            <a:off x="6473952" y="4645152"/>
            <a:ext cx="4937760" cy="10332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55 features lack a genus label. They are kept as Genus_unassigned_&lt;ID&gt;, not dropped — discarding them would break compositional closure and distort the CLR. Hence 275 → 210, not 155.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PROCESSING · LEAK-FREE CV</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Keeping the Folds Honest</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417320"/>
            <a:ext cx="5394960" cy="214884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417320"/>
            <a:ext cx="68580" cy="2148840"/>
          </a:xfrm>
          <a:prstGeom prst="rect">
            <a:avLst/>
          </a:prstGeom>
          <a:solidFill>
            <a:srgbClr val="D2603A"/>
          </a:solidFill>
          <a:ln/>
        </p:spPr>
      </p:sp>
      <p:sp>
        <p:nvSpPr>
          <p:cNvPr id="8" name="Text 6"/>
          <p:cNvSpPr/>
          <p:nvPr/>
        </p:nvSpPr>
        <p:spPr>
          <a:xfrm>
            <a:off x="804672" y="156362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The common mistake</a:t>
            </a:r>
            <a:endParaRPr lang="en-US" sz="1500" dirty="0"/>
          </a:p>
        </p:txBody>
      </p:sp>
      <p:sp>
        <p:nvSpPr>
          <p:cNvPr id="9" name="Text 7"/>
          <p:cNvSpPr/>
          <p:nvPr/>
        </p:nvSpPr>
        <p:spPr>
          <a:xfrm>
            <a:off x="804672" y="1947672"/>
            <a:ext cx="4937760" cy="1490472"/>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Filter features on the full dataset, then cross-validate.</a:t>
            </a:r>
            <a:endParaRPr lang="en-US" sz="1200" dirty="0"/>
          </a:p>
          <a:p>
            <a:pPr indent="0" marL="0">
              <a:lnSpc>
                <a:spcPct val="112000"/>
              </a:lnSpc>
              <a:buNone/>
            </a:pPr>
            <a:endParaRPr lang="en-US" sz="1200" dirty="0"/>
          </a:p>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The validation fold silently influences which features survive. Reported AUC inflates by roughly 0.01–0.02 — small, but it is the difference between an honest and a dishonest number.</a:t>
            </a:r>
            <a:endParaRPr lang="en-US" sz="1200" dirty="0"/>
          </a:p>
        </p:txBody>
      </p:sp>
      <p:sp>
        <p:nvSpPr>
          <p:cNvPr id="10" name="Shape 8"/>
          <p:cNvSpPr/>
          <p:nvPr/>
        </p:nvSpPr>
        <p:spPr>
          <a:xfrm>
            <a:off x="6217920" y="1417320"/>
            <a:ext cx="5394960" cy="21488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9"/>
          <p:cNvSpPr/>
          <p:nvPr/>
        </p:nvSpPr>
        <p:spPr>
          <a:xfrm>
            <a:off x="6217920" y="1417320"/>
            <a:ext cx="68580" cy="2148840"/>
          </a:xfrm>
          <a:prstGeom prst="rect">
            <a:avLst/>
          </a:prstGeom>
          <a:solidFill>
            <a:srgbClr val="8FB996"/>
          </a:solidFill>
          <a:ln/>
        </p:spPr>
      </p:sp>
      <p:sp>
        <p:nvSpPr>
          <p:cNvPr id="12" name="Text 10"/>
          <p:cNvSpPr/>
          <p:nvPr/>
        </p:nvSpPr>
        <p:spPr>
          <a:xfrm>
            <a:off x="6473952" y="156362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we do instead</a:t>
            </a:r>
            <a:endParaRPr lang="en-US" sz="1500" dirty="0"/>
          </a:p>
        </p:txBody>
      </p:sp>
      <p:sp>
        <p:nvSpPr>
          <p:cNvPr id="13" name="Text 11"/>
          <p:cNvSpPr/>
          <p:nvPr/>
        </p:nvSpPr>
        <p:spPr>
          <a:xfrm>
            <a:off x="6473952" y="1947672"/>
            <a:ext cx="4937760" cy="14904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Prevalence filtering and CLR are wrapped in a scikit-learn transformer, PrevalenceCLR, and refitted inside every training fold.</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CLR itself is a within-row operation, so it carries no cross-sample leakage — only the filter needed protecting.</a:t>
            </a:r>
            <a:endParaRPr lang="en-US" sz="1200" dirty="0"/>
          </a:p>
        </p:txBody>
      </p:sp>
      <p:sp>
        <p:nvSpPr>
          <p:cNvPr id="14" name="Shape 12"/>
          <p:cNvSpPr/>
          <p:nvPr/>
        </p:nvSpPr>
        <p:spPr>
          <a:xfrm>
            <a:off x="548640" y="3794760"/>
            <a:ext cx="11064240" cy="914400"/>
          </a:xfrm>
          <a:prstGeom prst="rect">
            <a:avLst/>
          </a:prstGeom>
          <a:solidFill>
            <a:srgbClr val="0B3C49"/>
          </a:solidFill>
          <a:ln/>
        </p:spPr>
      </p:sp>
      <p:sp>
        <p:nvSpPr>
          <p:cNvPr id="15" name="Text 13"/>
          <p:cNvSpPr/>
          <p:nvPr/>
        </p:nvSpPr>
        <p:spPr>
          <a:xfrm>
            <a:off x="822960" y="4023360"/>
            <a:ext cx="10515600" cy="457200"/>
          </a:xfrm>
          <a:prstGeom prst="rect">
            <a:avLst/>
          </a:prstGeom>
          <a:noFill/>
          <a:ln/>
        </p:spPr>
        <p:txBody>
          <a:bodyPr wrap="square" lIns="0" tIns="0" rIns="0" bIns="0" rtlCol="0" anchor="ctr"/>
          <a:lstStyle/>
          <a:p>
            <a:pPr indent="0" marL="0">
              <a:buNone/>
            </a:pPr>
            <a:r>
              <a:rPr lang="en-US" sz="1400" dirty="0">
                <a:solidFill>
                  <a:srgbClr val="8FB996"/>
                </a:solidFill>
                <a:latin typeface="Consolas" pitchFamily="34" charset="0"/>
                <a:ea typeface="Consolas" pitchFamily="34" charset="-122"/>
                <a:cs typeface="Consolas" pitchFamily="34" charset="-120"/>
              </a:rPr>
              <a:t>Pipeline([('clr', PrevalenceCLR(0.10)), ('sc', StandardScaler()), ('clf', SVC(kernel='rbf'))])</a:t>
            </a:r>
            <a:endParaRPr lang="en-US" sz="1400" dirty="0"/>
          </a:p>
        </p:txBody>
      </p:sp>
      <p:sp>
        <p:nvSpPr>
          <p:cNvPr id="16" name="Shape 14"/>
          <p:cNvSpPr/>
          <p:nvPr/>
        </p:nvSpPr>
        <p:spPr>
          <a:xfrm>
            <a:off x="548640" y="4983480"/>
            <a:ext cx="11064240" cy="9144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5"/>
          <p:cNvSpPr/>
          <p:nvPr/>
        </p:nvSpPr>
        <p:spPr>
          <a:xfrm>
            <a:off x="548640" y="4983480"/>
            <a:ext cx="68580" cy="914400"/>
          </a:xfrm>
          <a:prstGeom prst="rect">
            <a:avLst/>
          </a:prstGeom>
          <a:solidFill>
            <a:srgbClr val="18707F"/>
          </a:solidFill>
          <a:ln/>
        </p:spPr>
      </p:sp>
      <p:sp>
        <p:nvSpPr>
          <p:cNvPr id="18" name="Text 16"/>
          <p:cNvSpPr/>
          <p:nvPr/>
        </p:nvSpPr>
        <p:spPr>
          <a:xfrm>
            <a:off x="804672" y="512978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Why this matters more than the model choice</a:t>
            </a:r>
            <a:endParaRPr lang="en-US" sz="1500" dirty="0"/>
          </a:p>
        </p:txBody>
      </p:sp>
      <p:sp>
        <p:nvSpPr>
          <p:cNvPr id="19" name="Text 17"/>
          <p:cNvSpPr/>
          <p:nvPr/>
        </p:nvSpPr>
        <p:spPr>
          <a:xfrm>
            <a:off x="804672" y="5513832"/>
            <a:ext cx="10607040" cy="2560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Most published microbiome classifiers report a single number from a pipeline where feature selection saw the whole dataset. Getting this right costs a few AUC points on paper and buys the result its credibility.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Modeling &amp; Evaluation</a:t>
            </a:r>
            <a:endParaRPr lang="en-US" sz="3800" dirty="0"/>
          </a:p>
        </p:txBody>
      </p:sp>
      <p:sp>
        <p:nvSpPr>
          <p:cNvPr id="5" name="Text 3"/>
          <p:cNvSpPr/>
          <p:nvPr/>
        </p:nvSpPr>
        <p:spPr>
          <a:xfrm>
            <a:off x="2880360" y="315468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A nested protocol, seventeen models, one honest comparison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MODELING · PROTOCOL</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Evaluation Protocol</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417320"/>
            <a:ext cx="3566160" cy="17830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417320"/>
            <a:ext cx="68580" cy="1783080"/>
          </a:xfrm>
          <a:prstGeom prst="rect">
            <a:avLst/>
          </a:prstGeom>
          <a:solidFill>
            <a:srgbClr val="12505F"/>
          </a:solidFill>
          <a:ln/>
        </p:spPr>
      </p:sp>
      <p:sp>
        <p:nvSpPr>
          <p:cNvPr id="8" name="Text 6"/>
          <p:cNvSpPr/>
          <p:nvPr/>
        </p:nvSpPr>
        <p:spPr>
          <a:xfrm>
            <a:off x="804672" y="1563624"/>
            <a:ext cx="31089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Outer loop</a:t>
            </a:r>
            <a:endParaRPr lang="en-US" sz="1500" dirty="0"/>
          </a:p>
        </p:txBody>
      </p:sp>
      <p:sp>
        <p:nvSpPr>
          <p:cNvPr id="9" name="Text 7"/>
          <p:cNvSpPr/>
          <p:nvPr/>
        </p:nvSpPr>
        <p:spPr>
          <a:xfrm>
            <a:off x="804672" y="1947672"/>
            <a:ext cx="3108960" cy="112471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RepeatedStratifiedKFold</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5 folds × 5 repeats = 25 folds</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Purpose: performance estimation</a:t>
            </a:r>
            <a:endParaRPr lang="en-US" sz="1200" dirty="0"/>
          </a:p>
        </p:txBody>
      </p:sp>
      <p:sp>
        <p:nvSpPr>
          <p:cNvPr id="10" name="Shape 8"/>
          <p:cNvSpPr/>
          <p:nvPr/>
        </p:nvSpPr>
        <p:spPr>
          <a:xfrm>
            <a:off x="4297680" y="1417320"/>
            <a:ext cx="3566160" cy="17830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9"/>
          <p:cNvSpPr/>
          <p:nvPr/>
        </p:nvSpPr>
        <p:spPr>
          <a:xfrm>
            <a:off x="4297680" y="1417320"/>
            <a:ext cx="68580" cy="1783080"/>
          </a:xfrm>
          <a:prstGeom prst="rect">
            <a:avLst/>
          </a:prstGeom>
          <a:solidFill>
            <a:srgbClr val="18707F"/>
          </a:solidFill>
          <a:ln/>
        </p:spPr>
      </p:sp>
      <p:sp>
        <p:nvSpPr>
          <p:cNvPr id="12" name="Text 10"/>
          <p:cNvSpPr/>
          <p:nvPr/>
        </p:nvSpPr>
        <p:spPr>
          <a:xfrm>
            <a:off x="4553712" y="1563624"/>
            <a:ext cx="31089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Inner loop</a:t>
            </a:r>
            <a:endParaRPr lang="en-US" sz="1500" dirty="0"/>
          </a:p>
        </p:txBody>
      </p:sp>
      <p:sp>
        <p:nvSpPr>
          <p:cNvPr id="13" name="Text 11"/>
          <p:cNvSpPr/>
          <p:nvPr/>
        </p:nvSpPr>
        <p:spPr>
          <a:xfrm>
            <a:off x="4553712" y="1947672"/>
            <a:ext cx="3108960" cy="112471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StratifiedKFold, 4 folds</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GridSearchCV on ROC-AUC</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Purpose: hyperparameter search</a:t>
            </a:r>
            <a:endParaRPr lang="en-US" sz="1200" dirty="0"/>
          </a:p>
        </p:txBody>
      </p:sp>
      <p:sp>
        <p:nvSpPr>
          <p:cNvPr id="14" name="Shape 12"/>
          <p:cNvSpPr/>
          <p:nvPr/>
        </p:nvSpPr>
        <p:spPr>
          <a:xfrm>
            <a:off x="8046720" y="1417320"/>
            <a:ext cx="3566160" cy="17830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5" name="Shape 13"/>
          <p:cNvSpPr/>
          <p:nvPr/>
        </p:nvSpPr>
        <p:spPr>
          <a:xfrm>
            <a:off x="8046720" y="1417320"/>
            <a:ext cx="68580" cy="1783080"/>
          </a:xfrm>
          <a:prstGeom prst="rect">
            <a:avLst/>
          </a:prstGeom>
          <a:solidFill>
            <a:srgbClr val="8FB996"/>
          </a:solidFill>
          <a:ln/>
        </p:spPr>
      </p:sp>
      <p:sp>
        <p:nvSpPr>
          <p:cNvPr id="16" name="Text 14"/>
          <p:cNvSpPr/>
          <p:nvPr/>
        </p:nvSpPr>
        <p:spPr>
          <a:xfrm>
            <a:off x="8302752" y="1563624"/>
            <a:ext cx="31089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Shared splits</a:t>
            </a:r>
            <a:endParaRPr lang="en-US" sz="1500" dirty="0"/>
          </a:p>
        </p:txBody>
      </p:sp>
      <p:sp>
        <p:nvSpPr>
          <p:cNvPr id="17" name="Text 15"/>
          <p:cNvSpPr/>
          <p:nvPr/>
        </p:nvSpPr>
        <p:spPr>
          <a:xfrm>
            <a:off x="8302752" y="1947672"/>
            <a:ext cx="3108960" cy="112471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Every model sees the identical</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fold partition</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Purpose: fair comparison</a:t>
            </a:r>
            <a:endParaRPr lang="en-US" sz="1200" dirty="0"/>
          </a:p>
        </p:txBody>
      </p:sp>
      <p:sp>
        <p:nvSpPr>
          <p:cNvPr id="18" name="Shape 16"/>
          <p:cNvSpPr/>
          <p:nvPr/>
        </p:nvSpPr>
        <p:spPr>
          <a:xfrm>
            <a:off x="548640" y="3429000"/>
            <a:ext cx="548640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9" name="Shape 17"/>
          <p:cNvSpPr/>
          <p:nvPr/>
        </p:nvSpPr>
        <p:spPr>
          <a:xfrm>
            <a:off x="548640" y="3429000"/>
            <a:ext cx="68580" cy="1371600"/>
          </a:xfrm>
          <a:prstGeom prst="rect">
            <a:avLst/>
          </a:prstGeom>
          <a:solidFill>
            <a:srgbClr val="18707F"/>
          </a:solidFill>
          <a:ln/>
        </p:spPr>
      </p:sp>
      <p:sp>
        <p:nvSpPr>
          <p:cNvPr id="20" name="Text 18"/>
          <p:cNvSpPr/>
          <p:nvPr/>
        </p:nvSpPr>
        <p:spPr>
          <a:xfrm>
            <a:off x="804672" y="3575304"/>
            <a:ext cx="502920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Why nested</a:t>
            </a:r>
            <a:endParaRPr lang="en-US" sz="1500" dirty="0"/>
          </a:p>
        </p:txBody>
      </p:sp>
      <p:sp>
        <p:nvSpPr>
          <p:cNvPr id="21" name="Text 19"/>
          <p:cNvSpPr/>
          <p:nvPr/>
        </p:nvSpPr>
        <p:spPr>
          <a:xfrm>
            <a:off x="804672" y="3959352"/>
            <a:ext cx="5029200" cy="7132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Tuning and evaluating on the same folds inflates results. Nesting isolates the two, so the reported AUC contains no tuning bias.</a:t>
            </a:r>
            <a:endParaRPr lang="en-US" sz="1200" dirty="0"/>
          </a:p>
        </p:txBody>
      </p:sp>
      <p:sp>
        <p:nvSpPr>
          <p:cNvPr id="22" name="Shape 20"/>
          <p:cNvSpPr/>
          <p:nvPr/>
        </p:nvSpPr>
        <p:spPr>
          <a:xfrm>
            <a:off x="6309360" y="3429000"/>
            <a:ext cx="530352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3" name="Shape 21"/>
          <p:cNvSpPr/>
          <p:nvPr/>
        </p:nvSpPr>
        <p:spPr>
          <a:xfrm>
            <a:off x="6309360" y="3429000"/>
            <a:ext cx="68580" cy="1371600"/>
          </a:xfrm>
          <a:prstGeom prst="rect">
            <a:avLst/>
          </a:prstGeom>
          <a:solidFill>
            <a:srgbClr val="18707F"/>
          </a:solidFill>
          <a:ln/>
        </p:spPr>
      </p:sp>
      <p:sp>
        <p:nvSpPr>
          <p:cNvPr id="24" name="Text 22"/>
          <p:cNvSpPr/>
          <p:nvPr/>
        </p:nvSpPr>
        <p:spPr>
          <a:xfrm>
            <a:off x="6565392" y="3575304"/>
            <a:ext cx="484632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Metrics reported</a:t>
            </a:r>
            <a:endParaRPr lang="en-US" sz="1500" dirty="0"/>
          </a:p>
        </p:txBody>
      </p:sp>
      <p:sp>
        <p:nvSpPr>
          <p:cNvPr id="25" name="Text 23"/>
          <p:cNvSpPr/>
          <p:nvPr/>
        </p:nvSpPr>
        <p:spPr>
          <a:xfrm>
            <a:off x="6565392" y="3959352"/>
            <a:ext cx="4846320" cy="7132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ROC-AUC · PR-AUC · Accuracy · Balanced Accuracy · Sensitivity · Specificity · Precision · F1 · MCC</a:t>
            </a:r>
            <a:endParaRPr lang="en-US" sz="1200" dirty="0"/>
          </a:p>
        </p:txBody>
      </p:sp>
      <p:sp>
        <p:nvSpPr>
          <p:cNvPr id="26" name="Shape 24"/>
          <p:cNvSpPr/>
          <p:nvPr/>
        </p:nvSpPr>
        <p:spPr>
          <a:xfrm>
            <a:off x="548640" y="5029200"/>
            <a:ext cx="11064240" cy="868680"/>
          </a:xfrm>
          <a:prstGeom prst="rect">
            <a:avLst/>
          </a:prstGeom>
          <a:solidFill>
            <a:srgbClr val="FBEDE7"/>
          </a:solidFill>
          <a:ln/>
        </p:spPr>
      </p:sp>
      <p:sp>
        <p:nvSpPr>
          <p:cNvPr id="27" name="Shape 25"/>
          <p:cNvSpPr/>
          <p:nvPr/>
        </p:nvSpPr>
        <p:spPr>
          <a:xfrm>
            <a:off x="548640" y="5029200"/>
            <a:ext cx="68580" cy="868680"/>
          </a:xfrm>
          <a:prstGeom prst="rect">
            <a:avLst/>
          </a:prstGeom>
          <a:solidFill>
            <a:srgbClr val="D2603A"/>
          </a:solidFill>
          <a:ln/>
        </p:spPr>
      </p:sp>
      <p:sp>
        <p:nvSpPr>
          <p:cNvPr id="28" name="Text 26"/>
          <p:cNvSpPr/>
          <p:nvPr/>
        </p:nvSpPr>
        <p:spPr>
          <a:xfrm>
            <a:off x="804672" y="5120640"/>
            <a:ext cx="10607040" cy="685800"/>
          </a:xfrm>
          <a:prstGeom prst="rect">
            <a:avLst/>
          </a:prstGeom>
          <a:noFill/>
          <a:ln/>
        </p:spPr>
        <p:txBody>
          <a:bodyPr wrap="square" lIns="0" tIns="0" rIns="0" bIns="0" rtlCol="0" anchor="t"/>
          <a:lstStyle/>
          <a:p>
            <a:pPr indent="0" marL="0">
              <a:lnSpc>
                <a:spcPct val="110000"/>
              </a:lnSpc>
              <a:buNone/>
            </a:pPr>
            <a:r>
              <a:rPr lang="en-US" sz="1200" dirty="0">
                <a:solidFill>
                  <a:srgbClr val="7A2E14"/>
                </a:solidFill>
                <a:latin typeface="Calibri" pitchFamily="34" charset="0"/>
                <a:ea typeface="Calibri" pitchFamily="34" charset="-122"/>
                <a:cs typeface="Calibri" pitchFamily="34" charset="-120"/>
              </a:rPr>
              <a:t>All accuracy figures use a fixed 0.5 threshold. A 0.55 threshold performs better, but was chosen by looking at test data — using it would require folding threshold selection into the inner loop.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MODELING · COMPARISON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Seventeen Models on Identical Folds</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1051560"/>
                <a:gridCol w="1143000"/>
                <a:gridCol w="1051560"/>
                <a:gridCol w="1051560"/>
                <a:gridCol w="960120"/>
                <a:gridCol w="960120"/>
                <a:gridCol w="914400"/>
                <a:gridCol w="914400"/>
              </a:tblGrid>
              <a:tr h="30175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Bal. Acc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Sens.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MCC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0175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ExtraTrees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0.755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0.859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0.893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0.890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0.620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0.822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0.542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30175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SVM-RBF</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0.771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0.761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0.839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0.872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0.820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0.703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0.531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Ensemble (soft-vote)</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0.766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0.756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0.836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0.873</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0.818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0.694</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0.802</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0.521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SVM-poly</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0.748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0.728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0.834</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0.861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0.853</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0.604</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0.797</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0.481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GP-RBF</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0.757</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0.741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0.822</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0.866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0.841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0.641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0.801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0.498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GP-Matérn</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0.755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0.738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0.819</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0.865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0.844</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0.632</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0.493</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RandomForest</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0.725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0.701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0.810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0.851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0.850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0.553</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0.782</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0.433</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0.730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0.720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0.801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0.845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0.784</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0.656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0.770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0.449</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HistGB</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0.722</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0.705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0.796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0.841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0.809</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0.771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0.423</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kNN-Aitchison</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0.719</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0.687</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0.795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0.838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0.885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0.490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0.786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16252C"/>
                          </a:solidFill>
                          <a:latin typeface="Calibri" pitchFamily="34" charset="0"/>
                          <a:ea typeface="Calibri" pitchFamily="34" charset="-122"/>
                          <a:cs typeface="Calibri" pitchFamily="34" charset="-120"/>
                        </a:rPr>
                        <a:t>0.422</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01752">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Baseline (always Pos)</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0.581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0.581</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0.735</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i="1" dirty="0">
                          <a:solidFill>
                            <a:srgbClr val="5F7580"/>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Text 4"/>
          <p:cNvSpPr/>
          <p:nvPr/>
        </p:nvSpPr>
        <p:spPr>
          <a:xfrm>
            <a:off x="548640" y="5047488"/>
            <a:ext cx="11064240" cy="274320"/>
          </a:xfrm>
          <a:prstGeom prst="rect">
            <a:avLst/>
          </a:prstGeom>
          <a:noFill/>
          <a:ln/>
        </p:spPr>
        <p:txBody>
          <a:bodyPr wrap="square" lIns="0" tIns="0" rIns="0" bIns="0" rtlCol="0" anchor="ctr"/>
          <a:lstStyle/>
          <a:p>
            <a:pPr indent="0" marL="0">
              <a:buNone/>
            </a:pPr>
            <a:r>
              <a:rPr lang="en-US" sz="950" i="1" dirty="0">
                <a:solidFill>
                  <a:srgbClr val="5F7580"/>
                </a:solidFill>
                <a:latin typeface="Calibri" pitchFamily="34" charset="0"/>
                <a:ea typeface="Calibri" pitchFamily="34" charset="-122"/>
                <a:cs typeface="Calibri" pitchFamily="34" charset="-120"/>
              </a:rPr>
              <a:t>Top 10 of 17 models by ROC-AUC · full table in results/model_comparison_all16.csv</a:t>
            </a:r>
            <a:endParaRPr lang="en-US" sz="950" dirty="0"/>
          </a:p>
        </p:txBody>
      </p:sp>
      <p:sp>
        <p:nvSpPr>
          <p:cNvPr id="8" name="Shape 5"/>
          <p:cNvSpPr/>
          <p:nvPr/>
        </p:nvSpPr>
        <p:spPr>
          <a:xfrm>
            <a:off x="548640" y="5349240"/>
            <a:ext cx="11064240" cy="8686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5349240"/>
            <a:ext cx="68580" cy="868680"/>
          </a:xfrm>
          <a:prstGeom prst="rect">
            <a:avLst/>
          </a:prstGeom>
          <a:solidFill>
            <a:srgbClr val="18707F"/>
          </a:solidFill>
          <a:ln/>
        </p:spPr>
      </p:sp>
      <p:sp>
        <p:nvSpPr>
          <p:cNvPr id="10" name="Text 7"/>
          <p:cNvSpPr/>
          <p:nvPr/>
        </p:nvSpPr>
        <p:spPr>
          <a:xfrm>
            <a:off x="804672" y="5495544"/>
            <a:ext cx="1060704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ExtraTrees scores highest — but does not become the primary model</a:t>
            </a:r>
            <a:endParaRPr lang="en-US" sz="1400" dirty="0"/>
          </a:p>
        </p:txBody>
      </p:sp>
      <p:sp>
        <p:nvSpPr>
          <p:cNvPr id="11" name="Text 8"/>
          <p:cNvSpPr/>
          <p:nvPr/>
        </p:nvSpPr>
        <p:spPr>
          <a:xfrm>
            <a:off x="804672" y="5879592"/>
            <a:ext cx="10607040" cy="21031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ExtraTrees leads on AUC, PR-AUC and MCC, but the lead is not significant (p=0.085) and it is a best-of-17 score. The next two slides settle the choice.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MODELING · SIGNIFICANCE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Is the Gap Real? Paired Testing</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15</a:t>
            </a:r>
            <a:endParaRPr lang="en-US" sz="1000" dirty="0"/>
          </a:p>
        </p:txBody>
      </p:sp>
      <p:sp>
        <p:nvSpPr>
          <p:cNvPr id="6" name="Text 4"/>
          <p:cNvSpPr/>
          <p:nvPr/>
        </p:nvSpPr>
        <p:spPr>
          <a:xfrm>
            <a:off x="548640" y="1298448"/>
            <a:ext cx="6400800" cy="457200"/>
          </a:xfrm>
          <a:prstGeom prst="rect">
            <a:avLst/>
          </a:prstGeom>
          <a:noFill/>
          <a:ln/>
        </p:spPr>
        <p:txBody>
          <a:bodyPr wrap="square" lIns="0" tIns="0" rIns="0" bIns="0" rtlCol="0" anchor="t"/>
          <a:lstStyle/>
          <a:p>
            <a:pPr indent="0" marL="0">
              <a:buNone/>
            </a:pPr>
            <a:r>
              <a:rPr lang="en-US" sz="1250" dirty="0">
                <a:solidFill>
                  <a:srgbClr val="5F7580"/>
                </a:solidFill>
                <a:latin typeface="Calibri" pitchFamily="34" charset="0"/>
                <a:ea typeface="Calibri" pitchFamily="34" charset="-122"/>
                <a:cs typeface="Calibri" pitchFamily="34" charset="-120"/>
              </a:rPr>
              <a:t>Fold-to-fold SD is ±0.05, so comparing mean AUCs is not enough. We compare per-fold AUCs pairwise on the same 25 folds.</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400800" cy="914400"/>
        </p:xfrm>
        <a:graphic>
          <a:graphicData uri="http://schemas.openxmlformats.org/drawingml/2006/table">
            <a:tbl>
              <a:tblPr/>
              <a:tblGrid>
                <a:gridCol w="2377440"/>
                <a:gridCol w="1005840"/>
                <a:gridCol w="914400"/>
                <a:gridCol w="1234440"/>
                <a:gridCol w="86868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Comparison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Δ 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Wilcoxon 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 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SVM-RBF vs RandomForest</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+0.029</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17/25</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0.021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0.013</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SVM-RBF vs L1-LR</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+0.052</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21/25</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0.0002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050" dirty="0">
                          <a:solidFill>
                            <a:srgbClr val="16252C"/>
                          </a:solidFill>
                          <a:latin typeface="Calibri" pitchFamily="34" charset="0"/>
                          <a:ea typeface="Calibri" pitchFamily="34" charset="-122"/>
                          <a:cs typeface="Calibri" pitchFamily="34" charset="-120"/>
                        </a:rPr>
                        <a:t>&lt;0.0001</a:t>
                      </a:r>
                      <a:endParaRPr lang="en-US" sz="10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pic>
        <p:nvPicPr>
          <p:cNvPr id="8" name="Image 0" descr="/mnt/d/claude-code-project/group-corparation/Christina-project/slides/img/roc6.png">    </p:cNvPr>
          <p:cNvPicPr>
            <a:picLocks noChangeAspect="1"/>
          </p:cNvPicPr>
          <p:nvPr/>
        </p:nvPicPr>
        <p:blipFill>
          <a:blip r:embed="rId1"/>
          <a:stretch>
            <a:fillRect/>
          </a:stretch>
        </p:blipFill>
        <p:spPr>
          <a:xfrm>
            <a:off x="7452360" y="1481328"/>
            <a:ext cx="4069080" cy="3282696"/>
          </a:xfrm>
          <a:prstGeom prst="rect">
            <a:avLst/>
          </a:prstGeom>
        </p:spPr>
      </p:pic>
      <p:sp>
        <p:nvSpPr>
          <p:cNvPr id="9" name="Text 5"/>
          <p:cNvSpPr/>
          <p:nvPr/>
        </p:nvSpPr>
        <p:spPr>
          <a:xfrm>
            <a:off x="7452360" y="4791456"/>
            <a:ext cx="4069080" cy="502920"/>
          </a:xfrm>
          <a:prstGeom prst="rect">
            <a:avLst/>
          </a:prstGeom>
          <a:noFill/>
          <a:ln/>
        </p:spPr>
        <p:txBody>
          <a:bodyPr wrap="square" lIns="0" tIns="0" rIns="0" bIns="0" rtlCol="0" anchor="ctr"/>
          <a:lstStyle/>
          <a:p>
            <a:pPr indent="0" marL="0">
              <a:buNone/>
            </a:pPr>
            <a:r>
              <a:rPr lang="en-US" sz="900" i="1" dirty="0">
                <a:solidFill>
                  <a:srgbClr val="5F7580"/>
                </a:solidFill>
                <a:latin typeface="Calibri" pitchFamily="34" charset="0"/>
                <a:ea typeface="Calibri" pitchFamily="34" charset="-122"/>
                <a:cs typeface="Calibri" pitchFamily="34" charset="-120"/>
              </a:rPr>
              <a:t>Out-of-fold ROC, single 5-fold split at fixed hyperparameters — not the nested-CV estimate in the table on the previous slide.</a:t>
            </a:r>
            <a:endParaRPr lang="en-US" sz="900" dirty="0"/>
          </a:p>
        </p:txBody>
      </p:sp>
      <p:sp>
        <p:nvSpPr>
          <p:cNvPr id="10" name="Shape 6"/>
          <p:cNvSpPr/>
          <p:nvPr/>
        </p:nvSpPr>
        <p:spPr>
          <a:xfrm>
            <a:off x="548640" y="3383280"/>
            <a:ext cx="640080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7"/>
          <p:cNvSpPr/>
          <p:nvPr/>
        </p:nvSpPr>
        <p:spPr>
          <a:xfrm>
            <a:off x="548640" y="3383280"/>
            <a:ext cx="68580" cy="1371600"/>
          </a:xfrm>
          <a:prstGeom prst="rect">
            <a:avLst/>
          </a:prstGeom>
          <a:solidFill>
            <a:srgbClr val="8FB996"/>
          </a:solidFill>
          <a:ln/>
        </p:spPr>
      </p:sp>
      <p:sp>
        <p:nvSpPr>
          <p:cNvPr id="12" name="Text 8"/>
          <p:cNvSpPr/>
          <p:nvPr/>
        </p:nvSpPr>
        <p:spPr>
          <a:xfrm>
            <a:off x="804672" y="3529584"/>
            <a:ext cx="594360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Verdict</a:t>
            </a:r>
            <a:endParaRPr lang="en-US" sz="1400" dirty="0"/>
          </a:p>
        </p:txBody>
      </p:sp>
      <p:sp>
        <p:nvSpPr>
          <p:cNvPr id="13" name="Text 9"/>
          <p:cNvSpPr/>
          <p:nvPr/>
        </p:nvSpPr>
        <p:spPr>
          <a:xfrm>
            <a:off x="804672" y="3913632"/>
            <a:ext cx="5943600" cy="71323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SVM-RBF significantly beats every model except ExtraTrees, whose +0.020 lead reaches only p=0.085 on 14/25 folds. That alone would not settle the choice — the stratified test on the next slide does.</a:t>
            </a:r>
            <a:endParaRPr lang="en-US" sz="1150" dirty="0"/>
          </a:p>
        </p:txBody>
      </p:sp>
      <p:sp>
        <p:nvSpPr>
          <p:cNvPr id="14" name="Shape 10"/>
          <p:cNvSpPr/>
          <p:nvPr/>
        </p:nvSpPr>
        <p:spPr>
          <a:xfrm>
            <a:off x="548640" y="5394960"/>
            <a:ext cx="11064240" cy="822960"/>
          </a:xfrm>
          <a:prstGeom prst="rect">
            <a:avLst/>
          </a:prstGeom>
          <a:solidFill>
            <a:srgbClr val="0B3C49"/>
          </a:solidFill>
          <a:ln/>
        </p:spPr>
      </p:sp>
      <p:sp>
        <p:nvSpPr>
          <p:cNvPr id="15" name="Text 11"/>
          <p:cNvSpPr/>
          <p:nvPr/>
        </p:nvSpPr>
        <p:spPr>
          <a:xfrm>
            <a:off x="868680" y="5596128"/>
            <a:ext cx="10515600" cy="457200"/>
          </a:xfrm>
          <a:prstGeom prst="rect">
            <a:avLst/>
          </a:prstGeom>
          <a:noFill/>
          <a:ln/>
        </p:spPr>
        <p:txBody>
          <a:bodyPr wrap="square" lIns="0" tIns="0" rIns="0" bIns="0" rtlCol="0" anchor="ctr"/>
          <a:lstStyle/>
          <a:p>
            <a:pPr indent="0" marL="0">
              <a:buNone/>
            </a:pPr>
            <a:r>
              <a:rPr lang="en-US" sz="1400" i="1" dirty="0">
                <a:solidFill>
                  <a:srgbClr val="8FB996"/>
                </a:solidFill>
                <a:latin typeface="Calibri" pitchFamily="34" charset="0"/>
                <a:ea typeface="Calibri" pitchFamily="34" charset="-122"/>
                <a:cs typeface="Calibri" pitchFamily="34" charset="-120"/>
              </a:rPr>
              <a:t>SVM-linear reaches only 0.766 — the kernel is what wins, not the SVM. This is the first hint of real nonlinear structure.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MODELING · MODEL CHOICE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Why ExtraTrees Does Not Take Over</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16</a:t>
            </a:r>
            <a:endParaRPr lang="en-US" sz="1000" dirty="0"/>
          </a:p>
        </p:txBody>
      </p:sp>
      <p:sp>
        <p:nvSpPr>
          <p:cNvPr id="6" name="Text 4"/>
          <p:cNvSpPr/>
          <p:nvPr/>
        </p:nvSpPr>
        <p:spPr>
          <a:xfrm>
            <a:off x="548640" y="1298448"/>
            <a:ext cx="11064240" cy="457200"/>
          </a:xfrm>
          <a:prstGeom prst="rect">
            <a:avLst/>
          </a:prstGeom>
          <a:noFill/>
          <a:ln/>
        </p:spPr>
        <p:txBody>
          <a:bodyPr wrap="square" lIns="0" tIns="0" rIns="0" bIns="0" rtlCol="0" anchor="t"/>
          <a:lstStyle/>
          <a:p>
            <a:pPr indent="0" marL="0">
              <a:buNone/>
            </a:pPr>
            <a:r>
              <a:rPr lang="en-US" sz="1250" dirty="0">
                <a:solidFill>
                  <a:srgbClr val="5F7580"/>
                </a:solidFill>
                <a:latin typeface="Calibri" pitchFamily="34" charset="0"/>
                <a:ea typeface="Calibri" pitchFamily="34" charset="-122"/>
                <a:cs typeface="Calibri" pitchFamily="34" charset="-120"/>
              </a:rPr>
              <a:t>A 0.020 AUC lead at p=0.085 does not settle a model choice. The decisive test is where each model stands when the signal is weak — so we re-ran both inside every sampling-month stratum.</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017520"/>
                <a:gridCol w="1280160"/>
                <a:gridCol w="1280160"/>
                <a:gridCol w="2011680"/>
                <a:gridCol w="1828800"/>
                <a:gridCol w="1645920"/>
              </a:tblGrid>
              <a:tr h="42062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Stratum</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ExtraTrees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SVM-RBF</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Δ</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July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86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0.988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0.975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8FB996"/>
                          </a:solidFill>
                          <a:latin typeface="Calibri" pitchFamily="34" charset="0"/>
                          <a:ea typeface="Calibri" pitchFamily="34" charset="-122"/>
                          <a:cs typeface="Calibri" pitchFamily="34" charset="-120"/>
                        </a:rPr>
                        <a:t>+0.013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Jul + Aug</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123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0.970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0.961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8FB996"/>
                          </a:solidFill>
                          <a:latin typeface="Calibri" pitchFamily="34" charset="0"/>
                          <a:ea typeface="Calibri" pitchFamily="34" charset="-122"/>
                          <a:cs typeface="Calibri" pitchFamily="34" charset="-120"/>
                        </a:rPr>
                        <a:t>+0.008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October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0.827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0.819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8FB996"/>
                          </a:solidFill>
                          <a:latin typeface="Calibri" pitchFamily="34" charset="0"/>
                          <a:ea typeface="Calibri" pitchFamily="34" charset="-122"/>
                          <a:cs typeface="Calibri" pitchFamily="34" charset="-120"/>
                        </a:rPr>
                        <a:t>+0.008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Jan + Oct  (weakest)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92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0.715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0.774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−0.060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bl>
          </a:graphicData>
        </a:graphic>
      </p:graphicFrame>
      <p:sp>
        <p:nvSpPr>
          <p:cNvPr id="8" name="Shape 5"/>
          <p:cNvSpPr/>
          <p:nvPr/>
        </p:nvSpPr>
        <p:spPr>
          <a:xfrm>
            <a:off x="548640" y="4023360"/>
            <a:ext cx="5394960" cy="173736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023360"/>
            <a:ext cx="68580" cy="1737360"/>
          </a:xfrm>
          <a:prstGeom prst="rect">
            <a:avLst/>
          </a:prstGeom>
          <a:solidFill>
            <a:srgbClr val="D2603A"/>
          </a:solidFill>
          <a:ln/>
        </p:spPr>
      </p:sp>
      <p:sp>
        <p:nvSpPr>
          <p:cNvPr id="10" name="Text 7"/>
          <p:cNvSpPr/>
          <p:nvPr/>
        </p:nvSpPr>
        <p:spPr>
          <a:xfrm>
            <a:off x="804672" y="416966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The lead comes only from the easy strata</a:t>
            </a:r>
            <a:endParaRPr lang="en-US" sz="1500" dirty="0"/>
          </a:p>
        </p:txBody>
      </p:sp>
      <p:sp>
        <p:nvSpPr>
          <p:cNvPr id="11" name="Text 8"/>
          <p:cNvSpPr/>
          <p:nvPr/>
        </p:nvSpPr>
        <p:spPr>
          <a:xfrm>
            <a:off x="804672" y="4553712"/>
            <a:ext cx="4937760" cy="1078992"/>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ExtraTrees gains +0.008 to +0.013 where the task is already easy, and loses 0.060 on the hardest stratum.</a:t>
            </a:r>
            <a:endParaRPr lang="en-US" sz="1200" dirty="0"/>
          </a:p>
          <a:p>
            <a:pPr indent="0" marL="0">
              <a:lnSpc>
                <a:spcPct val="112000"/>
              </a:lnSpc>
              <a:buNone/>
            </a:pPr>
            <a:endParaRPr lang="en-US" sz="1200" dirty="0"/>
          </a:p>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That is the signature of heavy regularisation: harmless when signal is strong, destructive when it is weak.</a:t>
            </a:r>
            <a:endParaRPr lang="en-US" sz="1200" dirty="0"/>
          </a:p>
        </p:txBody>
      </p:sp>
      <p:sp>
        <p:nvSpPr>
          <p:cNvPr id="12" name="Shape 9"/>
          <p:cNvSpPr/>
          <p:nvPr/>
        </p:nvSpPr>
        <p:spPr>
          <a:xfrm>
            <a:off x="6217920" y="4023360"/>
            <a:ext cx="5394960" cy="17373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0"/>
          <p:cNvSpPr/>
          <p:nvPr/>
        </p:nvSpPr>
        <p:spPr>
          <a:xfrm>
            <a:off x="6217920" y="4023360"/>
            <a:ext cx="68580" cy="1737360"/>
          </a:xfrm>
          <a:prstGeom prst="rect">
            <a:avLst/>
          </a:prstGeom>
          <a:solidFill>
            <a:srgbClr val="8FB996"/>
          </a:solidFill>
          <a:ln/>
        </p:spPr>
      </p:sp>
      <p:sp>
        <p:nvSpPr>
          <p:cNvPr id="14" name="Text 11"/>
          <p:cNvSpPr/>
          <p:nvPr/>
        </p:nvSpPr>
        <p:spPr>
          <a:xfrm>
            <a:off x="6473952" y="416966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we keep from it</a:t>
            </a:r>
            <a:endParaRPr lang="en-US" sz="1500" dirty="0"/>
          </a:p>
        </p:txBody>
      </p:sp>
      <p:sp>
        <p:nvSpPr>
          <p:cNvPr id="15" name="Text 12"/>
          <p:cNvSpPr/>
          <p:nvPr/>
        </p:nvSpPr>
        <p:spPr>
          <a:xfrm>
            <a:off x="6473952" y="4553712"/>
            <a:ext cx="4937760" cy="10789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Permutation-importance ranks agree between the two models: Spearman ρ = 0.738 (p = 3.3e-13), top-15 overlap 10/15.</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The biomarker panel therefore does not depend on which model is chosen — this strengthens the findings section.</a:t>
            </a:r>
            <a:endParaRPr lang="en-US" sz="1200" dirty="0"/>
          </a:p>
        </p:txBody>
      </p:sp>
      <p:sp>
        <p:nvSpPr>
          <p:cNvPr id="16" name="Text 13"/>
          <p:cNvSpPr/>
          <p:nvPr/>
        </p:nvSpPr>
        <p:spPr>
          <a:xfrm>
            <a:off x="548640" y="5897880"/>
            <a:ext cx="11064240" cy="274320"/>
          </a:xfrm>
          <a:prstGeom prst="rect">
            <a:avLst/>
          </a:prstGeom>
          <a:noFill/>
          <a:ln/>
        </p:spPr>
        <p:txBody>
          <a:bodyPr wrap="square" lIns="0" tIns="0" rIns="0" bIns="0" rtlCol="0" anchor="ctr"/>
          <a:lstStyle/>
          <a:p>
            <a:pPr indent="0" marL="0">
              <a:buNone/>
            </a:pPr>
            <a:r>
              <a:rPr lang="en-US" sz="1100" i="1" dirty="0">
                <a:solidFill>
                  <a:srgbClr val="5F7580"/>
                </a:solidFill>
                <a:latin typeface="Calibri" pitchFamily="34" charset="0"/>
                <a:ea typeface="Calibri" pitchFamily="34" charset="-122"/>
                <a:cs typeface="Calibri" pitchFamily="34" charset="-120"/>
              </a:rPr>
              <a:t>ExtraTrees also passes its own permutation test (observed 0.856, null 0.496 ± 0.046, p = 0.0099).</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MODELING · INTERPRETATION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Three Ways These Metrics Mislead</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1463040"/>
            <a:ext cx="1106424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463040"/>
            <a:ext cx="68580" cy="1371600"/>
          </a:xfrm>
          <a:prstGeom prst="rect">
            <a:avLst/>
          </a:prstGeom>
          <a:solidFill>
            <a:srgbClr val="D2603A"/>
          </a:solidFill>
          <a:ln/>
        </p:spPr>
      </p:sp>
      <p:sp>
        <p:nvSpPr>
          <p:cNvPr id="8" name="Shape 6"/>
          <p:cNvSpPr/>
          <p:nvPr/>
        </p:nvSpPr>
        <p:spPr>
          <a:xfrm>
            <a:off x="868680" y="1773936"/>
            <a:ext cx="566928" cy="566928"/>
          </a:xfrm>
          <a:prstGeom prst="ellipse">
            <a:avLst/>
          </a:prstGeom>
          <a:solidFill>
            <a:srgbClr val="0B3C49"/>
          </a:solidFill>
          <a:ln/>
        </p:spPr>
      </p:sp>
      <p:sp>
        <p:nvSpPr>
          <p:cNvPr id="9" name="Text 7"/>
          <p:cNvSpPr/>
          <p:nvPr/>
        </p:nvSpPr>
        <p:spPr>
          <a:xfrm>
            <a:off x="868680" y="1874520"/>
            <a:ext cx="56692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691640" y="1645920"/>
            <a:ext cx="9601200" cy="329184"/>
          </a:xfrm>
          <a:prstGeom prst="rect">
            <a:avLst/>
          </a:prstGeom>
          <a:noFill/>
          <a:ln/>
        </p:spPr>
        <p:txBody>
          <a:bodyPr wrap="square" lIns="0" tIns="0" rIns="0" bIns="0" rtlCol="0" anchor="ctr"/>
          <a:lstStyle/>
          <a:p>
            <a:pPr indent="0" marL="0">
              <a:buNone/>
            </a:pPr>
            <a:r>
              <a:rPr lang="en-US" sz="1500" b="1" dirty="0">
                <a:solidFill>
                  <a:srgbClr val="16252C"/>
                </a:solidFill>
                <a:latin typeface="Georgia" pitchFamily="34" charset="0"/>
                <a:ea typeface="Georgia" pitchFamily="34" charset="-122"/>
                <a:cs typeface="Georgia" pitchFamily="34" charset="-120"/>
              </a:rPr>
              <a:t>The accuracy baseline is 0.581, not 0.5</a:t>
            </a:r>
            <a:endParaRPr lang="en-US" sz="1500" dirty="0"/>
          </a:p>
        </p:txBody>
      </p:sp>
      <p:sp>
        <p:nvSpPr>
          <p:cNvPr id="11" name="Text 9"/>
          <p:cNvSpPr/>
          <p:nvPr/>
        </p:nvSpPr>
        <p:spPr>
          <a:xfrm>
            <a:off x="1691640" y="2011680"/>
            <a:ext cx="9601200" cy="731520"/>
          </a:xfrm>
          <a:prstGeom prst="rect">
            <a:avLst/>
          </a:prstGeom>
          <a:noFill/>
          <a:ln/>
        </p:spPr>
        <p:txBody>
          <a:bodyPr wrap="square" lIns="0" tIns="0" rIns="0" bIns="0" rtlCol="0" anchor="ctr"/>
          <a:lstStyle/>
          <a:p>
            <a:pPr indent="0" marL="0">
              <a:lnSpc>
                <a:spcPct val="110000"/>
              </a:lnSpc>
              <a:buNone/>
            </a:pPr>
            <a:r>
              <a:rPr lang="en-US" sz="1200" dirty="0">
                <a:solidFill>
                  <a:srgbClr val="5F7580"/>
                </a:solidFill>
                <a:latin typeface="Calibri" pitchFamily="34" charset="0"/>
                <a:ea typeface="Calibri" pitchFamily="34" charset="-122"/>
                <a:cs typeface="Calibri" pitchFamily="34" charset="-120"/>
              </a:rPr>
              <a:t>58% of samples are positive, so a model that always predicts Pos already scores 0.581. SVM-RBF's 0.771 is a gain of 19 points, not 27. Accuracy must never be reported without this baseline beside it.</a:t>
            </a:r>
            <a:endParaRPr lang="en-US" sz="1200" dirty="0"/>
          </a:p>
        </p:txBody>
      </p:sp>
      <p:sp>
        <p:nvSpPr>
          <p:cNvPr id="12" name="Shape 10"/>
          <p:cNvSpPr/>
          <p:nvPr/>
        </p:nvSpPr>
        <p:spPr>
          <a:xfrm>
            <a:off x="548640" y="3035808"/>
            <a:ext cx="1106424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1"/>
          <p:cNvSpPr/>
          <p:nvPr/>
        </p:nvSpPr>
        <p:spPr>
          <a:xfrm>
            <a:off x="548640" y="3035808"/>
            <a:ext cx="68580" cy="1371600"/>
          </a:xfrm>
          <a:prstGeom prst="rect">
            <a:avLst/>
          </a:prstGeom>
          <a:solidFill>
            <a:srgbClr val="D2603A"/>
          </a:solidFill>
          <a:ln/>
        </p:spPr>
      </p:sp>
      <p:sp>
        <p:nvSpPr>
          <p:cNvPr id="14" name="Shape 12"/>
          <p:cNvSpPr/>
          <p:nvPr/>
        </p:nvSpPr>
        <p:spPr>
          <a:xfrm>
            <a:off x="868680" y="3346704"/>
            <a:ext cx="566928" cy="566928"/>
          </a:xfrm>
          <a:prstGeom prst="ellipse">
            <a:avLst/>
          </a:prstGeom>
          <a:solidFill>
            <a:srgbClr val="0B3C49"/>
          </a:solidFill>
          <a:ln/>
        </p:spPr>
      </p:sp>
      <p:sp>
        <p:nvSpPr>
          <p:cNvPr id="15" name="Text 13"/>
          <p:cNvSpPr/>
          <p:nvPr/>
        </p:nvSpPr>
        <p:spPr>
          <a:xfrm>
            <a:off x="868680" y="3447288"/>
            <a:ext cx="56692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6" name="Text 14"/>
          <p:cNvSpPr/>
          <p:nvPr/>
        </p:nvSpPr>
        <p:spPr>
          <a:xfrm>
            <a:off x="1691640" y="3218688"/>
            <a:ext cx="9601200" cy="329184"/>
          </a:xfrm>
          <a:prstGeom prst="rect">
            <a:avLst/>
          </a:prstGeom>
          <a:noFill/>
          <a:ln/>
        </p:spPr>
        <p:txBody>
          <a:bodyPr wrap="square" lIns="0" tIns="0" rIns="0" bIns="0" rtlCol="0" anchor="ctr"/>
          <a:lstStyle/>
          <a:p>
            <a:pPr indent="0" marL="0">
              <a:buNone/>
            </a:pPr>
            <a:r>
              <a:rPr lang="en-US" sz="1500" b="1" dirty="0">
                <a:solidFill>
                  <a:srgbClr val="16252C"/>
                </a:solidFill>
                <a:latin typeface="Georgia" pitchFamily="34" charset="0"/>
                <a:ea typeface="Georgia" pitchFamily="34" charset="-122"/>
                <a:cs typeface="Georgia" pitchFamily="34" charset="-120"/>
              </a:rPr>
              <a:t>F1 cannot be used for model selection</a:t>
            </a:r>
            <a:endParaRPr lang="en-US" sz="1500" dirty="0"/>
          </a:p>
        </p:txBody>
      </p:sp>
      <p:sp>
        <p:nvSpPr>
          <p:cNvPr id="17" name="Text 15"/>
          <p:cNvSpPr/>
          <p:nvPr/>
        </p:nvSpPr>
        <p:spPr>
          <a:xfrm>
            <a:off x="1691640" y="3584448"/>
            <a:ext cx="9601200" cy="731520"/>
          </a:xfrm>
          <a:prstGeom prst="rect">
            <a:avLst/>
          </a:prstGeom>
          <a:noFill/>
          <a:ln/>
        </p:spPr>
        <p:txBody>
          <a:bodyPr wrap="square" lIns="0" tIns="0" rIns="0" bIns="0" rtlCol="0" anchor="ctr"/>
          <a:lstStyle/>
          <a:p>
            <a:pPr indent="0" marL="0">
              <a:lnSpc>
                <a:spcPct val="110000"/>
              </a:lnSpc>
              <a:buNone/>
            </a:pPr>
            <a:r>
              <a:rPr lang="en-US" sz="1200" dirty="0">
                <a:solidFill>
                  <a:srgbClr val="5F7580"/>
                </a:solidFill>
                <a:latin typeface="Calibri" pitchFamily="34" charset="0"/>
                <a:ea typeface="Calibri" pitchFamily="34" charset="-122"/>
                <a:cs typeface="Calibri" pitchFamily="34" charset="-120"/>
              </a:rPr>
              <a:t>The always-Pos baseline scores F1 = 0.735 — higher than L2-LR's 0.725. F1 inflates whenever the positive class dominates, and here it ranks a useless model above a working one.</a:t>
            </a:r>
            <a:endParaRPr lang="en-US" sz="1200" dirty="0"/>
          </a:p>
        </p:txBody>
      </p:sp>
      <p:sp>
        <p:nvSpPr>
          <p:cNvPr id="18" name="Shape 16"/>
          <p:cNvSpPr/>
          <p:nvPr/>
        </p:nvSpPr>
        <p:spPr>
          <a:xfrm>
            <a:off x="548640" y="4608576"/>
            <a:ext cx="1106424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9" name="Shape 17"/>
          <p:cNvSpPr/>
          <p:nvPr/>
        </p:nvSpPr>
        <p:spPr>
          <a:xfrm>
            <a:off x="548640" y="4608576"/>
            <a:ext cx="68580" cy="1371600"/>
          </a:xfrm>
          <a:prstGeom prst="rect">
            <a:avLst/>
          </a:prstGeom>
          <a:solidFill>
            <a:srgbClr val="D2603A"/>
          </a:solidFill>
          <a:ln/>
        </p:spPr>
      </p:sp>
      <p:sp>
        <p:nvSpPr>
          <p:cNvPr id="20" name="Shape 18"/>
          <p:cNvSpPr/>
          <p:nvPr/>
        </p:nvSpPr>
        <p:spPr>
          <a:xfrm>
            <a:off x="868680" y="4919472"/>
            <a:ext cx="566928" cy="566928"/>
          </a:xfrm>
          <a:prstGeom prst="ellipse">
            <a:avLst/>
          </a:prstGeom>
          <a:solidFill>
            <a:srgbClr val="0B3C49"/>
          </a:solidFill>
          <a:ln/>
        </p:spPr>
      </p:sp>
      <p:sp>
        <p:nvSpPr>
          <p:cNvPr id="21" name="Text 19"/>
          <p:cNvSpPr/>
          <p:nvPr/>
        </p:nvSpPr>
        <p:spPr>
          <a:xfrm>
            <a:off x="868680" y="5020056"/>
            <a:ext cx="56692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2" name="Text 20"/>
          <p:cNvSpPr/>
          <p:nvPr/>
        </p:nvSpPr>
        <p:spPr>
          <a:xfrm>
            <a:off x="1691640" y="4791456"/>
            <a:ext cx="9601200" cy="329184"/>
          </a:xfrm>
          <a:prstGeom prst="rect">
            <a:avLst/>
          </a:prstGeom>
          <a:noFill/>
          <a:ln/>
        </p:spPr>
        <p:txBody>
          <a:bodyPr wrap="square" lIns="0" tIns="0" rIns="0" bIns="0" rtlCol="0" anchor="ctr"/>
          <a:lstStyle/>
          <a:p>
            <a:pPr indent="0" marL="0">
              <a:buNone/>
            </a:pPr>
            <a:r>
              <a:rPr lang="en-US" sz="1500" b="1" dirty="0">
                <a:solidFill>
                  <a:srgbClr val="16252C"/>
                </a:solidFill>
                <a:latin typeface="Georgia" pitchFamily="34" charset="0"/>
                <a:ea typeface="Georgia" pitchFamily="34" charset="-122"/>
                <a:cs typeface="Georgia" pitchFamily="34" charset="-120"/>
              </a:rPr>
              <a:t>Accuracy hides the asymmetry between classes</a:t>
            </a:r>
            <a:endParaRPr lang="en-US" sz="1500" dirty="0"/>
          </a:p>
        </p:txBody>
      </p:sp>
      <p:sp>
        <p:nvSpPr>
          <p:cNvPr id="23" name="Text 21"/>
          <p:cNvSpPr/>
          <p:nvPr/>
        </p:nvSpPr>
        <p:spPr>
          <a:xfrm>
            <a:off x="1691640" y="5157216"/>
            <a:ext cx="9601200" cy="731520"/>
          </a:xfrm>
          <a:prstGeom prst="rect">
            <a:avLst/>
          </a:prstGeom>
          <a:noFill/>
          <a:ln/>
        </p:spPr>
        <p:txBody>
          <a:bodyPr wrap="square" lIns="0" tIns="0" rIns="0" bIns="0" rtlCol="0" anchor="ctr"/>
          <a:lstStyle/>
          <a:p>
            <a:pPr indent="0" marL="0">
              <a:lnSpc>
                <a:spcPct val="110000"/>
              </a:lnSpc>
              <a:buNone/>
            </a:pPr>
            <a:r>
              <a:rPr lang="en-US" sz="1200" dirty="0">
                <a:solidFill>
                  <a:srgbClr val="5F7580"/>
                </a:solidFill>
                <a:latin typeface="Calibri" pitchFamily="34" charset="0"/>
                <a:ea typeface="Calibri" pitchFamily="34" charset="-122"/>
                <a:cs typeface="Calibri" pitchFamily="34" charset="-120"/>
              </a:rPr>
              <a:t>Random Forest reaches 0.725 accuracy while detecting only 55% of negatives. MCC and balanced accuracy have a baseline of zero and expose this immediately; they are the metrics to compare 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MODELING · ROBUSTNESS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Is SVM-RBF Just Over-Tuned?</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18</a:t>
            </a:r>
            <a:endParaRPr lang="en-US" sz="1000" dirty="0"/>
          </a:p>
        </p:txBody>
      </p:sp>
      <p:sp>
        <p:nvSpPr>
          <p:cNvPr id="6" name="Text 4"/>
          <p:cNvSpPr/>
          <p:nvPr/>
        </p:nvSpPr>
        <p:spPr>
          <a:xfrm>
            <a:off x="548640" y="1353312"/>
            <a:ext cx="11064240" cy="365760"/>
          </a:xfrm>
          <a:prstGeom prst="rect">
            <a:avLst/>
          </a:prstGeom>
          <a:noFill/>
          <a:ln/>
        </p:spPr>
        <p:txBody>
          <a:bodyPr wrap="square" lIns="0" tIns="0" rIns="0" bIns="0" rtlCol="0" anchor="ctr"/>
          <a:lstStyle/>
          <a:p>
            <a:pPr indent="0" marL="0">
              <a:buNone/>
            </a:pPr>
            <a:r>
              <a:rPr lang="en-US" sz="1300" dirty="0">
                <a:solidFill>
                  <a:srgbClr val="5F7580"/>
                </a:solidFill>
                <a:latin typeface="Calibri" pitchFamily="34" charset="0"/>
                <a:ea typeface="Calibri" pitchFamily="34" charset="-122"/>
                <a:cs typeface="Calibri" pitchFamily="34" charset="-120"/>
              </a:rPr>
              <a:t>We expanded the grid far past the original range — C from [0.1…10] to [0.01…500], gamma from [1e-4…0.1] plus 'scale' — and re-ran the nested CV.</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286000"/>
                <a:gridCol w="1755648"/>
                <a:gridCol w="1755648"/>
                <a:gridCol w="1755648"/>
                <a:gridCol w="1755648"/>
                <a:gridCol w="1755648"/>
              </a:tblGrid>
              <a:tr h="40233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  \  gamma</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1e-4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1e-3</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scale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0.752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0.793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0.727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0.803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02336">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0.747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0.752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0.738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0.747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0.762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0.793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0.738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0.808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0.741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0.765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0.779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0.738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0.798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0.768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0.735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0.779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0.738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0.798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4572000"/>
            <a:ext cx="3520440" cy="14630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572000"/>
            <a:ext cx="68580" cy="1463040"/>
          </a:xfrm>
          <a:prstGeom prst="rect">
            <a:avLst/>
          </a:prstGeom>
          <a:solidFill>
            <a:srgbClr val="8FB996"/>
          </a:solidFill>
          <a:ln/>
        </p:spPr>
      </p:sp>
      <p:sp>
        <p:nvSpPr>
          <p:cNvPr id="10" name="Text 7"/>
          <p:cNvSpPr/>
          <p:nvPr/>
        </p:nvSpPr>
        <p:spPr>
          <a:xfrm>
            <a:off x="804672" y="4718304"/>
            <a:ext cx="30632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No edge effects</a:t>
            </a:r>
            <a:endParaRPr lang="en-US" sz="1500" dirty="0"/>
          </a:p>
        </p:txBody>
      </p:sp>
      <p:sp>
        <p:nvSpPr>
          <p:cNvPr id="11" name="Text 8"/>
          <p:cNvSpPr/>
          <p:nvPr/>
        </p:nvSpPr>
        <p:spPr>
          <a:xfrm>
            <a:off x="804672" y="5102352"/>
            <a:ext cx="3063240" cy="8046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0 of 15 folds selected a value at the grid boundary. C = 5 is an interior optimum.</a:t>
            </a:r>
            <a:endParaRPr lang="en-US" sz="1200" dirty="0"/>
          </a:p>
        </p:txBody>
      </p:sp>
      <p:sp>
        <p:nvSpPr>
          <p:cNvPr id="12" name="Shape 9"/>
          <p:cNvSpPr/>
          <p:nvPr/>
        </p:nvSpPr>
        <p:spPr>
          <a:xfrm>
            <a:off x="4251960" y="4572000"/>
            <a:ext cx="3520440" cy="14630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0"/>
          <p:cNvSpPr/>
          <p:nvPr/>
        </p:nvSpPr>
        <p:spPr>
          <a:xfrm>
            <a:off x="4251960" y="4572000"/>
            <a:ext cx="68580" cy="1463040"/>
          </a:xfrm>
          <a:prstGeom prst="rect">
            <a:avLst/>
          </a:prstGeom>
          <a:solidFill>
            <a:srgbClr val="8FB996"/>
          </a:solidFill>
          <a:ln/>
        </p:spPr>
      </p:sp>
      <p:sp>
        <p:nvSpPr>
          <p:cNvPr id="14" name="Text 11"/>
          <p:cNvSpPr/>
          <p:nvPr/>
        </p:nvSpPr>
        <p:spPr>
          <a:xfrm>
            <a:off x="4507992" y="4718304"/>
            <a:ext cx="30632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Unchanged performance</a:t>
            </a:r>
            <a:endParaRPr lang="en-US" sz="1500" dirty="0"/>
          </a:p>
        </p:txBody>
      </p:sp>
      <p:sp>
        <p:nvSpPr>
          <p:cNvPr id="15" name="Text 12"/>
          <p:cNvSpPr/>
          <p:nvPr/>
        </p:nvSpPr>
        <p:spPr>
          <a:xfrm>
            <a:off x="4507992" y="5102352"/>
            <a:ext cx="3063240" cy="8046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Expanded-grid AUC 0.838 ± 0.052, versus 0.839 originally.</a:t>
            </a:r>
            <a:endParaRPr lang="en-US" sz="1200" dirty="0"/>
          </a:p>
        </p:txBody>
      </p:sp>
      <p:sp>
        <p:nvSpPr>
          <p:cNvPr id="16" name="Shape 13"/>
          <p:cNvSpPr/>
          <p:nvPr/>
        </p:nvSpPr>
        <p:spPr>
          <a:xfrm>
            <a:off x="7955280" y="4572000"/>
            <a:ext cx="3657600" cy="14630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4"/>
          <p:cNvSpPr/>
          <p:nvPr/>
        </p:nvSpPr>
        <p:spPr>
          <a:xfrm>
            <a:off x="7955280" y="4572000"/>
            <a:ext cx="68580" cy="1463040"/>
          </a:xfrm>
          <a:prstGeom prst="rect">
            <a:avLst/>
          </a:prstGeom>
          <a:solidFill>
            <a:srgbClr val="18707F"/>
          </a:solidFill>
          <a:ln/>
        </p:spPr>
      </p:sp>
      <p:sp>
        <p:nvSpPr>
          <p:cNvPr id="18" name="Text 15"/>
          <p:cNvSpPr/>
          <p:nvPr/>
        </p:nvSpPr>
        <p:spPr>
          <a:xfrm>
            <a:off x="8211312" y="4718304"/>
            <a:ext cx="320040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Flat surface</a:t>
            </a:r>
            <a:endParaRPr lang="en-US" sz="1500" dirty="0"/>
          </a:p>
        </p:txBody>
      </p:sp>
      <p:sp>
        <p:nvSpPr>
          <p:cNvPr id="19" name="Text 16"/>
          <p:cNvSpPr/>
          <p:nvPr/>
        </p:nvSpPr>
        <p:spPr>
          <a:xfrm>
            <a:off x="8211312" y="5102352"/>
            <a:ext cx="3200400" cy="8046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The whole surface spans only 0.73–0.81 — performance does not hinge on fine tuning.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04</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Is the Signal Real?</a:t>
            </a:r>
            <a:endParaRPr lang="en-US" sz="3800" dirty="0"/>
          </a:p>
        </p:txBody>
      </p:sp>
      <p:sp>
        <p:nvSpPr>
          <p:cNvPr id="5" name="Text 3"/>
          <p:cNvSpPr/>
          <p:nvPr/>
        </p:nvSpPr>
        <p:spPr>
          <a:xfrm>
            <a:off x="2880360" y="315468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Permutation testing, confounders, and stratified re-analysis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VALIDITY · OVERFITTING</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Permutation Test</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20</a:t>
            </a:r>
            <a:endParaRPr lang="en-US" sz="1000" dirty="0"/>
          </a:p>
        </p:txBody>
      </p:sp>
      <p:sp>
        <p:nvSpPr>
          <p:cNvPr id="6" name="Text 4"/>
          <p:cNvSpPr/>
          <p:nvPr/>
        </p:nvSpPr>
        <p:spPr>
          <a:xfrm>
            <a:off x="548640" y="1353312"/>
            <a:ext cx="11064240" cy="365760"/>
          </a:xfrm>
          <a:prstGeom prst="rect">
            <a:avLst/>
          </a:prstGeom>
          <a:noFill/>
          <a:ln/>
        </p:spPr>
        <p:txBody>
          <a:bodyPr wrap="square" lIns="0" tIns="0" rIns="0" bIns="0" rtlCol="0" anchor="ctr"/>
          <a:lstStyle/>
          <a:p>
            <a:pPr indent="0" marL="0">
              <a:buNone/>
            </a:pPr>
            <a:r>
              <a:rPr lang="en-US" sz="1300" dirty="0">
                <a:solidFill>
                  <a:srgbClr val="5F7580"/>
                </a:solidFill>
                <a:latin typeface="Calibri" pitchFamily="34" charset="0"/>
                <a:ea typeface="Calibri" pitchFamily="34" charset="-122"/>
                <a:cs typeface="Calibri" pitchFamily="34" charset="-120"/>
              </a:rPr>
              <a:t>Shuffle the labels 100 times and re-run the entire pipeline. If the model can find structure in noise, the observed score is meaningless.</a:t>
            </a:r>
            <a:endParaRPr lang="en-US" sz="1300" dirty="0"/>
          </a:p>
        </p:txBody>
      </p:sp>
      <p:sp>
        <p:nvSpPr>
          <p:cNvPr id="7" name="Text 5"/>
          <p:cNvSpPr/>
          <p:nvPr/>
        </p:nvSpPr>
        <p:spPr>
          <a:xfrm>
            <a:off x="822960" y="1965960"/>
            <a:ext cx="310896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0.743</a:t>
            </a:r>
            <a:endParaRPr lang="en-US" sz="4000" dirty="0"/>
          </a:p>
        </p:txBody>
      </p:sp>
      <p:sp>
        <p:nvSpPr>
          <p:cNvPr id="8" name="Text 6"/>
          <p:cNvSpPr/>
          <p:nvPr/>
        </p:nvSpPr>
        <p:spPr>
          <a:xfrm>
            <a:off x="822960" y="264261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Observed AUC</a:t>
            </a:r>
            <a:endParaRPr lang="en-US" sz="1150" dirty="0"/>
          </a:p>
        </p:txBody>
      </p:sp>
      <p:sp>
        <p:nvSpPr>
          <p:cNvPr id="9" name="Text 7"/>
          <p:cNvSpPr/>
          <p:nvPr/>
        </p:nvSpPr>
        <p:spPr>
          <a:xfrm>
            <a:off x="822960" y="2935224"/>
            <a:ext cx="310896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true labels</a:t>
            </a:r>
            <a:endParaRPr lang="en-US" sz="1000" dirty="0"/>
          </a:p>
        </p:txBody>
      </p:sp>
      <p:sp>
        <p:nvSpPr>
          <p:cNvPr id="10" name="Text 8"/>
          <p:cNvSpPr/>
          <p:nvPr/>
        </p:nvSpPr>
        <p:spPr>
          <a:xfrm>
            <a:off x="4297680" y="1965960"/>
            <a:ext cx="3108960" cy="658368"/>
          </a:xfrm>
          <a:prstGeom prst="rect">
            <a:avLst/>
          </a:prstGeom>
          <a:noFill/>
          <a:ln/>
        </p:spPr>
        <p:txBody>
          <a:bodyPr wrap="square" lIns="0" tIns="0" rIns="0" bIns="0" rtlCol="0" anchor="ctr"/>
          <a:lstStyle/>
          <a:p>
            <a:pPr algn="ctr" indent="0" marL="0">
              <a:buNone/>
            </a:pPr>
            <a:r>
              <a:rPr lang="en-US" sz="4000" b="1" dirty="0">
                <a:solidFill>
                  <a:srgbClr val="5F7580"/>
                </a:solidFill>
                <a:latin typeface="Georgia" pitchFamily="34" charset="0"/>
                <a:ea typeface="Georgia" pitchFamily="34" charset="-122"/>
                <a:cs typeface="Georgia" pitchFamily="34" charset="-120"/>
              </a:rPr>
              <a:t>0.501</a:t>
            </a:r>
            <a:endParaRPr lang="en-US" sz="4000" dirty="0"/>
          </a:p>
        </p:txBody>
      </p:sp>
      <p:sp>
        <p:nvSpPr>
          <p:cNvPr id="11" name="Text 9"/>
          <p:cNvSpPr/>
          <p:nvPr/>
        </p:nvSpPr>
        <p:spPr>
          <a:xfrm>
            <a:off x="4297680" y="264261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Null mean</a:t>
            </a:r>
            <a:endParaRPr lang="en-US" sz="1150" dirty="0"/>
          </a:p>
        </p:txBody>
      </p:sp>
      <p:sp>
        <p:nvSpPr>
          <p:cNvPr id="12" name="Text 10"/>
          <p:cNvSpPr/>
          <p:nvPr/>
        </p:nvSpPr>
        <p:spPr>
          <a:xfrm>
            <a:off x="4297680" y="2935224"/>
            <a:ext cx="310896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 0.049, max 0.614</a:t>
            </a:r>
            <a:endParaRPr lang="en-US" sz="1000" dirty="0"/>
          </a:p>
        </p:txBody>
      </p:sp>
      <p:sp>
        <p:nvSpPr>
          <p:cNvPr id="13" name="Text 11"/>
          <p:cNvSpPr/>
          <p:nvPr/>
        </p:nvSpPr>
        <p:spPr>
          <a:xfrm>
            <a:off x="7772400" y="1965960"/>
            <a:ext cx="3566160" cy="658368"/>
          </a:xfrm>
          <a:prstGeom prst="rect">
            <a:avLst/>
          </a:prstGeom>
          <a:noFill/>
          <a:ln/>
        </p:spPr>
        <p:txBody>
          <a:bodyPr wrap="square" lIns="0" tIns="0" rIns="0" bIns="0" rtlCol="0" anchor="ctr"/>
          <a:lstStyle/>
          <a:p>
            <a:pPr algn="ctr" indent="0" marL="0">
              <a:buNone/>
            </a:pPr>
            <a:r>
              <a:rPr lang="en-US" sz="3400" b="1" dirty="0">
                <a:solidFill>
                  <a:srgbClr val="8FB996"/>
                </a:solidFill>
                <a:latin typeface="Georgia" pitchFamily="34" charset="0"/>
                <a:ea typeface="Georgia" pitchFamily="34" charset="-122"/>
                <a:cs typeface="Georgia" pitchFamily="34" charset="-120"/>
              </a:rPr>
              <a:t>p = 0.0099</a:t>
            </a:r>
            <a:endParaRPr lang="en-US" sz="3400" dirty="0"/>
          </a:p>
        </p:txBody>
      </p:sp>
      <p:sp>
        <p:nvSpPr>
          <p:cNvPr id="14" name="Text 12"/>
          <p:cNvSpPr/>
          <p:nvPr/>
        </p:nvSpPr>
        <p:spPr>
          <a:xfrm>
            <a:off x="7772400" y="2642616"/>
            <a:ext cx="35661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Empirical p-value</a:t>
            </a:r>
            <a:endParaRPr lang="en-US" sz="1150" dirty="0"/>
          </a:p>
        </p:txBody>
      </p:sp>
      <p:sp>
        <p:nvSpPr>
          <p:cNvPr id="15" name="Text 13"/>
          <p:cNvSpPr/>
          <p:nvPr/>
        </p:nvSpPr>
        <p:spPr>
          <a:xfrm>
            <a:off x="7772400" y="2935224"/>
            <a:ext cx="3566160" cy="274320"/>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0 of 100 shuffles reached the observed score</a:t>
            </a:r>
            <a:endParaRPr lang="en-US" sz="1000" dirty="0"/>
          </a:p>
        </p:txBody>
      </p:sp>
      <p:sp>
        <p:nvSpPr>
          <p:cNvPr id="16" name="Shape 14"/>
          <p:cNvSpPr/>
          <p:nvPr/>
        </p:nvSpPr>
        <p:spPr>
          <a:xfrm>
            <a:off x="548640" y="3703320"/>
            <a:ext cx="11064240" cy="10515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5"/>
          <p:cNvSpPr/>
          <p:nvPr/>
        </p:nvSpPr>
        <p:spPr>
          <a:xfrm>
            <a:off x="548640" y="3703320"/>
            <a:ext cx="68580" cy="1051560"/>
          </a:xfrm>
          <a:prstGeom prst="rect">
            <a:avLst/>
          </a:prstGeom>
          <a:solidFill>
            <a:srgbClr val="8FB996"/>
          </a:solidFill>
          <a:ln/>
        </p:spPr>
      </p:sp>
      <p:sp>
        <p:nvSpPr>
          <p:cNvPr id="18" name="Text 16"/>
          <p:cNvSpPr/>
          <p:nvPr/>
        </p:nvSpPr>
        <p:spPr>
          <a:xfrm>
            <a:off x="804672" y="384962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Interpretation</a:t>
            </a:r>
            <a:endParaRPr lang="en-US" sz="1500" dirty="0"/>
          </a:p>
        </p:txBody>
      </p:sp>
      <p:sp>
        <p:nvSpPr>
          <p:cNvPr id="19" name="Text 17"/>
          <p:cNvSpPr/>
          <p:nvPr/>
        </p:nvSpPr>
        <p:spPr>
          <a:xfrm>
            <a:off x="804672" y="4233672"/>
            <a:ext cx="10607040" cy="3931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The null distribution is centred exactly where theory says it should be (0.50), and its maximum across 100 shuffles is 0.614 — well below the observed 0.743. The pipeline is not manufacturing signal from noise.</a:t>
            </a:r>
            <a:endParaRPr lang="en-US" sz="1200" dirty="0"/>
          </a:p>
        </p:txBody>
      </p:sp>
      <p:sp>
        <p:nvSpPr>
          <p:cNvPr id="20" name="Shape 18"/>
          <p:cNvSpPr/>
          <p:nvPr/>
        </p:nvSpPr>
        <p:spPr>
          <a:xfrm>
            <a:off x="548640" y="4937760"/>
            <a:ext cx="11064240" cy="9601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1" name="Shape 19"/>
          <p:cNvSpPr/>
          <p:nvPr/>
        </p:nvSpPr>
        <p:spPr>
          <a:xfrm>
            <a:off x="548640" y="4937760"/>
            <a:ext cx="68580" cy="960120"/>
          </a:xfrm>
          <a:prstGeom prst="rect">
            <a:avLst/>
          </a:prstGeom>
          <a:solidFill>
            <a:srgbClr val="18707F"/>
          </a:solidFill>
          <a:ln/>
        </p:spPr>
      </p:sp>
      <p:sp>
        <p:nvSpPr>
          <p:cNvPr id="22" name="Text 20"/>
          <p:cNvSpPr/>
          <p:nvPr/>
        </p:nvSpPr>
        <p:spPr>
          <a:xfrm>
            <a:off x="804672" y="508406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this does not prove</a:t>
            </a:r>
            <a:endParaRPr lang="en-US" sz="1500" dirty="0"/>
          </a:p>
        </p:txBody>
      </p:sp>
      <p:sp>
        <p:nvSpPr>
          <p:cNvPr id="23" name="Text 21"/>
          <p:cNvSpPr/>
          <p:nvPr/>
        </p:nvSpPr>
        <p:spPr>
          <a:xfrm>
            <a:off x="804672" y="5468112"/>
            <a:ext cx="10607040" cy="30175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A permutation test rules out overfitting. It says nothing about confounding — a model that predicts sampling season perfectly would also pass it. That question is next.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VALIDITY · CONFOUNDING</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The Confounder: Sampling Month</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286000"/>
                <a:gridCol w="1618488"/>
                <a:gridCol w="1618488"/>
                <a:gridCol w="1618488"/>
                <a:gridCol w="1618488"/>
                <a:gridCol w="1618488"/>
                <a:gridCol w="1618488"/>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Jan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Jul</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Oct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Nov</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Negative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Positive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3154680"/>
            <a:ext cx="5394960" cy="1481328"/>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3154680"/>
            <a:ext cx="68580" cy="1481328"/>
          </a:xfrm>
          <a:prstGeom prst="rect">
            <a:avLst/>
          </a:prstGeom>
          <a:solidFill>
            <a:srgbClr val="D2603A"/>
          </a:solidFill>
          <a:ln/>
        </p:spPr>
      </p:sp>
      <p:sp>
        <p:nvSpPr>
          <p:cNvPr id="9" name="Text 6"/>
          <p:cNvSpPr/>
          <p:nvPr/>
        </p:nvSpPr>
        <p:spPr>
          <a:xfrm>
            <a:off x="804672" y="330098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The problem</a:t>
            </a:r>
            <a:endParaRPr lang="en-US" sz="1500" dirty="0"/>
          </a:p>
        </p:txBody>
      </p:sp>
      <p:sp>
        <p:nvSpPr>
          <p:cNvPr id="10" name="Text 7"/>
          <p:cNvSpPr/>
          <p:nvPr/>
        </p:nvSpPr>
        <p:spPr>
          <a:xfrm>
            <a:off x="804672" y="3685032"/>
            <a:ext cx="4937760" cy="822960"/>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November–December is 100% positive. January is 90% negative. Sampling month alone reaches AUC 0.777 — before any microbe is considered.</a:t>
            </a:r>
            <a:endParaRPr lang="en-US" sz="1200" dirty="0"/>
          </a:p>
        </p:txBody>
      </p:sp>
      <p:sp>
        <p:nvSpPr>
          <p:cNvPr id="11" name="Shape 8"/>
          <p:cNvSpPr/>
          <p:nvPr/>
        </p:nvSpPr>
        <p:spPr>
          <a:xfrm>
            <a:off x="6217920" y="3154680"/>
            <a:ext cx="5394960" cy="1481328"/>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2" name="Shape 9"/>
          <p:cNvSpPr/>
          <p:nvPr/>
        </p:nvSpPr>
        <p:spPr>
          <a:xfrm>
            <a:off x="6217920" y="3154680"/>
            <a:ext cx="68580" cy="1481328"/>
          </a:xfrm>
          <a:prstGeom prst="rect">
            <a:avLst/>
          </a:prstGeom>
          <a:solidFill>
            <a:srgbClr val="D2603A"/>
          </a:solidFill>
          <a:ln/>
        </p:spPr>
      </p:sp>
      <p:sp>
        <p:nvSpPr>
          <p:cNvPr id="13" name="Text 10"/>
          <p:cNvSpPr/>
          <p:nvPr/>
        </p:nvSpPr>
        <p:spPr>
          <a:xfrm>
            <a:off x="6473952" y="330098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It contaminates the features too</a:t>
            </a:r>
            <a:endParaRPr lang="en-US" sz="1500" dirty="0"/>
          </a:p>
        </p:txBody>
      </p:sp>
      <p:sp>
        <p:nvSpPr>
          <p:cNvPr id="14" name="Text 11"/>
          <p:cNvSpPr/>
          <p:nvPr/>
        </p:nvSpPr>
        <p:spPr>
          <a:xfrm>
            <a:off x="6473952" y="3685032"/>
            <a:ext cx="4937760" cy="822960"/>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Microbiome → predict "sampled in Nov–Dec":  AUC 0.777</a:t>
            </a:r>
            <a:endParaRPr lang="en-US" sz="1200" dirty="0"/>
          </a:p>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Microbiome → predict sampling site:  AUC 0.795</a:t>
            </a:r>
            <a:endParaRPr lang="en-US" sz="1200" dirty="0"/>
          </a:p>
          <a:p>
            <a:pPr indent="0" marL="0">
              <a:lnSpc>
                <a:spcPct val="112000"/>
              </a:lnSpc>
              <a:buNone/>
            </a:pPr>
            <a:endParaRPr lang="en-US" sz="1200" dirty="0"/>
          </a:p>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The microbiome encodes when and where the bird was caught.</a:t>
            </a:r>
            <a:endParaRPr lang="en-US" sz="1200" dirty="0"/>
          </a:p>
        </p:txBody>
      </p:sp>
      <p:sp>
        <p:nvSpPr>
          <p:cNvPr id="15" name="Shape 12"/>
          <p:cNvSpPr/>
          <p:nvPr/>
        </p:nvSpPr>
        <p:spPr>
          <a:xfrm>
            <a:off x="548640" y="4864608"/>
            <a:ext cx="11064240" cy="10972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6" name="Shape 13"/>
          <p:cNvSpPr/>
          <p:nvPr/>
        </p:nvSpPr>
        <p:spPr>
          <a:xfrm>
            <a:off x="548640" y="4864608"/>
            <a:ext cx="68580" cy="1097280"/>
          </a:xfrm>
          <a:prstGeom prst="rect">
            <a:avLst/>
          </a:prstGeom>
          <a:solidFill>
            <a:srgbClr val="18707F"/>
          </a:solidFill>
          <a:ln/>
        </p:spPr>
      </p:sp>
      <p:sp>
        <p:nvSpPr>
          <p:cNvPr id="17" name="Text 14"/>
          <p:cNvSpPr/>
          <p:nvPr/>
        </p:nvSpPr>
        <p:spPr>
          <a:xfrm>
            <a:off x="804672" y="5010912"/>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Why this is not simply fatal</a:t>
            </a:r>
            <a:endParaRPr lang="en-US" sz="1500" dirty="0"/>
          </a:p>
        </p:txBody>
      </p:sp>
      <p:sp>
        <p:nvSpPr>
          <p:cNvPr id="18" name="Text 15"/>
          <p:cNvSpPr/>
          <p:nvPr/>
        </p:nvSpPr>
        <p:spPr>
          <a:xfrm>
            <a:off x="804672" y="5394960"/>
            <a:ext cx="10607040" cy="43891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Seasonality in avian influenza prevalence is genuine biology, not only an artefact of sampling logistics. The question is whether anything remains once season is held constant — which requires stratified re-analysis, not a p-value.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VALIDITY · STRATIFICATION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Re-Running Within a Single Month</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023360"/>
                <a:gridCol w="2011680"/>
                <a:gridCol w="2286000"/>
                <a:gridCol w="2743200"/>
              </a:tblGrid>
              <a:tr h="43891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Stratum</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Positive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3891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July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86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52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0.964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3891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Jul + Aug</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123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0.944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38912">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October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38912">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Jan + Oct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92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0.668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38912">
                <a:tc>
                  <a:txBody>
                    <a:bodyPr/>
                    <a:lstStyle/>
                    <a:p>
                      <a:pPr algn="ctr" indent="0" marL="0">
                        <a:buNone/>
                      </a:pPr>
                      <a:r>
                        <a:rPr lang="en-US" sz="1150" i="1" dirty="0">
                          <a:solidFill>
                            <a:srgbClr val="5F7580"/>
                          </a:solidFill>
                          <a:latin typeface="Calibri" pitchFamily="34" charset="0"/>
                          <a:ea typeface="Calibri" pitchFamily="34" charset="-122"/>
                          <a:cs typeface="Calibri" pitchFamily="34" charset="-120"/>
                        </a:rPr>
                        <a:t>January / Nov + Dec</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5F7580"/>
                          </a:solidFill>
                          <a:latin typeface="Calibri" pitchFamily="34" charset="0"/>
                          <a:ea typeface="Calibri" pitchFamily="34" charset="-122"/>
                          <a:cs typeface="Calibri" pitchFamily="34" charset="-120"/>
                        </a:rPr>
                        <a:t>50 / 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5F7580"/>
                          </a:solidFill>
                          <a:latin typeface="Calibri" pitchFamily="34" charset="0"/>
                          <a:ea typeface="Calibri" pitchFamily="34" charset="-122"/>
                          <a:cs typeface="Calibri" pitchFamily="34" charset="-120"/>
                        </a:rPr>
                        <a:t>5 / 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5F7580"/>
                          </a:solidFill>
                          <a:latin typeface="Calibri" pitchFamily="34" charset="0"/>
                          <a:ea typeface="Calibri" pitchFamily="34" charset="-122"/>
                          <a:cs typeface="Calibri" pitchFamily="34" charset="-120"/>
                        </a:rPr>
                        <a:t>minority class too small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251960"/>
            <a:ext cx="5394960" cy="14173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4251960"/>
            <a:ext cx="68580" cy="1417320"/>
          </a:xfrm>
          <a:prstGeom prst="rect">
            <a:avLst/>
          </a:prstGeom>
          <a:solidFill>
            <a:srgbClr val="8FB996"/>
          </a:solidFill>
          <a:ln/>
        </p:spPr>
      </p:sp>
      <p:sp>
        <p:nvSpPr>
          <p:cNvPr id="9" name="Text 6"/>
          <p:cNvSpPr/>
          <p:nvPr/>
        </p:nvSpPr>
        <p:spPr>
          <a:xfrm>
            <a:off x="804672" y="439826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The signal survives</a:t>
            </a:r>
            <a:endParaRPr lang="en-US" sz="1500" dirty="0"/>
          </a:p>
        </p:txBody>
      </p:sp>
      <p:sp>
        <p:nvSpPr>
          <p:cNvPr id="10" name="Text 7"/>
          <p:cNvSpPr/>
          <p:nvPr/>
        </p:nvSpPr>
        <p:spPr>
          <a:xfrm>
            <a:off x="804672" y="4782312"/>
            <a:ext cx="4937760" cy="75895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Holding sampling month constant, AUC stays at 0.86–0.96 in the summer strata. Seasonal confounding does not explain the association away.</a:t>
            </a:r>
            <a:endParaRPr lang="en-US" sz="1200" dirty="0"/>
          </a:p>
        </p:txBody>
      </p:sp>
      <p:sp>
        <p:nvSpPr>
          <p:cNvPr id="11" name="Shape 8"/>
          <p:cNvSpPr/>
          <p:nvPr/>
        </p:nvSpPr>
        <p:spPr>
          <a:xfrm>
            <a:off x="6217920" y="4251960"/>
            <a:ext cx="5394960" cy="141732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2" name="Shape 9"/>
          <p:cNvSpPr/>
          <p:nvPr/>
        </p:nvSpPr>
        <p:spPr>
          <a:xfrm>
            <a:off x="6217920" y="4251960"/>
            <a:ext cx="68580" cy="1417320"/>
          </a:xfrm>
          <a:prstGeom prst="rect">
            <a:avLst/>
          </a:prstGeom>
          <a:solidFill>
            <a:srgbClr val="D2603A"/>
          </a:solidFill>
          <a:ln/>
        </p:spPr>
      </p:sp>
      <p:sp>
        <p:nvSpPr>
          <p:cNvPr id="13" name="Text 10"/>
          <p:cNvSpPr/>
          <p:nvPr/>
        </p:nvSpPr>
        <p:spPr>
          <a:xfrm>
            <a:off x="6473952" y="439826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But it is uneven</a:t>
            </a:r>
            <a:endParaRPr lang="en-US" sz="1500" dirty="0"/>
          </a:p>
        </p:txBody>
      </p:sp>
      <p:sp>
        <p:nvSpPr>
          <p:cNvPr id="14" name="Text 11"/>
          <p:cNvSpPr/>
          <p:nvPr/>
        </p:nvSpPr>
        <p:spPr>
          <a:xfrm>
            <a:off x="6473952" y="4782312"/>
            <a:ext cx="4937760" cy="758952"/>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Jan + Oct drops to 0.668. The effect is strongly heterogeneous across seasons, and reporting only the 0.944 would be cherry-picking.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VALIDITY · ABLATION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How Much Does the Microbiome Actually Add?</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23</a:t>
            </a:r>
            <a:endParaRPr lang="en-US" sz="1000" dirty="0"/>
          </a:p>
        </p:txBody>
      </p:sp>
      <p:sp>
        <p:nvSpPr>
          <p:cNvPr id="6" name="Text 4"/>
          <p:cNvSpPr/>
          <p:nvPr/>
        </p:nvSpPr>
        <p:spPr>
          <a:xfrm>
            <a:off x="548640" y="1600200"/>
            <a:ext cx="2926080" cy="320040"/>
          </a:xfrm>
          <a:prstGeom prst="rect">
            <a:avLst/>
          </a:prstGeom>
          <a:noFill/>
          <a:ln/>
        </p:spPr>
        <p:txBody>
          <a:bodyPr wrap="square" lIns="0" tIns="0" rIns="0" bIns="0" rtlCol="0" anchor="ctr"/>
          <a:lstStyle/>
          <a:p>
            <a:pPr indent="0" marL="0">
              <a:buNone/>
            </a:pPr>
            <a:r>
              <a:rPr lang="en-US" sz="1400" b="1" dirty="0">
                <a:solidFill>
                  <a:srgbClr val="16252C"/>
                </a:solidFill>
                <a:latin typeface="Georgia" pitchFamily="34" charset="0"/>
                <a:ea typeface="Georgia" pitchFamily="34" charset="-122"/>
                <a:cs typeface="Georgia" pitchFamily="34" charset="-120"/>
              </a:rPr>
              <a:t>Covariates only</a:t>
            </a:r>
            <a:endParaRPr lang="en-US" sz="1400" dirty="0"/>
          </a:p>
        </p:txBody>
      </p:sp>
      <p:sp>
        <p:nvSpPr>
          <p:cNvPr id="7" name="Text 5"/>
          <p:cNvSpPr/>
          <p:nvPr/>
        </p:nvSpPr>
        <p:spPr>
          <a:xfrm>
            <a:off x="548640" y="1911096"/>
            <a:ext cx="2926080" cy="27432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season, site, species, sex, month</a:t>
            </a:r>
            <a:endParaRPr lang="en-US" sz="1050" dirty="0"/>
          </a:p>
        </p:txBody>
      </p:sp>
      <p:sp>
        <p:nvSpPr>
          <p:cNvPr id="8" name="Shape 6"/>
          <p:cNvSpPr/>
          <p:nvPr/>
        </p:nvSpPr>
        <p:spPr>
          <a:xfrm>
            <a:off x="3611880" y="1645920"/>
            <a:ext cx="6949440" cy="475488"/>
          </a:xfrm>
          <a:prstGeom prst="rect">
            <a:avLst/>
          </a:prstGeom>
          <a:solidFill>
            <a:srgbClr val="E8EEF0"/>
          </a:solidFill>
          <a:ln/>
        </p:spPr>
      </p:sp>
      <p:sp>
        <p:nvSpPr>
          <p:cNvPr id="9" name="Shape 7"/>
          <p:cNvSpPr/>
          <p:nvPr/>
        </p:nvSpPr>
        <p:spPr>
          <a:xfrm>
            <a:off x="3611880" y="1645920"/>
            <a:ext cx="5883859" cy="475488"/>
          </a:xfrm>
          <a:prstGeom prst="rect">
            <a:avLst/>
          </a:prstGeom>
          <a:solidFill>
            <a:srgbClr val="12505F"/>
          </a:solidFill>
          <a:ln/>
        </p:spPr>
      </p:sp>
      <p:sp>
        <p:nvSpPr>
          <p:cNvPr id="10" name="Text 8"/>
          <p:cNvSpPr/>
          <p:nvPr/>
        </p:nvSpPr>
        <p:spPr>
          <a:xfrm>
            <a:off x="10698480" y="1664208"/>
            <a:ext cx="914400" cy="411480"/>
          </a:xfrm>
          <a:prstGeom prst="rect">
            <a:avLst/>
          </a:prstGeom>
          <a:noFill/>
          <a:ln/>
        </p:spPr>
        <p:txBody>
          <a:bodyPr wrap="square" lIns="0" tIns="0" rIns="0" bIns="0" rtlCol="0" anchor="ctr"/>
          <a:lstStyle/>
          <a:p>
            <a:pPr indent="0" marL="0">
              <a:buNone/>
            </a:pPr>
            <a:r>
              <a:rPr lang="en-US" sz="1700" b="1" dirty="0">
                <a:solidFill>
                  <a:srgbClr val="12505F"/>
                </a:solidFill>
                <a:latin typeface="Georgia" pitchFamily="34" charset="0"/>
                <a:ea typeface="Georgia" pitchFamily="34" charset="-122"/>
                <a:cs typeface="Georgia" pitchFamily="34" charset="-120"/>
              </a:rPr>
              <a:t>0.881</a:t>
            </a:r>
            <a:endParaRPr lang="en-US" sz="1700" dirty="0"/>
          </a:p>
        </p:txBody>
      </p:sp>
      <p:sp>
        <p:nvSpPr>
          <p:cNvPr id="11" name="Text 9"/>
          <p:cNvSpPr/>
          <p:nvPr/>
        </p:nvSpPr>
        <p:spPr>
          <a:xfrm>
            <a:off x="548640" y="2651760"/>
            <a:ext cx="2926080" cy="320040"/>
          </a:xfrm>
          <a:prstGeom prst="rect">
            <a:avLst/>
          </a:prstGeom>
          <a:noFill/>
          <a:ln/>
        </p:spPr>
        <p:txBody>
          <a:bodyPr wrap="square" lIns="0" tIns="0" rIns="0" bIns="0" rtlCol="0" anchor="ctr"/>
          <a:lstStyle/>
          <a:p>
            <a:pPr indent="0" marL="0">
              <a:buNone/>
            </a:pPr>
            <a:r>
              <a:rPr lang="en-US" sz="1400" b="1" dirty="0">
                <a:solidFill>
                  <a:srgbClr val="16252C"/>
                </a:solidFill>
                <a:latin typeface="Georgia" pitchFamily="34" charset="0"/>
                <a:ea typeface="Georgia" pitchFamily="34" charset="-122"/>
                <a:cs typeface="Georgia" pitchFamily="34" charset="-120"/>
              </a:rPr>
              <a:t>Microbiome only</a:t>
            </a:r>
            <a:endParaRPr lang="en-US" sz="1400" dirty="0"/>
          </a:p>
        </p:txBody>
      </p:sp>
      <p:sp>
        <p:nvSpPr>
          <p:cNvPr id="12" name="Text 10"/>
          <p:cNvSpPr/>
          <p:nvPr/>
        </p:nvSpPr>
        <p:spPr>
          <a:xfrm>
            <a:off x="548640" y="2962656"/>
            <a:ext cx="2926080" cy="27432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70 CLR features</a:t>
            </a:r>
            <a:endParaRPr lang="en-US" sz="1050" dirty="0"/>
          </a:p>
        </p:txBody>
      </p:sp>
      <p:sp>
        <p:nvSpPr>
          <p:cNvPr id="13" name="Shape 11"/>
          <p:cNvSpPr/>
          <p:nvPr/>
        </p:nvSpPr>
        <p:spPr>
          <a:xfrm>
            <a:off x="3611880" y="2697480"/>
            <a:ext cx="6949440" cy="475488"/>
          </a:xfrm>
          <a:prstGeom prst="rect">
            <a:avLst/>
          </a:prstGeom>
          <a:solidFill>
            <a:srgbClr val="E8EEF0"/>
          </a:solidFill>
          <a:ln/>
        </p:spPr>
      </p:sp>
      <p:sp>
        <p:nvSpPr>
          <p:cNvPr id="14" name="Shape 12"/>
          <p:cNvSpPr/>
          <p:nvPr/>
        </p:nvSpPr>
        <p:spPr>
          <a:xfrm>
            <a:off x="3611880" y="2697480"/>
            <a:ext cx="4107891" cy="475488"/>
          </a:xfrm>
          <a:prstGeom prst="rect">
            <a:avLst/>
          </a:prstGeom>
          <a:solidFill>
            <a:srgbClr val="18707F"/>
          </a:solidFill>
          <a:ln/>
        </p:spPr>
      </p:sp>
      <p:sp>
        <p:nvSpPr>
          <p:cNvPr id="15" name="Text 13"/>
          <p:cNvSpPr/>
          <p:nvPr/>
        </p:nvSpPr>
        <p:spPr>
          <a:xfrm>
            <a:off x="10698480" y="2715768"/>
            <a:ext cx="914400" cy="411480"/>
          </a:xfrm>
          <a:prstGeom prst="rect">
            <a:avLst/>
          </a:prstGeom>
          <a:noFill/>
          <a:ln/>
        </p:spPr>
        <p:txBody>
          <a:bodyPr wrap="square" lIns="0" tIns="0" rIns="0" bIns="0" rtlCol="0" anchor="ctr"/>
          <a:lstStyle/>
          <a:p>
            <a:pPr indent="0" marL="0">
              <a:buNone/>
            </a:pPr>
            <a:r>
              <a:rPr lang="en-US" sz="1700" b="1" dirty="0">
                <a:solidFill>
                  <a:srgbClr val="18707F"/>
                </a:solidFill>
                <a:latin typeface="Georgia" pitchFamily="34" charset="0"/>
                <a:ea typeface="Georgia" pitchFamily="34" charset="-122"/>
                <a:cs typeface="Georgia" pitchFamily="34" charset="-120"/>
              </a:rPr>
              <a:t>0.766</a:t>
            </a:r>
            <a:endParaRPr lang="en-US" sz="1700" dirty="0"/>
          </a:p>
        </p:txBody>
      </p:sp>
      <p:sp>
        <p:nvSpPr>
          <p:cNvPr id="16" name="Text 14"/>
          <p:cNvSpPr/>
          <p:nvPr/>
        </p:nvSpPr>
        <p:spPr>
          <a:xfrm>
            <a:off x="548640" y="3703320"/>
            <a:ext cx="2926080" cy="320040"/>
          </a:xfrm>
          <a:prstGeom prst="rect">
            <a:avLst/>
          </a:prstGeom>
          <a:noFill/>
          <a:ln/>
        </p:spPr>
        <p:txBody>
          <a:bodyPr wrap="square" lIns="0" tIns="0" rIns="0" bIns="0" rtlCol="0" anchor="ctr"/>
          <a:lstStyle/>
          <a:p>
            <a:pPr indent="0" marL="0">
              <a:buNone/>
            </a:pPr>
            <a:r>
              <a:rPr lang="en-US" sz="1400" b="1" dirty="0">
                <a:solidFill>
                  <a:srgbClr val="16252C"/>
                </a:solidFill>
                <a:latin typeface="Georgia" pitchFamily="34" charset="0"/>
                <a:ea typeface="Georgia" pitchFamily="34" charset="-122"/>
                <a:cs typeface="Georgia" pitchFamily="34" charset="-120"/>
              </a:rPr>
              <a:t>Microbiome + covariates</a:t>
            </a:r>
            <a:endParaRPr lang="en-US" sz="1400" dirty="0"/>
          </a:p>
        </p:txBody>
      </p:sp>
      <p:sp>
        <p:nvSpPr>
          <p:cNvPr id="17" name="Text 15"/>
          <p:cNvSpPr/>
          <p:nvPr/>
        </p:nvSpPr>
        <p:spPr>
          <a:xfrm>
            <a:off x="548640" y="4014216"/>
            <a:ext cx="2926080" cy="274320"/>
          </a:xfrm>
          <a:prstGeom prst="rect">
            <a:avLst/>
          </a:prstGeom>
          <a:noFill/>
          <a:ln/>
        </p:spPr>
        <p:txBody>
          <a:bodyPr wrap="square" lIns="0" tIns="0" rIns="0" bIns="0" rtlCol="0" anchor="ctr"/>
          <a:lstStyle/>
          <a:p>
            <a:pPr indent="0" marL="0">
              <a:buNone/>
            </a:pPr>
            <a:r>
              <a:rPr lang="en-US" sz="1050" dirty="0">
                <a:solidFill>
                  <a:srgbClr val="5F7580"/>
                </a:solidFill>
                <a:latin typeface="Calibri" pitchFamily="34" charset="0"/>
                <a:ea typeface="Calibri" pitchFamily="34" charset="-122"/>
                <a:cs typeface="Calibri" pitchFamily="34" charset="-120"/>
              </a:rPr>
              <a:t>combined model</a:t>
            </a:r>
            <a:endParaRPr lang="en-US" sz="1050" dirty="0"/>
          </a:p>
        </p:txBody>
      </p:sp>
      <p:sp>
        <p:nvSpPr>
          <p:cNvPr id="18" name="Shape 16"/>
          <p:cNvSpPr/>
          <p:nvPr/>
        </p:nvSpPr>
        <p:spPr>
          <a:xfrm>
            <a:off x="3611880" y="3749040"/>
            <a:ext cx="6949440" cy="475488"/>
          </a:xfrm>
          <a:prstGeom prst="rect">
            <a:avLst/>
          </a:prstGeom>
          <a:solidFill>
            <a:srgbClr val="E8EEF0"/>
          </a:solidFill>
          <a:ln/>
        </p:spPr>
      </p:sp>
      <p:sp>
        <p:nvSpPr>
          <p:cNvPr id="19" name="Shape 17"/>
          <p:cNvSpPr/>
          <p:nvPr/>
        </p:nvSpPr>
        <p:spPr>
          <a:xfrm>
            <a:off x="3611880" y="3749040"/>
            <a:ext cx="6547917" cy="475488"/>
          </a:xfrm>
          <a:prstGeom prst="rect">
            <a:avLst/>
          </a:prstGeom>
          <a:solidFill>
            <a:srgbClr val="8FB996"/>
          </a:solidFill>
          <a:ln/>
        </p:spPr>
      </p:sp>
      <p:sp>
        <p:nvSpPr>
          <p:cNvPr id="20" name="Text 18"/>
          <p:cNvSpPr/>
          <p:nvPr/>
        </p:nvSpPr>
        <p:spPr>
          <a:xfrm>
            <a:off x="10698480" y="3767328"/>
            <a:ext cx="914400" cy="411480"/>
          </a:xfrm>
          <a:prstGeom prst="rect">
            <a:avLst/>
          </a:prstGeom>
          <a:noFill/>
          <a:ln/>
        </p:spPr>
        <p:txBody>
          <a:bodyPr wrap="square" lIns="0" tIns="0" rIns="0" bIns="0" rtlCol="0" anchor="ctr"/>
          <a:lstStyle/>
          <a:p>
            <a:pPr indent="0" marL="0">
              <a:buNone/>
            </a:pPr>
            <a:r>
              <a:rPr lang="en-US" sz="1700" b="1" dirty="0">
                <a:solidFill>
                  <a:srgbClr val="8FB996"/>
                </a:solidFill>
                <a:latin typeface="Georgia" pitchFamily="34" charset="0"/>
                <a:ea typeface="Georgia" pitchFamily="34" charset="-122"/>
                <a:cs typeface="Georgia" pitchFamily="34" charset="-120"/>
              </a:rPr>
              <a:t>0.924</a:t>
            </a:r>
            <a:endParaRPr lang="en-US" sz="1700" dirty="0"/>
          </a:p>
        </p:txBody>
      </p:sp>
      <p:sp>
        <p:nvSpPr>
          <p:cNvPr id="21" name="Text 19"/>
          <p:cNvSpPr/>
          <p:nvPr/>
        </p:nvSpPr>
        <p:spPr>
          <a:xfrm>
            <a:off x="3611880" y="4709160"/>
            <a:ext cx="3657600" cy="274320"/>
          </a:xfrm>
          <a:prstGeom prst="rect">
            <a:avLst/>
          </a:prstGeom>
          <a:noFill/>
          <a:ln/>
        </p:spPr>
        <p:txBody>
          <a:bodyPr wrap="square" lIns="0" tIns="0" rIns="0" bIns="0" rtlCol="0" anchor="ctr"/>
          <a:lstStyle/>
          <a:p>
            <a:pPr indent="0" marL="0">
              <a:buNone/>
            </a:pPr>
            <a:r>
              <a:rPr lang="en-US" sz="1000" dirty="0">
                <a:solidFill>
                  <a:srgbClr val="5F7580"/>
                </a:solidFill>
                <a:latin typeface="Calibri" pitchFamily="34" charset="0"/>
                <a:ea typeface="Calibri" pitchFamily="34" charset="-122"/>
                <a:cs typeface="Calibri" pitchFamily="34" charset="-120"/>
              </a:rPr>
              <a:t>AUC  (bar origin = 0.50)</a:t>
            </a:r>
            <a:endParaRPr lang="en-US" sz="1000" dirty="0"/>
          </a:p>
        </p:txBody>
      </p:sp>
      <p:sp>
        <p:nvSpPr>
          <p:cNvPr id="22" name="Shape 20"/>
          <p:cNvSpPr/>
          <p:nvPr/>
        </p:nvSpPr>
        <p:spPr>
          <a:xfrm>
            <a:off x="548640" y="5074920"/>
            <a:ext cx="11064240" cy="105156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23" name="Shape 21"/>
          <p:cNvSpPr/>
          <p:nvPr/>
        </p:nvSpPr>
        <p:spPr>
          <a:xfrm>
            <a:off x="548640" y="5074920"/>
            <a:ext cx="68580" cy="1051560"/>
          </a:xfrm>
          <a:prstGeom prst="rect">
            <a:avLst/>
          </a:prstGeom>
          <a:solidFill>
            <a:srgbClr val="D2603A"/>
          </a:solidFill>
          <a:ln/>
        </p:spPr>
      </p:sp>
      <p:sp>
        <p:nvSpPr>
          <p:cNvPr id="24" name="Text 22"/>
          <p:cNvSpPr/>
          <p:nvPr/>
        </p:nvSpPr>
        <p:spPr>
          <a:xfrm>
            <a:off x="804672" y="522122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Read this carefully</a:t>
            </a:r>
            <a:endParaRPr lang="en-US" sz="1500" dirty="0"/>
          </a:p>
        </p:txBody>
      </p:sp>
      <p:sp>
        <p:nvSpPr>
          <p:cNvPr id="25" name="Text 23"/>
          <p:cNvSpPr/>
          <p:nvPr/>
        </p:nvSpPr>
        <p:spPr>
          <a:xfrm>
            <a:off x="804672" y="5605272"/>
            <a:ext cx="10607040" cy="393192"/>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The microbiome adds +0.043 over covariates alone — a real but modest independent contribution. Covariates by themselves already reach 0.881. Any claim that "gut microbiota predict influenza" must be quoted against that baseline, not against 0.50.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05</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Biological Findings</a:t>
            </a:r>
            <a:endParaRPr lang="en-US" sz="3800" dirty="0"/>
          </a:p>
        </p:txBody>
      </p:sp>
      <p:sp>
        <p:nvSpPr>
          <p:cNvPr id="5" name="Text 3"/>
          <p:cNvSpPr/>
          <p:nvPr/>
        </p:nvSpPr>
        <p:spPr>
          <a:xfrm>
            <a:off x="2880360" y="315468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Which taxa carry the signal — and what the methods disagree about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FINDINGS · BIOMARKER PANEL</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Nine Biomarkers, Three Independent Methods</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25</a:t>
            </a:r>
            <a:endParaRPr lang="en-US" sz="1000" dirty="0"/>
          </a:p>
        </p:txBody>
      </p:sp>
      <p:sp>
        <p:nvSpPr>
          <p:cNvPr id="6" name="Text 4"/>
          <p:cNvSpPr/>
          <p:nvPr/>
        </p:nvSpPr>
        <p:spPr>
          <a:xfrm>
            <a:off x="548640" y="1353312"/>
            <a:ext cx="11064240" cy="365760"/>
          </a:xfrm>
          <a:prstGeom prst="rect">
            <a:avLst/>
          </a:prstGeom>
          <a:noFill/>
          <a:ln/>
        </p:spPr>
        <p:txBody>
          <a:bodyPr wrap="square" lIns="0" tIns="0" rIns="0" bIns="0" rtlCol="0" anchor="ctr"/>
          <a:lstStyle/>
          <a:p>
            <a:pPr indent="0" marL="0">
              <a:buNone/>
            </a:pPr>
            <a:r>
              <a:rPr lang="en-US" sz="1300" dirty="0">
                <a:solidFill>
                  <a:srgbClr val="5F7580"/>
                </a:solidFill>
                <a:latin typeface="Calibri" pitchFamily="34" charset="0"/>
                <a:ea typeface="Calibri" pitchFamily="34" charset="-122"/>
                <a:cs typeface="Calibri" pitchFamily="34" charset="-120"/>
              </a:rPr>
              <a:t>SVM permutation importance, L1 stability selection (200 bootstraps), and differential abundance (CLR + Welch t + BH-FDR) were run separately and intersected.</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200400"/>
                <a:gridCol w="2743200"/>
                <a:gridCol w="1554480"/>
                <a:gridCol w="1371600"/>
                <a:gridCol w="1371600"/>
                <a:gridCol w="128016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Genus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SVM imp.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L1 freq.</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FDR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84048">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(unassigned)</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Ruminococcaceae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0.0198</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0.925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8FB996"/>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0.012</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Varibaculum</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Actinomycetaceae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0.0131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0.985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8FB996"/>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2e-04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Rothia</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Micrococcaceae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0.0100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0.995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D2603A"/>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2e-06</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Psittacicella</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Pasteurellaceae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0.0079</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0.925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8FB996"/>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9e-04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Staphylococcus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Staphylococcaceae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0.0060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0.940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D2603A"/>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1e-03</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Lawsonella</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Corynebacteriaceae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0.0055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0.930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D2603A"/>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0.017</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Candidatus Arthromitus (SFB)</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Clostridiaceae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0.0050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0.995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b="1" dirty="0">
                          <a:solidFill>
                            <a:srgbClr val="3F7A47"/>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4e-05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384048">
                <a:tc>
                  <a:txBody>
                    <a:bodyPr/>
                    <a:lstStyle/>
                    <a:p>
                      <a:pPr algn="ctr" indent="0" marL="0">
                        <a:buNone/>
                      </a:pPr>
                      <a:r>
                        <a:rPr lang="en-US" sz="1100" i="1" dirty="0">
                          <a:solidFill>
                            <a:srgbClr val="5F7580"/>
                          </a:solidFill>
                          <a:latin typeface="Calibri" pitchFamily="34" charset="0"/>
                          <a:ea typeface="Calibri" pitchFamily="34" charset="-122"/>
                          <a:cs typeface="Calibri" pitchFamily="34" charset="-120"/>
                        </a:rPr>
                        <a:t>2 unannotated features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5F75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5F75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5F7580"/>
                          </a:solidFill>
                          <a:latin typeface="Calibri" pitchFamily="34" charset="0"/>
                          <a:ea typeface="Calibri" pitchFamily="34" charset="-122"/>
                          <a:cs typeface="Calibri" pitchFamily="34" charset="-120"/>
                        </a:rPr>
                        <a:t>≥ 0.915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5F7580"/>
                          </a:solidFill>
                          <a:latin typeface="Calibri" pitchFamily="34" charset="0"/>
                          <a:ea typeface="Calibri" pitchFamily="34" charset="-122"/>
                          <a:cs typeface="Calibri" pitchFamily="34" charset="-120"/>
                        </a:rPr>
                        <a:t>Pos ↑</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5F7580"/>
                          </a:solidFill>
                          <a:latin typeface="Calibri" pitchFamily="34" charset="0"/>
                          <a:ea typeface="Calibri" pitchFamily="34" charset="-122"/>
                          <a:cs typeface="Calibri" pitchFamily="34" charset="-120"/>
                        </a:rPr>
                        <a:t>≤ 1e-04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5285232"/>
            <a:ext cx="11064240" cy="987552"/>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5285232"/>
            <a:ext cx="68580" cy="987552"/>
          </a:xfrm>
          <a:prstGeom prst="rect">
            <a:avLst/>
          </a:prstGeom>
          <a:solidFill>
            <a:srgbClr val="8FB996"/>
          </a:solidFill>
          <a:ln/>
        </p:spPr>
      </p:sp>
      <p:sp>
        <p:nvSpPr>
          <p:cNvPr id="10" name="Text 7"/>
          <p:cNvSpPr/>
          <p:nvPr/>
        </p:nvSpPr>
        <p:spPr>
          <a:xfrm>
            <a:off x="804672" y="5431536"/>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Candidatus Arthromitus is the most interpretable hit</a:t>
            </a:r>
            <a:endParaRPr lang="en-US" sz="1500" dirty="0"/>
          </a:p>
        </p:txBody>
      </p:sp>
      <p:sp>
        <p:nvSpPr>
          <p:cNvPr id="11" name="Text 8"/>
          <p:cNvSpPr/>
          <p:nvPr/>
        </p:nvSpPr>
        <p:spPr>
          <a:xfrm>
            <a:off x="804672" y="5815584"/>
            <a:ext cx="10607040" cy="329184"/>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Segmented filamentous bacteria are enriched in infected birds. SFB are known inducers of Th17 and mucosal IgA responses — an independent immunological line of support for the association.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FINDINGS · INTERPRETATION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Where the Methods Disagree</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26</a:t>
            </a:r>
            <a:endParaRPr lang="en-US" sz="1000" dirty="0"/>
          </a:p>
        </p:txBody>
      </p:sp>
      <p:sp>
        <p:nvSpPr>
          <p:cNvPr id="6" name="Text 4"/>
          <p:cNvSpPr/>
          <p:nvPr/>
        </p:nvSpPr>
        <p:spPr>
          <a:xfrm>
            <a:off x="548640" y="1353312"/>
            <a:ext cx="11064240" cy="365760"/>
          </a:xfrm>
          <a:prstGeom prst="rect">
            <a:avLst/>
          </a:prstGeom>
          <a:noFill/>
          <a:ln/>
        </p:spPr>
        <p:txBody>
          <a:bodyPr wrap="square" lIns="0" tIns="0" rIns="0" bIns="0" rtlCol="0" anchor="ctr"/>
          <a:lstStyle/>
          <a:p>
            <a:pPr indent="0" marL="0">
              <a:buNone/>
            </a:pPr>
            <a:r>
              <a:rPr lang="en-US" sz="1300" i="1" dirty="0">
                <a:solidFill>
                  <a:srgbClr val="5F7580"/>
                </a:solidFill>
                <a:latin typeface="Calibri" pitchFamily="34" charset="0"/>
                <a:ea typeface="Calibri" pitchFamily="34" charset="-122"/>
                <a:cs typeface="Calibri" pitchFamily="34" charset="-120"/>
              </a:rPr>
              <a:t>The intersection is the safest list. The disagreements are where the biology is.</a:t>
            </a:r>
            <a:endParaRPr lang="en-US" sz="1300" dirty="0"/>
          </a:p>
        </p:txBody>
      </p:sp>
      <p:sp>
        <p:nvSpPr>
          <p:cNvPr id="7" name="Shape 5"/>
          <p:cNvSpPr/>
          <p:nvPr/>
        </p:nvSpPr>
        <p:spPr>
          <a:xfrm>
            <a:off x="548640" y="1828800"/>
            <a:ext cx="5394960" cy="2286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6"/>
          <p:cNvSpPr/>
          <p:nvPr/>
        </p:nvSpPr>
        <p:spPr>
          <a:xfrm>
            <a:off x="548640" y="1828800"/>
            <a:ext cx="68580" cy="2286000"/>
          </a:xfrm>
          <a:prstGeom prst="rect">
            <a:avLst/>
          </a:prstGeom>
          <a:solidFill>
            <a:srgbClr val="18707F"/>
          </a:solidFill>
          <a:ln/>
        </p:spPr>
      </p:sp>
      <p:sp>
        <p:nvSpPr>
          <p:cNvPr id="9" name="Text 7"/>
          <p:cNvSpPr/>
          <p:nvPr/>
        </p:nvSpPr>
        <p:spPr>
          <a:xfrm>
            <a:off x="804672" y="197510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Veillonella — dropped by L1, but real</a:t>
            </a:r>
            <a:endParaRPr lang="en-US" sz="1500" dirty="0"/>
          </a:p>
        </p:txBody>
      </p:sp>
      <p:sp>
        <p:nvSpPr>
          <p:cNvPr id="10" name="Text 8"/>
          <p:cNvSpPr/>
          <p:nvPr/>
        </p:nvSpPr>
        <p:spPr>
          <a:xfrm>
            <a:off x="804672" y="2359152"/>
            <a:ext cx="4937760" cy="162763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Ranks 2nd in permutation importance and is positive in 100% of 25 folds. FDR = 2.3e-05.</a:t>
            </a:r>
            <a:endParaRPr lang="en-US" sz="1150" dirty="0"/>
          </a:p>
          <a:p>
            <a:pPr indent="0" marL="0">
              <a:lnSpc>
                <a:spcPct val="112000"/>
              </a:lnSpc>
              <a:buNone/>
            </a:pPr>
            <a:endParaRPr lang="en-US" sz="1150" dirty="0"/>
          </a:p>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Yet its L1 selection frequency is only 0.105.</a:t>
            </a:r>
            <a:endParaRPr lang="en-US" sz="1150" dirty="0"/>
          </a:p>
          <a:p>
            <a:pPr indent="0" marL="0">
              <a:lnSpc>
                <a:spcPct val="112000"/>
              </a:lnSpc>
              <a:buNone/>
            </a:pPr>
            <a:endParaRPr lang="en-US" sz="1150" dirty="0"/>
          </a:p>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Textbook collinearity: L1 keeps one member of a correlated group and discards the rest. Excluding Veillonella because L1 ignored it would be a mistake.</a:t>
            </a:r>
            <a:endParaRPr lang="en-US" sz="1150" dirty="0"/>
          </a:p>
        </p:txBody>
      </p:sp>
      <p:sp>
        <p:nvSpPr>
          <p:cNvPr id="11" name="Shape 9"/>
          <p:cNvSpPr/>
          <p:nvPr/>
        </p:nvSpPr>
        <p:spPr>
          <a:xfrm>
            <a:off x="6217920" y="1828800"/>
            <a:ext cx="5394960" cy="2286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2" name="Shape 10"/>
          <p:cNvSpPr/>
          <p:nvPr/>
        </p:nvSpPr>
        <p:spPr>
          <a:xfrm>
            <a:off x="6217920" y="1828800"/>
            <a:ext cx="68580" cy="2286000"/>
          </a:xfrm>
          <a:prstGeom prst="rect">
            <a:avLst/>
          </a:prstGeom>
          <a:solidFill>
            <a:srgbClr val="8FB996"/>
          </a:solidFill>
          <a:ln/>
        </p:spPr>
      </p:sp>
      <p:sp>
        <p:nvSpPr>
          <p:cNvPr id="13" name="Text 11"/>
          <p:cNvSpPr/>
          <p:nvPr/>
        </p:nvSpPr>
        <p:spPr>
          <a:xfrm>
            <a:off x="6473952" y="197510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Moraxella, Fusibacter, Cetobacterium</a:t>
            </a:r>
            <a:endParaRPr lang="en-US" sz="1500" dirty="0"/>
          </a:p>
        </p:txBody>
      </p:sp>
      <p:sp>
        <p:nvSpPr>
          <p:cNvPr id="14" name="Text 12"/>
          <p:cNvSpPr/>
          <p:nvPr/>
        </p:nvSpPr>
        <p:spPr>
          <a:xfrm>
            <a:off x="6473952" y="2359152"/>
            <a:ext cx="4937760" cy="162763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Permutation importance 0.008–0.009, positive in 88% of folds.</a:t>
            </a:r>
            <a:endParaRPr lang="en-US" sz="1150" dirty="0"/>
          </a:p>
          <a:p>
            <a:pPr indent="0" marL="0">
              <a:lnSpc>
                <a:spcPct val="112000"/>
              </a:lnSpc>
              <a:buNone/>
            </a:pPr>
            <a:endParaRPr lang="en-US" sz="1150" dirty="0"/>
          </a:p>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Univariate FDR: 0.87, 0.90, 0.97 — entirely non-significant.</a:t>
            </a:r>
            <a:endParaRPr lang="en-US" sz="1150" dirty="0"/>
          </a:p>
          <a:p>
            <a:pPr indent="0" marL="0">
              <a:lnSpc>
                <a:spcPct val="112000"/>
              </a:lnSpc>
              <a:buNone/>
            </a:pPr>
            <a:endParaRPr lang="en-US" sz="1150" dirty="0"/>
          </a:p>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They contribute only through interactions with other taxa. No univariate test could ever find them; this is precisely what the RBF kernel is exploiting.</a:t>
            </a:r>
            <a:endParaRPr lang="en-US" sz="1150" dirty="0"/>
          </a:p>
        </p:txBody>
      </p:sp>
      <p:sp>
        <p:nvSpPr>
          <p:cNvPr id="15" name="Shape 13"/>
          <p:cNvSpPr/>
          <p:nvPr/>
        </p:nvSpPr>
        <p:spPr>
          <a:xfrm>
            <a:off x="548640" y="4343400"/>
            <a:ext cx="1106424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6" name="Shape 14"/>
          <p:cNvSpPr/>
          <p:nvPr/>
        </p:nvSpPr>
        <p:spPr>
          <a:xfrm>
            <a:off x="548640" y="4343400"/>
            <a:ext cx="68580" cy="1371600"/>
          </a:xfrm>
          <a:prstGeom prst="rect">
            <a:avLst/>
          </a:prstGeom>
          <a:solidFill>
            <a:srgbClr val="12505F"/>
          </a:solidFill>
          <a:ln/>
        </p:spPr>
      </p:sp>
      <p:sp>
        <p:nvSpPr>
          <p:cNvPr id="17" name="Text 15"/>
          <p:cNvSpPr/>
          <p:nvPr/>
        </p:nvSpPr>
        <p:spPr>
          <a:xfrm>
            <a:off x="804672" y="44897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Practical consequence for the manuscript</a:t>
            </a:r>
            <a:endParaRPr lang="en-US" sz="1500" dirty="0"/>
          </a:p>
        </p:txBody>
      </p:sp>
      <p:sp>
        <p:nvSpPr>
          <p:cNvPr id="18" name="Text 16"/>
          <p:cNvSpPr/>
          <p:nvPr/>
        </p:nvSpPr>
        <p:spPr>
          <a:xfrm>
            <a:off x="804672" y="4873752"/>
            <a:ext cx="10607040" cy="7132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A biomarker panel derived from any single method would be wrong in a specific, predictable way. Univariate testing misses interaction-driven taxa; L1 misses collinear ones; permutation importance alone gives no direction of effect. Reporting the intersection — plus the named exceptions — is more defensible than any one ranking, and takes only one extra analysis to produce.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FINDINGS · NONLINEARITY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Evidence for Genuine Nonlinear Structure</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1463040"/>
            <a:ext cx="5394960" cy="19202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463040"/>
            <a:ext cx="68580" cy="1920240"/>
          </a:xfrm>
          <a:prstGeom prst="rect">
            <a:avLst/>
          </a:prstGeom>
          <a:solidFill>
            <a:srgbClr val="18707F"/>
          </a:solidFill>
          <a:ln/>
        </p:spPr>
      </p:sp>
      <p:sp>
        <p:nvSpPr>
          <p:cNvPr id="8" name="Text 6"/>
          <p:cNvSpPr/>
          <p:nvPr/>
        </p:nvSpPr>
        <p:spPr>
          <a:xfrm>
            <a:off x="804672" y="160934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Line of evidence 1 — the kernel gap</a:t>
            </a:r>
            <a:endParaRPr lang="en-US" sz="1500" dirty="0"/>
          </a:p>
        </p:txBody>
      </p:sp>
      <p:sp>
        <p:nvSpPr>
          <p:cNvPr id="9" name="Text 7"/>
          <p:cNvSpPr/>
          <p:nvPr/>
        </p:nvSpPr>
        <p:spPr>
          <a:xfrm>
            <a:off x="804672" y="1993392"/>
            <a:ext cx="4937760" cy="12618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SVM-RBF     AUC 0.839</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SVM-linear  AUC 0.766</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A 0.073 gap between two models that differ only in the kernel. The nonlinearity, not the margin formulation, is what earns the performance.</a:t>
            </a:r>
            <a:endParaRPr lang="en-US" sz="1200" dirty="0"/>
          </a:p>
        </p:txBody>
      </p:sp>
      <p:sp>
        <p:nvSpPr>
          <p:cNvPr id="10" name="Shape 8"/>
          <p:cNvSpPr/>
          <p:nvPr/>
        </p:nvSpPr>
        <p:spPr>
          <a:xfrm>
            <a:off x="6217920" y="1463040"/>
            <a:ext cx="5394960" cy="19202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9"/>
          <p:cNvSpPr/>
          <p:nvPr/>
        </p:nvSpPr>
        <p:spPr>
          <a:xfrm>
            <a:off x="6217920" y="1463040"/>
            <a:ext cx="68580" cy="1920240"/>
          </a:xfrm>
          <a:prstGeom prst="rect">
            <a:avLst/>
          </a:prstGeom>
          <a:solidFill>
            <a:srgbClr val="18707F"/>
          </a:solidFill>
          <a:ln/>
        </p:spPr>
      </p:sp>
      <p:sp>
        <p:nvSpPr>
          <p:cNvPr id="12" name="Text 10"/>
          <p:cNvSpPr/>
          <p:nvPr/>
        </p:nvSpPr>
        <p:spPr>
          <a:xfrm>
            <a:off x="6473952" y="1609344"/>
            <a:ext cx="493776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Line of evidence 2 — invisible taxa</a:t>
            </a:r>
            <a:endParaRPr lang="en-US" sz="1500" dirty="0"/>
          </a:p>
        </p:txBody>
      </p:sp>
      <p:sp>
        <p:nvSpPr>
          <p:cNvPr id="13" name="Text 11"/>
          <p:cNvSpPr/>
          <p:nvPr/>
        </p:nvSpPr>
        <p:spPr>
          <a:xfrm>
            <a:off x="6473952" y="1993392"/>
            <a:ext cx="4937760" cy="12618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Several features carry substantial permutation importance while being entirely non-significant univariately (FDR 0.87–0.97).</a:t>
            </a:r>
            <a:endParaRPr lang="en-US" sz="1200" dirty="0"/>
          </a:p>
          <a:p>
            <a:pPr indent="0" marL="0">
              <a:lnSpc>
                <a:spcPct val="112000"/>
              </a:lnSpc>
              <a:buNone/>
            </a:pP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Their effect exists only in combination with other taxa.</a:t>
            </a:r>
            <a:endParaRPr lang="en-US" sz="1200" dirty="0"/>
          </a:p>
        </p:txBody>
      </p:sp>
      <p:sp>
        <p:nvSpPr>
          <p:cNvPr id="14" name="Shape 12"/>
          <p:cNvSpPr/>
          <p:nvPr/>
        </p:nvSpPr>
        <p:spPr>
          <a:xfrm>
            <a:off x="548640" y="3611880"/>
            <a:ext cx="1106424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5" name="Shape 13"/>
          <p:cNvSpPr/>
          <p:nvPr/>
        </p:nvSpPr>
        <p:spPr>
          <a:xfrm>
            <a:off x="548640" y="3611880"/>
            <a:ext cx="68580" cy="1143000"/>
          </a:xfrm>
          <a:prstGeom prst="rect">
            <a:avLst/>
          </a:prstGeom>
          <a:solidFill>
            <a:srgbClr val="8FB996"/>
          </a:solidFill>
          <a:ln/>
        </p:spPr>
      </p:sp>
      <p:sp>
        <p:nvSpPr>
          <p:cNvPr id="16" name="Text 14"/>
          <p:cNvSpPr/>
          <p:nvPr/>
        </p:nvSpPr>
        <p:spPr>
          <a:xfrm>
            <a:off x="804672" y="375818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Biological reading</a:t>
            </a:r>
            <a:endParaRPr lang="en-US" sz="1500" dirty="0"/>
          </a:p>
        </p:txBody>
      </p:sp>
      <p:sp>
        <p:nvSpPr>
          <p:cNvPr id="17" name="Text 15"/>
          <p:cNvSpPr/>
          <p:nvPr/>
        </p:nvSpPr>
        <p:spPr>
          <a:xfrm>
            <a:off x="804672" y="4142232"/>
            <a:ext cx="10607040" cy="4846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This is consistent with what is known about gut communities: taxa act through consortia and metabolic cross-feeding rather than in isolation. A single genus rarely determines an immune phenotype on its own.</a:t>
            </a:r>
            <a:endParaRPr lang="en-US" sz="1200" dirty="0"/>
          </a:p>
        </p:txBody>
      </p:sp>
      <p:sp>
        <p:nvSpPr>
          <p:cNvPr id="18" name="Shape 16"/>
          <p:cNvSpPr/>
          <p:nvPr/>
        </p:nvSpPr>
        <p:spPr>
          <a:xfrm>
            <a:off x="548640" y="4983480"/>
            <a:ext cx="11064240" cy="1051560"/>
          </a:xfrm>
          <a:prstGeom prst="rect">
            <a:avLst/>
          </a:prstGeom>
          <a:solidFill>
            <a:srgbClr val="0B3C49"/>
          </a:solidFill>
          <a:ln/>
        </p:spPr>
      </p:sp>
      <p:sp>
        <p:nvSpPr>
          <p:cNvPr id="19" name="Text 17"/>
          <p:cNvSpPr/>
          <p:nvPr/>
        </p:nvSpPr>
        <p:spPr>
          <a:xfrm>
            <a:off x="868680" y="5138928"/>
            <a:ext cx="1051560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 correction on the record</a:t>
            </a:r>
            <a:endParaRPr lang="en-US" sz="1400" dirty="0"/>
          </a:p>
        </p:txBody>
      </p:sp>
      <p:sp>
        <p:nvSpPr>
          <p:cNvPr id="20" name="Text 18"/>
          <p:cNvSpPr/>
          <p:nvPr/>
        </p:nvSpPr>
        <p:spPr>
          <a:xfrm>
            <a:off x="868680" y="5413248"/>
            <a:ext cx="10515600" cy="502920"/>
          </a:xfrm>
          <a:prstGeom prst="rect">
            <a:avLst/>
          </a:prstGeom>
          <a:noFill/>
          <a:ln/>
        </p:spPr>
        <p:txBody>
          <a:bodyPr wrap="square" lIns="0" tIns="0" rIns="0" bIns="0" rtlCol="0" anchor="ctr"/>
          <a:lstStyle/>
          <a:p>
            <a:pPr indent="0" marL="0">
              <a:buNone/>
            </a:pPr>
            <a:r>
              <a:rPr lang="en-US" sz="1150" dirty="0">
                <a:solidFill>
                  <a:srgbClr val="8FB996"/>
                </a:solidFill>
                <a:latin typeface="Calibri" pitchFamily="34" charset="0"/>
                <a:ea typeface="Calibri" pitchFamily="34" charset="-122"/>
                <a:cs typeface="Calibri" pitchFamily="34" charset="-120"/>
              </a:rPr>
              <a:t>An earlier round of this analysis concluded that nonlinearity was weak, based on linear and tree models performing comparably. Adding the RBF kernel overturned that. The conclusion changed because the model class was incomplete, not because the data changed.</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LIMITATIONS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Seven Known Limitations</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371600"/>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371600"/>
            <a:ext cx="68580" cy="1078992"/>
          </a:xfrm>
          <a:prstGeom prst="rect">
            <a:avLst/>
          </a:prstGeom>
          <a:solidFill>
            <a:srgbClr val="D2603A"/>
          </a:solidFill>
          <a:ln/>
        </p:spPr>
      </p:sp>
      <p:sp>
        <p:nvSpPr>
          <p:cNvPr id="8" name="Text 6"/>
          <p:cNvSpPr/>
          <p:nvPr/>
        </p:nvSpPr>
        <p:spPr>
          <a:xfrm>
            <a:off x="804672" y="1517904"/>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1.  Cross-study generalization fails</a:t>
            </a:r>
            <a:endParaRPr lang="en-US" sz="1250" dirty="0"/>
          </a:p>
        </p:txBody>
      </p:sp>
      <p:sp>
        <p:nvSpPr>
          <p:cNvPr id="9" name="Text 7"/>
          <p:cNvSpPr/>
          <p:nvPr/>
        </p:nvSpPr>
        <p:spPr>
          <a:xfrm>
            <a:off x="804672" y="1901952"/>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GroupKFold by BioProject: AUC 0.54 ± 0.29. Four studies differ in host, tissue, geography.</a:t>
            </a:r>
            <a:endParaRPr lang="en-US" sz="1050" dirty="0"/>
          </a:p>
        </p:txBody>
      </p:sp>
      <p:sp>
        <p:nvSpPr>
          <p:cNvPr id="10" name="Shape 8"/>
          <p:cNvSpPr/>
          <p:nvPr/>
        </p:nvSpPr>
        <p:spPr>
          <a:xfrm>
            <a:off x="6263640" y="1371600"/>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1" name="Shape 9"/>
          <p:cNvSpPr/>
          <p:nvPr/>
        </p:nvSpPr>
        <p:spPr>
          <a:xfrm>
            <a:off x="6263640" y="1371600"/>
            <a:ext cx="68580" cy="1078992"/>
          </a:xfrm>
          <a:prstGeom prst="rect">
            <a:avLst/>
          </a:prstGeom>
          <a:solidFill>
            <a:srgbClr val="D2603A"/>
          </a:solidFill>
          <a:ln/>
        </p:spPr>
      </p:sp>
      <p:sp>
        <p:nvSpPr>
          <p:cNvPr id="12" name="Text 10"/>
          <p:cNvSpPr/>
          <p:nvPr/>
        </p:nvSpPr>
        <p:spPr>
          <a:xfrm>
            <a:off x="6519672" y="1517904"/>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2.  Upstream filtering rule unknown</a:t>
            </a:r>
            <a:endParaRPr lang="en-US" sz="1250" dirty="0"/>
          </a:p>
        </p:txBody>
      </p:sp>
      <p:sp>
        <p:nvSpPr>
          <p:cNvPr id="13" name="Text 11"/>
          <p:cNvSpPr/>
          <p:nvPr/>
        </p:nvSpPr>
        <p:spPr>
          <a:xfrm>
            <a:off x="6519672" y="1901952"/>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275 features is far too few for avian 16S. If filtering used labels, every number here is inflated.</a:t>
            </a:r>
            <a:endParaRPr lang="en-US" sz="1050" dirty="0"/>
          </a:p>
        </p:txBody>
      </p:sp>
      <p:sp>
        <p:nvSpPr>
          <p:cNvPr id="14" name="Shape 12"/>
          <p:cNvSpPr/>
          <p:nvPr/>
        </p:nvSpPr>
        <p:spPr>
          <a:xfrm>
            <a:off x="548640" y="2587752"/>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5" name="Shape 13"/>
          <p:cNvSpPr/>
          <p:nvPr/>
        </p:nvSpPr>
        <p:spPr>
          <a:xfrm>
            <a:off x="548640" y="2587752"/>
            <a:ext cx="68580" cy="1078992"/>
          </a:xfrm>
          <a:prstGeom prst="rect">
            <a:avLst/>
          </a:prstGeom>
          <a:solidFill>
            <a:srgbClr val="D2603A"/>
          </a:solidFill>
          <a:ln/>
        </p:spPr>
      </p:sp>
      <p:sp>
        <p:nvSpPr>
          <p:cNvPr id="16" name="Text 14"/>
          <p:cNvSpPr/>
          <p:nvPr/>
        </p:nvSpPr>
        <p:spPr>
          <a:xfrm>
            <a:off x="804672" y="2734056"/>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3.  Rarefaction is not rigorous</a:t>
            </a:r>
            <a:endParaRPr lang="en-US" sz="1250" dirty="0"/>
          </a:p>
        </p:txBody>
      </p:sp>
      <p:sp>
        <p:nvSpPr>
          <p:cNvPr id="17" name="Text 15"/>
          <p:cNvSpPr/>
          <p:nvPr/>
        </p:nvSpPr>
        <p:spPr>
          <a:xfrm>
            <a:off x="804672" y="3118104"/>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208 samples at exactly 5000, 118 below. CLR sidesteps it; depth-dependent metrics would not.</a:t>
            </a:r>
            <a:endParaRPr lang="en-US" sz="1050" dirty="0"/>
          </a:p>
        </p:txBody>
      </p:sp>
      <p:sp>
        <p:nvSpPr>
          <p:cNvPr id="18" name="Shape 16"/>
          <p:cNvSpPr/>
          <p:nvPr/>
        </p:nvSpPr>
        <p:spPr>
          <a:xfrm>
            <a:off x="6263640" y="2587752"/>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9" name="Shape 17"/>
          <p:cNvSpPr/>
          <p:nvPr/>
        </p:nvSpPr>
        <p:spPr>
          <a:xfrm>
            <a:off x="6263640" y="2587752"/>
            <a:ext cx="68580" cy="1078992"/>
          </a:xfrm>
          <a:prstGeom prst="rect">
            <a:avLst/>
          </a:prstGeom>
          <a:solidFill>
            <a:srgbClr val="D2603A"/>
          </a:solidFill>
          <a:ln/>
        </p:spPr>
      </p:sp>
      <p:sp>
        <p:nvSpPr>
          <p:cNvPr id="20" name="Text 18"/>
          <p:cNvSpPr/>
          <p:nvPr/>
        </p:nvSpPr>
        <p:spPr>
          <a:xfrm>
            <a:off x="6519672" y="2734056"/>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4.  Threshold not optimized</a:t>
            </a:r>
            <a:endParaRPr lang="en-US" sz="1250" dirty="0"/>
          </a:p>
        </p:txBody>
      </p:sp>
      <p:sp>
        <p:nvSpPr>
          <p:cNvPr id="21" name="Text 19"/>
          <p:cNvSpPr/>
          <p:nvPr/>
        </p:nvSpPr>
        <p:spPr>
          <a:xfrm>
            <a:off x="6519672" y="3118104"/>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All accuracies use a fixed 0.5. Tuning it would require nesting the choice inside CV.</a:t>
            </a:r>
            <a:endParaRPr lang="en-US" sz="1050" dirty="0"/>
          </a:p>
        </p:txBody>
      </p:sp>
      <p:sp>
        <p:nvSpPr>
          <p:cNvPr id="22" name="Shape 20"/>
          <p:cNvSpPr/>
          <p:nvPr/>
        </p:nvSpPr>
        <p:spPr>
          <a:xfrm>
            <a:off x="548640" y="3803904"/>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23" name="Shape 21"/>
          <p:cNvSpPr/>
          <p:nvPr/>
        </p:nvSpPr>
        <p:spPr>
          <a:xfrm>
            <a:off x="548640" y="3803904"/>
            <a:ext cx="68580" cy="1078992"/>
          </a:xfrm>
          <a:prstGeom prst="rect">
            <a:avLst/>
          </a:prstGeom>
          <a:solidFill>
            <a:srgbClr val="D2603A"/>
          </a:solidFill>
          <a:ln/>
        </p:spPr>
      </p:sp>
      <p:sp>
        <p:nvSpPr>
          <p:cNvPr id="24" name="Text 22"/>
          <p:cNvSpPr/>
          <p:nvPr/>
        </p:nvSpPr>
        <p:spPr>
          <a:xfrm>
            <a:off x="804672" y="3950208"/>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5.  Taxonomic resolution is capped</a:t>
            </a:r>
            <a:endParaRPr lang="en-US" sz="1250" dirty="0"/>
          </a:p>
        </p:txBody>
      </p:sp>
      <p:sp>
        <p:nvSpPr>
          <p:cNvPr id="25" name="Text 23"/>
          <p:cNvSpPr/>
          <p:nvPr/>
        </p:nvSpPr>
        <p:spPr>
          <a:xfrm>
            <a:off x="804672" y="4334256"/>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Species level entirely empty; 55 features lack a genus. Interpretation stops at genus/family.</a:t>
            </a:r>
            <a:endParaRPr lang="en-US" sz="1050" dirty="0"/>
          </a:p>
        </p:txBody>
      </p:sp>
      <p:sp>
        <p:nvSpPr>
          <p:cNvPr id="26" name="Shape 24"/>
          <p:cNvSpPr/>
          <p:nvPr/>
        </p:nvSpPr>
        <p:spPr>
          <a:xfrm>
            <a:off x="6263640" y="3803904"/>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27" name="Shape 25"/>
          <p:cNvSpPr/>
          <p:nvPr/>
        </p:nvSpPr>
        <p:spPr>
          <a:xfrm>
            <a:off x="6263640" y="3803904"/>
            <a:ext cx="68580" cy="1078992"/>
          </a:xfrm>
          <a:prstGeom prst="rect">
            <a:avLst/>
          </a:prstGeom>
          <a:solidFill>
            <a:srgbClr val="D2603A"/>
          </a:solidFill>
          <a:ln/>
        </p:spPr>
      </p:sp>
      <p:sp>
        <p:nvSpPr>
          <p:cNvPr id="28" name="Text 26"/>
          <p:cNvSpPr/>
          <p:nvPr/>
        </p:nvSpPr>
        <p:spPr>
          <a:xfrm>
            <a:off x="6519672" y="3950208"/>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6.  Confounder baseline is high</a:t>
            </a:r>
            <a:endParaRPr lang="en-US" sz="1250" dirty="0"/>
          </a:p>
        </p:txBody>
      </p:sp>
      <p:sp>
        <p:nvSpPr>
          <p:cNvPr id="29" name="Text 27"/>
          <p:cNvSpPr/>
          <p:nvPr/>
        </p:nvSpPr>
        <p:spPr>
          <a:xfrm>
            <a:off x="6519672" y="4334256"/>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Covariates alone reach 0.881. Microbiome claims must always be framed relative to that.</a:t>
            </a:r>
            <a:endParaRPr lang="en-US" sz="1050" dirty="0"/>
          </a:p>
        </p:txBody>
      </p:sp>
      <p:sp>
        <p:nvSpPr>
          <p:cNvPr id="30" name="Shape 28"/>
          <p:cNvSpPr/>
          <p:nvPr/>
        </p:nvSpPr>
        <p:spPr>
          <a:xfrm>
            <a:off x="548640" y="5020056"/>
            <a:ext cx="5394960" cy="1078992"/>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31" name="Shape 29"/>
          <p:cNvSpPr/>
          <p:nvPr/>
        </p:nvSpPr>
        <p:spPr>
          <a:xfrm>
            <a:off x="548640" y="5020056"/>
            <a:ext cx="68580" cy="1078992"/>
          </a:xfrm>
          <a:prstGeom prst="rect">
            <a:avLst/>
          </a:prstGeom>
          <a:solidFill>
            <a:srgbClr val="D2603A"/>
          </a:solidFill>
          <a:ln/>
        </p:spPr>
      </p:sp>
      <p:sp>
        <p:nvSpPr>
          <p:cNvPr id="32" name="Text 30"/>
          <p:cNvSpPr/>
          <p:nvPr/>
        </p:nvSpPr>
        <p:spPr>
          <a:xfrm>
            <a:off x="804672" y="5166360"/>
            <a:ext cx="4937760" cy="329184"/>
          </a:xfrm>
          <a:prstGeom prst="rect">
            <a:avLst/>
          </a:prstGeom>
          <a:noFill/>
          <a:ln/>
        </p:spPr>
        <p:txBody>
          <a:bodyPr wrap="square" lIns="0" tIns="0" rIns="0" bIns="0" rtlCol="0" anchor="t"/>
          <a:lstStyle/>
          <a:p>
            <a:pPr indent="0" marL="0">
              <a:buNone/>
            </a:pPr>
            <a:r>
              <a:rPr lang="en-US" sz="1250" b="1" dirty="0">
                <a:solidFill>
                  <a:srgbClr val="16252C"/>
                </a:solidFill>
                <a:latin typeface="Georgia" pitchFamily="34" charset="0"/>
                <a:ea typeface="Georgia" pitchFamily="34" charset="-122"/>
                <a:cs typeface="Georgia" pitchFamily="34" charset="-120"/>
              </a:rPr>
              <a:t>7.  Multiple comparison inflates the winner</a:t>
            </a:r>
            <a:endParaRPr lang="en-US" sz="1250" dirty="0"/>
          </a:p>
        </p:txBody>
      </p:sp>
      <p:sp>
        <p:nvSpPr>
          <p:cNvPr id="33" name="Text 31"/>
          <p:cNvSpPr/>
          <p:nvPr/>
        </p:nvSpPr>
        <p:spPr>
          <a:xfrm>
            <a:off x="804672" y="5550408"/>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17 models compared; the reported best is a best-of-17. Bonferroni over 17 tests would demand p &lt; 0.003.</a:t>
            </a:r>
            <a:endParaRPr lang="en-US" sz="1050" dirty="0"/>
          </a:p>
        </p:txBody>
      </p:sp>
      <p:sp>
        <p:nvSpPr>
          <p:cNvPr id="34" name="Text 32"/>
          <p:cNvSpPr/>
          <p:nvPr/>
        </p:nvSpPr>
        <p:spPr>
          <a:xfrm>
            <a:off x="6263640" y="5029200"/>
            <a:ext cx="5303520" cy="914400"/>
          </a:xfrm>
          <a:prstGeom prst="rect">
            <a:avLst/>
          </a:prstGeom>
          <a:noFill/>
          <a:ln/>
        </p:spPr>
        <p:txBody>
          <a:bodyPr wrap="square" lIns="0" tIns="0" rIns="0" bIns="0" rtlCol="0" anchor="t"/>
          <a:lstStyle/>
          <a:p>
            <a:pPr indent="0" marL="0">
              <a:buNone/>
            </a:pPr>
            <a:r>
              <a:rPr lang="en-US" sz="1100" i="1" dirty="0">
                <a:solidFill>
                  <a:srgbClr val="5F7580"/>
                </a:solidFill>
                <a:latin typeface="Calibri" pitchFamily="34" charset="0"/>
                <a:ea typeface="Calibri" pitchFamily="34" charset="-122"/>
                <a:cs typeface="Calibri" pitchFamily="34" charset="-120"/>
              </a:rPr>
              <a:t>Stated in the README as written here — not softened for presentation.</a:t>
            </a:r>
            <a:endParaRPr lang="en-US" sz="1100" dirty="0"/>
          </a:p>
          <a:p>
            <a:pPr indent="0" marL="0">
              <a:buNone/>
            </a:pPr>
            <a:r>
              <a:rPr lang="en-US" sz="1100" i="1" dirty="0">
                <a:solidFill>
                  <a:srgbClr val="5F7580"/>
                </a:solidFill>
                <a:latin typeface="Calibri" pitchFamily="34" charset="0"/>
                <a:ea typeface="Calibri" pitchFamily="34" charset="-122"/>
                <a:cs typeface="Calibri" pitchFamily="34" charset="-120"/>
              </a:rPr>
              <a:t>Item 7 is why ExtraTrees, despite the highest AUC, is not the primary model.</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SUMMARY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Conclusions</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48640" y="1289304"/>
            <a:ext cx="457200" cy="457200"/>
          </a:xfrm>
          <a:prstGeom prst="ellipse">
            <a:avLst/>
          </a:prstGeom>
          <a:solidFill>
            <a:srgbClr val="18707F"/>
          </a:solidFill>
          <a:ln/>
        </p:spPr>
      </p:sp>
      <p:sp>
        <p:nvSpPr>
          <p:cNvPr id="7" name="Text 5"/>
          <p:cNvSpPr/>
          <p:nvPr/>
        </p:nvSpPr>
        <p:spPr>
          <a:xfrm>
            <a:off x="548640" y="1362456"/>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188720" y="1252728"/>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Duck gut microbiota carry a real, reproducible signal for influenza infection status (permutation p = 0.0099).</a:t>
            </a:r>
            <a:endParaRPr lang="en-US" sz="1250" dirty="0"/>
          </a:p>
        </p:txBody>
      </p:sp>
      <p:sp>
        <p:nvSpPr>
          <p:cNvPr id="9" name="Shape 7"/>
          <p:cNvSpPr/>
          <p:nvPr/>
        </p:nvSpPr>
        <p:spPr>
          <a:xfrm>
            <a:off x="548640" y="2011680"/>
            <a:ext cx="457200" cy="457200"/>
          </a:xfrm>
          <a:prstGeom prst="ellipse">
            <a:avLst/>
          </a:prstGeom>
          <a:solidFill>
            <a:srgbClr val="18707F"/>
          </a:solidFill>
          <a:ln/>
        </p:spPr>
      </p:sp>
      <p:sp>
        <p:nvSpPr>
          <p:cNvPr id="10" name="Text 8"/>
          <p:cNvSpPr/>
          <p:nvPr/>
        </p:nvSpPr>
        <p:spPr>
          <a:xfrm>
            <a:off x="548640" y="2084832"/>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1" name="Text 9"/>
          <p:cNvSpPr/>
          <p:nvPr/>
        </p:nvSpPr>
        <p:spPr>
          <a:xfrm>
            <a:off x="1188720" y="1975104"/>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SVM-RBF is the primary model — AUC 0.839, MCC 0.531 — significantly beating Random Forest (p = 0.021), XGBoost (p = 0.0016) and L1-LR (p &lt; 0.001) among 17 models compared.</a:t>
            </a:r>
            <a:endParaRPr lang="en-US" sz="1250" dirty="0"/>
          </a:p>
        </p:txBody>
      </p:sp>
      <p:sp>
        <p:nvSpPr>
          <p:cNvPr id="12" name="Shape 10"/>
          <p:cNvSpPr/>
          <p:nvPr/>
        </p:nvSpPr>
        <p:spPr>
          <a:xfrm>
            <a:off x="548640" y="2734056"/>
            <a:ext cx="457200" cy="457200"/>
          </a:xfrm>
          <a:prstGeom prst="ellipse">
            <a:avLst/>
          </a:prstGeom>
          <a:solidFill>
            <a:srgbClr val="18707F"/>
          </a:solidFill>
          <a:ln/>
        </p:spPr>
      </p:sp>
      <p:sp>
        <p:nvSpPr>
          <p:cNvPr id="13" name="Text 11"/>
          <p:cNvSpPr/>
          <p:nvPr/>
        </p:nvSpPr>
        <p:spPr>
          <a:xfrm>
            <a:off x="548640" y="2807208"/>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1188720" y="2697480"/>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The signal is partly nonlinear: the RBF kernel gains 0.073 AUC over a linear one, and several taxa act only in combination.</a:t>
            </a:r>
            <a:endParaRPr lang="en-US" sz="1250" dirty="0"/>
          </a:p>
        </p:txBody>
      </p:sp>
      <p:sp>
        <p:nvSpPr>
          <p:cNvPr id="15" name="Shape 13"/>
          <p:cNvSpPr/>
          <p:nvPr/>
        </p:nvSpPr>
        <p:spPr>
          <a:xfrm>
            <a:off x="548640" y="3456432"/>
            <a:ext cx="457200" cy="457200"/>
          </a:xfrm>
          <a:prstGeom prst="ellipse">
            <a:avLst/>
          </a:prstGeom>
          <a:solidFill>
            <a:srgbClr val="18707F"/>
          </a:solidFill>
          <a:ln/>
        </p:spPr>
      </p:sp>
      <p:sp>
        <p:nvSpPr>
          <p:cNvPr id="16" name="Text 14"/>
          <p:cNvSpPr/>
          <p:nvPr/>
        </p:nvSpPr>
        <p:spPr>
          <a:xfrm>
            <a:off x="548640" y="3529584"/>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7" name="Text 15"/>
          <p:cNvSpPr/>
          <p:nvPr/>
        </p:nvSpPr>
        <p:spPr>
          <a:xfrm>
            <a:off x="1188720" y="3419856"/>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Nine taxa survive three independent selection methods; Candidatus Arthromitus (SFB) has independent immunological support.</a:t>
            </a:r>
            <a:endParaRPr lang="en-US" sz="1250" dirty="0"/>
          </a:p>
        </p:txBody>
      </p:sp>
      <p:sp>
        <p:nvSpPr>
          <p:cNvPr id="18" name="Shape 16"/>
          <p:cNvSpPr/>
          <p:nvPr/>
        </p:nvSpPr>
        <p:spPr>
          <a:xfrm>
            <a:off x="548640" y="4178808"/>
            <a:ext cx="457200" cy="457200"/>
          </a:xfrm>
          <a:prstGeom prst="ellipse">
            <a:avLst/>
          </a:prstGeom>
          <a:solidFill>
            <a:srgbClr val="18707F"/>
          </a:solidFill>
          <a:ln/>
        </p:spPr>
      </p:sp>
      <p:sp>
        <p:nvSpPr>
          <p:cNvPr id="19" name="Text 17"/>
          <p:cNvSpPr/>
          <p:nvPr/>
        </p:nvSpPr>
        <p:spPr>
          <a:xfrm>
            <a:off x="548640" y="4251960"/>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0" name="Text 18"/>
          <p:cNvSpPr/>
          <p:nvPr/>
        </p:nvSpPr>
        <p:spPr>
          <a:xfrm>
            <a:off x="1188720" y="4142232"/>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Sampling season is a serious confounder (covariates alone: AUC 0.881), but stratified analysis shows it does not explain the signal away.</a:t>
            </a:r>
            <a:endParaRPr lang="en-US" sz="1250" dirty="0"/>
          </a:p>
        </p:txBody>
      </p:sp>
      <p:sp>
        <p:nvSpPr>
          <p:cNvPr id="21" name="Shape 19"/>
          <p:cNvSpPr/>
          <p:nvPr/>
        </p:nvSpPr>
        <p:spPr>
          <a:xfrm>
            <a:off x="548640" y="4901184"/>
            <a:ext cx="457200" cy="457200"/>
          </a:xfrm>
          <a:prstGeom prst="ellipse">
            <a:avLst/>
          </a:prstGeom>
          <a:solidFill>
            <a:srgbClr val="D2603A"/>
          </a:solidFill>
          <a:ln/>
        </p:spPr>
      </p:sp>
      <p:sp>
        <p:nvSpPr>
          <p:cNvPr id="22" name="Text 20"/>
          <p:cNvSpPr/>
          <p:nvPr/>
        </p:nvSpPr>
        <p:spPr>
          <a:xfrm>
            <a:off x="548640" y="4974336"/>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23" name="Text 21"/>
          <p:cNvSpPr/>
          <p:nvPr/>
        </p:nvSpPr>
        <p:spPr>
          <a:xfrm>
            <a:off x="1188720" y="4864608"/>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ExtraTrees scores higher (AUC 0.859) but is worse on the weakest stratum (0.715 vs 0.774); its lead comes only from strata that were already easy.</a:t>
            </a:r>
            <a:endParaRPr lang="en-US" sz="1250" dirty="0"/>
          </a:p>
        </p:txBody>
      </p:sp>
      <p:sp>
        <p:nvSpPr>
          <p:cNvPr id="24" name="Shape 22"/>
          <p:cNvSpPr/>
          <p:nvPr/>
        </p:nvSpPr>
        <p:spPr>
          <a:xfrm>
            <a:off x="548640" y="5623560"/>
            <a:ext cx="457200" cy="457200"/>
          </a:xfrm>
          <a:prstGeom prst="ellipse">
            <a:avLst/>
          </a:prstGeom>
          <a:solidFill>
            <a:srgbClr val="D2603A"/>
          </a:solidFill>
          <a:ln/>
        </p:spPr>
      </p:sp>
      <p:sp>
        <p:nvSpPr>
          <p:cNvPr id="25" name="Text 23"/>
          <p:cNvSpPr/>
          <p:nvPr/>
        </p:nvSpPr>
        <p:spPr>
          <a:xfrm>
            <a:off x="548640" y="5696712"/>
            <a:ext cx="4572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7</a:t>
            </a:r>
            <a:endParaRPr lang="en-US" sz="1400" dirty="0"/>
          </a:p>
        </p:txBody>
      </p:sp>
      <p:sp>
        <p:nvSpPr>
          <p:cNvPr id="26" name="Text 24"/>
          <p:cNvSpPr/>
          <p:nvPr/>
        </p:nvSpPr>
        <p:spPr>
          <a:xfrm>
            <a:off x="1188720" y="5586984"/>
            <a:ext cx="10424160" cy="566928"/>
          </a:xfrm>
          <a:prstGeom prst="rect">
            <a:avLst/>
          </a:prstGeom>
          <a:noFill/>
          <a:ln/>
        </p:spPr>
        <p:txBody>
          <a:bodyPr wrap="square" lIns="0" tIns="0" rIns="0" bIns="0" rtlCol="0" anchor="t"/>
          <a:lstStyle/>
          <a:p>
            <a:pPr indent="0" marL="0">
              <a:lnSpc>
                <a:spcPct val="108000"/>
              </a:lnSpc>
              <a:buNone/>
            </a:pPr>
            <a:r>
              <a:rPr lang="en-US" sz="1250" dirty="0">
                <a:solidFill>
                  <a:srgbClr val="16252C"/>
                </a:solidFill>
                <a:latin typeface="Calibri" pitchFamily="34" charset="0"/>
                <a:ea typeface="Calibri" pitchFamily="34" charset="-122"/>
                <a:cs typeface="Calibri" pitchFamily="34" charset="-120"/>
              </a:rPr>
              <a:t>Conclusions apply to the UC Davis wild-duck cohort only; they do not transfer across hosts or studies.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REPRODUCIBILITY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52C"/>
                </a:solidFill>
                <a:latin typeface="Georgia" pitchFamily="34" charset="0"/>
                <a:ea typeface="Georgia" pitchFamily="34" charset="-122"/>
                <a:cs typeface="Georgia" pitchFamily="34" charset="-120"/>
              </a:rPr>
              <a:t>Everything Is Reproducible</a:t>
            </a:r>
            <a:endParaRPr lang="en-US" sz="30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30</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291840"/>
                <a:gridCol w="7772400"/>
              </a:tblGrid>
              <a:tr h="42062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0624">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build_features.py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Feature matrix + QC report (depth, sparsity, leakage audit)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export_ml_dataset.py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Ready-to-model datasets with metadata and covariates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train_eval.py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Nested CV, permutation test, confounder checks, stratification, stability selection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compare_models.py + explore_models.py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17-model comparison across nine metrics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svm_analysis.py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l" indent="0" marL="0">
                        <a:buNone/>
                      </a:pPr>
                      <a:r>
                        <a:rPr lang="en-US" sz="1150" dirty="0">
                          <a:solidFill>
                            <a:srgbClr val="16252C"/>
                          </a:solidFill>
                          <a:latin typeface="Calibri" pitchFamily="34" charset="0"/>
                          <a:ea typeface="Calibri" pitchFamily="34" charset="-122"/>
                          <a:cs typeface="Calibri" pitchFamily="34" charset="-120"/>
                        </a:rPr>
                        <a:t>Grid expansion + permutation importance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297680"/>
            <a:ext cx="11064240" cy="960120"/>
          </a:xfrm>
          <a:prstGeom prst="rect">
            <a:avLst/>
          </a:prstGeom>
          <a:solidFill>
            <a:srgbClr val="0B3C49"/>
          </a:solidFill>
          <a:ln/>
        </p:spPr>
      </p:sp>
      <p:sp>
        <p:nvSpPr>
          <p:cNvPr id="8" name="Text 5"/>
          <p:cNvSpPr/>
          <p:nvPr/>
        </p:nvSpPr>
        <p:spPr>
          <a:xfrm>
            <a:off x="868680" y="4462272"/>
            <a:ext cx="10515600" cy="320040"/>
          </a:xfrm>
          <a:prstGeom prst="rect">
            <a:avLst/>
          </a:prstGeom>
          <a:noFill/>
          <a:ln/>
        </p:spPr>
        <p:txBody>
          <a:bodyPr wrap="square" lIns="0" tIns="0" rIns="0" bIns="0" rtlCol="0" anchor="ctr"/>
          <a:lstStyle/>
          <a:p>
            <a:pPr indent="0" marL="0">
              <a:buNone/>
            </a:pPr>
            <a:r>
              <a:rPr lang="en-US" sz="1300" dirty="0">
                <a:solidFill>
                  <a:srgbClr val="8FB996"/>
                </a:solidFill>
                <a:latin typeface="Consolas" pitchFamily="34" charset="0"/>
                <a:ea typeface="Consolas" pitchFamily="34" charset="-122"/>
                <a:cs typeface="Consolas" pitchFamily="34" charset="-120"/>
              </a:rPr>
              <a:t>git clone https://github.com/pengsihua2023/Christina-machine-learning-project</a:t>
            </a:r>
            <a:endParaRPr lang="en-US" sz="1300" dirty="0"/>
          </a:p>
        </p:txBody>
      </p:sp>
      <p:sp>
        <p:nvSpPr>
          <p:cNvPr id="9" name="Text 6"/>
          <p:cNvSpPr/>
          <p:nvPr/>
        </p:nvSpPr>
        <p:spPr>
          <a:xfrm>
            <a:off x="868680" y="4809744"/>
            <a:ext cx="10515600" cy="320040"/>
          </a:xfrm>
          <a:prstGeom prst="rect">
            <a:avLst/>
          </a:prstGeom>
          <a:noFill/>
          <a:ln/>
        </p:spPr>
        <p:txBody>
          <a:bodyPr wrap="square" lIns="0" tIns="0" rIns="0" bIns="0" rtlCol="0" anchor="ctr"/>
          <a:lstStyle/>
          <a:p>
            <a:pPr indent="0" marL="0">
              <a:buNone/>
            </a:pPr>
            <a:r>
              <a:rPr lang="en-US" sz="1300" dirty="0">
                <a:solidFill>
                  <a:srgbClr val="8FB996"/>
                </a:solidFill>
                <a:latin typeface="Consolas" pitchFamily="34" charset="0"/>
                <a:ea typeface="Consolas" pitchFamily="34" charset="-122"/>
                <a:cs typeface="Consolas" pitchFamily="34" charset="-120"/>
              </a:rPr>
              <a:t>python3 build_features.py &amp;&amp; python3 train_eval.py &amp;&amp; python3 compare_models.py</a:t>
            </a:r>
            <a:endParaRPr lang="en-US" sz="1300" dirty="0"/>
          </a:p>
        </p:txBody>
      </p:sp>
      <p:sp>
        <p:nvSpPr>
          <p:cNvPr id="10" name="Shape 7"/>
          <p:cNvSpPr/>
          <p:nvPr/>
        </p:nvSpPr>
        <p:spPr>
          <a:xfrm>
            <a:off x="548640" y="5440680"/>
            <a:ext cx="11064240" cy="7315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8"/>
          <p:cNvSpPr/>
          <p:nvPr/>
        </p:nvSpPr>
        <p:spPr>
          <a:xfrm>
            <a:off x="548640" y="5440680"/>
            <a:ext cx="68580" cy="731520"/>
          </a:xfrm>
          <a:prstGeom prst="rect">
            <a:avLst/>
          </a:prstGeom>
          <a:solidFill>
            <a:srgbClr val="8FB996"/>
          </a:solidFill>
          <a:ln/>
        </p:spPr>
      </p:sp>
      <p:sp>
        <p:nvSpPr>
          <p:cNvPr id="12" name="Text 9"/>
          <p:cNvSpPr/>
          <p:nvPr/>
        </p:nvSpPr>
        <p:spPr>
          <a:xfrm>
            <a:off x="804672" y="5605272"/>
            <a:ext cx="10607040" cy="402336"/>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40 files under version control: all code, all input data, all result tables and figures, plus documentation in English (README.en.md) and Chinese (README.md).</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8FB996"/>
          </a:solidFill>
          <a:ln/>
        </p:spPr>
      </p:sp>
      <p:sp>
        <p:nvSpPr>
          <p:cNvPr id="3" name="Text 1"/>
          <p:cNvSpPr/>
          <p:nvPr/>
        </p:nvSpPr>
        <p:spPr>
          <a:xfrm>
            <a:off x="914400" y="1234440"/>
            <a:ext cx="1033272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Next Steps</a:t>
            </a:r>
            <a:endParaRPr lang="en-US" sz="4000" dirty="0"/>
          </a:p>
        </p:txBody>
      </p:sp>
      <p:sp>
        <p:nvSpPr>
          <p:cNvPr id="4" name="Shape 2"/>
          <p:cNvSpPr/>
          <p:nvPr/>
        </p:nvSpPr>
        <p:spPr>
          <a:xfrm>
            <a:off x="914400" y="2331720"/>
            <a:ext cx="10332720" cy="960120"/>
          </a:xfrm>
          <a:prstGeom prst="rect">
            <a:avLst/>
          </a:prstGeom>
          <a:solidFill>
            <a:srgbClr val="12505F"/>
          </a:solidFill>
          <a:ln/>
        </p:spPr>
      </p:sp>
      <p:sp>
        <p:nvSpPr>
          <p:cNvPr id="5" name="Shape 3"/>
          <p:cNvSpPr/>
          <p:nvPr/>
        </p:nvSpPr>
        <p:spPr>
          <a:xfrm>
            <a:off x="914400" y="2331720"/>
            <a:ext cx="68580" cy="960120"/>
          </a:xfrm>
          <a:prstGeom prst="rect">
            <a:avLst/>
          </a:prstGeom>
          <a:solidFill>
            <a:srgbClr val="8FB996"/>
          </a:solidFill>
          <a:ln/>
        </p:spPr>
      </p:sp>
      <p:sp>
        <p:nvSpPr>
          <p:cNvPr id="6" name="Text 4"/>
          <p:cNvSpPr/>
          <p:nvPr/>
        </p:nvSpPr>
        <p:spPr>
          <a:xfrm>
            <a:off x="1234440" y="2459736"/>
            <a:ext cx="969264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Confirm the upstream filtering rule</a:t>
            </a:r>
            <a:endParaRPr lang="en-US" sz="1600" dirty="0"/>
          </a:p>
        </p:txBody>
      </p:sp>
      <p:sp>
        <p:nvSpPr>
          <p:cNvPr id="7" name="Text 5"/>
          <p:cNvSpPr/>
          <p:nvPr/>
        </p:nvSpPr>
        <p:spPr>
          <a:xfrm>
            <a:off x="1234440" y="2807208"/>
            <a:ext cx="9692640" cy="365760"/>
          </a:xfrm>
          <a:prstGeom prst="rect">
            <a:avLst/>
          </a:prstGeom>
          <a:noFill/>
          <a:ln/>
        </p:spPr>
        <p:txBody>
          <a:bodyPr wrap="square" lIns="0" tIns="0" rIns="0" bIns="0" rtlCol="0" anchor="ctr"/>
          <a:lstStyle/>
          <a:p>
            <a:pPr indent="0" marL="0">
              <a:buNone/>
            </a:pPr>
            <a:r>
              <a:rPr lang="en-US" sz="1200" dirty="0">
                <a:solidFill>
                  <a:srgbClr val="8FB996"/>
                </a:solidFill>
                <a:latin typeface="Calibri" pitchFamily="34" charset="0"/>
                <a:ea typeface="Calibri" pitchFamily="34" charset="-122"/>
                <a:cs typeface="Calibri" pitchFamily="34" charset="-120"/>
              </a:rPr>
              <a:t>The single change that could invalidate the performance figures. Needs the data provider.</a:t>
            </a:r>
            <a:endParaRPr lang="en-US" sz="1200" dirty="0"/>
          </a:p>
        </p:txBody>
      </p:sp>
      <p:sp>
        <p:nvSpPr>
          <p:cNvPr id="8" name="Shape 6"/>
          <p:cNvSpPr/>
          <p:nvPr/>
        </p:nvSpPr>
        <p:spPr>
          <a:xfrm>
            <a:off x="914400" y="3474720"/>
            <a:ext cx="10332720" cy="960120"/>
          </a:xfrm>
          <a:prstGeom prst="rect">
            <a:avLst/>
          </a:prstGeom>
          <a:solidFill>
            <a:srgbClr val="12505F"/>
          </a:solidFill>
          <a:ln/>
        </p:spPr>
      </p:sp>
      <p:sp>
        <p:nvSpPr>
          <p:cNvPr id="9" name="Shape 7"/>
          <p:cNvSpPr/>
          <p:nvPr/>
        </p:nvSpPr>
        <p:spPr>
          <a:xfrm>
            <a:off x="914400" y="3474720"/>
            <a:ext cx="68580" cy="960120"/>
          </a:xfrm>
          <a:prstGeom prst="rect">
            <a:avLst/>
          </a:prstGeom>
          <a:solidFill>
            <a:srgbClr val="8FB996"/>
          </a:solidFill>
          <a:ln/>
        </p:spPr>
      </p:sp>
      <p:sp>
        <p:nvSpPr>
          <p:cNvPr id="10" name="Text 8"/>
          <p:cNvSpPr/>
          <p:nvPr/>
        </p:nvSpPr>
        <p:spPr>
          <a:xfrm>
            <a:off x="1234440" y="3602736"/>
            <a:ext cx="969264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Nest the decision threshold</a:t>
            </a:r>
            <a:endParaRPr lang="en-US" sz="1600" dirty="0"/>
          </a:p>
        </p:txBody>
      </p:sp>
      <p:sp>
        <p:nvSpPr>
          <p:cNvPr id="11" name="Text 9"/>
          <p:cNvSpPr/>
          <p:nvPr/>
        </p:nvSpPr>
        <p:spPr>
          <a:xfrm>
            <a:off x="1234440" y="3950208"/>
            <a:ext cx="9692640" cy="365760"/>
          </a:xfrm>
          <a:prstGeom prst="rect">
            <a:avLst/>
          </a:prstGeom>
          <a:noFill/>
          <a:ln/>
        </p:spPr>
        <p:txBody>
          <a:bodyPr wrap="square" lIns="0" tIns="0" rIns="0" bIns="0" rtlCol="0" anchor="ctr"/>
          <a:lstStyle/>
          <a:p>
            <a:pPr indent="0" marL="0">
              <a:buNone/>
            </a:pPr>
            <a:r>
              <a:rPr lang="en-US" sz="1200" dirty="0">
                <a:solidFill>
                  <a:srgbClr val="8FB996"/>
                </a:solidFill>
                <a:latin typeface="Calibri" pitchFamily="34" charset="0"/>
                <a:ea typeface="Calibri" pitchFamily="34" charset="-122"/>
                <a:cs typeface="Calibri" pitchFamily="34" charset="-120"/>
              </a:rPr>
              <a:t>Fold threshold selection into the inner CV loop to get an unbiased accuracy.</a:t>
            </a:r>
            <a:endParaRPr lang="en-US" sz="1200" dirty="0"/>
          </a:p>
        </p:txBody>
      </p:sp>
      <p:sp>
        <p:nvSpPr>
          <p:cNvPr id="12" name="Shape 10"/>
          <p:cNvSpPr/>
          <p:nvPr/>
        </p:nvSpPr>
        <p:spPr>
          <a:xfrm>
            <a:off x="914400" y="4617720"/>
            <a:ext cx="10332720" cy="960120"/>
          </a:xfrm>
          <a:prstGeom prst="rect">
            <a:avLst/>
          </a:prstGeom>
          <a:solidFill>
            <a:srgbClr val="12505F"/>
          </a:solidFill>
          <a:ln/>
        </p:spPr>
      </p:sp>
      <p:sp>
        <p:nvSpPr>
          <p:cNvPr id="13" name="Shape 11"/>
          <p:cNvSpPr/>
          <p:nvPr/>
        </p:nvSpPr>
        <p:spPr>
          <a:xfrm>
            <a:off x="914400" y="4617720"/>
            <a:ext cx="68580" cy="960120"/>
          </a:xfrm>
          <a:prstGeom prst="rect">
            <a:avLst/>
          </a:prstGeom>
          <a:solidFill>
            <a:srgbClr val="8FB996"/>
          </a:solidFill>
          <a:ln/>
        </p:spPr>
      </p:sp>
      <p:sp>
        <p:nvSpPr>
          <p:cNvPr id="14" name="Text 12"/>
          <p:cNvSpPr/>
          <p:nvPr/>
        </p:nvSpPr>
        <p:spPr>
          <a:xfrm>
            <a:off x="1234440" y="4745736"/>
            <a:ext cx="969264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Expand the cohort</a:t>
            </a:r>
            <a:endParaRPr lang="en-US" sz="1600" dirty="0"/>
          </a:p>
        </p:txBody>
      </p:sp>
      <p:sp>
        <p:nvSpPr>
          <p:cNvPr id="15" name="Text 13"/>
          <p:cNvSpPr/>
          <p:nvPr/>
        </p:nvSpPr>
        <p:spPr>
          <a:xfrm>
            <a:off x="1234440" y="5093208"/>
            <a:ext cx="9692640" cy="365760"/>
          </a:xfrm>
          <a:prstGeom prst="rect">
            <a:avLst/>
          </a:prstGeom>
          <a:noFill/>
          <a:ln/>
        </p:spPr>
        <p:txBody>
          <a:bodyPr wrap="square" lIns="0" tIns="0" rIns="0" bIns="0" rtlCol="0" anchor="ctr"/>
          <a:lstStyle/>
          <a:p>
            <a:pPr indent="0" marL="0">
              <a:buNone/>
            </a:pPr>
            <a:r>
              <a:rPr lang="en-US" sz="1200" dirty="0">
                <a:solidFill>
                  <a:srgbClr val="8FB996"/>
                </a:solidFill>
                <a:latin typeface="Calibri" pitchFamily="34" charset="0"/>
                <a:ea typeface="Calibri" pitchFamily="34" charset="-122"/>
                <a:cs typeface="Calibri" pitchFamily="34" charset="-120"/>
              </a:rPr>
              <a:t>Cross-study generalization needs more birds of the same host, not more studies of different ones.</a:t>
            </a:r>
            <a:endParaRPr lang="en-US" sz="1200" dirty="0"/>
          </a:p>
        </p:txBody>
      </p:sp>
      <p:sp>
        <p:nvSpPr>
          <p:cNvPr id="16" name="Text 14"/>
          <p:cNvSpPr/>
          <p:nvPr/>
        </p:nvSpPr>
        <p:spPr>
          <a:xfrm>
            <a:off x="914400" y="6172200"/>
            <a:ext cx="10332720" cy="365760"/>
          </a:xfrm>
          <a:prstGeom prst="rect">
            <a:avLst/>
          </a:prstGeom>
          <a:noFill/>
          <a:ln/>
        </p:spPr>
        <p:txBody>
          <a:bodyPr wrap="square" lIns="0" tIns="0" rIns="0" bIns="0" rtlCol="0" anchor="ctr"/>
          <a:lstStyle/>
          <a:p>
            <a:pPr indent="0" marL="0">
              <a:buNone/>
            </a:pPr>
            <a:r>
              <a:rPr lang="en-US" sz="1200" dirty="0">
                <a:solidFill>
                  <a:srgbClr val="4E9FAD"/>
                </a:solidFill>
                <a:latin typeface="Calibri" pitchFamily="34" charset="0"/>
                <a:ea typeface="Calibri" pitchFamily="34" charset="-122"/>
                <a:cs typeface="Calibri" pitchFamily="34" charset="-120"/>
              </a:rPr>
              <a:t>Sihua Peng  ·  University of Georgia, College of Public Health  ·  pengsihua99@gmail.com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University of Georgia, College of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Avian Influenza Infection from Gut Microbiota</dc:title>
  <dc:subject>PptxGenJS Presentation</dc:subject>
  <dc:creator>Sihua Peng</dc:creator>
  <cp:lastModifiedBy>Sihua Peng</cp:lastModifiedBy>
  <cp:revision>1</cp:revision>
  <dcterms:created xsi:type="dcterms:W3CDTF">2026-08-10T22:35:14Z</dcterms:created>
  <dcterms:modified xsi:type="dcterms:W3CDTF">2026-08-10T22:35:14Z</dcterms:modified>
</cp:coreProperties>
</file>