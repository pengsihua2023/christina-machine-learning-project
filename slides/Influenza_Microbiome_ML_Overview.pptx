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algn="ctr" indent="0" marL="0">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+0.043</a:t>
            </a:r>
            <a:endParaRPr lang="en-US" sz="4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over covariates alone</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algn="ctr" indent="0" marL="0">
              <a:buNone/>
            </a:pPr>
            <a:r>
              <a:rPr lang="en-US" sz="3000" b="1" dirty="0">
                <a:solidFill>
                  <a:srgbClr val="12505F"/>
                </a:solidFill>
                <a:latin typeface="Georgia" pitchFamily="34" charset="0"/>
                <a:ea typeface="Georgia" pitchFamily="34" charset="-122"/>
                <a:cs typeface="Georgia" pitchFamily="34" charset="-120"/>
              </a:rPr>
              <a:t>0.86–0.96</a:t>
            </a:r>
            <a:endParaRPr lang="en-US" sz="30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Survives the confounder</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within a single month</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indent="0" marL="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the four best of 17 models are statistically indistinguishable (AUC 0.834–0.859),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stratification, and a deconfounded subset</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This Section Should Be Read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Text 17"/>
          <p:cNvSpPr/>
          <p:nvPr/>
        </p:nvSpPr>
        <p:spPr>
          <a:xfrm>
            <a:off x="548640" y="3200400"/>
            <a:ext cx="11064240" cy="320040"/>
          </a:xfrm>
          <a:prstGeom prst="rect">
            <a:avLst/>
          </a:prstGeom>
          <a:noFill/>
          <a:ln/>
        </p:spPr>
        <p:txBody>
          <a:bodyPr wrap="square" lIns="0" tIns="0" rIns="0" bIns="0" rtlCol="0" anchor="ctr"/>
          <a:lstStyle/>
          <a:p>
            <a:pPr indent="0" marL="0">
              <a:buNone/>
            </a:pPr>
            <a:r>
              <a:rPr lang="en-US" sz="1700" b="1" dirty="0">
                <a:solidFill>
                  <a:srgbClr val="16252C"/>
                </a:solidFill>
                <a:latin typeface="Georgia" pitchFamily="34" charset="0"/>
                <a:ea typeface="Georgia" pitchFamily="34" charset="-122"/>
                <a:cs typeface="Georgia" pitchFamily="34" charset="-120"/>
              </a:rPr>
              <a:t>Three ways the metrics mislead</a:t>
            </a:r>
            <a:endParaRPr lang="en-US" sz="1700" dirty="0"/>
          </a:p>
        </p:txBody>
      </p:sp>
      <p:sp>
        <p:nvSpPr>
          <p:cNvPr id="20" name="Shape 18"/>
          <p:cNvSpPr/>
          <p:nvPr/>
        </p:nvSpPr>
        <p:spPr>
          <a:xfrm>
            <a:off x="54864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3611880"/>
            <a:ext cx="68580" cy="1371600"/>
          </a:xfrm>
          <a:prstGeom prst="rect">
            <a:avLst/>
          </a:prstGeom>
          <a:solidFill>
            <a:srgbClr val="D2603A"/>
          </a:solidFill>
          <a:ln/>
        </p:spPr>
      </p:sp>
      <p:sp>
        <p:nvSpPr>
          <p:cNvPr id="22" name="Text 20"/>
          <p:cNvSpPr/>
          <p:nvPr/>
        </p:nvSpPr>
        <p:spPr>
          <a:xfrm>
            <a:off x="80467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Accuracy's baseline is 0.581</a:t>
            </a:r>
            <a:endParaRPr lang="en-US" sz="1250" dirty="0"/>
          </a:p>
        </p:txBody>
      </p:sp>
      <p:sp>
        <p:nvSpPr>
          <p:cNvPr id="23" name="Text 21"/>
          <p:cNvSpPr/>
          <p:nvPr/>
        </p:nvSpPr>
        <p:spPr>
          <a:xfrm>
            <a:off x="80467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58% of samples are positive, so always-Pos already scores 0.581. Never report accuracy without that number beside it.</a:t>
            </a:r>
            <a:endParaRPr lang="en-US" sz="1100" dirty="0"/>
          </a:p>
        </p:txBody>
      </p:sp>
      <p:sp>
        <p:nvSpPr>
          <p:cNvPr id="24" name="Shape 22"/>
          <p:cNvSpPr/>
          <p:nvPr/>
        </p:nvSpPr>
        <p:spPr>
          <a:xfrm>
            <a:off x="429768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5" name="Shape 23"/>
          <p:cNvSpPr/>
          <p:nvPr/>
        </p:nvSpPr>
        <p:spPr>
          <a:xfrm>
            <a:off x="4297680" y="3611880"/>
            <a:ext cx="68580" cy="1371600"/>
          </a:xfrm>
          <a:prstGeom prst="rect">
            <a:avLst/>
          </a:prstGeom>
          <a:solidFill>
            <a:srgbClr val="D2603A"/>
          </a:solidFill>
          <a:ln/>
        </p:spPr>
      </p:sp>
      <p:sp>
        <p:nvSpPr>
          <p:cNvPr id="26" name="Text 24"/>
          <p:cNvSpPr/>
          <p:nvPr/>
        </p:nvSpPr>
        <p:spPr>
          <a:xfrm>
            <a:off x="455371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F1 cannot rank models</a:t>
            </a:r>
            <a:endParaRPr lang="en-US" sz="1250" dirty="0"/>
          </a:p>
        </p:txBody>
      </p:sp>
      <p:sp>
        <p:nvSpPr>
          <p:cNvPr id="27" name="Text 25"/>
          <p:cNvSpPr/>
          <p:nvPr/>
        </p:nvSpPr>
        <p:spPr>
          <a:xfrm>
            <a:off x="455371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always-Pos baseline scores F1 = 0.735 — above L2-LR's 0.725. F1 inflates when positives dominate.</a:t>
            </a:r>
            <a:endParaRPr lang="en-US" sz="1100" dirty="0"/>
          </a:p>
        </p:txBody>
      </p:sp>
      <p:sp>
        <p:nvSpPr>
          <p:cNvPr id="28" name="Shape 26"/>
          <p:cNvSpPr/>
          <p:nvPr/>
        </p:nvSpPr>
        <p:spPr>
          <a:xfrm>
            <a:off x="804672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9" name="Shape 27"/>
          <p:cNvSpPr/>
          <p:nvPr/>
        </p:nvSpPr>
        <p:spPr>
          <a:xfrm>
            <a:off x="8046720" y="3611880"/>
            <a:ext cx="68580" cy="1371600"/>
          </a:xfrm>
          <a:prstGeom prst="rect">
            <a:avLst/>
          </a:prstGeom>
          <a:solidFill>
            <a:srgbClr val="D2603A"/>
          </a:solidFill>
          <a:ln/>
        </p:spPr>
      </p:sp>
      <p:sp>
        <p:nvSpPr>
          <p:cNvPr id="30" name="Text 28"/>
          <p:cNvSpPr/>
          <p:nvPr/>
        </p:nvSpPr>
        <p:spPr>
          <a:xfrm>
            <a:off x="830275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MCC has a zero baseline</a:t>
            </a:r>
            <a:endParaRPr lang="en-US" sz="1250" dirty="0"/>
          </a:p>
        </p:txBody>
      </p:sp>
      <p:sp>
        <p:nvSpPr>
          <p:cNvPr id="31" name="Text 29"/>
          <p:cNvSpPr/>
          <p:nvPr/>
        </p:nvSpPr>
        <p:spPr>
          <a:xfrm>
            <a:off x="830275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does balanced accuracy. They expose class asymmetry at once: RF reaches 0.725 accuracy while catching 55% of negatives.</a:t>
            </a:r>
            <a:endParaRPr lang="en-US" sz="1100" dirty="0"/>
          </a:p>
        </p:txBody>
      </p:sp>
      <p:sp>
        <p:nvSpPr>
          <p:cNvPr id="32" name="Shape 30"/>
          <p:cNvSpPr/>
          <p:nvPr/>
        </p:nvSpPr>
        <p:spPr>
          <a:xfrm>
            <a:off x="548640" y="5166360"/>
            <a:ext cx="11064240" cy="777240"/>
          </a:xfrm>
          <a:prstGeom prst="rect">
            <a:avLst/>
          </a:prstGeom>
          <a:solidFill>
            <a:srgbClr val="FBEDE7"/>
          </a:solidFill>
          <a:ln/>
        </p:spPr>
      </p:sp>
      <p:sp>
        <p:nvSpPr>
          <p:cNvPr id="33" name="Shape 31"/>
          <p:cNvSpPr/>
          <p:nvPr/>
        </p:nvSpPr>
        <p:spPr>
          <a:xfrm>
            <a:off x="548640" y="5166360"/>
            <a:ext cx="68580" cy="777240"/>
          </a:xfrm>
          <a:prstGeom prst="rect">
            <a:avLst/>
          </a:prstGeom>
          <a:solidFill>
            <a:srgbClr val="D2603A"/>
          </a:solidFill>
          <a:ln/>
        </p:spPr>
      </p:sp>
      <p:sp>
        <p:nvSpPr>
          <p:cNvPr id="34" name="Text 32"/>
          <p:cNvSpPr/>
          <p:nvPr/>
        </p:nvSpPr>
        <p:spPr>
          <a:xfrm>
            <a:off x="804672" y="5257800"/>
            <a:ext cx="10607040" cy="59436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No Consistent Ranking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0.481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0.553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0.656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0.687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0.885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a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two leaders cannot be told apart, and three of these four are mutually indistinguishable (next slide). Their order here is largely noise; real separation starts at GP-RBF.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.554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.420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bl>
          </a:graphicData>
        </a:graphic>
      </p:graphicFrame>
      <p:sp>
        <p:nvSpPr>
          <p:cNvPr id="8" name="Shape 5"/>
          <p:cNvSpPr/>
          <p:nvPr/>
        </p:nvSpPr>
        <p:spPr>
          <a:xfrm>
            <a:off x="548640" y="4334256"/>
            <a:ext cx="164592" cy="164592"/>
          </a:xfrm>
          <a:prstGeom prst="rect">
            <a:avLst/>
          </a:prstGeom>
          <a:solidFill>
            <a:srgbClr val="EDEDEA"/>
          </a:solidFill>
          <a:ln/>
        </p:spPr>
      </p:sp>
      <p:sp>
        <p:nvSpPr>
          <p:cNvPr id="9" name="Text 6"/>
          <p:cNvSpPr/>
          <p:nvPr/>
        </p:nvSpPr>
        <p:spPr>
          <a:xfrm>
            <a:off x="804672" y="4306824"/>
            <a:ext cx="384048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334256"/>
            <a:ext cx="164592" cy="164592"/>
          </a:xfrm>
          <a:prstGeom prst="rect">
            <a:avLst/>
          </a:prstGeom>
          <a:solidFill>
            <a:srgbClr val="E4F0F0"/>
          </a:solidFill>
          <a:ln/>
        </p:spPr>
      </p:sp>
      <p:sp>
        <p:nvSpPr>
          <p:cNvPr id="11" name="Text 8"/>
          <p:cNvSpPr/>
          <p:nvPr/>
        </p:nvSpPr>
        <p:spPr>
          <a:xfrm>
            <a:off x="4736592" y="4306824"/>
            <a:ext cx="365760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2686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626864"/>
            <a:ext cx="68580" cy="1325880"/>
          </a:xfrm>
          <a:prstGeom prst="rect">
            <a:avLst/>
          </a:prstGeom>
          <a:solidFill>
            <a:srgbClr val="D2603A"/>
          </a:solidFill>
          <a:ln/>
        </p:spPr>
      </p:sp>
      <p:sp>
        <p:nvSpPr>
          <p:cNvPr id="14" name="Text 11"/>
          <p:cNvSpPr/>
          <p:nvPr/>
        </p:nvSpPr>
        <p:spPr>
          <a:xfrm>
            <a:off x="80467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Indistinguishability is not transitive</a:t>
            </a:r>
            <a:endParaRPr lang="en-US" sz="1400" dirty="0"/>
          </a:p>
        </p:txBody>
      </p:sp>
      <p:sp>
        <p:nvSpPr>
          <p:cNvPr id="15" name="Text 12"/>
          <p:cNvSpPr/>
          <p:nvPr/>
        </p:nvSpPr>
        <p:spPr>
          <a:xfrm>
            <a:off x="80467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vs SVM-RBF: p = 0.085. SVM-RBF, ensemble and SVM-poly: mutually not separable (p = 0.360–0.609). Yet ExtraTrees does separate from those two.</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No consistent ranking exists among the leaders.</a:t>
            </a:r>
            <a:endParaRPr lang="en-US" sz="1100" dirty="0"/>
          </a:p>
        </p:txBody>
      </p:sp>
      <p:sp>
        <p:nvSpPr>
          <p:cNvPr id="16" name="Shape 13"/>
          <p:cNvSpPr/>
          <p:nvPr/>
        </p:nvSpPr>
        <p:spPr>
          <a:xfrm>
            <a:off x="6217920" y="4626864"/>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626864"/>
            <a:ext cx="68580" cy="1325880"/>
          </a:xfrm>
          <a:prstGeom prst="rect">
            <a:avLst/>
          </a:prstGeom>
          <a:solidFill>
            <a:srgbClr val="8FB996"/>
          </a:solidFill>
          <a:ln/>
        </p:spPr>
      </p:sp>
      <p:sp>
        <p:nvSpPr>
          <p:cNvPr id="18" name="Text 15"/>
          <p:cNvSpPr/>
          <p:nvPr/>
        </p:nvSpPr>
        <p:spPr>
          <a:xfrm>
            <a:off x="647395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
        <p:nvSpPr>
          <p:cNvPr id="20" name="Text 17"/>
          <p:cNvSpPr/>
          <p:nvPr/>
        </p:nvSpPr>
        <p:spPr>
          <a:xfrm>
            <a:off x="548640" y="6035040"/>
            <a:ext cx="10607040" cy="292608"/>
          </a:xfrm>
          <a:prstGeom prst="rect">
            <a:avLst/>
          </a:prstGeom>
          <a:noFill/>
          <a:ln/>
        </p:spPr>
        <p:txBody>
          <a:bodyPr wrap="square" lIns="0" tIns="0" rIns="0" bIns="0" rtlCol="0" anchor="ctr"/>
          <a:lstStyle/>
          <a:p>
            <a:pPr indent="0" marL="0">
              <a:buNone/>
            </a:pPr>
            <a:r>
              <a:rPr lang="en-US" sz="900" i="1" dirty="0">
                <a:solidFill>
                  <a:srgbClr val="5F7580"/>
                </a:solidFill>
                <a:latin typeface="Calibri" pitchFamily="34" charset="0"/>
                <a:ea typeface="Calibri" pitchFamily="34" charset="-122"/>
                <a:cs typeface="Calibri" pitchFamily="34" charset="-120"/>
              </a:rPr>
              <a:t>Hyperparameter robustness: grid expanded to C ∈ [0.01, 500], gamma ∈ [1e-4, 0.1] + scale. 0 of 15 folds hit a boundary; AUC unchanged (0.838 vs 0.839); surface spans only 0.73–0.81.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0.020 AUC lead at p=0.085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ABLATION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Much Does the Microbiome Actually Add?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sp>
        <p:nvSpPr>
          <p:cNvPr id="6" name="Text 4"/>
          <p:cNvSpPr/>
          <p:nvPr/>
        </p:nvSpPr>
        <p:spPr>
          <a:xfrm>
            <a:off x="548640" y="160020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Covariates only</a:t>
            </a:r>
            <a:endParaRPr lang="en-US" sz="1400" dirty="0"/>
          </a:p>
        </p:txBody>
      </p:sp>
      <p:sp>
        <p:nvSpPr>
          <p:cNvPr id="7" name="Text 5"/>
          <p:cNvSpPr/>
          <p:nvPr/>
        </p:nvSpPr>
        <p:spPr>
          <a:xfrm>
            <a:off x="548640" y="191109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season, site, species, sex, month</a:t>
            </a:r>
            <a:endParaRPr lang="en-US" sz="1050" dirty="0"/>
          </a:p>
        </p:txBody>
      </p:sp>
      <p:sp>
        <p:nvSpPr>
          <p:cNvPr id="8" name="Shape 6"/>
          <p:cNvSpPr/>
          <p:nvPr/>
        </p:nvSpPr>
        <p:spPr>
          <a:xfrm>
            <a:off x="3611880" y="1645920"/>
            <a:ext cx="6949440" cy="475488"/>
          </a:xfrm>
          <a:prstGeom prst="rect">
            <a:avLst/>
          </a:prstGeom>
          <a:solidFill>
            <a:srgbClr val="E8EEF0"/>
          </a:solidFill>
          <a:ln/>
        </p:spPr>
      </p:sp>
      <p:sp>
        <p:nvSpPr>
          <p:cNvPr id="9" name="Shape 7"/>
          <p:cNvSpPr/>
          <p:nvPr/>
        </p:nvSpPr>
        <p:spPr>
          <a:xfrm>
            <a:off x="3611880" y="1645920"/>
            <a:ext cx="5883859" cy="475488"/>
          </a:xfrm>
          <a:prstGeom prst="rect">
            <a:avLst/>
          </a:prstGeom>
          <a:solidFill>
            <a:srgbClr val="12505F"/>
          </a:solidFill>
          <a:ln/>
        </p:spPr>
      </p:sp>
      <p:sp>
        <p:nvSpPr>
          <p:cNvPr id="10" name="Text 8"/>
          <p:cNvSpPr/>
          <p:nvPr/>
        </p:nvSpPr>
        <p:spPr>
          <a:xfrm>
            <a:off x="10698480" y="1664208"/>
            <a:ext cx="914400" cy="411480"/>
          </a:xfrm>
          <a:prstGeom prst="rect">
            <a:avLst/>
          </a:prstGeom>
          <a:noFill/>
          <a:ln/>
        </p:spPr>
        <p:txBody>
          <a:bodyPr wrap="square" lIns="0" tIns="0" rIns="0" bIns="0" rtlCol="0" anchor="ctr"/>
          <a:lstStyle/>
          <a:p>
            <a:pPr indent="0" marL="0">
              <a:buNone/>
            </a:pPr>
            <a:r>
              <a:rPr lang="en-US" sz="1700" b="1" dirty="0">
                <a:solidFill>
                  <a:srgbClr val="12505F"/>
                </a:solidFill>
                <a:latin typeface="Georgia" pitchFamily="34" charset="0"/>
                <a:ea typeface="Georgia" pitchFamily="34" charset="-122"/>
                <a:cs typeface="Georgia" pitchFamily="34" charset="-120"/>
              </a:rPr>
              <a:t>0.881</a:t>
            </a:r>
            <a:endParaRPr lang="en-US" sz="1700" dirty="0"/>
          </a:p>
        </p:txBody>
      </p:sp>
      <p:sp>
        <p:nvSpPr>
          <p:cNvPr id="11" name="Text 9"/>
          <p:cNvSpPr/>
          <p:nvPr/>
        </p:nvSpPr>
        <p:spPr>
          <a:xfrm>
            <a:off x="548640" y="265176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only</a:t>
            </a:r>
            <a:endParaRPr lang="en-US" sz="1400" dirty="0"/>
          </a:p>
        </p:txBody>
      </p:sp>
      <p:sp>
        <p:nvSpPr>
          <p:cNvPr id="12" name="Text 10"/>
          <p:cNvSpPr/>
          <p:nvPr/>
        </p:nvSpPr>
        <p:spPr>
          <a:xfrm>
            <a:off x="548640" y="296265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70 CLR features</a:t>
            </a:r>
            <a:endParaRPr lang="en-US" sz="1050" dirty="0"/>
          </a:p>
        </p:txBody>
      </p:sp>
      <p:sp>
        <p:nvSpPr>
          <p:cNvPr id="13" name="Shape 11"/>
          <p:cNvSpPr/>
          <p:nvPr/>
        </p:nvSpPr>
        <p:spPr>
          <a:xfrm>
            <a:off x="3611880" y="2697480"/>
            <a:ext cx="6949440" cy="475488"/>
          </a:xfrm>
          <a:prstGeom prst="rect">
            <a:avLst/>
          </a:prstGeom>
          <a:solidFill>
            <a:srgbClr val="E8EEF0"/>
          </a:solidFill>
          <a:ln/>
        </p:spPr>
      </p:sp>
      <p:sp>
        <p:nvSpPr>
          <p:cNvPr id="14" name="Shape 12"/>
          <p:cNvSpPr/>
          <p:nvPr/>
        </p:nvSpPr>
        <p:spPr>
          <a:xfrm>
            <a:off x="3611880" y="2697480"/>
            <a:ext cx="4107891" cy="475488"/>
          </a:xfrm>
          <a:prstGeom prst="rect">
            <a:avLst/>
          </a:prstGeom>
          <a:solidFill>
            <a:srgbClr val="18707F"/>
          </a:solidFill>
          <a:ln/>
        </p:spPr>
      </p:sp>
      <p:sp>
        <p:nvSpPr>
          <p:cNvPr id="15" name="Text 13"/>
          <p:cNvSpPr/>
          <p:nvPr/>
        </p:nvSpPr>
        <p:spPr>
          <a:xfrm>
            <a:off x="10698480" y="2715768"/>
            <a:ext cx="914400" cy="411480"/>
          </a:xfrm>
          <a:prstGeom prst="rect">
            <a:avLst/>
          </a:prstGeom>
          <a:noFill/>
          <a:ln/>
        </p:spPr>
        <p:txBody>
          <a:bodyPr wrap="square" lIns="0" tIns="0" rIns="0" bIns="0" rtlCol="0" anchor="ctr"/>
          <a:lstStyle/>
          <a:p>
            <a:pPr indent="0" marL="0">
              <a:buNone/>
            </a:pPr>
            <a:r>
              <a:rPr lang="en-US" sz="1700" b="1" dirty="0">
                <a:solidFill>
                  <a:srgbClr val="18707F"/>
                </a:solidFill>
                <a:latin typeface="Georgia" pitchFamily="34" charset="0"/>
                <a:ea typeface="Georgia" pitchFamily="34" charset="-122"/>
                <a:cs typeface="Georgia" pitchFamily="34" charset="-120"/>
              </a:rPr>
              <a:t>0.766</a:t>
            </a:r>
            <a:endParaRPr lang="en-US" sz="1700" dirty="0"/>
          </a:p>
        </p:txBody>
      </p:sp>
      <p:sp>
        <p:nvSpPr>
          <p:cNvPr id="16" name="Text 14"/>
          <p:cNvSpPr/>
          <p:nvPr/>
        </p:nvSpPr>
        <p:spPr>
          <a:xfrm>
            <a:off x="548640" y="370332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 covariates</a:t>
            </a:r>
            <a:endParaRPr lang="en-US" sz="1400" dirty="0"/>
          </a:p>
        </p:txBody>
      </p:sp>
      <p:sp>
        <p:nvSpPr>
          <p:cNvPr id="17" name="Text 15"/>
          <p:cNvSpPr/>
          <p:nvPr/>
        </p:nvSpPr>
        <p:spPr>
          <a:xfrm>
            <a:off x="548640" y="401421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combined model</a:t>
            </a:r>
            <a:endParaRPr lang="en-US" sz="1050" dirty="0"/>
          </a:p>
        </p:txBody>
      </p:sp>
      <p:sp>
        <p:nvSpPr>
          <p:cNvPr id="18" name="Shape 16"/>
          <p:cNvSpPr/>
          <p:nvPr/>
        </p:nvSpPr>
        <p:spPr>
          <a:xfrm>
            <a:off x="3611880" y="3749040"/>
            <a:ext cx="6949440" cy="475488"/>
          </a:xfrm>
          <a:prstGeom prst="rect">
            <a:avLst/>
          </a:prstGeom>
          <a:solidFill>
            <a:srgbClr val="E8EEF0"/>
          </a:solidFill>
          <a:ln/>
        </p:spPr>
      </p:sp>
      <p:sp>
        <p:nvSpPr>
          <p:cNvPr id="19" name="Shape 17"/>
          <p:cNvSpPr/>
          <p:nvPr/>
        </p:nvSpPr>
        <p:spPr>
          <a:xfrm>
            <a:off x="3611880" y="3749040"/>
            <a:ext cx="6547917" cy="475488"/>
          </a:xfrm>
          <a:prstGeom prst="rect">
            <a:avLst/>
          </a:prstGeom>
          <a:solidFill>
            <a:srgbClr val="8FB996"/>
          </a:solidFill>
          <a:ln/>
        </p:spPr>
      </p:sp>
      <p:sp>
        <p:nvSpPr>
          <p:cNvPr id="20" name="Text 18"/>
          <p:cNvSpPr/>
          <p:nvPr/>
        </p:nvSpPr>
        <p:spPr>
          <a:xfrm>
            <a:off x="10698480" y="3767328"/>
            <a:ext cx="914400" cy="411480"/>
          </a:xfrm>
          <a:prstGeom prst="rect">
            <a:avLst/>
          </a:prstGeom>
          <a:noFill/>
          <a:ln/>
        </p:spPr>
        <p:txBody>
          <a:bodyPr wrap="square" lIns="0" tIns="0" rIns="0" bIns="0" rtlCol="0" anchor="ctr"/>
          <a:lstStyle/>
          <a:p>
            <a:pPr indent="0" marL="0">
              <a:buNone/>
            </a:pPr>
            <a:r>
              <a:rPr lang="en-US" sz="1700" b="1" dirty="0">
                <a:solidFill>
                  <a:srgbClr val="8FB996"/>
                </a:solidFill>
                <a:latin typeface="Georgia" pitchFamily="34" charset="0"/>
                <a:ea typeface="Georgia" pitchFamily="34" charset="-122"/>
                <a:cs typeface="Georgia" pitchFamily="34" charset="-120"/>
              </a:rPr>
              <a:t>0.924</a:t>
            </a:r>
            <a:endParaRPr lang="en-US" sz="1700" dirty="0"/>
          </a:p>
        </p:txBody>
      </p:sp>
      <p:sp>
        <p:nvSpPr>
          <p:cNvPr id="21" name="Text 19"/>
          <p:cNvSpPr/>
          <p:nvPr/>
        </p:nvSpPr>
        <p:spPr>
          <a:xfrm>
            <a:off x="3611880" y="4709160"/>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AUC  (bar origin = 0.50)</a:t>
            </a:r>
            <a:endParaRPr lang="en-US" sz="1000" dirty="0"/>
          </a:p>
        </p:txBody>
      </p:sp>
      <p:sp>
        <p:nvSpPr>
          <p:cNvPr id="22" name="Shape 20"/>
          <p:cNvSpPr/>
          <p:nvPr/>
        </p:nvSpPr>
        <p:spPr>
          <a:xfrm>
            <a:off x="548640" y="5074920"/>
            <a:ext cx="11064240" cy="10515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5074920"/>
            <a:ext cx="68580" cy="1051560"/>
          </a:xfrm>
          <a:prstGeom prst="rect">
            <a:avLst/>
          </a:prstGeom>
          <a:solidFill>
            <a:srgbClr val="D2603A"/>
          </a:solidFill>
          <a:ln/>
        </p:spPr>
      </p:sp>
      <p:sp>
        <p:nvSpPr>
          <p:cNvPr id="24" name="Text 22"/>
          <p:cNvSpPr/>
          <p:nvPr/>
        </p:nvSpPr>
        <p:spPr>
          <a:xfrm>
            <a:off x="804672" y="52212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Read this carefully</a:t>
            </a:r>
            <a:endParaRPr lang="en-US" sz="1500" dirty="0"/>
          </a:p>
        </p:txBody>
      </p:sp>
      <p:sp>
        <p:nvSpPr>
          <p:cNvPr id="25" name="Text 23"/>
          <p:cNvSpPr/>
          <p:nvPr/>
        </p:nvSpPr>
        <p:spPr>
          <a:xfrm>
            <a:off x="804672" y="56052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adds +0.043 over covariates alone — a real but modest independent contribution. Covariates by themselves already reach 0.881. Any claim that "gut microbiota predict influenza" must be quoted against that baseline, not against 0.50.</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SENSITIVITY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If We Simply Drop the Confounded Months?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November–December is 100% positive and January 90% negative. On those 95 samples a model scores well by learning the month, not the microbiome. Excluding them (n = 260 → 165):</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309360" cy="914400"/>
        </p:xfrm>
        <a:graphic>
          <a:graphicData uri="http://schemas.openxmlformats.org/drawingml/2006/table">
            <a:tbl>
              <a:tblPr/>
              <a:tblGrid>
                <a:gridCol w="2468880"/>
                <a:gridCol w="1280160"/>
                <a:gridCol w="1371600"/>
                <a:gridCol w="118872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set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Full n=260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Subset n=165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Covariates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−0.107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0.933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+0.168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 covariates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8FB996"/>
                          </a:solidFill>
                          <a:latin typeface="Calibri" pitchFamily="34" charset="0"/>
                          <a:ea typeface="Calibri" pitchFamily="34" charset="-122"/>
                          <a:cs typeface="Calibri" pitchFamily="34" charset="-120"/>
                        </a:rPr>
                        <a:t>+0.027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+0.043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+0.177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7132320" y="1828800"/>
            <a:ext cx="4480560" cy="2011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7132320" y="1828800"/>
            <a:ext cx="68580" cy="2011680"/>
          </a:xfrm>
          <a:prstGeom prst="rect">
            <a:avLst/>
          </a:prstGeom>
          <a:solidFill>
            <a:srgbClr val="8FB996"/>
          </a:solidFill>
          <a:ln/>
        </p:spPr>
      </p:sp>
      <p:sp>
        <p:nvSpPr>
          <p:cNvPr id="10" name="Text 7"/>
          <p:cNvSpPr/>
          <p:nvPr/>
        </p:nvSpPr>
        <p:spPr>
          <a:xfrm>
            <a:off x="7388352" y="1975104"/>
            <a:ext cx="40233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Deconfounding worked</a:t>
            </a:r>
            <a:endParaRPr lang="en-US" sz="1400" dirty="0"/>
          </a:p>
        </p:txBody>
      </p:sp>
      <p:sp>
        <p:nvSpPr>
          <p:cNvPr id="11" name="Text 8"/>
          <p:cNvSpPr/>
          <p:nvPr/>
        </p:nvSpPr>
        <p:spPr>
          <a:xfrm>
            <a:off x="7388352" y="2359152"/>
            <a:ext cx="4023360" cy="1353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Predicting the label from month alone:</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full cohort  AUC 0.775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subset       AUC 0.426</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Month is fully neutralised. Permutation test on the subset: p = 0.0099.</a:t>
            </a:r>
            <a:endParaRPr lang="en-US" sz="1100" dirty="0"/>
          </a:p>
        </p:txBody>
      </p:sp>
      <p:sp>
        <p:nvSpPr>
          <p:cNvPr id="12" name="Shape 9"/>
          <p:cNvSpPr/>
          <p:nvPr/>
        </p:nvSpPr>
        <p:spPr>
          <a:xfrm>
            <a:off x="548640" y="4069080"/>
            <a:ext cx="53949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069080"/>
            <a:ext cx="68580" cy="1783080"/>
          </a:xfrm>
          <a:prstGeom prst="rect">
            <a:avLst/>
          </a:prstGeom>
          <a:solidFill>
            <a:srgbClr val="18707F"/>
          </a:solidFill>
          <a:ln/>
        </p:spPr>
      </p:sp>
      <p:sp>
        <p:nvSpPr>
          <p:cNvPr id="14" name="Text 11"/>
          <p:cNvSpPr/>
          <p:nvPr/>
        </p:nvSpPr>
        <p:spPr>
          <a:xfrm>
            <a:off x="80467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biomarkers get stronger, not different</a:t>
            </a:r>
            <a:endParaRPr lang="en-US" sz="1400" dirty="0"/>
          </a:p>
        </p:txBody>
      </p:sp>
      <p:sp>
        <p:nvSpPr>
          <p:cNvPr id="15" name="Text 12"/>
          <p:cNvSpPr/>
          <p:nvPr/>
        </p:nvSpPr>
        <p:spPr>
          <a:xfrm>
            <a:off x="80467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Significant taxa 19/70 → 34/65; Spearman ρ = 0.879 on t-statistics; 18 significant in both.</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Veillonella (FDR 3.7e-29) and Prevotella — the two that collinearity had pushed out of the nine-taxon panel — are now the strongest hits.</a:t>
            </a:r>
            <a:endParaRPr lang="en-US" sz="1100" dirty="0"/>
          </a:p>
        </p:txBody>
      </p:sp>
      <p:sp>
        <p:nvSpPr>
          <p:cNvPr id="16" name="Shape 13"/>
          <p:cNvSpPr/>
          <p:nvPr/>
        </p:nvSpPr>
        <p:spPr>
          <a:xfrm>
            <a:off x="6217920" y="4069080"/>
            <a:ext cx="5394960" cy="17830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069080"/>
            <a:ext cx="68580" cy="1783080"/>
          </a:xfrm>
          <a:prstGeom prst="rect">
            <a:avLst/>
          </a:prstGeom>
          <a:solidFill>
            <a:srgbClr val="D2603A"/>
          </a:solidFill>
          <a:ln/>
        </p:spPr>
      </p:sp>
      <p:sp>
        <p:nvSpPr>
          <p:cNvPr id="18" name="Text 15"/>
          <p:cNvSpPr/>
          <p:nvPr/>
        </p:nvSpPr>
        <p:spPr>
          <a:xfrm>
            <a:off x="647395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But this is a sensitivity analysis, not the result</a:t>
            </a:r>
            <a:endParaRPr lang="en-US" sz="1400" dirty="0"/>
          </a:p>
        </p:txBody>
      </p:sp>
      <p:sp>
        <p:nvSpPr>
          <p:cNvPr id="19" name="Text 16"/>
          <p:cNvSpPr/>
          <p:nvPr/>
        </p:nvSpPr>
        <p:spPr>
          <a:xfrm>
            <a:off x="647395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95 excluded samples are also the hardest to classify (Jan+Oct stratum: AUC 0.668), so the two AUCs are not comparable.</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And spatial confounding is untouched: site → label AUC 0.740, microbiome → site AUC 0.753.</a:t>
            </a:r>
            <a:endParaRPr lang="en-US" sz="1100" dirty="0"/>
          </a:p>
        </p:txBody>
      </p:sp>
      <p:sp>
        <p:nvSpPr>
          <p:cNvPr id="20" name="Text 17"/>
          <p:cNvSpPr/>
          <p:nvPr/>
        </p:nvSpPr>
        <p:spPr>
          <a:xfrm>
            <a:off x="548640" y="5943600"/>
            <a:ext cx="1060704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Read as a bracket on the microbiome's independent information: conservatively +0.043, +0.177 once temporal confounding is removed.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24</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+0.073, winning 25 of 25 folds, Wilcoxon p = 1e-5.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Eight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Shape 32"/>
          <p:cNvSpPr/>
          <p:nvPr/>
        </p:nvSpPr>
        <p:spPr>
          <a:xfrm>
            <a:off x="6263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5" name="Shape 33"/>
          <p:cNvSpPr/>
          <p:nvPr/>
        </p:nvSpPr>
        <p:spPr>
          <a:xfrm>
            <a:off x="6263640" y="5020056"/>
            <a:ext cx="68580" cy="1078992"/>
          </a:xfrm>
          <a:prstGeom prst="rect">
            <a:avLst/>
          </a:prstGeom>
          <a:solidFill>
            <a:srgbClr val="D2603A"/>
          </a:solidFill>
          <a:ln/>
        </p:spPr>
      </p:sp>
      <p:sp>
        <p:nvSpPr>
          <p:cNvPr id="36" name="Text 34"/>
          <p:cNvSpPr/>
          <p:nvPr/>
        </p:nvSpPr>
        <p:spPr>
          <a:xfrm>
            <a:off x="6519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8.  Spatial confounding is unresolved</a:t>
            </a:r>
            <a:endParaRPr lang="en-US" sz="1250" dirty="0"/>
          </a:p>
        </p:txBody>
      </p:sp>
      <p:sp>
        <p:nvSpPr>
          <p:cNvPr id="37" name="Text 35"/>
          <p:cNvSpPr/>
          <p:nvPr/>
        </p:nvSpPr>
        <p:spPr>
          <a:xfrm>
            <a:off x="6519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Even after dropping the confounded months: site → label AUC 0.740, microbiome → site 0.753. Site-stratified reanalysis is underpowered here.</a:t>
            </a:r>
            <a:endParaRPr lang="en-US" sz="1050" dirty="0"/>
          </a:p>
        </p:txBody>
      </p:sp>
      <p:sp>
        <p:nvSpPr>
          <p:cNvPr id="38" name="Text 36"/>
          <p:cNvSpPr/>
          <p:nvPr/>
        </p:nvSpPr>
        <p:spPr>
          <a:xfrm>
            <a:off x="548640" y="6309360"/>
            <a:ext cx="11064240" cy="27432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0.839, MCC 0.531 — significantly beating Random Forest (p = 0.021), XGBoost (p = 0.0016)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Sampling season is a serious confounder (covariates alone: AUC 0.881). Stratification and a deconfounded subset both leave signal: the microbiome's independent contribution brackets between +0.043 and +0.177.</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0.859)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2026-08-10T23:17:30Z</dcterms:created>
  <dcterms:modified xsi:type="dcterms:W3CDTF">2026-08-10T23:17:30Z</dcterms:modified>
</cp:coreProperties>
</file>