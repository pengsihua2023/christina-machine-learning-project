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371600"/>
            <a:ext cx="2606040" cy="658368"/>
          </a:xfrm>
          <a:prstGeom prst="rect">
            <a:avLst/>
          </a:prstGeom>
          <a:noFill/>
          <a:ln/>
        </p:spPr>
        <p:txBody>
          <a:bodyPr wrap="square" lIns="0" tIns="0" rIns="0" bIns="0" rtlCol="0" anchor="ctr"/>
          <a:lstStyle/>
          <a:p>
            <a:pPr algn="ctr" indent="0" marL="0">
              <a:buNone/>
            </a:pPr>
            <a:r>
              <a:rPr lang="en-US" sz="3200" b="1" dirty="0">
                <a:solidFill>
                  <a:srgbClr val="18707F"/>
                </a:solidFill>
                <a:latin typeface="Georgia" pitchFamily="34" charset="0"/>
                <a:ea typeface="Georgia" pitchFamily="34" charset="-122"/>
                <a:cs typeface="Georgia" pitchFamily="34" charset="-120"/>
              </a:rPr>
              <a:t>p=0.0099</a:t>
            </a:r>
            <a:endParaRPr lang="en-US" sz="3200" dirty="0"/>
          </a:p>
        </p:txBody>
      </p:sp>
      <p:sp>
        <p:nvSpPr>
          <p:cNvPr id="7" name="Text 5"/>
          <p:cNvSpPr/>
          <p:nvPr/>
        </p:nvSpPr>
        <p:spPr>
          <a:xfrm>
            <a:off x="5486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The signal is real</a:t>
            </a:r>
            <a:endParaRPr lang="en-US" sz="1150" dirty="0"/>
          </a:p>
        </p:txBody>
      </p:sp>
      <p:sp>
        <p:nvSpPr>
          <p:cNvPr id="8" name="Text 6"/>
          <p:cNvSpPr/>
          <p:nvPr/>
        </p:nvSpPr>
        <p:spPr>
          <a:xfrm>
            <a:off x="5486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permutation test, 100 shuffles</a:t>
            </a:r>
            <a:endParaRPr lang="en-US" sz="1000" dirty="0"/>
          </a:p>
        </p:txBody>
      </p:sp>
      <p:sp>
        <p:nvSpPr>
          <p:cNvPr id="9" name="Text 7"/>
          <p:cNvSpPr/>
          <p:nvPr/>
        </p:nvSpPr>
        <p:spPr>
          <a:xfrm>
            <a:off x="3291840" y="1371600"/>
            <a:ext cx="260604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+0.043</a:t>
            </a:r>
            <a:endParaRPr lang="en-US" sz="4000" dirty="0"/>
          </a:p>
        </p:txBody>
      </p:sp>
      <p:sp>
        <p:nvSpPr>
          <p:cNvPr id="10" name="Text 8"/>
          <p:cNvSpPr/>
          <p:nvPr/>
        </p:nvSpPr>
        <p:spPr>
          <a:xfrm>
            <a:off x="32918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p>
        </p:txBody>
      </p:sp>
      <p:sp>
        <p:nvSpPr>
          <p:cNvPr id="11" name="Text 9"/>
          <p:cNvSpPr/>
          <p:nvPr/>
        </p:nvSpPr>
        <p:spPr>
          <a:xfrm>
            <a:off x="32918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over covariates alone</a:t>
            </a:r>
            <a:endParaRPr lang="en-US" sz="1000" dirty="0"/>
          </a:p>
        </p:txBody>
      </p:sp>
      <p:sp>
        <p:nvSpPr>
          <p:cNvPr id="12" name="Text 10"/>
          <p:cNvSpPr/>
          <p:nvPr/>
        </p:nvSpPr>
        <p:spPr>
          <a:xfrm>
            <a:off x="6035040" y="1371600"/>
            <a:ext cx="2606040" cy="658368"/>
          </a:xfrm>
          <a:prstGeom prst="rect">
            <a:avLst/>
          </a:prstGeom>
          <a:noFill/>
          <a:ln/>
        </p:spPr>
        <p:txBody>
          <a:bodyPr wrap="square" lIns="0" tIns="0" rIns="0" bIns="0" rtlCol="0" anchor="ctr"/>
          <a:lstStyle/>
          <a:p>
            <a:pPr algn="ctr" indent="0" marL="0">
              <a:buNone/>
            </a:pPr>
            <a:r>
              <a:rPr lang="en-US" sz="3000" b="1" dirty="0">
                <a:solidFill>
                  <a:srgbClr val="12505F"/>
                </a:solidFill>
                <a:latin typeface="Georgia" pitchFamily="34" charset="0"/>
                <a:ea typeface="Georgia" pitchFamily="34" charset="-122"/>
                <a:cs typeface="Georgia" pitchFamily="34" charset="-120"/>
              </a:rPr>
              <a:t>0.86–0.96</a:t>
            </a:r>
            <a:endParaRPr lang="en-US" sz="3000" dirty="0"/>
          </a:p>
        </p:txBody>
      </p:sp>
      <p:sp>
        <p:nvSpPr>
          <p:cNvPr id="13" name="Text 11"/>
          <p:cNvSpPr/>
          <p:nvPr/>
        </p:nvSpPr>
        <p:spPr>
          <a:xfrm>
            <a:off x="60350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Survives the confounder</a:t>
            </a:r>
            <a:endParaRPr lang="en-US" sz="1150" dirty="0"/>
          </a:p>
        </p:txBody>
      </p:sp>
      <p:sp>
        <p:nvSpPr>
          <p:cNvPr id="14" name="Text 12"/>
          <p:cNvSpPr/>
          <p:nvPr/>
        </p:nvSpPr>
        <p:spPr>
          <a:xfrm>
            <a:off x="60350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within a single month</a:t>
            </a:r>
            <a:endParaRPr lang="en-US" sz="1000" dirty="0"/>
          </a:p>
        </p:txBody>
      </p:sp>
      <p:sp>
        <p:nvSpPr>
          <p:cNvPr id="15" name="Text 13"/>
          <p:cNvSpPr/>
          <p:nvPr/>
        </p:nvSpPr>
        <p:spPr>
          <a:xfrm>
            <a:off x="8778240" y="137160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4825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4086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independent methods agree</a:t>
            </a:r>
            <a:endParaRPr lang="en-US" sz="1000" dirty="0"/>
          </a:p>
        </p:txBody>
      </p:sp>
      <p:sp>
        <p:nvSpPr>
          <p:cNvPr id="18" name="Text 16"/>
          <p:cNvSpPr/>
          <p:nvPr/>
        </p:nvSpPr>
        <p:spPr>
          <a:xfrm>
            <a:off x="548640" y="2670048"/>
            <a:ext cx="11064240" cy="365760"/>
          </a:xfrm>
          <a:prstGeom prst="rect">
            <a:avLst/>
          </a:prstGeom>
          <a:noFill/>
          <a:ln/>
        </p:spPr>
        <p:txBody>
          <a:bodyPr wrap="square" lIns="0" tIns="0" rIns="0" bIns="0" rtlCol="0" anchor="t"/>
          <a:lstStyle/>
          <a:p>
            <a:pPr indent="0" marL="0">
              <a:buNone/>
            </a:pPr>
            <a:r>
              <a:rPr lang="en-US" sz="1150" i="1" dirty="0">
                <a:solidFill>
                  <a:srgbClr val="5F7580"/>
                </a:solidFill>
                <a:latin typeface="Calibri" pitchFamily="34" charset="0"/>
                <a:ea typeface="Calibri" pitchFamily="34" charset="-122"/>
                <a:cs typeface="Calibri" pitchFamily="34" charset="-120"/>
              </a:rPr>
              <a:t>Model performance is deliberately not the headline: the four best of 17 models are statistically indistinguishable (AUC 0.834–0.859), so no single score is a property of the finding.</a:t>
            </a:r>
            <a:endParaRPr lang="en-US" sz="1150" dirty="0"/>
          </a:p>
        </p:txBody>
      </p:sp>
      <p:sp>
        <p:nvSpPr>
          <p:cNvPr id="19" name="Shape 17"/>
          <p:cNvSpPr/>
          <p:nvPr/>
        </p:nvSpPr>
        <p:spPr>
          <a:xfrm>
            <a:off x="548640" y="3090672"/>
            <a:ext cx="548640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090672"/>
            <a:ext cx="68580" cy="1481328"/>
          </a:xfrm>
          <a:prstGeom prst="rect">
            <a:avLst/>
          </a:prstGeom>
          <a:solidFill>
            <a:srgbClr val="18707F"/>
          </a:solidFill>
          <a:ln/>
        </p:spPr>
      </p:sp>
      <p:sp>
        <p:nvSpPr>
          <p:cNvPr id="21" name="Text 19"/>
          <p:cNvSpPr/>
          <p:nvPr/>
        </p:nvSpPr>
        <p:spPr>
          <a:xfrm>
            <a:off x="804672" y="3236976"/>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2" name="Text 20"/>
          <p:cNvSpPr/>
          <p:nvPr/>
        </p:nvSpPr>
        <p:spPr>
          <a:xfrm>
            <a:off x="804672" y="3621024"/>
            <a:ext cx="502920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3" name="Shape 21"/>
          <p:cNvSpPr/>
          <p:nvPr/>
        </p:nvSpPr>
        <p:spPr>
          <a:xfrm>
            <a:off x="6309360" y="3090672"/>
            <a:ext cx="530352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309360" y="3090672"/>
            <a:ext cx="68580" cy="1481328"/>
          </a:xfrm>
          <a:prstGeom prst="rect">
            <a:avLst/>
          </a:prstGeom>
          <a:solidFill>
            <a:srgbClr val="8FB996"/>
          </a:solidFill>
          <a:ln/>
        </p:spPr>
      </p:sp>
      <p:sp>
        <p:nvSpPr>
          <p:cNvPr id="25" name="Text 23"/>
          <p:cNvSpPr/>
          <p:nvPr/>
        </p:nvSpPr>
        <p:spPr>
          <a:xfrm>
            <a:off x="6565392" y="3236976"/>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6" name="Text 24"/>
          <p:cNvSpPr/>
          <p:nvPr/>
        </p:nvSpPr>
        <p:spPr>
          <a:xfrm>
            <a:off x="6565392" y="3621024"/>
            <a:ext cx="484632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7" name="Shape 25"/>
          <p:cNvSpPr/>
          <p:nvPr/>
        </p:nvSpPr>
        <p:spPr>
          <a:xfrm>
            <a:off x="548640" y="4800600"/>
            <a:ext cx="11064240" cy="868680"/>
          </a:xfrm>
          <a:prstGeom prst="rect">
            <a:avLst/>
          </a:prstGeom>
          <a:solidFill>
            <a:srgbClr val="FBEDE7"/>
          </a:solidFill>
          <a:ln/>
        </p:spPr>
      </p:sp>
      <p:sp>
        <p:nvSpPr>
          <p:cNvPr id="28" name="Shape 26"/>
          <p:cNvSpPr/>
          <p:nvPr/>
        </p:nvSpPr>
        <p:spPr>
          <a:xfrm>
            <a:off x="548640" y="4800600"/>
            <a:ext cx="68580" cy="868680"/>
          </a:xfrm>
          <a:prstGeom prst="rect">
            <a:avLst/>
          </a:prstGeom>
          <a:solidFill>
            <a:srgbClr val="D2603A"/>
          </a:solidFill>
          <a:ln/>
        </p:spPr>
      </p:sp>
      <p:sp>
        <p:nvSpPr>
          <p:cNvPr id="29" name="Text 27"/>
          <p:cNvSpPr/>
          <p:nvPr/>
        </p:nvSpPr>
        <p:spPr>
          <a:xfrm>
            <a:off x="804672" y="48920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and stratified re-analysis</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This Section Should Be Read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25880"/>
            <a:ext cx="68580" cy="1371600"/>
          </a:xfrm>
          <a:prstGeom prst="rect">
            <a:avLst/>
          </a:prstGeom>
          <a:solidFill>
            <a:srgbClr val="12505F"/>
          </a:solidFill>
          <a:ln/>
        </p:spPr>
      </p:sp>
      <p:sp>
        <p:nvSpPr>
          <p:cNvPr id="8" name="Text 6"/>
          <p:cNvSpPr/>
          <p:nvPr/>
        </p:nvSpPr>
        <p:spPr>
          <a:xfrm>
            <a:off x="80467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Outer loop</a:t>
            </a:r>
            <a:endParaRPr lang="en-US" sz="1400" dirty="0"/>
          </a:p>
        </p:txBody>
      </p:sp>
      <p:sp>
        <p:nvSpPr>
          <p:cNvPr id="9" name="Text 7"/>
          <p:cNvSpPr/>
          <p:nvPr/>
        </p:nvSpPr>
        <p:spPr>
          <a:xfrm>
            <a:off x="80467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RepeatedStratifiedKFold</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5 folds × 5 repeats = 25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performance estimate</a:t>
            </a:r>
            <a:endParaRPr lang="en-US" sz="1100" dirty="0"/>
          </a:p>
        </p:txBody>
      </p:sp>
      <p:sp>
        <p:nvSpPr>
          <p:cNvPr id="10" name="Shape 8"/>
          <p:cNvSpPr/>
          <p:nvPr/>
        </p:nvSpPr>
        <p:spPr>
          <a:xfrm>
            <a:off x="429768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325880"/>
            <a:ext cx="68580" cy="1371600"/>
          </a:xfrm>
          <a:prstGeom prst="rect">
            <a:avLst/>
          </a:prstGeom>
          <a:solidFill>
            <a:srgbClr val="18707F"/>
          </a:solidFill>
          <a:ln/>
        </p:spPr>
      </p:sp>
      <p:sp>
        <p:nvSpPr>
          <p:cNvPr id="12" name="Text 10"/>
          <p:cNvSpPr/>
          <p:nvPr/>
        </p:nvSpPr>
        <p:spPr>
          <a:xfrm>
            <a:off x="455371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Inner loop</a:t>
            </a:r>
            <a:endParaRPr lang="en-US" sz="1400" dirty="0"/>
          </a:p>
        </p:txBody>
      </p:sp>
      <p:sp>
        <p:nvSpPr>
          <p:cNvPr id="13" name="Text 11"/>
          <p:cNvSpPr/>
          <p:nvPr/>
        </p:nvSpPr>
        <p:spPr>
          <a:xfrm>
            <a:off x="455371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StratifiedKFold, 4 folds</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GridSearchCV on ROC-AUC</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hyperparameter search</a:t>
            </a:r>
            <a:endParaRPr lang="en-US" sz="1100" dirty="0"/>
          </a:p>
        </p:txBody>
      </p:sp>
      <p:sp>
        <p:nvSpPr>
          <p:cNvPr id="14" name="Shape 12"/>
          <p:cNvSpPr/>
          <p:nvPr/>
        </p:nvSpPr>
        <p:spPr>
          <a:xfrm>
            <a:off x="804672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325880"/>
            <a:ext cx="68580" cy="1371600"/>
          </a:xfrm>
          <a:prstGeom prst="rect">
            <a:avLst/>
          </a:prstGeom>
          <a:solidFill>
            <a:srgbClr val="8FB996"/>
          </a:solidFill>
          <a:ln/>
        </p:spPr>
      </p:sp>
      <p:sp>
        <p:nvSpPr>
          <p:cNvPr id="16" name="Text 14"/>
          <p:cNvSpPr/>
          <p:nvPr/>
        </p:nvSpPr>
        <p:spPr>
          <a:xfrm>
            <a:off x="830275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Shared splits</a:t>
            </a:r>
            <a:endParaRPr lang="en-US" sz="1400" dirty="0"/>
          </a:p>
        </p:txBody>
      </p:sp>
      <p:sp>
        <p:nvSpPr>
          <p:cNvPr id="17" name="Text 15"/>
          <p:cNvSpPr/>
          <p:nvPr/>
        </p:nvSpPr>
        <p:spPr>
          <a:xfrm>
            <a:off x="830275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Every model sees the identical</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fold partition</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fair comparison</a:t>
            </a:r>
            <a:endParaRPr lang="en-US" sz="1100" dirty="0"/>
          </a:p>
        </p:txBody>
      </p:sp>
      <p:sp>
        <p:nvSpPr>
          <p:cNvPr id="18" name="Text 16"/>
          <p:cNvSpPr/>
          <p:nvPr/>
        </p:nvSpPr>
        <p:spPr>
          <a:xfrm>
            <a:off x="548640" y="278892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Nesting isolates tuning from evaluation, so the reported AUC carries no tuning bias.</a:t>
            </a:r>
            <a:endParaRPr lang="en-US" sz="1100" dirty="0"/>
          </a:p>
        </p:txBody>
      </p:sp>
      <p:sp>
        <p:nvSpPr>
          <p:cNvPr id="19" name="Text 17"/>
          <p:cNvSpPr/>
          <p:nvPr/>
        </p:nvSpPr>
        <p:spPr>
          <a:xfrm>
            <a:off x="548640" y="3200400"/>
            <a:ext cx="11064240" cy="320040"/>
          </a:xfrm>
          <a:prstGeom prst="rect">
            <a:avLst/>
          </a:prstGeom>
          <a:noFill/>
          <a:ln/>
        </p:spPr>
        <p:txBody>
          <a:bodyPr wrap="square" lIns="0" tIns="0" rIns="0" bIns="0" rtlCol="0" anchor="ctr"/>
          <a:lstStyle/>
          <a:p>
            <a:pPr indent="0" marL="0">
              <a:buNone/>
            </a:pPr>
            <a:r>
              <a:rPr lang="en-US" sz="1700" b="1" dirty="0">
                <a:solidFill>
                  <a:srgbClr val="16252C"/>
                </a:solidFill>
                <a:latin typeface="Georgia" pitchFamily="34" charset="0"/>
                <a:ea typeface="Georgia" pitchFamily="34" charset="-122"/>
                <a:cs typeface="Georgia" pitchFamily="34" charset="-120"/>
              </a:rPr>
              <a:t>Three ways the metrics mislead</a:t>
            </a:r>
            <a:endParaRPr lang="en-US" sz="1700" dirty="0"/>
          </a:p>
        </p:txBody>
      </p:sp>
      <p:sp>
        <p:nvSpPr>
          <p:cNvPr id="20" name="Shape 18"/>
          <p:cNvSpPr/>
          <p:nvPr/>
        </p:nvSpPr>
        <p:spPr>
          <a:xfrm>
            <a:off x="54864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3611880"/>
            <a:ext cx="68580" cy="1371600"/>
          </a:xfrm>
          <a:prstGeom prst="rect">
            <a:avLst/>
          </a:prstGeom>
          <a:solidFill>
            <a:srgbClr val="D2603A"/>
          </a:solidFill>
          <a:ln/>
        </p:spPr>
      </p:sp>
      <p:sp>
        <p:nvSpPr>
          <p:cNvPr id="22" name="Text 20"/>
          <p:cNvSpPr/>
          <p:nvPr/>
        </p:nvSpPr>
        <p:spPr>
          <a:xfrm>
            <a:off x="80467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Accuracy's baseline is 0.581</a:t>
            </a:r>
            <a:endParaRPr lang="en-US" sz="1250" dirty="0"/>
          </a:p>
        </p:txBody>
      </p:sp>
      <p:sp>
        <p:nvSpPr>
          <p:cNvPr id="23" name="Text 21"/>
          <p:cNvSpPr/>
          <p:nvPr/>
        </p:nvSpPr>
        <p:spPr>
          <a:xfrm>
            <a:off x="80467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58% of samples are positive, so always-Pos already scores 0.581. Never report accuracy without that number beside it.</a:t>
            </a:r>
            <a:endParaRPr lang="en-US" sz="1100" dirty="0"/>
          </a:p>
        </p:txBody>
      </p:sp>
      <p:sp>
        <p:nvSpPr>
          <p:cNvPr id="24" name="Shape 22"/>
          <p:cNvSpPr/>
          <p:nvPr/>
        </p:nvSpPr>
        <p:spPr>
          <a:xfrm>
            <a:off x="429768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5" name="Shape 23"/>
          <p:cNvSpPr/>
          <p:nvPr/>
        </p:nvSpPr>
        <p:spPr>
          <a:xfrm>
            <a:off x="4297680" y="3611880"/>
            <a:ext cx="68580" cy="1371600"/>
          </a:xfrm>
          <a:prstGeom prst="rect">
            <a:avLst/>
          </a:prstGeom>
          <a:solidFill>
            <a:srgbClr val="D2603A"/>
          </a:solidFill>
          <a:ln/>
        </p:spPr>
      </p:sp>
      <p:sp>
        <p:nvSpPr>
          <p:cNvPr id="26" name="Text 24"/>
          <p:cNvSpPr/>
          <p:nvPr/>
        </p:nvSpPr>
        <p:spPr>
          <a:xfrm>
            <a:off x="455371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F1 cannot rank models</a:t>
            </a:r>
            <a:endParaRPr lang="en-US" sz="1250" dirty="0"/>
          </a:p>
        </p:txBody>
      </p:sp>
      <p:sp>
        <p:nvSpPr>
          <p:cNvPr id="27" name="Text 25"/>
          <p:cNvSpPr/>
          <p:nvPr/>
        </p:nvSpPr>
        <p:spPr>
          <a:xfrm>
            <a:off x="455371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always-Pos baseline scores F1 = 0.735 — above L2-LR's 0.725. F1 inflates when positives dominate.</a:t>
            </a:r>
            <a:endParaRPr lang="en-US" sz="1100" dirty="0"/>
          </a:p>
        </p:txBody>
      </p:sp>
      <p:sp>
        <p:nvSpPr>
          <p:cNvPr id="28" name="Shape 26"/>
          <p:cNvSpPr/>
          <p:nvPr/>
        </p:nvSpPr>
        <p:spPr>
          <a:xfrm>
            <a:off x="804672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9" name="Shape 27"/>
          <p:cNvSpPr/>
          <p:nvPr/>
        </p:nvSpPr>
        <p:spPr>
          <a:xfrm>
            <a:off x="8046720" y="3611880"/>
            <a:ext cx="68580" cy="1371600"/>
          </a:xfrm>
          <a:prstGeom prst="rect">
            <a:avLst/>
          </a:prstGeom>
          <a:solidFill>
            <a:srgbClr val="D2603A"/>
          </a:solidFill>
          <a:ln/>
        </p:spPr>
      </p:sp>
      <p:sp>
        <p:nvSpPr>
          <p:cNvPr id="30" name="Text 28"/>
          <p:cNvSpPr/>
          <p:nvPr/>
        </p:nvSpPr>
        <p:spPr>
          <a:xfrm>
            <a:off x="830275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MCC has a zero baseline</a:t>
            </a:r>
            <a:endParaRPr lang="en-US" sz="1250" dirty="0"/>
          </a:p>
        </p:txBody>
      </p:sp>
      <p:sp>
        <p:nvSpPr>
          <p:cNvPr id="31" name="Text 29"/>
          <p:cNvSpPr/>
          <p:nvPr/>
        </p:nvSpPr>
        <p:spPr>
          <a:xfrm>
            <a:off x="830275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does balanced accuracy. They expose class asymmetry at once: RF reaches 0.725 accuracy while catching 55% of negatives.</a:t>
            </a:r>
            <a:endParaRPr lang="en-US" sz="1100" dirty="0"/>
          </a:p>
        </p:txBody>
      </p:sp>
      <p:sp>
        <p:nvSpPr>
          <p:cNvPr id="32" name="Shape 30"/>
          <p:cNvSpPr/>
          <p:nvPr/>
        </p:nvSpPr>
        <p:spPr>
          <a:xfrm>
            <a:off x="548640" y="5166360"/>
            <a:ext cx="11064240" cy="777240"/>
          </a:xfrm>
          <a:prstGeom prst="rect">
            <a:avLst/>
          </a:prstGeom>
          <a:solidFill>
            <a:srgbClr val="FBEDE7"/>
          </a:solidFill>
          <a:ln/>
        </p:spPr>
      </p:sp>
      <p:sp>
        <p:nvSpPr>
          <p:cNvPr id="33" name="Shape 31"/>
          <p:cNvSpPr/>
          <p:nvPr/>
        </p:nvSpPr>
        <p:spPr>
          <a:xfrm>
            <a:off x="548640" y="5166360"/>
            <a:ext cx="68580" cy="777240"/>
          </a:xfrm>
          <a:prstGeom prst="rect">
            <a:avLst/>
          </a:prstGeom>
          <a:solidFill>
            <a:srgbClr val="D2603A"/>
          </a:solidFill>
          <a:ln/>
        </p:spPr>
      </p:sp>
      <p:sp>
        <p:nvSpPr>
          <p:cNvPr id="34" name="Text 32"/>
          <p:cNvSpPr/>
          <p:nvPr/>
        </p:nvSpPr>
        <p:spPr>
          <a:xfrm>
            <a:off x="804672" y="5257800"/>
            <a:ext cx="10607040" cy="594360"/>
          </a:xfrm>
          <a:prstGeom prst="rect">
            <a:avLst/>
          </a:prstGeom>
          <a:noFill/>
          <a:ln/>
        </p:spPr>
        <p:txBody>
          <a:bodyPr wrap="square" lIns="0" tIns="0" rIns="0" bIns="0" rtlCol="0" anchor="t"/>
          <a:lstStyle/>
          <a:p>
            <a:pPr indent="0" marL="0">
              <a:lnSpc>
                <a:spcPct val="110000"/>
              </a:lnSpc>
              <a:buNone/>
            </a:pPr>
            <a:r>
              <a:rPr lang="en-US" sz="11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Four of Them Tied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0.694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0.797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0.481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0.553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0.656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0.687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0.885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by ROC-AUC · shading marks the tied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Read the top block as one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first four rows cannot be told apart (next slide) — their order here is noise. Real separation starts at GP-RBF.</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286000"/>
                <a:gridCol w="1755648"/>
                <a:gridCol w="1755648"/>
                <a:gridCol w="1755648"/>
                <a:gridCol w="1755648"/>
                <a:gridCol w="1755648"/>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.360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.554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.420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bl>
          </a:graphicData>
        </a:graphic>
      </p:graphicFrame>
      <p:sp>
        <p:nvSpPr>
          <p:cNvPr id="8" name="Shape 5"/>
          <p:cNvSpPr/>
          <p:nvPr/>
        </p:nvSpPr>
        <p:spPr>
          <a:xfrm>
            <a:off x="548640" y="4407408"/>
            <a:ext cx="182880" cy="182880"/>
          </a:xfrm>
          <a:prstGeom prst="rect">
            <a:avLst/>
          </a:prstGeom>
          <a:solidFill>
            <a:srgbClr val="EDEDEA"/>
          </a:solidFill>
          <a:ln/>
        </p:spPr>
      </p:sp>
      <p:sp>
        <p:nvSpPr>
          <p:cNvPr id="9" name="Text 6"/>
          <p:cNvSpPr/>
          <p:nvPr/>
        </p:nvSpPr>
        <p:spPr>
          <a:xfrm>
            <a:off x="822960" y="4370832"/>
            <a:ext cx="384048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407408"/>
            <a:ext cx="182880" cy="182880"/>
          </a:xfrm>
          <a:prstGeom prst="rect">
            <a:avLst/>
          </a:prstGeom>
          <a:solidFill>
            <a:srgbClr val="E4F0F0"/>
          </a:solidFill>
          <a:ln/>
        </p:spPr>
      </p:sp>
      <p:sp>
        <p:nvSpPr>
          <p:cNvPr id="11" name="Text 8"/>
          <p:cNvSpPr/>
          <p:nvPr/>
        </p:nvSpPr>
        <p:spPr>
          <a:xfrm>
            <a:off x="4754880" y="4370832"/>
            <a:ext cx="365760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617720"/>
            <a:ext cx="5394960" cy="129844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617720"/>
            <a:ext cx="68580" cy="1298448"/>
          </a:xfrm>
          <a:prstGeom prst="rect">
            <a:avLst/>
          </a:prstGeom>
          <a:solidFill>
            <a:srgbClr val="D2603A"/>
          </a:solidFill>
          <a:ln/>
        </p:spPr>
      </p:sp>
      <p:sp>
        <p:nvSpPr>
          <p:cNvPr id="14" name="Text 11"/>
          <p:cNvSpPr/>
          <p:nvPr/>
        </p:nvSpPr>
        <p:spPr>
          <a:xfrm>
            <a:off x="804672" y="476402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top four are a statistical tie</a:t>
            </a:r>
            <a:endParaRPr lang="en-US" sz="1400" dirty="0"/>
          </a:p>
        </p:txBody>
      </p:sp>
      <p:sp>
        <p:nvSpPr>
          <p:cNvPr id="15" name="Text 12"/>
          <p:cNvSpPr/>
          <p:nvPr/>
        </p:nvSpPr>
        <p:spPr>
          <a:xfrm>
            <a:off x="804672" y="5148072"/>
            <a:ext cx="4937760" cy="640080"/>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ExtraTrees, SVM-RBF, the ensemble and SVM-poly cannot be separated from one another on this data. Their AUCs span 0.834–0.859, well inside the ±0.04–0.06 fold-to-fold spread.</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Ranking them is reading noise.</a:t>
            </a:r>
            <a:endParaRPr lang="en-US" sz="1100" dirty="0"/>
          </a:p>
        </p:txBody>
      </p:sp>
      <p:sp>
        <p:nvSpPr>
          <p:cNvPr id="16" name="Shape 13"/>
          <p:cNvSpPr/>
          <p:nvPr/>
        </p:nvSpPr>
        <p:spPr>
          <a:xfrm>
            <a:off x="6217920" y="4617720"/>
            <a:ext cx="5394960" cy="129844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617720"/>
            <a:ext cx="68580" cy="1298448"/>
          </a:xfrm>
          <a:prstGeom prst="rect">
            <a:avLst/>
          </a:prstGeom>
          <a:solidFill>
            <a:srgbClr val="8FB996"/>
          </a:solidFill>
          <a:ln/>
        </p:spPr>
      </p:sp>
      <p:sp>
        <p:nvSpPr>
          <p:cNvPr id="18" name="Text 15"/>
          <p:cNvSpPr/>
          <p:nvPr/>
        </p:nvSpPr>
        <p:spPr>
          <a:xfrm>
            <a:off x="6473952" y="476402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148072"/>
            <a:ext cx="4937760" cy="640080"/>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
        <p:nvSpPr>
          <p:cNvPr id="20" name="Text 17"/>
          <p:cNvSpPr/>
          <p:nvPr/>
        </p:nvSpPr>
        <p:spPr>
          <a:xfrm>
            <a:off x="548640" y="6016752"/>
            <a:ext cx="11064240" cy="32004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Hyperparameter robustness: the SVM-RBF grid was expanded to C ∈ [0.01, 500] and gamma ∈ [1e-4, 0.1] + scale. 0 of 15 folds selected a boundary value and AUC was unchanged (0.838 vs 0.839); the whole surface spans only 0.73–0.81. Full surface in results/svm_hyperparam_surface.csv.</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0.020 AUC lead at p=0.085 does not settle a model choice. The decisive test is where each model stands when the signal is weak — so we re-ran both inside every sampling-month stratum.</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18</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ABLATION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Much Does the Microbiome Actually Add?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sp>
        <p:nvSpPr>
          <p:cNvPr id="6" name="Text 4"/>
          <p:cNvSpPr/>
          <p:nvPr/>
        </p:nvSpPr>
        <p:spPr>
          <a:xfrm>
            <a:off x="548640" y="160020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Covariates only</a:t>
            </a:r>
            <a:endParaRPr lang="en-US" sz="1400" dirty="0"/>
          </a:p>
        </p:txBody>
      </p:sp>
      <p:sp>
        <p:nvSpPr>
          <p:cNvPr id="7" name="Text 5"/>
          <p:cNvSpPr/>
          <p:nvPr/>
        </p:nvSpPr>
        <p:spPr>
          <a:xfrm>
            <a:off x="548640" y="191109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season, site, species, sex, month</a:t>
            </a:r>
            <a:endParaRPr lang="en-US" sz="1050" dirty="0"/>
          </a:p>
        </p:txBody>
      </p:sp>
      <p:sp>
        <p:nvSpPr>
          <p:cNvPr id="8" name="Shape 6"/>
          <p:cNvSpPr/>
          <p:nvPr/>
        </p:nvSpPr>
        <p:spPr>
          <a:xfrm>
            <a:off x="3611880" y="1645920"/>
            <a:ext cx="6949440" cy="475488"/>
          </a:xfrm>
          <a:prstGeom prst="rect">
            <a:avLst/>
          </a:prstGeom>
          <a:solidFill>
            <a:srgbClr val="E8EEF0"/>
          </a:solidFill>
          <a:ln/>
        </p:spPr>
      </p:sp>
      <p:sp>
        <p:nvSpPr>
          <p:cNvPr id="9" name="Shape 7"/>
          <p:cNvSpPr/>
          <p:nvPr/>
        </p:nvSpPr>
        <p:spPr>
          <a:xfrm>
            <a:off x="3611880" y="1645920"/>
            <a:ext cx="5883859" cy="475488"/>
          </a:xfrm>
          <a:prstGeom prst="rect">
            <a:avLst/>
          </a:prstGeom>
          <a:solidFill>
            <a:srgbClr val="12505F"/>
          </a:solidFill>
          <a:ln/>
        </p:spPr>
      </p:sp>
      <p:sp>
        <p:nvSpPr>
          <p:cNvPr id="10" name="Text 8"/>
          <p:cNvSpPr/>
          <p:nvPr/>
        </p:nvSpPr>
        <p:spPr>
          <a:xfrm>
            <a:off x="10698480" y="1664208"/>
            <a:ext cx="914400" cy="411480"/>
          </a:xfrm>
          <a:prstGeom prst="rect">
            <a:avLst/>
          </a:prstGeom>
          <a:noFill/>
          <a:ln/>
        </p:spPr>
        <p:txBody>
          <a:bodyPr wrap="square" lIns="0" tIns="0" rIns="0" bIns="0" rtlCol="0" anchor="ctr"/>
          <a:lstStyle/>
          <a:p>
            <a:pPr indent="0" marL="0">
              <a:buNone/>
            </a:pPr>
            <a:r>
              <a:rPr lang="en-US" sz="1700" b="1" dirty="0">
                <a:solidFill>
                  <a:srgbClr val="12505F"/>
                </a:solidFill>
                <a:latin typeface="Georgia" pitchFamily="34" charset="0"/>
                <a:ea typeface="Georgia" pitchFamily="34" charset="-122"/>
                <a:cs typeface="Georgia" pitchFamily="34" charset="-120"/>
              </a:rPr>
              <a:t>0.881</a:t>
            </a:r>
            <a:endParaRPr lang="en-US" sz="1700" dirty="0"/>
          </a:p>
        </p:txBody>
      </p:sp>
      <p:sp>
        <p:nvSpPr>
          <p:cNvPr id="11" name="Text 9"/>
          <p:cNvSpPr/>
          <p:nvPr/>
        </p:nvSpPr>
        <p:spPr>
          <a:xfrm>
            <a:off x="548640" y="265176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only</a:t>
            </a:r>
            <a:endParaRPr lang="en-US" sz="1400" dirty="0"/>
          </a:p>
        </p:txBody>
      </p:sp>
      <p:sp>
        <p:nvSpPr>
          <p:cNvPr id="12" name="Text 10"/>
          <p:cNvSpPr/>
          <p:nvPr/>
        </p:nvSpPr>
        <p:spPr>
          <a:xfrm>
            <a:off x="548640" y="296265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70 CLR features</a:t>
            </a:r>
            <a:endParaRPr lang="en-US" sz="1050" dirty="0"/>
          </a:p>
        </p:txBody>
      </p:sp>
      <p:sp>
        <p:nvSpPr>
          <p:cNvPr id="13" name="Shape 11"/>
          <p:cNvSpPr/>
          <p:nvPr/>
        </p:nvSpPr>
        <p:spPr>
          <a:xfrm>
            <a:off x="3611880" y="2697480"/>
            <a:ext cx="6949440" cy="475488"/>
          </a:xfrm>
          <a:prstGeom prst="rect">
            <a:avLst/>
          </a:prstGeom>
          <a:solidFill>
            <a:srgbClr val="E8EEF0"/>
          </a:solidFill>
          <a:ln/>
        </p:spPr>
      </p:sp>
      <p:sp>
        <p:nvSpPr>
          <p:cNvPr id="14" name="Shape 12"/>
          <p:cNvSpPr/>
          <p:nvPr/>
        </p:nvSpPr>
        <p:spPr>
          <a:xfrm>
            <a:off x="3611880" y="2697480"/>
            <a:ext cx="4107891" cy="475488"/>
          </a:xfrm>
          <a:prstGeom prst="rect">
            <a:avLst/>
          </a:prstGeom>
          <a:solidFill>
            <a:srgbClr val="18707F"/>
          </a:solidFill>
          <a:ln/>
        </p:spPr>
      </p:sp>
      <p:sp>
        <p:nvSpPr>
          <p:cNvPr id="15" name="Text 13"/>
          <p:cNvSpPr/>
          <p:nvPr/>
        </p:nvSpPr>
        <p:spPr>
          <a:xfrm>
            <a:off x="10698480" y="2715768"/>
            <a:ext cx="914400" cy="411480"/>
          </a:xfrm>
          <a:prstGeom prst="rect">
            <a:avLst/>
          </a:prstGeom>
          <a:noFill/>
          <a:ln/>
        </p:spPr>
        <p:txBody>
          <a:bodyPr wrap="square" lIns="0" tIns="0" rIns="0" bIns="0" rtlCol="0" anchor="ctr"/>
          <a:lstStyle/>
          <a:p>
            <a:pPr indent="0" marL="0">
              <a:buNone/>
            </a:pPr>
            <a:r>
              <a:rPr lang="en-US" sz="1700" b="1" dirty="0">
                <a:solidFill>
                  <a:srgbClr val="18707F"/>
                </a:solidFill>
                <a:latin typeface="Georgia" pitchFamily="34" charset="0"/>
                <a:ea typeface="Georgia" pitchFamily="34" charset="-122"/>
                <a:cs typeface="Georgia" pitchFamily="34" charset="-120"/>
              </a:rPr>
              <a:t>0.766</a:t>
            </a:r>
            <a:endParaRPr lang="en-US" sz="1700" dirty="0"/>
          </a:p>
        </p:txBody>
      </p:sp>
      <p:sp>
        <p:nvSpPr>
          <p:cNvPr id="16" name="Text 14"/>
          <p:cNvSpPr/>
          <p:nvPr/>
        </p:nvSpPr>
        <p:spPr>
          <a:xfrm>
            <a:off x="548640" y="370332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 covariates</a:t>
            </a:r>
            <a:endParaRPr lang="en-US" sz="1400" dirty="0"/>
          </a:p>
        </p:txBody>
      </p:sp>
      <p:sp>
        <p:nvSpPr>
          <p:cNvPr id="17" name="Text 15"/>
          <p:cNvSpPr/>
          <p:nvPr/>
        </p:nvSpPr>
        <p:spPr>
          <a:xfrm>
            <a:off x="548640" y="401421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combined model</a:t>
            </a:r>
            <a:endParaRPr lang="en-US" sz="1050" dirty="0"/>
          </a:p>
        </p:txBody>
      </p:sp>
      <p:sp>
        <p:nvSpPr>
          <p:cNvPr id="18" name="Shape 16"/>
          <p:cNvSpPr/>
          <p:nvPr/>
        </p:nvSpPr>
        <p:spPr>
          <a:xfrm>
            <a:off x="3611880" y="3749040"/>
            <a:ext cx="6949440" cy="475488"/>
          </a:xfrm>
          <a:prstGeom prst="rect">
            <a:avLst/>
          </a:prstGeom>
          <a:solidFill>
            <a:srgbClr val="E8EEF0"/>
          </a:solidFill>
          <a:ln/>
        </p:spPr>
      </p:sp>
      <p:sp>
        <p:nvSpPr>
          <p:cNvPr id="19" name="Shape 17"/>
          <p:cNvSpPr/>
          <p:nvPr/>
        </p:nvSpPr>
        <p:spPr>
          <a:xfrm>
            <a:off x="3611880" y="3749040"/>
            <a:ext cx="6547917" cy="475488"/>
          </a:xfrm>
          <a:prstGeom prst="rect">
            <a:avLst/>
          </a:prstGeom>
          <a:solidFill>
            <a:srgbClr val="8FB996"/>
          </a:solidFill>
          <a:ln/>
        </p:spPr>
      </p:sp>
      <p:sp>
        <p:nvSpPr>
          <p:cNvPr id="20" name="Text 18"/>
          <p:cNvSpPr/>
          <p:nvPr/>
        </p:nvSpPr>
        <p:spPr>
          <a:xfrm>
            <a:off x="10698480" y="3767328"/>
            <a:ext cx="914400" cy="411480"/>
          </a:xfrm>
          <a:prstGeom prst="rect">
            <a:avLst/>
          </a:prstGeom>
          <a:noFill/>
          <a:ln/>
        </p:spPr>
        <p:txBody>
          <a:bodyPr wrap="square" lIns="0" tIns="0" rIns="0" bIns="0" rtlCol="0" anchor="ctr"/>
          <a:lstStyle/>
          <a:p>
            <a:pPr indent="0" marL="0">
              <a:buNone/>
            </a:pPr>
            <a:r>
              <a:rPr lang="en-US" sz="1700" b="1" dirty="0">
                <a:solidFill>
                  <a:srgbClr val="8FB996"/>
                </a:solidFill>
                <a:latin typeface="Georgia" pitchFamily="34" charset="0"/>
                <a:ea typeface="Georgia" pitchFamily="34" charset="-122"/>
                <a:cs typeface="Georgia" pitchFamily="34" charset="-120"/>
              </a:rPr>
              <a:t>0.924</a:t>
            </a:r>
            <a:endParaRPr lang="en-US" sz="1700" dirty="0"/>
          </a:p>
        </p:txBody>
      </p:sp>
      <p:sp>
        <p:nvSpPr>
          <p:cNvPr id="21" name="Text 19"/>
          <p:cNvSpPr/>
          <p:nvPr/>
        </p:nvSpPr>
        <p:spPr>
          <a:xfrm>
            <a:off x="3611880" y="4709160"/>
            <a:ext cx="365760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AUC  (bar origin = 0.50)</a:t>
            </a:r>
            <a:endParaRPr lang="en-US" sz="1000" dirty="0"/>
          </a:p>
        </p:txBody>
      </p:sp>
      <p:sp>
        <p:nvSpPr>
          <p:cNvPr id="22" name="Shape 20"/>
          <p:cNvSpPr/>
          <p:nvPr/>
        </p:nvSpPr>
        <p:spPr>
          <a:xfrm>
            <a:off x="548640" y="5074920"/>
            <a:ext cx="11064240" cy="10515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5074920"/>
            <a:ext cx="68580" cy="1051560"/>
          </a:xfrm>
          <a:prstGeom prst="rect">
            <a:avLst/>
          </a:prstGeom>
          <a:solidFill>
            <a:srgbClr val="D2603A"/>
          </a:solidFill>
          <a:ln/>
        </p:spPr>
      </p:sp>
      <p:sp>
        <p:nvSpPr>
          <p:cNvPr id="24" name="Text 22"/>
          <p:cNvSpPr/>
          <p:nvPr/>
        </p:nvSpPr>
        <p:spPr>
          <a:xfrm>
            <a:off x="804672" y="52212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Read this carefully</a:t>
            </a:r>
            <a:endParaRPr lang="en-US" sz="1500" dirty="0"/>
          </a:p>
        </p:txBody>
      </p:sp>
      <p:sp>
        <p:nvSpPr>
          <p:cNvPr id="25" name="Text 23"/>
          <p:cNvSpPr/>
          <p:nvPr/>
        </p:nvSpPr>
        <p:spPr>
          <a:xfrm>
            <a:off x="804672" y="56052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adds +0.043 over covariates alone — a real but modest independent contribution. Covariates by themselves already reach 0.881. Any claim that "gut microbiota predict influenza" must be quoted against that baseline, not against 0.50.</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24</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0.839</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0.766</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Δ = +0.073, winning 25 of 25 folds, Wilcoxon p = 1e-5.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Text 32"/>
          <p:cNvSpPr/>
          <p:nvPr/>
        </p:nvSpPr>
        <p:spPr>
          <a:xfrm>
            <a:off x="6263640" y="5029200"/>
            <a:ext cx="5303520" cy="91440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a:p>
            <a:pPr indent="0" marL="0">
              <a:buNone/>
            </a:pPr>
            <a:r>
              <a:rPr lang="en-US" sz="1100" i="1" dirty="0">
                <a:solidFill>
                  <a:srgbClr val="5F7580"/>
                </a:solidFill>
                <a:latin typeface="Calibri" pitchFamily="34" charset="0"/>
                <a:ea typeface="Calibri" pitchFamily="34" charset="-122"/>
                <a:cs typeface="Calibri" pitchFamily="34" charset="-120"/>
              </a:rPr>
              <a:t>Item 7 is why ExtraTrees, despite the highest AUC, is not the primary model.</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0.839, MCC 0.531 — significantly beating Random Forest (p = 0.021), XGBoost (p = 0.0016)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Sampling season is a serious confounder (covariates alone: AUC 0.881), but stratified analysis shows it does not explain the signal away.</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0.859)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2026-08-10T22:53:56Z</dcterms:created>
  <dcterms:modified xsi:type="dcterms:W3CDTF">2026-08-10T22:53:56Z</dcterms:modified>
</cp:coreProperties>
</file>