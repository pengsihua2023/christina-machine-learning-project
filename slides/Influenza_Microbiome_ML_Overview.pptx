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2" d="100"/>
          <a:sy n="162" d="100"/>
        </p:scale>
        <p:origin x="216"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8219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marL="0" indent="0">
              <a:buNone/>
            </a:pPr>
            <a:r>
              <a:rPr lang="en-US" sz="1500" b="1" kern="0" spc="30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marL="0" indent="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marL="0" indent="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marL="0" indent="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marL="0" indent="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marL="0" indent="0" algn="r">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marL="0" indent="0" algn="ctr">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marL="0" indent="0" algn="ctr">
              <a:buNone/>
            </a:pPr>
            <a:r>
              <a:rPr lang="en-US" sz="3000" b="1" dirty="0">
                <a:solidFill>
                  <a:srgbClr val="12505F"/>
                </a:solidFill>
                <a:latin typeface="Georgia" pitchFamily="34" charset="0"/>
                <a:ea typeface="Georgia" pitchFamily="34" charset="-122"/>
                <a:cs typeface="Georgia" pitchFamily="34" charset="-120"/>
              </a:rPr>
              <a:t>0.73–0.97</a:t>
            </a:r>
            <a:endParaRPr lang="en-US" sz="3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Effect within a season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AUC, microbiome only</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marL="0" indent="0" algn="ctr">
              <a:buNone/>
            </a:pPr>
            <a:r>
              <a:rPr lang="en-US" sz="2800" b="1" dirty="0">
                <a:solidFill>
                  <a:srgbClr val="12505F"/>
                </a:solidFill>
                <a:latin typeface="Georgia" pitchFamily="34" charset="0"/>
                <a:ea typeface="Georgia" pitchFamily="34" charset="-122"/>
                <a:cs typeface="Georgia" pitchFamily="34" charset="-120"/>
              </a:rPr>
              <a:t>+0.04–0.11</a:t>
            </a:r>
            <a:endParaRPr lang="en-US" sz="28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Adds over covariates</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model-dependent increment</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marL="0" indent="0" algn="ctr">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marL="0" indent="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no consistent ranking exists among the leading models (AUC 0.825–0.858, all within fold-to-fold noise),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blurRad="101600" dist="25400" dir="8100000" algn="bl" rotWithShape="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blurRad="101600" dist="25400" dir="8100000" algn="bl" rotWithShape="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marL="0" indent="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stratification, and a deconfounded subset</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2377440"/>
        </p:xfrm>
        <a:graphic>
          <a:graphicData uri="http://schemas.openxmlformats.org/drawingml/2006/table">
            <a:tbl>
              <a:tblPr/>
              <a:tblGrid>
                <a:gridCol w="4114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47548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Shape 4"/>
          <p:cNvSpPr/>
          <p:nvPr/>
        </p:nvSpPr>
        <p:spPr>
          <a:xfrm>
            <a:off x="548640" y="4206240"/>
            <a:ext cx="5394960" cy="1371600"/>
          </a:xfrm>
          <a:prstGeom prst="rect">
            <a:avLst/>
          </a:prstGeom>
          <a:solidFill>
            <a:srgbClr val="FFFFFF"/>
          </a:solidFill>
          <a:ln/>
          <a:effectLst>
            <a:outerShdw blurRad="101600" dist="25400" dir="8100000" algn="bl" rotWithShape="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blurRad="101600" dist="25400" dir="8100000" algn="bl" rotWithShape="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2286000"/>
        </p:xfrm>
        <a:graphic>
          <a:graphicData uri="http://schemas.openxmlformats.org/drawingml/2006/table">
            <a:tbl>
              <a:tblPr/>
              <a:tblGrid>
                <a:gridCol w="22860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45720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4"/>
          <p:cNvSpPr/>
          <p:nvPr/>
        </p:nvSpPr>
        <p:spPr>
          <a:xfrm>
            <a:off x="548640" y="4114800"/>
            <a:ext cx="11064240" cy="960120"/>
          </a:xfrm>
          <a:prstGeom prst="rect">
            <a:avLst/>
          </a:prstGeom>
          <a:solidFill>
            <a:srgbClr val="FFFFFF"/>
          </a:solidFill>
          <a:ln/>
          <a:effectLst>
            <a:outerShdw blurRad="101600" dist="25400" dir="8100000" algn="bl" rotWithShape="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marL="0" indent="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marL="0" indent="0" algn="ctr">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marL="0" indent="0" algn="ctr">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marL="0" indent="0" algn="ctr">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marL="0" indent="0" algn="ctr">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marL="0" indent="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3200400"/>
        </p:xfrm>
        <a:graphic>
          <a:graphicData uri="http://schemas.openxmlformats.org/drawingml/2006/table">
            <a:tbl>
              <a:tblPr/>
              <a:tblGrid>
                <a:gridCol w="420624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572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marL="0" indent="0" algn="l">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Shape 5"/>
          <p:cNvSpPr/>
          <p:nvPr/>
        </p:nvSpPr>
        <p:spPr>
          <a:xfrm>
            <a:off x="548640" y="5120640"/>
            <a:ext cx="11064240" cy="1051560"/>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7" name="Text 7"/>
          <p:cNvSpPr/>
          <p:nvPr/>
        </p:nvSpPr>
        <p:spPr>
          <a:xfrm>
            <a:off x="804672" y="526694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marL="0" indent="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marL="0" indent="0" algn="ctr">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marL="0" indent="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marL="0" indent="0" algn="ctr">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marL="0" indent="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marL="0" indent="0" algn="ctr">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r>
              <a:rPr lang="en-US" sz="1350" b="1" dirty="0">
                <a:solidFill>
                  <a:srgbClr val="16252C"/>
                </a:solidFill>
                <a:latin typeface="Georgia" pitchFamily="34" charset="0"/>
                <a:ea typeface="Georgia" pitchFamily="34" charset="-122"/>
                <a:cs typeface="Georgia" pitchFamily="34" charset="-120"/>
              </a:rPr>
              <a:t>CLR: Centered Log-Ratio (transformation) </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blurRad="101600" dist="25400" dir="8100000" algn="bl" rotWithShape="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marL="0" indent="0">
              <a:lnSpc>
                <a:spcPct val="112000"/>
              </a:lnSpc>
              <a:buNone/>
            </a:pPr>
            <a:endParaRPr lang="en-US" sz="1200" dirty="0"/>
          </a:p>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marL="0" indent="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blurRad="101600" dist="25400" dir="8100000" algn="bl" rotWithShape="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How This Section Should Be Read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blurRad="101600" dist="25400" dir="8100000" algn="bl" rotWithShape="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marL="0" indent="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Text 17"/>
          <p:cNvSpPr/>
          <p:nvPr/>
        </p:nvSpPr>
        <p:spPr>
          <a:xfrm>
            <a:off x="548640" y="3200400"/>
            <a:ext cx="11064240" cy="320040"/>
          </a:xfrm>
          <a:prstGeom prst="rect">
            <a:avLst/>
          </a:prstGeom>
          <a:noFill/>
          <a:ln/>
        </p:spPr>
        <p:txBody>
          <a:bodyPr wrap="square" lIns="0" tIns="0" rIns="0" bIns="0" rtlCol="0" anchor="ctr"/>
          <a:lstStyle/>
          <a:p>
            <a:pPr marL="0" indent="0">
              <a:buNone/>
            </a:pPr>
            <a:r>
              <a:rPr lang="en-US" sz="1700" b="1" dirty="0">
                <a:solidFill>
                  <a:srgbClr val="16252C"/>
                </a:solidFill>
                <a:latin typeface="Georgia" pitchFamily="34" charset="0"/>
                <a:ea typeface="Georgia" pitchFamily="34" charset="-122"/>
                <a:cs typeface="Georgia" pitchFamily="34" charset="-120"/>
              </a:rPr>
              <a:t>Three ways the metrics mislead</a:t>
            </a:r>
            <a:endParaRPr lang="en-US" sz="1700" dirty="0"/>
          </a:p>
        </p:txBody>
      </p:sp>
      <p:sp>
        <p:nvSpPr>
          <p:cNvPr id="20" name="Shape 18"/>
          <p:cNvSpPr/>
          <p:nvPr/>
        </p:nvSpPr>
        <p:spPr>
          <a:xfrm>
            <a:off x="548640" y="3611880"/>
            <a:ext cx="3566160" cy="1371600"/>
          </a:xfrm>
          <a:prstGeom prst="rect">
            <a:avLst/>
          </a:prstGeom>
          <a:solidFill>
            <a:srgbClr val="FBEDE7"/>
          </a:solidFill>
          <a:ln/>
          <a:effectLst>
            <a:outerShdw blurRad="101600" dist="25400" dir="8100000" algn="bl" rotWithShape="0">
              <a:srgbClr val="000000">
                <a:alpha val="10000"/>
              </a:srgbClr>
            </a:outerShdw>
          </a:effectLst>
        </p:spPr>
      </p:sp>
      <p:sp>
        <p:nvSpPr>
          <p:cNvPr id="21" name="Shape 19"/>
          <p:cNvSpPr/>
          <p:nvPr/>
        </p:nvSpPr>
        <p:spPr>
          <a:xfrm>
            <a:off x="548640" y="3611880"/>
            <a:ext cx="68580" cy="1371600"/>
          </a:xfrm>
          <a:prstGeom prst="rect">
            <a:avLst/>
          </a:prstGeom>
          <a:solidFill>
            <a:srgbClr val="D2603A"/>
          </a:solidFill>
          <a:ln/>
        </p:spPr>
      </p:sp>
      <p:sp>
        <p:nvSpPr>
          <p:cNvPr id="22" name="Text 20"/>
          <p:cNvSpPr/>
          <p:nvPr/>
        </p:nvSpPr>
        <p:spPr>
          <a:xfrm>
            <a:off x="804672" y="3758184"/>
            <a:ext cx="31089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1.  Accuracy's baseline is 0.581</a:t>
            </a:r>
            <a:endParaRPr lang="en-US" sz="1250" dirty="0"/>
          </a:p>
        </p:txBody>
      </p:sp>
      <p:sp>
        <p:nvSpPr>
          <p:cNvPr id="23" name="Text 21"/>
          <p:cNvSpPr/>
          <p:nvPr/>
        </p:nvSpPr>
        <p:spPr>
          <a:xfrm>
            <a:off x="804672" y="4142232"/>
            <a:ext cx="3108960" cy="713232"/>
          </a:xfrm>
          <a:prstGeom prst="rect">
            <a:avLst/>
          </a:prstGeom>
          <a:noFill/>
          <a:ln/>
        </p:spPr>
        <p:txBody>
          <a:bodyPr wrap="square" lIns="0" tIns="0" rIns="0" bIns="0" rtlCol="0" anchor="t"/>
          <a:lstStyle/>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58% of samples are positive, so always-Pos already scores 0.581. Never report accuracy without that number beside it.</a:t>
            </a:r>
            <a:endParaRPr lang="en-US" sz="1100" dirty="0"/>
          </a:p>
        </p:txBody>
      </p:sp>
      <p:sp>
        <p:nvSpPr>
          <p:cNvPr id="24" name="Shape 22"/>
          <p:cNvSpPr/>
          <p:nvPr/>
        </p:nvSpPr>
        <p:spPr>
          <a:xfrm>
            <a:off x="4297680" y="3611880"/>
            <a:ext cx="3566160" cy="1371600"/>
          </a:xfrm>
          <a:prstGeom prst="rect">
            <a:avLst/>
          </a:prstGeom>
          <a:solidFill>
            <a:srgbClr val="FBEDE7"/>
          </a:solidFill>
          <a:ln/>
          <a:effectLst>
            <a:outerShdw blurRad="101600" dist="25400" dir="8100000" algn="bl" rotWithShape="0">
              <a:srgbClr val="000000">
                <a:alpha val="10000"/>
              </a:srgbClr>
            </a:outerShdw>
          </a:effectLst>
        </p:spPr>
      </p:sp>
      <p:sp>
        <p:nvSpPr>
          <p:cNvPr id="25" name="Shape 23"/>
          <p:cNvSpPr/>
          <p:nvPr/>
        </p:nvSpPr>
        <p:spPr>
          <a:xfrm>
            <a:off x="4297680" y="3611880"/>
            <a:ext cx="68580" cy="1371600"/>
          </a:xfrm>
          <a:prstGeom prst="rect">
            <a:avLst/>
          </a:prstGeom>
          <a:solidFill>
            <a:srgbClr val="D2603A"/>
          </a:solidFill>
          <a:ln/>
        </p:spPr>
      </p:sp>
      <p:sp>
        <p:nvSpPr>
          <p:cNvPr id="26" name="Text 24"/>
          <p:cNvSpPr/>
          <p:nvPr/>
        </p:nvSpPr>
        <p:spPr>
          <a:xfrm>
            <a:off x="4553712" y="3758184"/>
            <a:ext cx="31089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2.  F1 cannot rank models</a:t>
            </a:r>
            <a:endParaRPr lang="en-US" sz="1250" dirty="0"/>
          </a:p>
        </p:txBody>
      </p:sp>
      <p:sp>
        <p:nvSpPr>
          <p:cNvPr id="27" name="Text 25"/>
          <p:cNvSpPr/>
          <p:nvPr/>
        </p:nvSpPr>
        <p:spPr>
          <a:xfrm>
            <a:off x="4553712" y="4142232"/>
            <a:ext cx="3108960" cy="713232"/>
          </a:xfrm>
          <a:prstGeom prst="rect">
            <a:avLst/>
          </a:prstGeom>
          <a:noFill/>
          <a:ln/>
        </p:spPr>
        <p:txBody>
          <a:bodyPr wrap="square" lIns="0" tIns="0" rIns="0" bIns="0" rtlCol="0" anchor="t"/>
          <a:lstStyle/>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The always-Pos baseline scores F1 = 0.735 — above L2-LR's 0.699. F1 inflates when positives dominate.</a:t>
            </a:r>
            <a:endParaRPr lang="en-US" sz="1100" dirty="0"/>
          </a:p>
        </p:txBody>
      </p:sp>
      <p:sp>
        <p:nvSpPr>
          <p:cNvPr id="28" name="Shape 26"/>
          <p:cNvSpPr/>
          <p:nvPr/>
        </p:nvSpPr>
        <p:spPr>
          <a:xfrm>
            <a:off x="8046720" y="3611880"/>
            <a:ext cx="3566160" cy="1371600"/>
          </a:xfrm>
          <a:prstGeom prst="rect">
            <a:avLst/>
          </a:prstGeom>
          <a:solidFill>
            <a:srgbClr val="FBEDE7"/>
          </a:solidFill>
          <a:ln/>
          <a:effectLst>
            <a:outerShdw blurRad="101600" dist="25400" dir="8100000" algn="bl" rotWithShape="0">
              <a:srgbClr val="000000">
                <a:alpha val="10000"/>
              </a:srgbClr>
            </a:outerShdw>
          </a:effectLst>
        </p:spPr>
      </p:sp>
      <p:sp>
        <p:nvSpPr>
          <p:cNvPr id="29" name="Shape 27"/>
          <p:cNvSpPr/>
          <p:nvPr/>
        </p:nvSpPr>
        <p:spPr>
          <a:xfrm>
            <a:off x="8046720" y="3611880"/>
            <a:ext cx="68580" cy="1371600"/>
          </a:xfrm>
          <a:prstGeom prst="rect">
            <a:avLst/>
          </a:prstGeom>
          <a:solidFill>
            <a:srgbClr val="D2603A"/>
          </a:solidFill>
          <a:ln/>
        </p:spPr>
      </p:sp>
      <p:sp>
        <p:nvSpPr>
          <p:cNvPr id="30" name="Text 28"/>
          <p:cNvSpPr/>
          <p:nvPr/>
        </p:nvSpPr>
        <p:spPr>
          <a:xfrm>
            <a:off x="8302752" y="3758184"/>
            <a:ext cx="31089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3.  MCC has a zero baseline</a:t>
            </a:r>
            <a:endParaRPr lang="en-US" sz="1250" dirty="0"/>
          </a:p>
        </p:txBody>
      </p:sp>
      <p:sp>
        <p:nvSpPr>
          <p:cNvPr id="31" name="Text 29"/>
          <p:cNvSpPr/>
          <p:nvPr/>
        </p:nvSpPr>
        <p:spPr>
          <a:xfrm>
            <a:off x="8302752" y="4142232"/>
            <a:ext cx="3108960" cy="713232"/>
          </a:xfrm>
          <a:prstGeom prst="rect">
            <a:avLst/>
          </a:prstGeom>
          <a:noFill/>
          <a:ln/>
        </p:spPr>
        <p:txBody>
          <a:bodyPr wrap="square" lIns="0" tIns="0" rIns="0" bIns="0" rtlCol="0" anchor="t"/>
          <a:lstStyle/>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So does balanced accuracy. They expose class asymmetry at once: RF reaches 0.718 accuracy while catching 54% of negatives.</a:t>
            </a:r>
            <a:endParaRPr lang="en-US" sz="1100" dirty="0"/>
          </a:p>
        </p:txBody>
      </p:sp>
      <p:sp>
        <p:nvSpPr>
          <p:cNvPr id="32" name="Shape 30"/>
          <p:cNvSpPr/>
          <p:nvPr/>
        </p:nvSpPr>
        <p:spPr>
          <a:xfrm>
            <a:off x="548640" y="5166360"/>
            <a:ext cx="11064240" cy="777240"/>
          </a:xfrm>
          <a:prstGeom prst="rect">
            <a:avLst/>
          </a:prstGeom>
          <a:solidFill>
            <a:srgbClr val="FBEDE7"/>
          </a:solidFill>
          <a:ln/>
        </p:spPr>
      </p:sp>
      <p:sp>
        <p:nvSpPr>
          <p:cNvPr id="33" name="Shape 31"/>
          <p:cNvSpPr/>
          <p:nvPr/>
        </p:nvSpPr>
        <p:spPr>
          <a:xfrm>
            <a:off x="548640" y="5166360"/>
            <a:ext cx="68580" cy="777240"/>
          </a:xfrm>
          <a:prstGeom prst="rect">
            <a:avLst/>
          </a:prstGeom>
          <a:solidFill>
            <a:srgbClr val="D2603A"/>
          </a:solidFill>
          <a:ln/>
        </p:spPr>
      </p:sp>
      <p:sp>
        <p:nvSpPr>
          <p:cNvPr id="34" name="Text 32"/>
          <p:cNvSpPr/>
          <p:nvPr/>
        </p:nvSpPr>
        <p:spPr>
          <a:xfrm>
            <a:off x="804672" y="5257800"/>
            <a:ext cx="10607040" cy="594360"/>
          </a:xfrm>
          <a:prstGeom prst="rect">
            <a:avLst/>
          </a:prstGeom>
          <a:noFill/>
          <a:ln/>
        </p:spPr>
        <p:txBody>
          <a:bodyPr wrap="square" lIns="0" tIns="0" rIns="0" bIns="0" rtlCol="0" anchor="t"/>
          <a:lstStyle/>
          <a:p>
            <a:pPr marL="0" indent="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98480" cy="3621024"/>
        </p:xfrm>
        <a:graphic>
          <a:graphicData uri="http://schemas.openxmlformats.org/drawingml/2006/table">
            <a:tbl>
              <a:tblPr/>
              <a:tblGrid>
                <a:gridCol w="26517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gridCol w="914400">
                  <a:extLst>
                    <a:ext uri="{9D8B030D-6E8A-4147-A177-3AD203B41FA5}">
                      <a16:colId xmlns:a16="http://schemas.microsoft.com/office/drawing/2014/main" val="20007"/>
                    </a:ext>
                  </a:extLst>
                </a:gridCol>
                <a:gridCol w="914400">
                  <a:extLst>
                    <a:ext uri="{9D8B030D-6E8A-4147-A177-3AD203B41FA5}">
                      <a16:colId xmlns:a16="http://schemas.microsoft.com/office/drawing/2014/main" val="20008"/>
                    </a:ext>
                  </a:extLst>
                </a:gridCol>
              </a:tblGrid>
              <a:tr h="301752">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0175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0.778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0.858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0.891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0.887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0.626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30175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0.773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0.764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0.835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0.871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0.708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0.807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0.535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2"/>
                  </a:ext>
                </a:extLst>
              </a:tr>
              <a:tr h="30175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0.767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0.757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0.874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0.699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0.523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3"/>
                  </a:ext>
                </a:extLst>
              </a:tr>
              <a:tr h="30175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0.740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0.718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0.825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0.857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0.579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0.792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0.463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4"/>
                  </a:ext>
                </a:extLst>
              </a:tr>
              <a:tr h="301752">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0.749</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0.733</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0.821</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0.868</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0.834</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0.631</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0.482</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0.746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0.728</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0.818</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0.615</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0.793</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0.475</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6"/>
                  </a:ext>
                </a:extLst>
              </a:tr>
              <a:tr h="301752">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0.718</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0.693</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0.806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0.535</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0.777</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0.416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7"/>
                  </a:ext>
                </a:extLst>
              </a:tr>
              <a:tr h="301752">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0.727</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0.716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0.646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0.768</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0.441</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8"/>
                  </a:ext>
                </a:extLst>
              </a:tr>
              <a:tr h="301752">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0.709</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0.695</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0.843</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0.783</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0.608</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0.399</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9"/>
                  </a:ext>
                </a:extLst>
              </a:tr>
              <a:tr h="301752">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0.710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0.679</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0.790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0.830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0.870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0.488</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0.776</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dirty="0">
                          <a:solidFill>
                            <a:srgbClr val="16252C"/>
                          </a:solidFill>
                          <a:latin typeface="Calibri" pitchFamily="34" charset="0"/>
                          <a:ea typeface="Calibri" pitchFamily="34" charset="-122"/>
                          <a:cs typeface="Calibri" pitchFamily="34" charset="-120"/>
                        </a:rPr>
                        <a:t>0.402</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10"/>
                  </a:ext>
                </a:extLst>
              </a:tr>
              <a:tr h="301752">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marL="0" indent="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ExtraTrees leads only nominally (p=0.041, uncorrected); SVM-RBF, the ensemble and SVM-poly are mutually indistinguishable (next slide).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marL="0" indent="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2304288"/>
        </p:xfrm>
        <a:graphic>
          <a:graphicData uri="http://schemas.openxmlformats.org/drawingml/2006/table">
            <a:tbl>
              <a:tblPr/>
              <a:tblGrid>
                <a:gridCol w="2286000">
                  <a:extLst>
                    <a:ext uri="{9D8B030D-6E8A-4147-A177-3AD203B41FA5}">
                      <a16:colId xmlns:a16="http://schemas.microsoft.com/office/drawing/2014/main" val="20000"/>
                    </a:ext>
                  </a:extLst>
                </a:gridCol>
                <a:gridCol w="1755648">
                  <a:extLst>
                    <a:ext uri="{9D8B030D-6E8A-4147-A177-3AD203B41FA5}">
                      <a16:colId xmlns:a16="http://schemas.microsoft.com/office/drawing/2014/main" val="20001"/>
                    </a:ext>
                  </a:extLst>
                </a:gridCol>
                <a:gridCol w="1755648">
                  <a:extLst>
                    <a:ext uri="{9D8B030D-6E8A-4147-A177-3AD203B41FA5}">
                      <a16:colId xmlns:a16="http://schemas.microsoft.com/office/drawing/2014/main" val="20002"/>
                    </a:ext>
                  </a:extLst>
                </a:gridCol>
                <a:gridCol w="1755648">
                  <a:extLst>
                    <a:ext uri="{9D8B030D-6E8A-4147-A177-3AD203B41FA5}">
                      <a16:colId xmlns:a16="http://schemas.microsoft.com/office/drawing/2014/main" val="20003"/>
                    </a:ext>
                  </a:extLst>
                </a:gridCol>
                <a:gridCol w="1755648">
                  <a:extLst>
                    <a:ext uri="{9D8B030D-6E8A-4147-A177-3AD203B41FA5}">
                      <a16:colId xmlns:a16="http://schemas.microsoft.com/office/drawing/2014/main" val="20004"/>
                    </a:ext>
                  </a:extLst>
                </a:gridCol>
                <a:gridCol w="1755648">
                  <a:extLst>
                    <a:ext uri="{9D8B030D-6E8A-4147-A177-3AD203B41FA5}">
                      <a16:colId xmlns:a16="http://schemas.microsoft.com/office/drawing/2014/main" val="20005"/>
                    </a:ext>
                  </a:extLst>
                </a:gridCol>
              </a:tblGrid>
              <a:tr h="38404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.041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.539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.069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.331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.023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.809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marL="0" indent="0" algn="ctr">
                        <a:buNone/>
                      </a:pPr>
                      <a:r>
                        <a:rPr lang="en-US" sz="1100" b="1" dirty="0">
                          <a:solidFill>
                            <a:srgbClr val="18707F"/>
                          </a:solidFill>
                          <a:latin typeface="Calibri" pitchFamily="34" charset="0"/>
                          <a:ea typeface="Calibri" pitchFamily="34" charset="-122"/>
                          <a:cs typeface="Calibri" pitchFamily="34" charset="-120"/>
                        </a:rPr>
                        <a:t>.044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5"/>
                  </a:ext>
                </a:extLst>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marL="0" indent="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marL="0" indent="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blurRad="101600" dist="25400" dir="8100000" algn="bl" rotWithShape="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ExtraTrees is nominally ahead of everything (p = 0.041 vs SVM-RBF) but fails the Bonferroni threshold for 15 tests (0.0033) and wins only 14/25 folds.</a:t>
            </a:r>
            <a:endParaRPr lang="en-US" sz="1100" dirty="0"/>
          </a:p>
          <a:p>
            <a:pPr marL="0" indent="0">
              <a:lnSpc>
                <a:spcPct val="112000"/>
              </a:lnSpc>
              <a:buNone/>
            </a:pPr>
            <a:endParaRPr lang="en-US" sz="1100" dirty="0"/>
          </a:p>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SVM-RBF, ensemble and SVM-poly are mutually inseparable (p = 0.270–0.539).</a:t>
            </a:r>
            <a:endParaRPr lang="en-US" sz="1100" dirty="0"/>
          </a:p>
        </p:txBody>
      </p:sp>
      <p:sp>
        <p:nvSpPr>
          <p:cNvPr id="7" name="Shape 13"/>
          <p:cNvSpPr/>
          <p:nvPr/>
        </p:nvSpPr>
        <p:spPr>
          <a:xfrm>
            <a:off x="6217920" y="4626864"/>
            <a:ext cx="5394960" cy="1325880"/>
          </a:xfrm>
          <a:prstGeom prst="rect">
            <a:avLst/>
          </a:prstGeom>
          <a:solidFill>
            <a:srgbClr val="FFFFFF"/>
          </a:solidFill>
          <a:ln/>
          <a:effectLst>
            <a:outerShdw blurRad="101600" dist="25400" dir="8100000" algn="bl" rotWithShape="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marL="0" indent="0">
              <a:lnSpc>
                <a:spcPct val="112000"/>
              </a:lnSpc>
              <a:buNone/>
            </a:pP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
        <p:nvSpPr>
          <p:cNvPr id="20" name="Text 17"/>
          <p:cNvSpPr/>
          <p:nvPr/>
        </p:nvSpPr>
        <p:spPr>
          <a:xfrm>
            <a:off x="548640" y="6035040"/>
            <a:ext cx="10607040" cy="292608"/>
          </a:xfrm>
          <a:prstGeom prst="rect">
            <a:avLst/>
          </a:prstGeom>
          <a:noFill/>
          <a:ln/>
        </p:spPr>
        <p:txBody>
          <a:bodyPr wrap="square" lIns="0" tIns="0" rIns="0" bIns="0" rtlCol="0" anchor="ctr"/>
          <a:lstStyle/>
          <a:p>
            <a:pPr marL="0" indent="0">
              <a:buNone/>
            </a:pPr>
            <a:r>
              <a:rPr lang="en-US" sz="900" i="1" dirty="0">
                <a:solidFill>
                  <a:srgbClr val="5F7580"/>
                </a:solidFill>
                <a:latin typeface="Calibri" pitchFamily="34" charset="0"/>
                <a:ea typeface="Calibri" pitchFamily="34" charset="-122"/>
                <a:cs typeface="Calibri" pitchFamily="34" charset="-120"/>
              </a:rPr>
              <a:t>Hyperparameter robustness: grid expanded to C ∈ [0.01, 500], gamma ∈ [1e-4, 0.1] + scale. 0 of 15 folds hit a boundary; AUC essentially unchanged; the surface spans only 0.73–0.81.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marL="0" indent="0">
              <a:buNone/>
            </a:pPr>
            <a:r>
              <a:rPr lang="en-US" sz="1250" dirty="0">
                <a:solidFill>
                  <a:srgbClr val="5F7580"/>
                </a:solidFill>
                <a:latin typeface="Calibri" pitchFamily="34" charset="0"/>
                <a:ea typeface="Calibri" pitchFamily="34" charset="-122"/>
                <a:cs typeface="Calibri" pitchFamily="34" charset="-120"/>
              </a:rPr>
              <a:t>A 0.023 AUC lead at p=0.041, uncorrected for 15 comparisons,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2103120"/>
        </p:xfrm>
        <a:graphic>
          <a:graphicData uri="http://schemas.openxmlformats.org/drawingml/2006/table">
            <a:tbl>
              <a:tblPr/>
              <a:tblGrid>
                <a:gridCol w="30175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420624">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20624">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extLst>
                  <a:ext uri="{0D108BD9-81ED-4DB2-BD59-A6C34878D82A}">
                    <a16:rowId xmlns:a16="http://schemas.microsoft.com/office/drawing/2014/main" val="10004"/>
                  </a:ext>
                </a:extLst>
              </a:tr>
            </a:tbl>
          </a:graphicData>
        </a:graphic>
      </p:graphicFrame>
      <p:sp>
        <p:nvSpPr>
          <p:cNvPr id="8" name="Shape 5"/>
          <p:cNvSpPr/>
          <p:nvPr/>
        </p:nvSpPr>
        <p:spPr>
          <a:xfrm>
            <a:off x="548640" y="4023360"/>
            <a:ext cx="5394960" cy="1737360"/>
          </a:xfrm>
          <a:prstGeom prst="rect">
            <a:avLst/>
          </a:prstGeom>
          <a:solidFill>
            <a:srgbClr val="FBEDE7"/>
          </a:solidFill>
          <a:ln/>
          <a:effectLst>
            <a:outerShdw blurRad="101600" dist="25400" dir="8100000" algn="bl" rotWithShape="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marL="0" indent="0">
              <a:lnSpc>
                <a:spcPct val="112000"/>
              </a:lnSpc>
              <a:buNone/>
            </a:pPr>
            <a:endParaRPr lang="en-US" sz="1200" dirty="0"/>
          </a:p>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blurRad="101600" dist="25400" dir="8100000" algn="bl" rotWithShape="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marL="0" indent="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marL="0" indent="0" algn="ctr">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marL="0" indent="0" algn="ctr">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marL="0" indent="0" algn="ctr">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blurRad="101600" dist="25400" dir="8100000" algn="bl" rotWithShape="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blurRad="101600" dist="25400" dir="8100000" algn="bl" rotWithShape="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996928" cy="1371600"/>
        </p:xfrm>
        <a:graphic>
          <a:graphicData uri="http://schemas.openxmlformats.org/drawingml/2006/table">
            <a:tbl>
              <a:tblPr/>
              <a:tblGrid>
                <a:gridCol w="2286000">
                  <a:extLst>
                    <a:ext uri="{9D8B030D-6E8A-4147-A177-3AD203B41FA5}">
                      <a16:colId xmlns:a16="http://schemas.microsoft.com/office/drawing/2014/main" val="20000"/>
                    </a:ext>
                  </a:extLst>
                </a:gridCol>
                <a:gridCol w="1618488">
                  <a:extLst>
                    <a:ext uri="{9D8B030D-6E8A-4147-A177-3AD203B41FA5}">
                      <a16:colId xmlns:a16="http://schemas.microsoft.com/office/drawing/2014/main" val="20001"/>
                    </a:ext>
                  </a:extLst>
                </a:gridCol>
                <a:gridCol w="1618488">
                  <a:extLst>
                    <a:ext uri="{9D8B030D-6E8A-4147-A177-3AD203B41FA5}">
                      <a16:colId xmlns:a16="http://schemas.microsoft.com/office/drawing/2014/main" val="20002"/>
                    </a:ext>
                  </a:extLst>
                </a:gridCol>
                <a:gridCol w="1618488">
                  <a:extLst>
                    <a:ext uri="{9D8B030D-6E8A-4147-A177-3AD203B41FA5}">
                      <a16:colId xmlns:a16="http://schemas.microsoft.com/office/drawing/2014/main" val="20003"/>
                    </a:ext>
                  </a:extLst>
                </a:gridCol>
                <a:gridCol w="1618488">
                  <a:extLst>
                    <a:ext uri="{9D8B030D-6E8A-4147-A177-3AD203B41FA5}">
                      <a16:colId xmlns:a16="http://schemas.microsoft.com/office/drawing/2014/main" val="20004"/>
                    </a:ext>
                  </a:extLst>
                </a:gridCol>
                <a:gridCol w="1618488">
                  <a:extLst>
                    <a:ext uri="{9D8B030D-6E8A-4147-A177-3AD203B41FA5}">
                      <a16:colId xmlns:a16="http://schemas.microsoft.com/office/drawing/2014/main" val="20005"/>
                    </a:ext>
                  </a:extLst>
                </a:gridCol>
                <a:gridCol w="1618488">
                  <a:extLst>
                    <a:ext uri="{9D8B030D-6E8A-4147-A177-3AD203B41FA5}">
                      <a16:colId xmlns:a16="http://schemas.microsoft.com/office/drawing/2014/main" val="20006"/>
                    </a:ext>
                  </a:extLst>
                </a:gridCol>
              </a:tblGrid>
              <a:tr h="45720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extLst>
                  <a:ext uri="{0D108BD9-81ED-4DB2-BD59-A6C34878D82A}">
                    <a16:rowId xmlns:a16="http://schemas.microsoft.com/office/drawing/2014/main" val="10001"/>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7" name="Shape 4"/>
          <p:cNvSpPr/>
          <p:nvPr/>
        </p:nvSpPr>
        <p:spPr>
          <a:xfrm>
            <a:off x="548640" y="3154680"/>
            <a:ext cx="5394960" cy="1481328"/>
          </a:xfrm>
          <a:prstGeom prst="rect">
            <a:avLst/>
          </a:prstGeom>
          <a:solidFill>
            <a:srgbClr val="FBEDE7"/>
          </a:solidFill>
          <a:ln/>
          <a:effectLst>
            <a:outerShdw blurRad="101600" dist="25400" dir="8100000" algn="bl" rotWithShape="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blurRad="101600" dist="25400" dir="8100000" algn="bl" rotWithShape="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marL="0" indent="0">
              <a:lnSpc>
                <a:spcPct val="112000"/>
              </a:lnSpc>
              <a:buNone/>
            </a:pPr>
            <a:endParaRPr lang="en-US" sz="1200" dirty="0"/>
          </a:p>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blurRad="101600" dist="25400" dir="8100000" algn="bl" rotWithShape="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2633472"/>
        </p:xfrm>
        <a:graphic>
          <a:graphicData uri="http://schemas.openxmlformats.org/drawingml/2006/table">
            <a:tbl>
              <a:tblPr/>
              <a:tblGrid>
                <a:gridCol w="40233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38912">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3891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43891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2"/>
                  </a:ext>
                </a:extLst>
              </a:tr>
              <a:tr h="438912">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extLst>
                  <a:ext uri="{0D108BD9-81ED-4DB2-BD59-A6C34878D82A}">
                    <a16:rowId xmlns:a16="http://schemas.microsoft.com/office/drawing/2014/main" val="10004"/>
                  </a:ext>
                </a:extLst>
              </a:tr>
              <a:tr h="438912">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548640" y="4251960"/>
            <a:ext cx="5394960" cy="1417320"/>
          </a:xfrm>
          <a:prstGeom prst="rect">
            <a:avLst/>
          </a:prstGeom>
          <a:solidFill>
            <a:srgbClr val="FFFFFF"/>
          </a:solidFill>
          <a:ln/>
          <a:effectLst>
            <a:outerShdw blurRad="101600" dist="25400" dir="8100000" algn="bl" rotWithShape="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blurRad="101600" dist="25400" dir="8100000" algn="bl" rotWithShape="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PRIMARY ESTIMATE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The Microbiome Effect, With Season Held Fixed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marL="0" indent="0">
              <a:buNone/>
            </a:pPr>
            <a:r>
              <a:rPr lang="en-US" sz="1250" dirty="0">
                <a:solidFill>
                  <a:srgbClr val="5F7580"/>
                </a:solidFill>
                <a:latin typeface="Calibri" pitchFamily="34" charset="0"/>
                <a:ea typeface="Calibri" pitchFamily="34" charset="-122"/>
                <a:cs typeface="Calibri" pitchFamily="34" charset="-120"/>
              </a:rPr>
              <a:t>Season is a confounder, not an exposure of interest — so it does not belong in the model. Instead we fix the month and compare within strata. The model contains nothing but the 70 CLR features.</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2304288"/>
        </p:xfrm>
        <a:graphic>
          <a:graphicData uri="http://schemas.openxmlformats.org/drawingml/2006/table">
            <a:tbl>
              <a:tblPr/>
              <a:tblGrid>
                <a:gridCol w="3200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234440">
                  <a:extLst>
                    <a:ext uri="{9D8B030D-6E8A-4147-A177-3AD203B41FA5}">
                      <a16:colId xmlns:a16="http://schemas.microsoft.com/office/drawing/2014/main" val="20005"/>
                    </a:ext>
                  </a:extLst>
                </a:gridCol>
                <a:gridCol w="1234440">
                  <a:extLst>
                    <a:ext uri="{9D8B030D-6E8A-4147-A177-3AD203B41FA5}">
                      <a16:colId xmlns:a16="http://schemas.microsoft.com/office/drawing/2014/main" val="20006"/>
                    </a:ext>
                  </a:extLst>
                </a:gridCol>
              </a:tblGrid>
              <a:tr h="38404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84048">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All samples (unstratified)</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0.833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0.772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0.703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0.530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0.965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0.949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0.605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0.929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2"/>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August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0.910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0.838</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0.667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0.618</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ctr">
                        <a:buNone/>
                      </a:pPr>
                      <a:r>
                        <a:rPr lang="en-US" sz="1100" b="1" dirty="0">
                          <a:solidFill>
                            <a:srgbClr val="16252C"/>
                          </a:solidFill>
                          <a:latin typeface="Calibri" pitchFamily="34" charset="0"/>
                          <a:ea typeface="Calibri" pitchFamily="34" charset="-122"/>
                          <a:cs typeface="Calibri" pitchFamily="34" charset="-120"/>
                        </a:rPr>
                        <a:t>October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0.734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0.571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0.533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0.328</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extLst>
                  <a:ext uri="{0D108BD9-81ED-4DB2-BD59-A6C34878D82A}">
                    <a16:rowId xmlns:a16="http://schemas.microsoft.com/office/drawing/2014/main" val="10004"/>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Jul + Aug</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123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0.626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0.896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0.850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Shape 5"/>
          <p:cNvSpPr/>
          <p:nvPr/>
        </p:nvSpPr>
        <p:spPr>
          <a:xfrm>
            <a:off x="548640" y="4434840"/>
            <a:ext cx="5394960" cy="1463040"/>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548640" y="4434840"/>
            <a:ext cx="68580" cy="1463040"/>
          </a:xfrm>
          <a:prstGeom prst="rect">
            <a:avLst/>
          </a:prstGeom>
          <a:solidFill>
            <a:srgbClr val="18707F"/>
          </a:solidFill>
          <a:ln/>
        </p:spPr>
      </p:sp>
      <p:sp>
        <p:nvSpPr>
          <p:cNvPr id="10" name="Text 7"/>
          <p:cNvSpPr/>
          <p:nvPr/>
        </p:nvSpPr>
        <p:spPr>
          <a:xfrm>
            <a:off x="804672" y="4581144"/>
            <a:ext cx="49377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Report the range, not an average</a:t>
            </a:r>
            <a:endParaRPr lang="en-US" sz="1400" dirty="0"/>
          </a:p>
        </p:txBody>
      </p:sp>
      <p:sp>
        <p:nvSpPr>
          <p:cNvPr id="11" name="Text 8"/>
          <p:cNvSpPr/>
          <p:nvPr/>
        </p:nvSpPr>
        <p:spPr>
          <a:xfrm>
            <a:off x="804672" y="4965192"/>
            <a:ext cx="4937760" cy="80467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AUC 0.734–0.965 · accuracy 0.676–0.949 · MCC 0.328–0.893.</a:t>
            </a:r>
            <a:endParaRPr lang="en-US" sz="1100" dirty="0"/>
          </a:p>
          <a:p>
            <a:pPr marL="0" indent="0">
              <a:lnSpc>
                <a:spcPct val="112000"/>
              </a:lnSpc>
              <a:buNone/>
            </a:pP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A sample-weighted mean (0.894) would hide October, and its weights come from field-campaign size, not scientific relevance.</a:t>
            </a:r>
            <a:endParaRPr lang="en-US" sz="1100" dirty="0"/>
          </a:p>
        </p:txBody>
      </p:sp>
      <p:sp>
        <p:nvSpPr>
          <p:cNvPr id="12" name="Shape 9"/>
          <p:cNvSpPr/>
          <p:nvPr/>
        </p:nvSpPr>
        <p:spPr>
          <a:xfrm>
            <a:off x="6217920" y="4434840"/>
            <a:ext cx="5394960" cy="1463040"/>
          </a:xfrm>
          <a:prstGeom prst="rect">
            <a:avLst/>
          </a:prstGeom>
          <a:solidFill>
            <a:srgbClr val="FBEDE7"/>
          </a:solidFill>
          <a:ln/>
          <a:effectLst>
            <a:outerShdw blurRad="101600" dist="25400" dir="8100000" algn="bl" rotWithShape="0">
              <a:srgbClr val="000000">
                <a:alpha val="10000"/>
              </a:srgbClr>
            </a:outerShdw>
          </a:effectLst>
        </p:spPr>
      </p:sp>
      <p:sp>
        <p:nvSpPr>
          <p:cNvPr id="13" name="Shape 10"/>
          <p:cNvSpPr/>
          <p:nvPr/>
        </p:nvSpPr>
        <p:spPr>
          <a:xfrm>
            <a:off x="6217920" y="4434840"/>
            <a:ext cx="68580" cy="1463040"/>
          </a:xfrm>
          <a:prstGeom prst="rect">
            <a:avLst/>
          </a:prstGeom>
          <a:solidFill>
            <a:srgbClr val="D2603A"/>
          </a:solidFill>
          <a:ln/>
        </p:spPr>
      </p:sp>
      <p:sp>
        <p:nvSpPr>
          <p:cNvPr id="14" name="Text 11"/>
          <p:cNvSpPr/>
          <p:nvPr/>
        </p:nvSpPr>
        <p:spPr>
          <a:xfrm>
            <a:off x="6473952" y="4581144"/>
            <a:ext cx="49377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Two caveats that travel with these numbers</a:t>
            </a:r>
            <a:endParaRPr lang="en-US" sz="1400" dirty="0"/>
          </a:p>
        </p:txBody>
      </p:sp>
      <p:sp>
        <p:nvSpPr>
          <p:cNvPr id="15" name="Text 12"/>
          <p:cNvSpPr/>
          <p:nvPr/>
        </p:nvSpPr>
        <p:spPr>
          <a:xfrm>
            <a:off x="6473952" y="4965192"/>
            <a:ext cx="4937760" cy="804672"/>
          </a:xfrm>
          <a:prstGeom prst="rect">
            <a:avLst/>
          </a:prstGeom>
          <a:noFill/>
          <a:ln/>
        </p:spPr>
        <p:txBody>
          <a:bodyPr wrap="square" lIns="0" tIns="0" rIns="0" bIns="0" rtlCol="0" anchor="t"/>
          <a:lstStyle/>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October specificity is 0.533 — barely better than chance on negatives.</a:t>
            </a:r>
            <a:endParaRPr lang="en-US" sz="1100" dirty="0"/>
          </a:p>
          <a:p>
            <a:pPr marL="0" indent="0">
              <a:lnSpc>
                <a:spcPct val="112000"/>
              </a:lnSpc>
              <a:buNone/>
            </a:pPr>
            <a:endParaRPr lang="en-US" sz="1100" dirty="0"/>
          </a:p>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Only 165 of 260 samples can be stratified at all: November and December are 100% positive, so AUC is undefined there.</a:t>
            </a:r>
            <a:endParaRPr lang="en-US" sz="1100" dirty="0"/>
          </a:p>
        </p:txBody>
      </p:sp>
      <p:sp>
        <p:nvSpPr>
          <p:cNvPr id="16" name="Text 13"/>
          <p:cNvSpPr/>
          <p:nvPr/>
        </p:nvSpPr>
        <p:spPr>
          <a:xfrm>
            <a:off x="548640" y="5989320"/>
            <a:ext cx="10789920" cy="274320"/>
          </a:xfrm>
          <a:prstGeom prst="rect">
            <a:avLst/>
          </a:prstGeom>
          <a:noFill/>
          <a:ln/>
        </p:spPr>
        <p:txBody>
          <a:bodyPr wrap="square" lIns="0" tIns="0" rIns="0" bIns="0" rtlCol="0" anchor="ctr"/>
          <a:lstStyle/>
          <a:p>
            <a:pPr marL="0" indent="0">
              <a:buNone/>
            </a:pPr>
            <a:r>
              <a:rPr lang="en-US" sz="1050" i="1" dirty="0">
                <a:solidFill>
                  <a:srgbClr val="5F7580"/>
                </a:solidFill>
                <a:latin typeface="Calibri" pitchFamily="34" charset="0"/>
                <a:ea typeface="Calibri" pitchFamily="34" charset="-122"/>
                <a:cs typeface="Calibri" pitchFamily="34" charset="-120"/>
              </a:rPr>
              <a:t>Under covariate adjustment instead, the increment is +0.043 (L2-LR) to +0.105 (SVM-RBF) — model-dependent, which is why stratification is the primary estimate.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SENSITIVITY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What If We Simply Drop the Confounded Months?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marL="0" indent="0">
              <a:buNone/>
            </a:pPr>
            <a:r>
              <a:rPr lang="en-US" sz="1250" dirty="0">
                <a:solidFill>
                  <a:srgbClr val="5F7580"/>
                </a:solidFill>
                <a:latin typeface="Calibri" pitchFamily="34" charset="0"/>
                <a:ea typeface="Calibri" pitchFamily="34" charset="-122"/>
                <a:cs typeface="Calibri" pitchFamily="34" charset="-120"/>
              </a:rPr>
              <a:t>November–December is 100% positive and January 90% negative. On those 95 samples a model scores well by learning the month, not the microbiome. Excluding them (n = 260 → 165):</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2011680"/>
        </p:xfrm>
        <a:graphic>
          <a:graphicData uri="http://schemas.openxmlformats.org/drawingml/2006/table">
            <a:tbl>
              <a:tblPr/>
              <a:tblGrid>
                <a:gridCol w="24688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402336">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Feature set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Full n=260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Subset n=165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02336">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Covariates only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0.881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0.774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−0.107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Microbiome only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16252C"/>
                          </a:solidFill>
                          <a:latin typeface="Calibri" pitchFamily="34" charset="0"/>
                          <a:ea typeface="Calibri" pitchFamily="34" charset="-122"/>
                          <a:cs typeface="Calibri" pitchFamily="34" charset="-120"/>
                        </a:rPr>
                        <a:t>0.933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8FB996"/>
                          </a:solidFill>
                          <a:latin typeface="Calibri" pitchFamily="34" charset="0"/>
                          <a:ea typeface="Calibri" pitchFamily="34" charset="-122"/>
                          <a:cs typeface="Calibri" pitchFamily="34" charset="-120"/>
                        </a:rPr>
                        <a:t>+0.168</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Microbiome + covariates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0.951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8FB996"/>
                          </a:solidFill>
                          <a:latin typeface="Calibri" pitchFamily="34" charset="0"/>
                          <a:ea typeface="Calibri" pitchFamily="34" charset="-122"/>
                          <a:cs typeface="Calibri" pitchFamily="34" charset="-120"/>
                        </a:rPr>
                        <a:t>+0.027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+0.043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+0.177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4"/>
                  </a:ext>
                </a:extLst>
              </a:tr>
            </a:tbl>
          </a:graphicData>
        </a:graphic>
      </p:graphicFrame>
      <p:sp>
        <p:nvSpPr>
          <p:cNvPr id="8" name="Shape 5"/>
          <p:cNvSpPr/>
          <p:nvPr/>
        </p:nvSpPr>
        <p:spPr>
          <a:xfrm>
            <a:off x="7132320" y="1828800"/>
            <a:ext cx="4480560" cy="2011680"/>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7132320" y="1828800"/>
            <a:ext cx="68580" cy="2011680"/>
          </a:xfrm>
          <a:prstGeom prst="rect">
            <a:avLst/>
          </a:prstGeom>
          <a:solidFill>
            <a:srgbClr val="8FB996"/>
          </a:solidFill>
          <a:ln/>
        </p:spPr>
      </p:sp>
      <p:sp>
        <p:nvSpPr>
          <p:cNvPr id="10" name="Text 7"/>
          <p:cNvSpPr/>
          <p:nvPr/>
        </p:nvSpPr>
        <p:spPr>
          <a:xfrm>
            <a:off x="7388352" y="1975104"/>
            <a:ext cx="40233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Deconfounding worked</a:t>
            </a:r>
            <a:endParaRPr lang="en-US" sz="1400" dirty="0"/>
          </a:p>
        </p:txBody>
      </p:sp>
      <p:sp>
        <p:nvSpPr>
          <p:cNvPr id="11" name="Text 8"/>
          <p:cNvSpPr/>
          <p:nvPr/>
        </p:nvSpPr>
        <p:spPr>
          <a:xfrm>
            <a:off x="7388352" y="2359152"/>
            <a:ext cx="4023360" cy="135331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Predicting the label from month alone:</a:t>
            </a:r>
            <a:endParaRPr lang="en-US" sz="1100" dirty="0"/>
          </a:p>
          <a:p>
            <a:pPr marL="0" indent="0">
              <a:lnSpc>
                <a:spcPct val="112000"/>
              </a:lnSpc>
              <a:buNone/>
            </a:pP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   full cohort  AUC 0.775</a:t>
            </a: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   subset       AUC 0.426</a:t>
            </a:r>
            <a:endParaRPr lang="en-US" sz="1100" dirty="0"/>
          </a:p>
          <a:p>
            <a:pPr marL="0" indent="0">
              <a:lnSpc>
                <a:spcPct val="112000"/>
              </a:lnSpc>
              <a:buNone/>
            </a:pP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Month is fully neutralised. Permutation test on the subset: p = 0.0099.</a:t>
            </a:r>
            <a:endParaRPr lang="en-US" sz="1100" dirty="0"/>
          </a:p>
        </p:txBody>
      </p:sp>
      <p:sp>
        <p:nvSpPr>
          <p:cNvPr id="12" name="Shape 9"/>
          <p:cNvSpPr/>
          <p:nvPr/>
        </p:nvSpPr>
        <p:spPr>
          <a:xfrm>
            <a:off x="548640" y="4069080"/>
            <a:ext cx="5394960" cy="1783080"/>
          </a:xfrm>
          <a:prstGeom prst="rect">
            <a:avLst/>
          </a:prstGeom>
          <a:solidFill>
            <a:srgbClr val="FFFFFF"/>
          </a:solidFill>
          <a:ln/>
          <a:effectLst>
            <a:outerShdw blurRad="101600" dist="25400" dir="8100000" algn="bl" rotWithShape="0">
              <a:srgbClr val="000000">
                <a:alpha val="10000"/>
              </a:srgbClr>
            </a:outerShdw>
          </a:effectLst>
        </p:spPr>
      </p:sp>
      <p:sp>
        <p:nvSpPr>
          <p:cNvPr id="13" name="Shape 10"/>
          <p:cNvSpPr/>
          <p:nvPr/>
        </p:nvSpPr>
        <p:spPr>
          <a:xfrm>
            <a:off x="548640" y="4069080"/>
            <a:ext cx="68580" cy="1783080"/>
          </a:xfrm>
          <a:prstGeom prst="rect">
            <a:avLst/>
          </a:prstGeom>
          <a:solidFill>
            <a:srgbClr val="18707F"/>
          </a:solidFill>
          <a:ln/>
        </p:spPr>
      </p:sp>
      <p:sp>
        <p:nvSpPr>
          <p:cNvPr id="14" name="Text 11"/>
          <p:cNvSpPr/>
          <p:nvPr/>
        </p:nvSpPr>
        <p:spPr>
          <a:xfrm>
            <a:off x="804672" y="4215384"/>
            <a:ext cx="49377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The biomarkers get stronger, not different</a:t>
            </a:r>
            <a:endParaRPr lang="en-US" sz="1400" dirty="0"/>
          </a:p>
        </p:txBody>
      </p:sp>
      <p:sp>
        <p:nvSpPr>
          <p:cNvPr id="15" name="Text 12"/>
          <p:cNvSpPr/>
          <p:nvPr/>
        </p:nvSpPr>
        <p:spPr>
          <a:xfrm>
            <a:off x="804672" y="4599432"/>
            <a:ext cx="4937760" cy="1124712"/>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Significant taxa 19/70 → 34/65; Spearman ρ = 0.879 on t-statistics; 18 significant in both.</a:t>
            </a:r>
            <a:endParaRPr lang="en-US" sz="1100" dirty="0"/>
          </a:p>
          <a:p>
            <a:pPr marL="0" indent="0">
              <a:lnSpc>
                <a:spcPct val="112000"/>
              </a:lnSpc>
              <a:buNone/>
            </a:pP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Veillonella (FDR 3.7e-29) and Prevotella — the two that collinearity had pushed out of the nine-taxon panel — are now the strongest hits.</a:t>
            </a:r>
            <a:endParaRPr lang="en-US" sz="1100" dirty="0"/>
          </a:p>
        </p:txBody>
      </p:sp>
      <p:sp>
        <p:nvSpPr>
          <p:cNvPr id="16" name="Shape 13"/>
          <p:cNvSpPr/>
          <p:nvPr/>
        </p:nvSpPr>
        <p:spPr>
          <a:xfrm>
            <a:off x="6217920" y="4069080"/>
            <a:ext cx="5394960" cy="1783080"/>
          </a:xfrm>
          <a:prstGeom prst="rect">
            <a:avLst/>
          </a:prstGeom>
          <a:solidFill>
            <a:srgbClr val="FBEDE7"/>
          </a:solidFill>
          <a:ln/>
          <a:effectLst>
            <a:outerShdw blurRad="101600" dist="25400" dir="8100000" algn="bl" rotWithShape="0">
              <a:srgbClr val="000000">
                <a:alpha val="10000"/>
              </a:srgbClr>
            </a:outerShdw>
          </a:effectLst>
        </p:spPr>
      </p:sp>
      <p:sp>
        <p:nvSpPr>
          <p:cNvPr id="17" name="Shape 14"/>
          <p:cNvSpPr/>
          <p:nvPr/>
        </p:nvSpPr>
        <p:spPr>
          <a:xfrm>
            <a:off x="6217920" y="4069080"/>
            <a:ext cx="68580" cy="1783080"/>
          </a:xfrm>
          <a:prstGeom prst="rect">
            <a:avLst/>
          </a:prstGeom>
          <a:solidFill>
            <a:srgbClr val="D2603A"/>
          </a:solidFill>
          <a:ln/>
        </p:spPr>
      </p:sp>
      <p:sp>
        <p:nvSpPr>
          <p:cNvPr id="18" name="Text 15"/>
          <p:cNvSpPr/>
          <p:nvPr/>
        </p:nvSpPr>
        <p:spPr>
          <a:xfrm>
            <a:off x="6473952" y="4215384"/>
            <a:ext cx="493776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But this is a sensitivity analysis, not the result</a:t>
            </a:r>
            <a:endParaRPr lang="en-US" sz="1400" dirty="0"/>
          </a:p>
        </p:txBody>
      </p:sp>
      <p:sp>
        <p:nvSpPr>
          <p:cNvPr id="19" name="Text 16"/>
          <p:cNvSpPr/>
          <p:nvPr/>
        </p:nvSpPr>
        <p:spPr>
          <a:xfrm>
            <a:off x="6473952" y="4599432"/>
            <a:ext cx="4937760" cy="1124712"/>
          </a:xfrm>
          <a:prstGeom prst="rect">
            <a:avLst/>
          </a:prstGeom>
          <a:noFill/>
          <a:ln/>
        </p:spPr>
        <p:txBody>
          <a:bodyPr wrap="square" lIns="0" tIns="0" rIns="0" bIns="0" rtlCol="0" anchor="t"/>
          <a:lstStyle/>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The 95 excluded samples are also the hardest to classify (Jan+Oct stratum: AUC 0.668), so the two AUCs are not comparable.</a:t>
            </a:r>
            <a:endParaRPr lang="en-US" sz="1100" dirty="0"/>
          </a:p>
          <a:p>
            <a:pPr marL="0" indent="0">
              <a:lnSpc>
                <a:spcPct val="112000"/>
              </a:lnSpc>
              <a:buNone/>
            </a:pPr>
            <a:endParaRPr lang="en-US" sz="1100" dirty="0"/>
          </a:p>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And spatial confounding is untouched: site → label AUC 0.740, microbiome → site AUC 0.753.</a:t>
            </a:r>
            <a:endParaRPr lang="en-US" sz="1100" dirty="0"/>
          </a:p>
        </p:txBody>
      </p:sp>
      <p:sp>
        <p:nvSpPr>
          <p:cNvPr id="20" name="Text 17"/>
          <p:cNvSpPr/>
          <p:nvPr/>
        </p:nvSpPr>
        <p:spPr>
          <a:xfrm>
            <a:off x="548640" y="5943600"/>
            <a:ext cx="10607040" cy="274320"/>
          </a:xfrm>
          <a:prstGeom prst="rect">
            <a:avLst/>
          </a:prstGeom>
          <a:noFill/>
          <a:ln/>
        </p:spPr>
        <p:txBody>
          <a:bodyPr wrap="square" lIns="0" tIns="0" rIns="0" bIns="0" rtlCol="0" anchor="ctr"/>
          <a:lstStyle/>
          <a:p>
            <a:pPr marL="0" indent="0">
              <a:buNone/>
            </a:pPr>
            <a:r>
              <a:rPr lang="en-US" sz="1050" i="1" dirty="0">
                <a:solidFill>
                  <a:srgbClr val="5F7580"/>
                </a:solidFill>
                <a:latin typeface="Calibri" pitchFamily="34" charset="0"/>
                <a:ea typeface="Calibri" pitchFamily="34" charset="-122"/>
                <a:cs typeface="Calibri" pitchFamily="34" charset="-120"/>
              </a:rPr>
              <a:t>Read as a bracket on the microbiome's independent information: conservatively +0.043, +0.177 once temporal confounding is removed.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GENERALIZATION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Would It Work at a New Wetland?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marL="0" indent="0">
              <a:buNone/>
            </a:pPr>
            <a:r>
              <a:rPr lang="en-US" sz="1250" dirty="0">
                <a:solidFill>
                  <a:srgbClr val="5F7580"/>
                </a:solidFill>
                <a:latin typeface="Calibri" pitchFamily="34" charset="0"/>
                <a:ea typeface="Calibri" pitchFamily="34" charset="-122"/>
                <a:cs typeface="Calibri" pitchFamily="34" charset="-120"/>
              </a:rPr>
              <a:t>Random cross-validation lets a model score by recognising the site. Grouping by site removes that shortcut. The naive result looks catastrophic — and is misleading.</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486400" cy="1609344"/>
        </p:xfrm>
        <a:graphic>
          <a:graphicData uri="http://schemas.openxmlformats.org/drawingml/2006/table">
            <a:tbl>
              <a:tblPr/>
              <a:tblGrid>
                <a:gridCol w="19202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02336">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Leave-one-site-out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LOLO 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Random CV</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Drop</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02336">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0.853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D2603A"/>
                          </a:solidFill>
                          <a:latin typeface="Calibri" pitchFamily="34" charset="0"/>
                          <a:ea typeface="Calibri" pitchFamily="34" charset="-122"/>
                          <a:cs typeface="Calibri" pitchFamily="34" charset="-120"/>
                        </a:rPr>
                        <a:t>−0.409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D2603A"/>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0.469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0.777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D2603A"/>
                          </a:solidFill>
                          <a:latin typeface="Calibri" pitchFamily="34" charset="0"/>
                          <a:ea typeface="Calibri" pitchFamily="34" charset="-122"/>
                          <a:cs typeface="Calibri" pitchFamily="34" charset="-120"/>
                        </a:rPr>
                        <a:t>−0.308</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Shape 5"/>
          <p:cNvSpPr/>
          <p:nvPr/>
        </p:nvSpPr>
        <p:spPr>
          <a:xfrm>
            <a:off x="6309360" y="1828800"/>
            <a:ext cx="5303520" cy="1773936"/>
          </a:xfrm>
          <a:prstGeom prst="rect">
            <a:avLst/>
          </a:prstGeom>
          <a:solidFill>
            <a:srgbClr val="FBEDE7"/>
          </a:solidFill>
          <a:ln/>
          <a:effectLst>
            <a:outerShdw blurRad="101600" dist="25400" dir="8100000" algn="bl" rotWithShape="0">
              <a:srgbClr val="000000">
                <a:alpha val="10000"/>
              </a:srgbClr>
            </a:outerShdw>
          </a:effectLst>
        </p:spPr>
      </p:sp>
      <p:sp>
        <p:nvSpPr>
          <p:cNvPr id="9" name="Shape 6"/>
          <p:cNvSpPr/>
          <p:nvPr/>
        </p:nvSpPr>
        <p:spPr>
          <a:xfrm>
            <a:off x="6309360" y="1828800"/>
            <a:ext cx="68580" cy="1773936"/>
          </a:xfrm>
          <a:prstGeom prst="rect">
            <a:avLst/>
          </a:prstGeom>
          <a:solidFill>
            <a:srgbClr val="D2603A"/>
          </a:solidFill>
          <a:ln/>
        </p:spPr>
      </p:sp>
      <p:sp>
        <p:nvSpPr>
          <p:cNvPr id="10" name="Text 7"/>
          <p:cNvSpPr/>
          <p:nvPr/>
        </p:nvSpPr>
        <p:spPr>
          <a:xfrm>
            <a:off x="6565392" y="1975104"/>
            <a:ext cx="484632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Why it is misleading</a:t>
            </a:r>
            <a:endParaRPr lang="en-US" sz="1400" dirty="0"/>
          </a:p>
        </p:txBody>
      </p:sp>
      <p:sp>
        <p:nvSpPr>
          <p:cNvPr id="11" name="Text 8"/>
          <p:cNvSpPr/>
          <p:nvPr/>
        </p:nvSpPr>
        <p:spPr>
          <a:xfrm>
            <a:off x="6565392" y="2359152"/>
            <a:ext cx="4846320" cy="1115568"/>
          </a:xfrm>
          <a:prstGeom prst="rect">
            <a:avLst/>
          </a:prstGeom>
          <a:noFill/>
          <a:ln/>
        </p:spPr>
        <p:txBody>
          <a:bodyPr wrap="square" lIns="0" tIns="0" rIns="0" bIns="0" rtlCol="0" anchor="t"/>
          <a:lstStyle/>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Site and month are nearly interchangeable here: Sacramento is 46/80 January, GIWA 82/96 July–August, ConawayRanch autumn only.</a:t>
            </a:r>
            <a:endParaRPr lang="en-US" sz="1100" dirty="0"/>
          </a:p>
          <a:p>
            <a:pPr marL="0" indent="0">
              <a:lnSpc>
                <a:spcPct val="112000"/>
              </a:lnSpc>
              <a:buNone/>
            </a:pPr>
            <a:endParaRPr lang="en-US" sz="1100" dirty="0"/>
          </a:p>
          <a:p>
            <a:pPr marL="0" indent="0">
              <a:lnSpc>
                <a:spcPct val="112000"/>
              </a:lnSpc>
              <a:buNone/>
            </a:pPr>
            <a:r>
              <a:rPr lang="en-US" sz="1100" dirty="0">
                <a:solidFill>
                  <a:srgbClr val="7A2E14"/>
                </a:solidFill>
                <a:latin typeface="Calibri" pitchFamily="34" charset="0"/>
                <a:ea typeface="Calibri" pitchFamily="34" charset="-122"/>
                <a:cs typeface="Calibri" pitchFamily="34" charset="-120"/>
              </a:rPr>
              <a:t>So leave-one-site-out is also leave-one-season-out.</a:t>
            </a:r>
            <a:endParaRPr lang="en-US" sz="1100" dirty="0"/>
          </a:p>
        </p:txBody>
      </p:sp>
      <p:sp>
        <p:nvSpPr>
          <p:cNvPr id="12" name="Text 9"/>
          <p:cNvSpPr/>
          <p:nvPr/>
        </p:nvSpPr>
        <p:spPr>
          <a:xfrm>
            <a:off x="548640" y="3840480"/>
            <a:ext cx="11064240" cy="274320"/>
          </a:xfrm>
          <a:prstGeom prst="rect">
            <a:avLst/>
          </a:prstGeom>
          <a:noFill/>
          <a:ln/>
        </p:spPr>
        <p:txBody>
          <a:bodyPr wrap="square" lIns="0" tIns="0" rIns="0" bIns="0" rtlCol="0" anchor="ctr"/>
          <a:lstStyle/>
          <a:p>
            <a:pPr marL="0" indent="0">
              <a:buNone/>
            </a:pPr>
            <a:r>
              <a:rPr lang="en-US" sz="1500" b="1" dirty="0">
                <a:solidFill>
                  <a:srgbClr val="16252C"/>
                </a:solidFill>
                <a:latin typeface="Georgia" pitchFamily="34" charset="0"/>
                <a:ea typeface="Georgia" pitchFamily="34" charset="-122"/>
                <a:cs typeface="Georgia" pitchFamily="34" charset="-120"/>
              </a:rPr>
              <a:t>Hold season fixed (July–August only) and repeat leave-one-site-out:</a:t>
            </a:r>
            <a:endParaRPr lang="en-US" sz="15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486400" cy="1920240"/>
        </p:xfrm>
        <a:graphic>
          <a:graphicData uri="http://schemas.openxmlformats.org/drawingml/2006/table">
            <a:tbl>
              <a:tblPr/>
              <a:tblGrid>
                <a:gridCol w="233172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8404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Held-out site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GIWA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51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2E6B3A"/>
                          </a:solidFill>
                          <a:latin typeface="Calibri" pitchFamily="34" charset="0"/>
                          <a:ea typeface="Calibri" pitchFamily="34" charset="-122"/>
                          <a:cs typeface="Calibri" pitchFamily="34" charset="-120"/>
                        </a:rPr>
                        <a:t>0.919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MandevilleIsland</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2E6B3A"/>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SuisunMarsh/Balboa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mean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0.921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4"/>
                  </a:ext>
                </a:extLst>
              </a:tr>
            </a:tbl>
          </a:graphicData>
        </a:graphic>
      </p:graphicFrame>
      <p:sp>
        <p:nvSpPr>
          <p:cNvPr id="14" name="Shape 10"/>
          <p:cNvSpPr/>
          <p:nvPr/>
        </p:nvSpPr>
        <p:spPr>
          <a:xfrm>
            <a:off x="6309360" y="4206240"/>
            <a:ext cx="5303520" cy="1536192"/>
          </a:xfrm>
          <a:prstGeom prst="rect">
            <a:avLst/>
          </a:prstGeom>
          <a:solidFill>
            <a:srgbClr val="FFFFFF"/>
          </a:solidFill>
          <a:ln/>
          <a:effectLst>
            <a:outerShdw blurRad="101600" dist="25400" dir="8100000" algn="bl" rotWithShape="0">
              <a:srgbClr val="000000">
                <a:alpha val="10000"/>
              </a:srgbClr>
            </a:outerShdw>
          </a:effectLst>
        </p:spPr>
      </p:sp>
      <p:sp>
        <p:nvSpPr>
          <p:cNvPr id="15" name="Shape 11"/>
          <p:cNvSpPr/>
          <p:nvPr/>
        </p:nvSpPr>
        <p:spPr>
          <a:xfrm>
            <a:off x="6309360" y="4206240"/>
            <a:ext cx="68580" cy="1536192"/>
          </a:xfrm>
          <a:prstGeom prst="rect">
            <a:avLst/>
          </a:prstGeom>
          <a:solidFill>
            <a:srgbClr val="8FB996"/>
          </a:solidFill>
          <a:ln/>
        </p:spPr>
      </p:sp>
      <p:sp>
        <p:nvSpPr>
          <p:cNvPr id="16" name="Text 12"/>
          <p:cNvSpPr/>
          <p:nvPr/>
        </p:nvSpPr>
        <p:spPr>
          <a:xfrm>
            <a:off x="6565392" y="4352544"/>
            <a:ext cx="484632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Spatial generalization is not the bottleneck</a:t>
            </a:r>
            <a:endParaRPr lang="en-US" sz="1400" dirty="0"/>
          </a:p>
        </p:txBody>
      </p:sp>
      <p:sp>
        <p:nvSpPr>
          <p:cNvPr id="17" name="Text 13"/>
          <p:cNvSpPr/>
          <p:nvPr/>
        </p:nvSpPr>
        <p:spPr>
          <a:xfrm>
            <a:off x="6565392" y="4736592"/>
            <a:ext cx="4846320" cy="877824"/>
          </a:xfrm>
          <a:prstGeom prst="rect">
            <a:avLst/>
          </a:prstGeom>
          <a:noFill/>
          <a:ln/>
        </p:spPr>
        <p:txBody>
          <a:bodyPr wrap="square" lIns="0" tIns="0" rIns="0" bIns="0" rtlCol="0" anchor="t"/>
          <a:lstStyle/>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With season comparable, the model transfers across wetlands at AUC 0.84–0.92.</a:t>
            </a:r>
            <a:endParaRPr lang="en-US" sz="1100" dirty="0"/>
          </a:p>
          <a:p>
            <a:pPr marL="0" indent="0">
              <a:lnSpc>
                <a:spcPct val="112000"/>
              </a:lnSpc>
              <a:buNone/>
            </a:pPr>
            <a:endParaRPr lang="en-US" sz="1100" dirty="0"/>
          </a:p>
          <a:p>
            <a:pPr marL="0" indent="0">
              <a:lnSpc>
                <a:spcPct val="112000"/>
              </a:lnSpc>
              <a:buNone/>
            </a:pPr>
            <a:r>
              <a:rPr lang="en-US" sz="1100" dirty="0">
                <a:solidFill>
                  <a:srgbClr val="5F7580"/>
                </a:solidFill>
                <a:latin typeface="Calibri" pitchFamily="34" charset="0"/>
                <a:ea typeface="Calibri" pitchFamily="34" charset="-122"/>
                <a:cs typeface="Calibri" pitchFamily="34" charset="-120"/>
              </a:rPr>
              <a:t>The Sacramento fold that dragged the naive average down had 46 January samples with a single positive — that AUC is one bird's percentile rank, not an estimate.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38404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7"/>
                  </a:ext>
                </a:extLst>
              </a:tr>
              <a:tr h="384048">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8" name="Shape 5"/>
          <p:cNvSpPr/>
          <p:nvPr/>
        </p:nvSpPr>
        <p:spPr>
          <a:xfrm>
            <a:off x="548640" y="5285232"/>
            <a:ext cx="11064240" cy="987552"/>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blurRad="101600" dist="25400" dir="8100000" algn="bl" rotWithShape="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blurRad="101600" dist="25400" dir="8100000" algn="bl" rotWithShape="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blurRad="101600" dist="25400" dir="8100000" algn="bl" rotWithShape="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blurRad="101600" dist="25400" dir="8100000" algn="bl" rotWithShape="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SVM-RBF     AUC 0.835</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SVM-linear  AUC 0.755</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Δ = +0.080, winning 24 of 25 folds, Wilcoxon p &lt; 0.0001.</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marL="0" indent="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marL="0" indent="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Eight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Shape 32"/>
          <p:cNvSpPr/>
          <p:nvPr/>
        </p:nvSpPr>
        <p:spPr>
          <a:xfrm>
            <a:off x="6263640" y="5020056"/>
            <a:ext cx="5394960" cy="1078992"/>
          </a:xfrm>
          <a:prstGeom prst="rect">
            <a:avLst/>
          </a:prstGeom>
          <a:solidFill>
            <a:srgbClr val="FBEDE7"/>
          </a:solidFill>
          <a:ln/>
          <a:effectLst>
            <a:outerShdw blurRad="101600" dist="25400" dir="8100000" algn="bl" rotWithShape="0">
              <a:srgbClr val="000000">
                <a:alpha val="10000"/>
              </a:srgbClr>
            </a:outerShdw>
          </a:effectLst>
        </p:spPr>
      </p:sp>
      <p:sp>
        <p:nvSpPr>
          <p:cNvPr id="35" name="Shape 33"/>
          <p:cNvSpPr/>
          <p:nvPr/>
        </p:nvSpPr>
        <p:spPr>
          <a:xfrm>
            <a:off x="6263640" y="5020056"/>
            <a:ext cx="68580" cy="1078992"/>
          </a:xfrm>
          <a:prstGeom prst="rect">
            <a:avLst/>
          </a:prstGeom>
          <a:solidFill>
            <a:srgbClr val="D2603A"/>
          </a:solidFill>
          <a:ln/>
        </p:spPr>
      </p:sp>
      <p:sp>
        <p:nvSpPr>
          <p:cNvPr id="36" name="Text 34"/>
          <p:cNvSpPr/>
          <p:nvPr/>
        </p:nvSpPr>
        <p:spPr>
          <a:xfrm>
            <a:off x="6519672" y="5166360"/>
            <a:ext cx="4937760" cy="329184"/>
          </a:xfrm>
          <a:prstGeom prst="rect">
            <a:avLst/>
          </a:prstGeom>
          <a:noFill/>
          <a:ln/>
        </p:spPr>
        <p:txBody>
          <a:bodyPr wrap="square" lIns="0" tIns="0" rIns="0" bIns="0" rtlCol="0" anchor="t"/>
          <a:lstStyle/>
          <a:p>
            <a:pPr marL="0" indent="0">
              <a:buNone/>
            </a:pPr>
            <a:r>
              <a:rPr lang="en-US" sz="1250" b="1" dirty="0">
                <a:solidFill>
                  <a:srgbClr val="16252C"/>
                </a:solidFill>
                <a:latin typeface="Georgia" pitchFamily="34" charset="0"/>
                <a:ea typeface="Georgia" pitchFamily="34" charset="-122"/>
                <a:cs typeface="Georgia" pitchFamily="34" charset="-120"/>
              </a:rPr>
              <a:t>8.  Sampling design binds space to time</a:t>
            </a:r>
            <a:endParaRPr lang="en-US" sz="1250" dirty="0"/>
          </a:p>
        </p:txBody>
      </p:sp>
      <p:sp>
        <p:nvSpPr>
          <p:cNvPr id="37" name="Text 35"/>
          <p:cNvSpPr/>
          <p:nvPr/>
        </p:nvSpPr>
        <p:spPr>
          <a:xfrm>
            <a:off x="6519672" y="5550408"/>
            <a:ext cx="4937760" cy="420624"/>
          </a:xfrm>
          <a:prstGeom prst="rect">
            <a:avLst/>
          </a:prstGeom>
          <a:noFill/>
          <a:ln/>
        </p:spPr>
        <p:txBody>
          <a:bodyPr wrap="square" lIns="0" tIns="0" rIns="0" bIns="0" rtlCol="0" anchor="t"/>
          <a:lstStyle/>
          <a:p>
            <a:pPr marL="0" indent="0">
              <a:lnSpc>
                <a:spcPct val="112000"/>
              </a:lnSpc>
              <a:buNone/>
            </a:pPr>
            <a:r>
              <a:rPr lang="en-US" sz="1050" dirty="0">
                <a:solidFill>
                  <a:srgbClr val="7A2E14"/>
                </a:solidFill>
                <a:latin typeface="Calibri" pitchFamily="34" charset="0"/>
                <a:ea typeface="Calibri" pitchFamily="34" charset="-122"/>
                <a:cs typeface="Calibri" pitchFamily="34" charset="-120"/>
              </a:rPr>
              <a:t>Site and month are nearly interchangeable, so cross-season deployment cannot be tested. Cross-site transfer itself is fine (0.84–0.92).</a:t>
            </a:r>
            <a:endParaRPr lang="en-US" sz="1050" dirty="0"/>
          </a:p>
        </p:txBody>
      </p:sp>
      <p:sp>
        <p:nvSpPr>
          <p:cNvPr id="38" name="Text 36"/>
          <p:cNvSpPr/>
          <p:nvPr/>
        </p:nvSpPr>
        <p:spPr>
          <a:xfrm>
            <a:off x="548640" y="6309360"/>
            <a:ext cx="11064240" cy="274320"/>
          </a:xfrm>
          <a:prstGeom prst="rect">
            <a:avLst/>
          </a:prstGeom>
          <a:noFill/>
          <a:ln/>
        </p:spPr>
        <p:txBody>
          <a:bodyPr wrap="square" lIns="0" tIns="0" rIns="0" bIns="0" rtlCol="0" anchor="t"/>
          <a:lstStyle/>
          <a:p>
            <a:pPr marL="0" indent="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marL="0" indent="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marL="0" indent="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0.835, MCC 0.535 — significantly beating Random Forest (p = 0.017), XGBoost (p = 0.005)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marL="0" indent="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marL="0" indent="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marL="0" indent="0">
              <a:lnSpc>
                <a:spcPct val="108000"/>
              </a:lnSpc>
              <a:buNone/>
            </a:pPr>
            <a:r>
              <a:rPr lang="en-US" sz="1250" dirty="0">
                <a:solidFill>
                  <a:srgbClr val="16252C"/>
                </a:solidFill>
                <a:latin typeface="Calibri" pitchFamily="34" charset="0"/>
                <a:ea typeface="Calibri" pitchFamily="34" charset="-122"/>
                <a:cs typeface="Calibri" pitchFamily="34" charset="-120"/>
              </a:rPr>
              <a:t>Season is a confounder, so the primary estimate keeps only microbiome features and fixes the month: AUC 0.734 (October) to 0.965 (July), accuracy 0.676 to 0.949. The effect is real but strongly season-dependent.</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marL="0" indent="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0.858, p = 0.041 uncorrected)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marL="0" indent="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7772400">
                  <a:extLst>
                    <a:ext uri="{9D8B030D-6E8A-4147-A177-3AD203B41FA5}">
                      <a16:colId xmlns:a16="http://schemas.microsoft.com/office/drawing/2014/main" val="20001"/>
                    </a:ext>
                  </a:extLst>
                </a:gridCol>
              </a:tblGrid>
              <a:tr h="420624">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marL="0" indent="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marL="0" indent="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blurRad="101600" dist="25400" dir="8100000" algn="bl" rotWithShape="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marL="0" indent="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marL="0" indent="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marL="0" indent="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marL="0" indent="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4441</Words>
  <Application>Microsoft Office PowerPoint</Application>
  <PresentationFormat>Widescreen</PresentationFormat>
  <Paragraphs>842</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2</cp:revision>
  <dcterms:created xsi:type="dcterms:W3CDTF">2026-08-11T00:47:00Z</dcterms:created>
  <dcterms:modified xsi:type="dcterms:W3CDTF">2026-08-11T01:23:21Z</dcterms:modified>
</cp:coreProperties>
</file>