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Shape 1"/>
          <p:cNvSpPr/>
          <p:nvPr/>
        </p:nvSpPr>
        <p:spPr>
          <a:xfrm>
            <a:off x="0" y="6035040"/>
            <a:ext cx="12191695" cy="822960"/>
          </a:xfrm>
          <a:prstGeom prst="rect">
            <a:avLst/>
          </a:prstGeom>
          <a:solidFill>
            <a:srgbClr val="12505F"/>
          </a:solidFill>
          <a:ln/>
        </p:spPr>
      </p:sp>
      <p:sp>
        <p:nvSpPr>
          <p:cNvPr id="4" name="Text 2"/>
          <p:cNvSpPr/>
          <p:nvPr/>
        </p:nvSpPr>
        <p:spPr>
          <a:xfrm>
            <a:off x="914400" y="1600200"/>
            <a:ext cx="10332720" cy="548640"/>
          </a:xfrm>
          <a:prstGeom prst="rect">
            <a:avLst/>
          </a:prstGeom>
          <a:noFill/>
          <a:ln/>
        </p:spPr>
        <p:txBody>
          <a:bodyPr wrap="square" lIns="0" tIns="0" rIns="0" bIns="0" rtlCol="0" anchor="ctr"/>
          <a:lstStyle/>
          <a:p>
            <a:pPr indent="0" marL="0">
              <a:buNone/>
            </a:pPr>
            <a:r>
              <a:rPr lang="en-US" sz="1500" b="1" spc="300" kern="0" dirty="0">
                <a:solidFill>
                  <a:srgbClr val="8FB996"/>
                </a:solidFill>
                <a:latin typeface="Calibri" pitchFamily="34" charset="0"/>
                <a:ea typeface="Calibri" pitchFamily="34" charset="-122"/>
                <a:cs typeface="Calibri" pitchFamily="34" charset="-120"/>
              </a:rPr>
              <a:t>PREDICTING AVIAN INFLUENZA INFECTION</a:t>
            </a:r>
            <a:endParaRPr lang="en-US" sz="1500" dirty="0"/>
          </a:p>
        </p:txBody>
      </p:sp>
      <p:sp>
        <p:nvSpPr>
          <p:cNvPr id="5" name="Text 3"/>
          <p:cNvSpPr/>
          <p:nvPr/>
        </p:nvSpPr>
        <p:spPr>
          <a:xfrm>
            <a:off x="914400" y="2148840"/>
            <a:ext cx="1033272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Gut Microbiota as a</a:t>
            </a:r>
            <a:endParaRPr lang="en-US" sz="4600" dirty="0"/>
          </a:p>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Diagnostic Signal</a:t>
            </a:r>
            <a:endParaRPr lang="en-US" sz="4600" dirty="0"/>
          </a:p>
        </p:txBody>
      </p:sp>
      <p:sp>
        <p:nvSpPr>
          <p:cNvPr id="6" name="Text 4"/>
          <p:cNvSpPr/>
          <p:nvPr/>
        </p:nvSpPr>
        <p:spPr>
          <a:xfrm>
            <a:off x="914400" y="3931920"/>
            <a:ext cx="10332720" cy="411480"/>
          </a:xfrm>
          <a:prstGeom prst="rect">
            <a:avLst/>
          </a:prstGeom>
          <a:noFill/>
          <a:ln/>
        </p:spPr>
        <p:txBody>
          <a:bodyPr wrap="square" lIns="0" tIns="0" rIns="0" bIns="0" rtlCol="0" anchor="ctr"/>
          <a:lstStyle/>
          <a:p>
            <a:pPr indent="0" marL="0">
              <a:buNone/>
            </a:pPr>
            <a:r>
              <a:rPr lang="en-US" sz="1700" dirty="0">
                <a:solidFill>
                  <a:srgbClr val="4E9FAD"/>
                </a:solidFill>
                <a:latin typeface="Calibri" pitchFamily="34" charset="0"/>
                <a:ea typeface="Calibri" pitchFamily="34" charset="-122"/>
                <a:cs typeface="Calibri" pitchFamily="34" charset="-120"/>
              </a:rPr>
              <a:t>A machine-learning study on 16S rRNA profiles from wild waterfowl</a:t>
            </a:r>
            <a:endParaRPr lang="en-US" sz="1700" dirty="0"/>
          </a:p>
        </p:txBody>
      </p:sp>
      <p:sp>
        <p:nvSpPr>
          <p:cNvPr id="7" name="Shape 5"/>
          <p:cNvSpPr/>
          <p:nvPr/>
        </p:nvSpPr>
        <p:spPr>
          <a:xfrm>
            <a:off x="914400" y="4572000"/>
            <a:ext cx="3291840" cy="36576"/>
          </a:xfrm>
          <a:prstGeom prst="rect">
            <a:avLst/>
          </a:prstGeom>
          <a:solidFill>
            <a:srgbClr val="8FB996"/>
          </a:solidFill>
          <a:ln/>
        </p:spPr>
      </p:sp>
      <p:sp>
        <p:nvSpPr>
          <p:cNvPr id="8" name="Text 6"/>
          <p:cNvSpPr/>
          <p:nvPr/>
        </p:nvSpPr>
        <p:spPr>
          <a:xfrm>
            <a:off x="914400" y="4754880"/>
            <a:ext cx="10332720" cy="365760"/>
          </a:xfrm>
          <a:prstGeom prst="rect">
            <a:avLst/>
          </a:prstGeom>
          <a:noFill/>
          <a:ln/>
        </p:spPr>
        <p:txBody>
          <a:bodyPr wrap="square" lIns="0" tIns="0" rIns="0" bIns="0" rtlCol="0" anchor="ctr"/>
          <a:lstStyle/>
          <a:p>
            <a:pPr indent="0" marL="0">
              <a:buNone/>
            </a:pPr>
            <a:r>
              <a:rPr lang="en-US" sz="1300" dirty="0">
                <a:solidFill>
                  <a:srgbClr val="8FB996"/>
                </a:solidFill>
                <a:latin typeface="Calibri" pitchFamily="34" charset="0"/>
                <a:ea typeface="Calibri" pitchFamily="34" charset="-122"/>
                <a:cs typeface="Calibri" pitchFamily="34" charset="-120"/>
              </a:rPr>
              <a:t>260 wild ducks  ·  70 microbial features  ·  17 models compared</a:t>
            </a:r>
            <a:endParaRPr lang="en-US" sz="1300" dirty="0"/>
          </a:p>
        </p:txBody>
      </p:sp>
      <p:sp>
        <p:nvSpPr>
          <p:cNvPr id="9" name="Text 7"/>
          <p:cNvSpPr/>
          <p:nvPr/>
        </p:nvSpPr>
        <p:spPr>
          <a:xfrm>
            <a:off x="914400" y="6144768"/>
            <a:ext cx="640080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University of Georgia · College of Public Health</a:t>
            </a:r>
            <a:endParaRPr lang="en-US" sz="1200" dirty="0"/>
          </a:p>
        </p:txBody>
      </p:sp>
      <p:sp>
        <p:nvSpPr>
          <p:cNvPr id="10" name="Text 8"/>
          <p:cNvSpPr/>
          <p:nvPr/>
        </p:nvSpPr>
        <p:spPr>
          <a:xfrm>
            <a:off x="5029200" y="6144768"/>
            <a:ext cx="6217920" cy="365760"/>
          </a:xfrm>
          <a:prstGeom prst="rect">
            <a:avLst/>
          </a:prstGeom>
          <a:noFill/>
          <a:ln/>
        </p:spPr>
        <p:txBody>
          <a:bodyPr wrap="square" lIns="0" tIns="0" rIns="0" bIns="0" rtlCol="0" anchor="ctr"/>
          <a:lstStyle/>
          <a:p>
            <a:pPr algn="r" indent="0" marL="0">
              <a:buNone/>
            </a:pPr>
            <a:r>
              <a:rPr lang="en-US" sz="1100" dirty="0">
                <a:solidFill>
                  <a:srgbClr val="4E9FAD"/>
                </a:solidFill>
                <a:latin typeface="Calibri" pitchFamily="34" charset="0"/>
                <a:ea typeface="Calibri" pitchFamily="34" charset="-122"/>
                <a:cs typeface="Calibri" pitchFamily="34" charset="-120"/>
              </a:rPr>
              <a:t>github.com/pengsihua2023/Christina-machine-learning-project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EXECUTIVE 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At a Glance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Text 4"/>
          <p:cNvSpPr/>
          <p:nvPr/>
        </p:nvSpPr>
        <p:spPr>
          <a:xfrm>
            <a:off x="548640" y="1371600"/>
            <a:ext cx="2606040" cy="658368"/>
          </a:xfrm>
          <a:prstGeom prst="rect">
            <a:avLst/>
          </a:prstGeom>
          <a:noFill/>
          <a:ln/>
        </p:spPr>
        <p:txBody>
          <a:bodyPr wrap="square" lIns="0" tIns="0" rIns="0" bIns="0" rtlCol="0" anchor="ctr"/>
          <a:lstStyle/>
          <a:p>
            <a:pPr algn="ctr" indent="0" marL="0">
              <a:buNone/>
            </a:pPr>
            <a:r>
              <a:rPr lang="en-US" sz="3200" b="1" dirty="0">
                <a:solidFill>
                  <a:srgbClr val="18707F"/>
                </a:solidFill>
                <a:latin typeface="Georgia" pitchFamily="34" charset="0"/>
                <a:ea typeface="Georgia" pitchFamily="34" charset="-122"/>
                <a:cs typeface="Georgia" pitchFamily="34" charset="-120"/>
              </a:rPr>
              <a:t>p=0.0099</a:t>
            </a:r>
            <a:endParaRPr lang="en-US" sz="3200" dirty="0"/>
          </a:p>
        </p:txBody>
      </p:sp>
      <p:sp>
        <p:nvSpPr>
          <p:cNvPr id="7" name="Text 5"/>
          <p:cNvSpPr/>
          <p:nvPr/>
        </p:nvSpPr>
        <p:spPr>
          <a:xfrm>
            <a:off x="5486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The signal is real</a:t>
            </a:r>
            <a:endParaRPr lang="en-US" sz="1150" dirty="0"/>
          </a:p>
        </p:txBody>
      </p:sp>
      <p:sp>
        <p:nvSpPr>
          <p:cNvPr id="8" name="Text 6"/>
          <p:cNvSpPr/>
          <p:nvPr/>
        </p:nvSpPr>
        <p:spPr>
          <a:xfrm>
            <a:off x="5486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permutation test, 100 shuffles</a:t>
            </a:r>
            <a:endParaRPr lang="en-US" sz="1000" dirty="0"/>
          </a:p>
        </p:txBody>
      </p:sp>
      <p:sp>
        <p:nvSpPr>
          <p:cNvPr id="9" name="Text 7"/>
          <p:cNvSpPr/>
          <p:nvPr/>
        </p:nvSpPr>
        <p:spPr>
          <a:xfrm>
            <a:off x="3291840" y="1371600"/>
            <a:ext cx="2606040" cy="658368"/>
          </a:xfrm>
          <a:prstGeom prst="rect">
            <a:avLst/>
          </a:prstGeom>
          <a:noFill/>
          <a:ln/>
        </p:spPr>
        <p:txBody>
          <a:bodyPr wrap="square" lIns="0" tIns="0" rIns="0" bIns="0" rtlCol="0" anchor="ctr"/>
          <a:lstStyle/>
          <a:p>
            <a:pPr algn="ctr" indent="0" marL="0">
              <a:buNone/>
            </a:pPr>
            <a:r>
              <a:rPr lang="en-US" sz="3000" b="1" dirty="0">
                <a:solidFill>
                  <a:srgbClr val="12505F"/>
                </a:solidFill>
                <a:latin typeface="Georgia" pitchFamily="34" charset="0"/>
                <a:ea typeface="Georgia" pitchFamily="34" charset="-122"/>
                <a:cs typeface="Georgia" pitchFamily="34" charset="-120"/>
              </a:rPr>
              <a:t>0.73–0.97</a:t>
            </a:r>
            <a:endParaRPr lang="en-US" sz="3000" dirty="0"/>
          </a:p>
        </p:txBody>
      </p:sp>
      <p:sp>
        <p:nvSpPr>
          <p:cNvPr id="10" name="Text 8"/>
          <p:cNvSpPr/>
          <p:nvPr/>
        </p:nvSpPr>
        <p:spPr>
          <a:xfrm>
            <a:off x="32918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Effect within a season</a:t>
            </a:r>
            <a:endParaRPr lang="en-US" sz="1150" dirty="0"/>
          </a:p>
        </p:txBody>
      </p:sp>
      <p:sp>
        <p:nvSpPr>
          <p:cNvPr id="11" name="Text 9"/>
          <p:cNvSpPr/>
          <p:nvPr/>
        </p:nvSpPr>
        <p:spPr>
          <a:xfrm>
            <a:off x="32918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AUC, microbiome only</a:t>
            </a:r>
            <a:endParaRPr lang="en-US" sz="1000" dirty="0"/>
          </a:p>
        </p:txBody>
      </p:sp>
      <p:sp>
        <p:nvSpPr>
          <p:cNvPr id="12" name="Text 10"/>
          <p:cNvSpPr/>
          <p:nvPr/>
        </p:nvSpPr>
        <p:spPr>
          <a:xfrm>
            <a:off x="6035040" y="1371600"/>
            <a:ext cx="2606040" cy="658368"/>
          </a:xfrm>
          <a:prstGeom prst="rect">
            <a:avLst/>
          </a:prstGeom>
          <a:noFill/>
          <a:ln/>
        </p:spPr>
        <p:txBody>
          <a:bodyPr wrap="square" lIns="0" tIns="0" rIns="0" bIns="0" rtlCol="0" anchor="ctr"/>
          <a:lstStyle/>
          <a:p>
            <a:pPr algn="ctr" indent="0" marL="0">
              <a:buNone/>
            </a:pPr>
            <a:r>
              <a:rPr lang="en-US" sz="2800" b="1" dirty="0">
                <a:solidFill>
                  <a:srgbClr val="12505F"/>
                </a:solidFill>
                <a:latin typeface="Georgia" pitchFamily="34" charset="0"/>
                <a:ea typeface="Georgia" pitchFamily="34" charset="-122"/>
                <a:cs typeface="Georgia" pitchFamily="34" charset="-120"/>
              </a:rPr>
              <a:t>+0.04–0.11</a:t>
            </a:r>
            <a:endParaRPr lang="en-US" sz="2800" dirty="0"/>
          </a:p>
        </p:txBody>
      </p:sp>
      <p:sp>
        <p:nvSpPr>
          <p:cNvPr id="13" name="Text 11"/>
          <p:cNvSpPr/>
          <p:nvPr/>
        </p:nvSpPr>
        <p:spPr>
          <a:xfrm>
            <a:off x="60350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Adds over covariates</a:t>
            </a:r>
            <a:endParaRPr lang="en-US" sz="1150" dirty="0"/>
          </a:p>
        </p:txBody>
      </p:sp>
      <p:sp>
        <p:nvSpPr>
          <p:cNvPr id="14" name="Text 12"/>
          <p:cNvSpPr/>
          <p:nvPr/>
        </p:nvSpPr>
        <p:spPr>
          <a:xfrm>
            <a:off x="60350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model-dependent increment</a:t>
            </a:r>
            <a:endParaRPr lang="en-US" sz="1000" dirty="0"/>
          </a:p>
        </p:txBody>
      </p:sp>
      <p:sp>
        <p:nvSpPr>
          <p:cNvPr id="15" name="Text 13"/>
          <p:cNvSpPr/>
          <p:nvPr/>
        </p:nvSpPr>
        <p:spPr>
          <a:xfrm>
            <a:off x="8778240" y="1371600"/>
            <a:ext cx="283464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9</a:t>
            </a:r>
            <a:endParaRPr lang="en-US" sz="4000" dirty="0"/>
          </a:p>
        </p:txBody>
      </p:sp>
      <p:sp>
        <p:nvSpPr>
          <p:cNvPr id="16" name="Text 14"/>
          <p:cNvSpPr/>
          <p:nvPr/>
        </p:nvSpPr>
        <p:spPr>
          <a:xfrm>
            <a:off x="8778240" y="2048256"/>
            <a:ext cx="28346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Biomarkers</a:t>
            </a:r>
            <a:endParaRPr lang="en-US" sz="1150" dirty="0"/>
          </a:p>
        </p:txBody>
      </p:sp>
      <p:sp>
        <p:nvSpPr>
          <p:cNvPr id="17" name="Text 15"/>
          <p:cNvSpPr/>
          <p:nvPr/>
        </p:nvSpPr>
        <p:spPr>
          <a:xfrm>
            <a:off x="8778240" y="2340864"/>
            <a:ext cx="28346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3 independent methods agree</a:t>
            </a:r>
            <a:endParaRPr lang="en-US" sz="1000" dirty="0"/>
          </a:p>
        </p:txBody>
      </p:sp>
      <p:sp>
        <p:nvSpPr>
          <p:cNvPr id="18" name="Text 16"/>
          <p:cNvSpPr/>
          <p:nvPr/>
        </p:nvSpPr>
        <p:spPr>
          <a:xfrm>
            <a:off x="548640" y="2670048"/>
            <a:ext cx="11064240" cy="365760"/>
          </a:xfrm>
          <a:prstGeom prst="rect">
            <a:avLst/>
          </a:prstGeom>
          <a:noFill/>
          <a:ln/>
        </p:spPr>
        <p:txBody>
          <a:bodyPr wrap="square" lIns="0" tIns="0" rIns="0" bIns="0" rtlCol="0" anchor="t"/>
          <a:lstStyle/>
          <a:p>
            <a:pPr indent="0" marL="0">
              <a:buNone/>
            </a:pPr>
            <a:r>
              <a:rPr lang="en-US" sz="1150" i="1" dirty="0">
                <a:solidFill>
                  <a:srgbClr val="5F7580"/>
                </a:solidFill>
                <a:latin typeface="Calibri" pitchFamily="34" charset="0"/>
                <a:ea typeface="Calibri" pitchFamily="34" charset="-122"/>
                <a:cs typeface="Calibri" pitchFamily="34" charset="-120"/>
              </a:rPr>
              <a:t>Model performance is deliberately not the headline: no consistent ranking exists among the leading models (AUC 0.825–0.858, all within fold-to-fold noise), so no single score is a property of the finding.</a:t>
            </a:r>
            <a:endParaRPr lang="en-US" sz="1150" dirty="0"/>
          </a:p>
        </p:txBody>
      </p:sp>
      <p:sp>
        <p:nvSpPr>
          <p:cNvPr id="19" name="Shape 17"/>
          <p:cNvSpPr/>
          <p:nvPr/>
        </p:nvSpPr>
        <p:spPr>
          <a:xfrm>
            <a:off x="548640" y="3090672"/>
            <a:ext cx="548640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0" name="Shape 18"/>
          <p:cNvSpPr/>
          <p:nvPr/>
        </p:nvSpPr>
        <p:spPr>
          <a:xfrm>
            <a:off x="548640" y="3090672"/>
            <a:ext cx="68580" cy="1481328"/>
          </a:xfrm>
          <a:prstGeom prst="rect">
            <a:avLst/>
          </a:prstGeom>
          <a:solidFill>
            <a:srgbClr val="18707F"/>
          </a:solidFill>
          <a:ln/>
        </p:spPr>
      </p:sp>
      <p:sp>
        <p:nvSpPr>
          <p:cNvPr id="21" name="Text 19"/>
          <p:cNvSpPr/>
          <p:nvPr/>
        </p:nvSpPr>
        <p:spPr>
          <a:xfrm>
            <a:off x="804672" y="3236976"/>
            <a:ext cx="50292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established</a:t>
            </a:r>
            <a:endParaRPr lang="en-US" sz="1500" dirty="0"/>
          </a:p>
        </p:txBody>
      </p:sp>
      <p:sp>
        <p:nvSpPr>
          <p:cNvPr id="22" name="Text 20"/>
          <p:cNvSpPr/>
          <p:nvPr/>
        </p:nvSpPr>
        <p:spPr>
          <a:xfrm>
            <a:off x="804672" y="3621024"/>
            <a:ext cx="502920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Duck gut microbiota carry a genuine, reproducible signal for influenza infection status. The association survives permutation testing and month-stratified analysis, and is driven partly by nonlinear interactions between taxa.</a:t>
            </a:r>
            <a:endParaRPr lang="en-US" sz="1200" dirty="0"/>
          </a:p>
        </p:txBody>
      </p:sp>
      <p:sp>
        <p:nvSpPr>
          <p:cNvPr id="23" name="Shape 21"/>
          <p:cNvSpPr/>
          <p:nvPr/>
        </p:nvSpPr>
        <p:spPr>
          <a:xfrm>
            <a:off x="6309360" y="3090672"/>
            <a:ext cx="530352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4" name="Shape 22"/>
          <p:cNvSpPr/>
          <p:nvPr/>
        </p:nvSpPr>
        <p:spPr>
          <a:xfrm>
            <a:off x="6309360" y="3090672"/>
            <a:ext cx="68580" cy="1481328"/>
          </a:xfrm>
          <a:prstGeom prst="rect">
            <a:avLst/>
          </a:prstGeom>
          <a:solidFill>
            <a:srgbClr val="8FB996"/>
          </a:solidFill>
          <a:ln/>
        </p:spPr>
      </p:sp>
      <p:sp>
        <p:nvSpPr>
          <p:cNvPr id="25" name="Text 23"/>
          <p:cNvSpPr/>
          <p:nvPr/>
        </p:nvSpPr>
        <p:spPr>
          <a:xfrm>
            <a:off x="6565392" y="3236976"/>
            <a:ext cx="484632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How we established it</a:t>
            </a:r>
            <a:endParaRPr lang="en-US" sz="1500" dirty="0"/>
          </a:p>
        </p:txBody>
      </p:sp>
      <p:sp>
        <p:nvSpPr>
          <p:cNvPr id="26" name="Text 24"/>
          <p:cNvSpPr/>
          <p:nvPr/>
        </p:nvSpPr>
        <p:spPr>
          <a:xfrm>
            <a:off x="6565392" y="3621024"/>
            <a:ext cx="484632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cross-validation with all preprocessing fitted inside training folds; seventeen models compared on identical splits; three independent feature-ranking methods cross-checked against each other.</a:t>
            </a:r>
            <a:endParaRPr lang="en-US" sz="1200" dirty="0"/>
          </a:p>
        </p:txBody>
      </p:sp>
      <p:sp>
        <p:nvSpPr>
          <p:cNvPr id="27" name="Shape 25"/>
          <p:cNvSpPr/>
          <p:nvPr/>
        </p:nvSpPr>
        <p:spPr>
          <a:xfrm>
            <a:off x="548640" y="4800600"/>
            <a:ext cx="11064240" cy="868680"/>
          </a:xfrm>
          <a:prstGeom prst="rect">
            <a:avLst/>
          </a:prstGeom>
          <a:solidFill>
            <a:srgbClr val="FBEDE7"/>
          </a:solidFill>
          <a:ln/>
        </p:spPr>
      </p:sp>
      <p:sp>
        <p:nvSpPr>
          <p:cNvPr id="28" name="Shape 26"/>
          <p:cNvSpPr/>
          <p:nvPr/>
        </p:nvSpPr>
        <p:spPr>
          <a:xfrm>
            <a:off x="548640" y="4800600"/>
            <a:ext cx="68580" cy="868680"/>
          </a:xfrm>
          <a:prstGeom prst="rect">
            <a:avLst/>
          </a:prstGeom>
          <a:solidFill>
            <a:srgbClr val="D2603A"/>
          </a:solidFill>
          <a:ln/>
        </p:spPr>
      </p:sp>
      <p:sp>
        <p:nvSpPr>
          <p:cNvPr id="29" name="Text 27"/>
          <p:cNvSpPr/>
          <p:nvPr/>
        </p:nvSpPr>
        <p:spPr>
          <a:xfrm>
            <a:off x="804672" y="489204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Two boundaries on every claim in this deck:  (1) sampling season alone reaches AUC 0.881, so microbiome value must always be quoted relative to that confounder baseline;  (2) results hold only within the UC Davis wild-duck cohort — cross-study generalization fails (AUC 0.54 ± 0.29).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ROADMAP</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This Deck Covers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a:t>
            </a:r>
            <a:endParaRPr lang="en-US" sz="1000" dirty="0"/>
          </a:p>
        </p:txBody>
      </p:sp>
      <p:sp>
        <p:nvSpPr>
          <p:cNvPr id="6" name="Shape 4"/>
          <p:cNvSpPr/>
          <p:nvPr/>
        </p:nvSpPr>
        <p:spPr>
          <a:xfrm>
            <a:off x="548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28016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01   Data</a:t>
            </a:r>
            <a:endParaRPr lang="en-US" sz="1600" dirty="0"/>
          </a:p>
        </p:txBody>
      </p:sp>
      <p:sp>
        <p:nvSpPr>
          <p:cNvPr id="9" name="Text 7"/>
          <p:cNvSpPr/>
          <p:nvPr/>
        </p:nvSpPr>
        <p:spPr>
          <a:xfrm>
            <a:off x="804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Three input files, four studies, and why we model only one of them</a:t>
            </a:r>
            <a:endParaRPr lang="en-US" sz="1200" dirty="0"/>
          </a:p>
        </p:txBody>
      </p:sp>
      <p:sp>
        <p:nvSpPr>
          <p:cNvPr id="10" name="Shape 8"/>
          <p:cNvSpPr/>
          <p:nvPr/>
        </p:nvSpPr>
        <p:spPr>
          <a:xfrm>
            <a:off x="6263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463040"/>
            <a:ext cx="68580" cy="1280160"/>
          </a:xfrm>
          <a:prstGeom prst="rect">
            <a:avLst/>
          </a:prstGeom>
          <a:solidFill>
            <a:srgbClr val="8FB996"/>
          </a:solidFill>
          <a:ln/>
        </p:spPr>
      </p:sp>
      <p:sp>
        <p:nvSpPr>
          <p:cNvPr id="12" name="Text 10"/>
          <p:cNvSpPr/>
          <p:nvPr/>
        </p:nvSpPr>
        <p:spPr>
          <a:xfrm>
            <a:off x="6519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02   Processing</a:t>
            </a:r>
            <a:endParaRPr lang="en-US" sz="1600" dirty="0"/>
          </a:p>
        </p:txBody>
      </p:sp>
      <p:sp>
        <p:nvSpPr>
          <p:cNvPr id="13" name="Text 11"/>
          <p:cNvSpPr/>
          <p:nvPr/>
        </p:nvSpPr>
        <p:spPr>
          <a:xfrm>
            <a:off x="6519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Label leakage, compositional transformation, and leak-free pipelines</a:t>
            </a:r>
            <a:endParaRPr lang="en-US" sz="1200" dirty="0"/>
          </a:p>
        </p:txBody>
      </p:sp>
      <p:sp>
        <p:nvSpPr>
          <p:cNvPr id="14" name="Shape 12"/>
          <p:cNvSpPr/>
          <p:nvPr/>
        </p:nvSpPr>
        <p:spPr>
          <a:xfrm>
            <a:off x="548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944368"/>
            <a:ext cx="68580" cy="1280160"/>
          </a:xfrm>
          <a:prstGeom prst="rect">
            <a:avLst/>
          </a:prstGeom>
          <a:solidFill>
            <a:srgbClr val="18707F"/>
          </a:solidFill>
          <a:ln/>
        </p:spPr>
      </p:sp>
      <p:sp>
        <p:nvSpPr>
          <p:cNvPr id="16" name="Text 14"/>
          <p:cNvSpPr/>
          <p:nvPr/>
        </p:nvSpPr>
        <p:spPr>
          <a:xfrm>
            <a:off x="804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03   Modeling</a:t>
            </a:r>
            <a:endParaRPr lang="en-US" sz="1600" dirty="0"/>
          </a:p>
        </p:txBody>
      </p:sp>
      <p:sp>
        <p:nvSpPr>
          <p:cNvPr id="17" name="Text 15"/>
          <p:cNvSpPr/>
          <p:nvPr/>
        </p:nvSpPr>
        <p:spPr>
          <a:xfrm>
            <a:off x="804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CV protocol and a seventeen-model comparison</a:t>
            </a:r>
            <a:endParaRPr lang="en-US" sz="1200" dirty="0"/>
          </a:p>
        </p:txBody>
      </p:sp>
      <p:sp>
        <p:nvSpPr>
          <p:cNvPr id="18" name="Shape 16"/>
          <p:cNvSpPr/>
          <p:nvPr/>
        </p:nvSpPr>
        <p:spPr>
          <a:xfrm>
            <a:off x="6263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944368"/>
            <a:ext cx="68580" cy="1280160"/>
          </a:xfrm>
          <a:prstGeom prst="rect">
            <a:avLst/>
          </a:prstGeom>
          <a:solidFill>
            <a:srgbClr val="8FB996"/>
          </a:solidFill>
          <a:ln/>
        </p:spPr>
      </p:sp>
      <p:sp>
        <p:nvSpPr>
          <p:cNvPr id="20" name="Text 18"/>
          <p:cNvSpPr/>
          <p:nvPr/>
        </p:nvSpPr>
        <p:spPr>
          <a:xfrm>
            <a:off x="6519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04   Validity</a:t>
            </a:r>
            <a:endParaRPr lang="en-US" sz="1600" dirty="0"/>
          </a:p>
        </p:txBody>
      </p:sp>
      <p:sp>
        <p:nvSpPr>
          <p:cNvPr id="21" name="Text 19"/>
          <p:cNvSpPr/>
          <p:nvPr/>
        </p:nvSpPr>
        <p:spPr>
          <a:xfrm>
            <a:off x="6519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 testing, confounders, stratification, and a deconfounded subset</a:t>
            </a:r>
            <a:endParaRPr lang="en-US" sz="1200" dirty="0"/>
          </a:p>
        </p:txBody>
      </p:sp>
      <p:sp>
        <p:nvSpPr>
          <p:cNvPr id="22" name="Shape 20"/>
          <p:cNvSpPr/>
          <p:nvPr/>
        </p:nvSpPr>
        <p:spPr>
          <a:xfrm>
            <a:off x="548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4425696"/>
            <a:ext cx="68580" cy="1280160"/>
          </a:xfrm>
          <a:prstGeom prst="rect">
            <a:avLst/>
          </a:prstGeom>
          <a:solidFill>
            <a:srgbClr val="18707F"/>
          </a:solidFill>
          <a:ln/>
        </p:spPr>
      </p:sp>
      <p:sp>
        <p:nvSpPr>
          <p:cNvPr id="24" name="Text 22"/>
          <p:cNvSpPr/>
          <p:nvPr/>
        </p:nvSpPr>
        <p:spPr>
          <a:xfrm>
            <a:off x="804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05   Findings</a:t>
            </a:r>
            <a:endParaRPr lang="en-US" sz="1600" dirty="0"/>
          </a:p>
        </p:txBody>
      </p:sp>
      <p:sp>
        <p:nvSpPr>
          <p:cNvPr id="25" name="Text 23"/>
          <p:cNvSpPr/>
          <p:nvPr/>
        </p:nvSpPr>
        <p:spPr>
          <a:xfrm>
            <a:off x="804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Biomarkers from three independent methods; evidence of nonlinearity</a:t>
            </a:r>
            <a:endParaRPr lang="en-US" sz="1200" dirty="0"/>
          </a:p>
        </p:txBody>
      </p:sp>
      <p:sp>
        <p:nvSpPr>
          <p:cNvPr id="26" name="Shape 24"/>
          <p:cNvSpPr/>
          <p:nvPr/>
        </p:nvSpPr>
        <p:spPr>
          <a:xfrm>
            <a:off x="6263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4425696"/>
            <a:ext cx="68580" cy="1280160"/>
          </a:xfrm>
          <a:prstGeom prst="rect">
            <a:avLst/>
          </a:prstGeom>
          <a:solidFill>
            <a:srgbClr val="8FB996"/>
          </a:solidFill>
          <a:ln/>
        </p:spPr>
      </p:sp>
      <p:sp>
        <p:nvSpPr>
          <p:cNvPr id="28" name="Text 26"/>
          <p:cNvSpPr/>
          <p:nvPr/>
        </p:nvSpPr>
        <p:spPr>
          <a:xfrm>
            <a:off x="6519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06   Limits</a:t>
            </a:r>
            <a:endParaRPr lang="en-US" sz="1600" dirty="0"/>
          </a:p>
        </p:txBody>
      </p:sp>
      <p:sp>
        <p:nvSpPr>
          <p:cNvPr id="29" name="Text 27"/>
          <p:cNvSpPr/>
          <p:nvPr/>
        </p:nvSpPr>
        <p:spPr>
          <a:xfrm>
            <a:off x="6519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Seven known limitations, stated plainly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BEFORE WE START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How to Read the Numbers in This Deck</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4</a:t>
            </a:r>
            <a:endParaRPr lang="en-US" sz="1000" dirty="0"/>
          </a:p>
        </p:txBody>
      </p:sp>
      <p:sp>
        <p:nvSpPr>
          <p:cNvPr id="6" name="Text 4"/>
          <p:cNvSpPr/>
          <p:nvPr/>
        </p:nvSpPr>
        <p:spPr>
          <a:xfrm>
            <a:off x="548640" y="1298448"/>
            <a:ext cx="11064240" cy="36576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Six conventions. Each one, if misread, changes what a result means — so they come before any data rather than after.</a:t>
            </a:r>
            <a:endParaRPr lang="en-US" sz="1250" dirty="0"/>
          </a:p>
        </p:txBody>
      </p:sp>
      <p:sp>
        <p:nvSpPr>
          <p:cNvPr id="7" name="Shape 5"/>
          <p:cNvSpPr/>
          <p:nvPr/>
        </p:nvSpPr>
        <p:spPr>
          <a:xfrm>
            <a:off x="548640" y="1719072"/>
            <a:ext cx="5394960" cy="1426464"/>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719072"/>
            <a:ext cx="68580" cy="1426464"/>
          </a:xfrm>
          <a:prstGeom prst="rect">
            <a:avLst/>
          </a:prstGeom>
          <a:solidFill>
            <a:srgbClr val="D2603A"/>
          </a:solidFill>
          <a:ln/>
        </p:spPr>
      </p:sp>
      <p:sp>
        <p:nvSpPr>
          <p:cNvPr id="9" name="Text 7"/>
          <p:cNvSpPr/>
          <p:nvPr/>
        </p:nvSpPr>
        <p:spPr>
          <a:xfrm>
            <a:off x="804672" y="1865376"/>
            <a:ext cx="4937760" cy="329184"/>
          </a:xfrm>
          <a:prstGeom prst="rect">
            <a:avLst/>
          </a:prstGeom>
          <a:noFill/>
          <a:ln/>
        </p:spPr>
        <p:txBody>
          <a:bodyPr wrap="square" lIns="0" tIns="0" rIns="0" bIns="0" rtlCol="0" anchor="t"/>
          <a:lstStyle/>
          <a:p>
            <a:pPr indent="0" marL="0">
              <a:buNone/>
            </a:pPr>
            <a:r>
              <a:rPr lang="en-US" sz="1300" b="1" dirty="0">
                <a:solidFill>
                  <a:srgbClr val="16252C"/>
                </a:solidFill>
                <a:latin typeface="Georgia" pitchFamily="34" charset="0"/>
                <a:ea typeface="Georgia" pitchFamily="34" charset="-122"/>
                <a:cs typeface="Georgia" pitchFamily="34" charset="-120"/>
              </a:rPr>
              <a:t>1.  Baselines are not 0.5</a:t>
            </a:r>
            <a:endParaRPr lang="en-US" sz="1300" dirty="0"/>
          </a:p>
        </p:txBody>
      </p:sp>
      <p:sp>
        <p:nvSpPr>
          <p:cNvPr id="10" name="Text 8"/>
          <p:cNvSpPr/>
          <p:nvPr/>
        </p:nvSpPr>
        <p:spPr>
          <a:xfrm>
            <a:off x="804672" y="2249424"/>
            <a:ext cx="4937760" cy="768096"/>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58% of samples are positive, so always-guessing-Pos already scores accuracy 0.581 — and PR-AUC 0.581 too. Only ROC-AUC (0.50), MCC (0) and balanced accuracy (0.50) have clean baselines.</a:t>
            </a:r>
            <a:endParaRPr lang="en-US" sz="1050" dirty="0"/>
          </a:p>
          <a:p>
            <a:pPr indent="0" marL="0">
              <a:lnSpc>
                <a:spcPct val="112000"/>
              </a:lnSpc>
              <a:buNone/>
            </a:pPr>
            <a:endParaRPr lang="en-US" sz="1050" dirty="0"/>
          </a:p>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Throughout this deck, "AUC" on its own always means ROC-AUC.</a:t>
            </a:r>
            <a:endParaRPr lang="en-US" sz="1050" dirty="0"/>
          </a:p>
        </p:txBody>
      </p:sp>
      <p:sp>
        <p:nvSpPr>
          <p:cNvPr id="11" name="Shape 9"/>
          <p:cNvSpPr/>
          <p:nvPr/>
        </p:nvSpPr>
        <p:spPr>
          <a:xfrm>
            <a:off x="6263640" y="1719072"/>
            <a:ext cx="5394960" cy="1426464"/>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10"/>
          <p:cNvSpPr/>
          <p:nvPr/>
        </p:nvSpPr>
        <p:spPr>
          <a:xfrm>
            <a:off x="6263640" y="1719072"/>
            <a:ext cx="68580" cy="1426464"/>
          </a:xfrm>
          <a:prstGeom prst="rect">
            <a:avLst/>
          </a:prstGeom>
          <a:solidFill>
            <a:srgbClr val="D2603A"/>
          </a:solidFill>
          <a:ln/>
        </p:spPr>
      </p:sp>
      <p:sp>
        <p:nvSpPr>
          <p:cNvPr id="13" name="Text 11"/>
          <p:cNvSpPr/>
          <p:nvPr/>
        </p:nvSpPr>
        <p:spPr>
          <a:xfrm>
            <a:off x="6519672" y="1865376"/>
            <a:ext cx="4937760" cy="329184"/>
          </a:xfrm>
          <a:prstGeom prst="rect">
            <a:avLst/>
          </a:prstGeom>
          <a:noFill/>
          <a:ln/>
        </p:spPr>
        <p:txBody>
          <a:bodyPr wrap="square" lIns="0" tIns="0" rIns="0" bIns="0" rtlCol="0" anchor="t"/>
          <a:lstStyle/>
          <a:p>
            <a:pPr indent="0" marL="0">
              <a:buNone/>
            </a:pPr>
            <a:r>
              <a:rPr lang="en-US" sz="1300" b="1" dirty="0">
                <a:solidFill>
                  <a:srgbClr val="16252C"/>
                </a:solidFill>
                <a:latin typeface="Georgia" pitchFamily="34" charset="0"/>
                <a:ea typeface="Georgia" pitchFamily="34" charset="-122"/>
                <a:cs typeface="Georgia" pitchFamily="34" charset="-120"/>
              </a:rPr>
              <a:t>2.  AUC ignores the threshold, accuracy does not</a:t>
            </a:r>
            <a:endParaRPr lang="en-US" sz="1300" dirty="0"/>
          </a:p>
        </p:txBody>
      </p:sp>
      <p:sp>
        <p:nvSpPr>
          <p:cNvPr id="14" name="Text 12"/>
          <p:cNvSpPr/>
          <p:nvPr/>
        </p:nvSpPr>
        <p:spPr>
          <a:xfrm>
            <a:off x="6519672" y="2249424"/>
            <a:ext cx="4937760" cy="768096"/>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The same predictions give accuracy 0.69–0.77 depending on where the cut-off sits. AUC measures ranking quality, so it is the metric for comparing models.</a:t>
            </a:r>
            <a:endParaRPr lang="en-US" sz="1050" dirty="0"/>
          </a:p>
        </p:txBody>
      </p:sp>
      <p:sp>
        <p:nvSpPr>
          <p:cNvPr id="15" name="Shape 13"/>
          <p:cNvSpPr/>
          <p:nvPr/>
        </p:nvSpPr>
        <p:spPr>
          <a:xfrm>
            <a:off x="548640" y="3273552"/>
            <a:ext cx="5394960" cy="1426464"/>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4"/>
          <p:cNvSpPr/>
          <p:nvPr/>
        </p:nvSpPr>
        <p:spPr>
          <a:xfrm>
            <a:off x="548640" y="3273552"/>
            <a:ext cx="68580" cy="1426464"/>
          </a:xfrm>
          <a:prstGeom prst="rect">
            <a:avLst/>
          </a:prstGeom>
          <a:solidFill>
            <a:srgbClr val="18707F"/>
          </a:solidFill>
          <a:ln/>
        </p:spPr>
      </p:sp>
      <p:sp>
        <p:nvSpPr>
          <p:cNvPr id="17" name="Text 15"/>
          <p:cNvSpPr/>
          <p:nvPr/>
        </p:nvSpPr>
        <p:spPr>
          <a:xfrm>
            <a:off x="804672" y="3419856"/>
            <a:ext cx="4937760" cy="329184"/>
          </a:xfrm>
          <a:prstGeom prst="rect">
            <a:avLst/>
          </a:prstGeom>
          <a:noFill/>
          <a:ln/>
        </p:spPr>
        <p:txBody>
          <a:bodyPr wrap="square" lIns="0" tIns="0" rIns="0" bIns="0" rtlCol="0" anchor="t"/>
          <a:lstStyle/>
          <a:p>
            <a:pPr indent="0" marL="0">
              <a:buNone/>
            </a:pPr>
            <a:r>
              <a:rPr lang="en-US" sz="1300" b="1" dirty="0">
                <a:solidFill>
                  <a:srgbClr val="16252C"/>
                </a:solidFill>
                <a:latin typeface="Georgia" pitchFamily="34" charset="0"/>
                <a:ea typeface="Georgia" pitchFamily="34" charset="-122"/>
                <a:cs typeface="Georgia" pitchFamily="34" charset="-120"/>
              </a:rPr>
              <a:t>3.  MCC is the one to trust under imbalance</a:t>
            </a:r>
            <a:endParaRPr lang="en-US" sz="1300" dirty="0"/>
          </a:p>
        </p:txBody>
      </p:sp>
      <p:sp>
        <p:nvSpPr>
          <p:cNvPr id="18" name="Text 16"/>
          <p:cNvSpPr/>
          <p:nvPr/>
        </p:nvSpPr>
        <p:spPr>
          <a:xfrm>
            <a:off x="804672" y="3803904"/>
            <a:ext cx="4937760" cy="768096"/>
          </a:xfrm>
          <a:prstGeom prst="rect">
            <a:avLst/>
          </a:prstGeom>
          <a:noFill/>
          <a:ln/>
        </p:spPr>
        <p:txBody>
          <a:bodyPr wrap="square" lIns="0" tIns="0" rIns="0" bIns="0" rtlCol="0" anchor="t"/>
          <a:lstStyle/>
          <a:p>
            <a:pPr indent="0" marL="0">
              <a:lnSpc>
                <a:spcPct val="112000"/>
              </a:lnSpc>
              <a:buNone/>
            </a:pPr>
            <a:r>
              <a:rPr lang="en-US" sz="1050" dirty="0">
                <a:solidFill>
                  <a:srgbClr val="5F7580"/>
                </a:solidFill>
                <a:latin typeface="Calibri" pitchFamily="34" charset="0"/>
                <a:ea typeface="Calibri" pitchFamily="34" charset="-122"/>
                <a:cs typeface="Calibri" pitchFamily="34" charset="-120"/>
              </a:rPr>
              <a:t>It uses all four cells of the confusion matrix and has a baseline of 0. Accuracy and F1 both reward simply guessing the majority class.</a:t>
            </a:r>
            <a:endParaRPr lang="en-US" sz="1050" dirty="0"/>
          </a:p>
        </p:txBody>
      </p:sp>
      <p:sp>
        <p:nvSpPr>
          <p:cNvPr id="19" name="Shape 17"/>
          <p:cNvSpPr/>
          <p:nvPr/>
        </p:nvSpPr>
        <p:spPr>
          <a:xfrm>
            <a:off x="6263640" y="3273552"/>
            <a:ext cx="5394960" cy="1426464"/>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0" name="Shape 18"/>
          <p:cNvSpPr/>
          <p:nvPr/>
        </p:nvSpPr>
        <p:spPr>
          <a:xfrm>
            <a:off x="6263640" y="3273552"/>
            <a:ext cx="68580" cy="1426464"/>
          </a:xfrm>
          <a:prstGeom prst="rect">
            <a:avLst/>
          </a:prstGeom>
          <a:solidFill>
            <a:srgbClr val="18707F"/>
          </a:solidFill>
          <a:ln/>
        </p:spPr>
      </p:sp>
      <p:sp>
        <p:nvSpPr>
          <p:cNvPr id="21" name="Text 19"/>
          <p:cNvSpPr/>
          <p:nvPr/>
        </p:nvSpPr>
        <p:spPr>
          <a:xfrm>
            <a:off x="6519672" y="3419856"/>
            <a:ext cx="4937760" cy="329184"/>
          </a:xfrm>
          <a:prstGeom prst="rect">
            <a:avLst/>
          </a:prstGeom>
          <a:noFill/>
          <a:ln/>
        </p:spPr>
        <p:txBody>
          <a:bodyPr wrap="square" lIns="0" tIns="0" rIns="0" bIns="0" rtlCol="0" anchor="t"/>
          <a:lstStyle/>
          <a:p>
            <a:pPr indent="0" marL="0">
              <a:buNone/>
            </a:pPr>
            <a:r>
              <a:rPr lang="en-US" sz="1300" b="1" dirty="0">
                <a:solidFill>
                  <a:srgbClr val="16252C"/>
                </a:solidFill>
                <a:latin typeface="Georgia" pitchFamily="34" charset="0"/>
                <a:ea typeface="Georgia" pitchFamily="34" charset="-122"/>
                <a:cs typeface="Georgia" pitchFamily="34" charset="-120"/>
              </a:rPr>
              <a:t>4.  p governs one test, FDR governs a batch</a:t>
            </a:r>
            <a:endParaRPr lang="en-US" sz="1300" dirty="0"/>
          </a:p>
        </p:txBody>
      </p:sp>
      <p:sp>
        <p:nvSpPr>
          <p:cNvPr id="22" name="Text 20"/>
          <p:cNvSpPr/>
          <p:nvPr/>
        </p:nvSpPr>
        <p:spPr>
          <a:xfrm>
            <a:off x="6519672" y="3803904"/>
            <a:ext cx="4937760" cy="768096"/>
          </a:xfrm>
          <a:prstGeom prst="rect">
            <a:avLst/>
          </a:prstGeom>
          <a:noFill/>
          <a:ln/>
        </p:spPr>
        <p:txBody>
          <a:bodyPr wrap="square" lIns="0" tIns="0" rIns="0" bIns="0" rtlCol="0" anchor="t"/>
          <a:lstStyle/>
          <a:p>
            <a:pPr indent="0" marL="0">
              <a:lnSpc>
                <a:spcPct val="112000"/>
              </a:lnSpc>
              <a:buNone/>
            </a:pPr>
            <a:r>
              <a:rPr lang="en-US" sz="1050" dirty="0">
                <a:solidFill>
                  <a:srgbClr val="5F7580"/>
                </a:solidFill>
                <a:latin typeface="Calibri" pitchFamily="34" charset="0"/>
                <a:ea typeface="Calibri" pitchFamily="34" charset="-122"/>
                <a:cs typeface="Calibri" pitchFamily="34" charset="-120"/>
              </a:rPr>
              <a:t>Across 70 taxa, pure noise still yields ~3.5 hits at p&lt;0.05. Of our 19 hits at FDR&lt;0.05, about 1 is expected to be false.</a:t>
            </a:r>
            <a:endParaRPr lang="en-US" sz="1050" dirty="0"/>
          </a:p>
        </p:txBody>
      </p:sp>
      <p:sp>
        <p:nvSpPr>
          <p:cNvPr id="23" name="Shape 21"/>
          <p:cNvSpPr/>
          <p:nvPr/>
        </p:nvSpPr>
        <p:spPr>
          <a:xfrm>
            <a:off x="548640" y="4828032"/>
            <a:ext cx="5394960" cy="1426464"/>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4" name="Shape 22"/>
          <p:cNvSpPr/>
          <p:nvPr/>
        </p:nvSpPr>
        <p:spPr>
          <a:xfrm>
            <a:off x="548640" y="4828032"/>
            <a:ext cx="68580" cy="1426464"/>
          </a:xfrm>
          <a:prstGeom prst="rect">
            <a:avLst/>
          </a:prstGeom>
          <a:solidFill>
            <a:srgbClr val="8FB996"/>
          </a:solidFill>
          <a:ln/>
        </p:spPr>
      </p:sp>
      <p:sp>
        <p:nvSpPr>
          <p:cNvPr id="25" name="Text 23"/>
          <p:cNvSpPr/>
          <p:nvPr/>
        </p:nvSpPr>
        <p:spPr>
          <a:xfrm>
            <a:off x="804672" y="4974336"/>
            <a:ext cx="4937760" cy="329184"/>
          </a:xfrm>
          <a:prstGeom prst="rect">
            <a:avLst/>
          </a:prstGeom>
          <a:noFill/>
          <a:ln/>
        </p:spPr>
        <p:txBody>
          <a:bodyPr wrap="square" lIns="0" tIns="0" rIns="0" bIns="0" rtlCol="0" anchor="t"/>
          <a:lstStyle/>
          <a:p>
            <a:pPr indent="0" marL="0">
              <a:buNone/>
            </a:pPr>
            <a:r>
              <a:rPr lang="en-US" sz="1300" b="1" dirty="0">
                <a:solidFill>
                  <a:srgbClr val="16252C"/>
                </a:solidFill>
                <a:latin typeface="Georgia" pitchFamily="34" charset="0"/>
                <a:ea typeface="Georgia" pitchFamily="34" charset="-122"/>
                <a:cs typeface="Georgia" pitchFamily="34" charset="-120"/>
              </a:rPr>
              <a:t>5.  Leakage is not confounding</a:t>
            </a:r>
            <a:endParaRPr lang="en-US" sz="1300" dirty="0"/>
          </a:p>
        </p:txBody>
      </p:sp>
      <p:sp>
        <p:nvSpPr>
          <p:cNvPr id="26" name="Text 24"/>
          <p:cNvSpPr/>
          <p:nvPr/>
        </p:nvSpPr>
        <p:spPr>
          <a:xfrm>
            <a:off x="804672" y="5358384"/>
            <a:ext cx="4937760" cy="768096"/>
          </a:xfrm>
          <a:prstGeom prst="rect">
            <a:avLst/>
          </a:prstGeom>
          <a:noFill/>
          <a:ln/>
        </p:spPr>
        <p:txBody>
          <a:bodyPr wrap="square" lIns="0" tIns="0" rIns="0" bIns="0" rtlCol="0" anchor="t"/>
          <a:lstStyle/>
          <a:p>
            <a:pPr indent="0" marL="0">
              <a:lnSpc>
                <a:spcPct val="112000"/>
              </a:lnSpc>
              <a:buNone/>
            </a:pPr>
            <a:r>
              <a:rPr lang="en-US" sz="1050" dirty="0">
                <a:solidFill>
                  <a:srgbClr val="5F7580"/>
                </a:solidFill>
                <a:latin typeface="Calibri" pitchFamily="34" charset="0"/>
                <a:ea typeface="Calibri" pitchFamily="34" charset="-122"/>
                <a:cs typeface="Calibri" pitchFamily="34" charset="-120"/>
              </a:rPr>
              <a:t>Leaked information does not exist at prediction time and must be deleted. Confounded information does exist — you know the month — and must be handled by stratification instead.</a:t>
            </a:r>
            <a:endParaRPr lang="en-US" sz="1050" dirty="0"/>
          </a:p>
        </p:txBody>
      </p:sp>
      <p:sp>
        <p:nvSpPr>
          <p:cNvPr id="27" name="Shape 25"/>
          <p:cNvSpPr/>
          <p:nvPr/>
        </p:nvSpPr>
        <p:spPr>
          <a:xfrm>
            <a:off x="6263640" y="4828032"/>
            <a:ext cx="5394960" cy="1426464"/>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8" name="Shape 26"/>
          <p:cNvSpPr/>
          <p:nvPr/>
        </p:nvSpPr>
        <p:spPr>
          <a:xfrm>
            <a:off x="6263640" y="4828032"/>
            <a:ext cx="68580" cy="1426464"/>
          </a:xfrm>
          <a:prstGeom prst="rect">
            <a:avLst/>
          </a:prstGeom>
          <a:solidFill>
            <a:srgbClr val="8FB996"/>
          </a:solidFill>
          <a:ln/>
        </p:spPr>
      </p:sp>
      <p:sp>
        <p:nvSpPr>
          <p:cNvPr id="29" name="Text 27"/>
          <p:cNvSpPr/>
          <p:nvPr/>
        </p:nvSpPr>
        <p:spPr>
          <a:xfrm>
            <a:off x="6519672" y="4974336"/>
            <a:ext cx="4937760" cy="329184"/>
          </a:xfrm>
          <a:prstGeom prst="rect">
            <a:avLst/>
          </a:prstGeom>
          <a:noFill/>
          <a:ln/>
        </p:spPr>
        <p:txBody>
          <a:bodyPr wrap="square" lIns="0" tIns="0" rIns="0" bIns="0" rtlCol="0" anchor="t"/>
          <a:lstStyle/>
          <a:p>
            <a:pPr indent="0" marL="0">
              <a:buNone/>
            </a:pPr>
            <a:r>
              <a:rPr lang="en-US" sz="1300" b="1" dirty="0">
                <a:solidFill>
                  <a:srgbClr val="16252C"/>
                </a:solidFill>
                <a:latin typeface="Georgia" pitchFamily="34" charset="0"/>
                <a:ea typeface="Georgia" pitchFamily="34" charset="-122"/>
                <a:cs typeface="Georgia" pitchFamily="34" charset="-120"/>
              </a:rPr>
              <a:t>6.  Ranges are deliberate, not averages</a:t>
            </a:r>
            <a:endParaRPr lang="en-US" sz="1300" dirty="0"/>
          </a:p>
        </p:txBody>
      </p:sp>
      <p:sp>
        <p:nvSpPr>
          <p:cNvPr id="30" name="Text 28"/>
          <p:cNvSpPr/>
          <p:nvPr/>
        </p:nvSpPr>
        <p:spPr>
          <a:xfrm>
            <a:off x="6519672" y="5358384"/>
            <a:ext cx="4937760" cy="768096"/>
          </a:xfrm>
          <a:prstGeom prst="rect">
            <a:avLst/>
          </a:prstGeom>
          <a:noFill/>
          <a:ln/>
        </p:spPr>
        <p:txBody>
          <a:bodyPr wrap="square" lIns="0" tIns="0" rIns="0" bIns="0" rtlCol="0" anchor="t"/>
          <a:lstStyle/>
          <a:p>
            <a:pPr indent="0" marL="0">
              <a:lnSpc>
                <a:spcPct val="112000"/>
              </a:lnSpc>
              <a:buNone/>
            </a:pPr>
            <a:r>
              <a:rPr lang="en-US" sz="1050" dirty="0">
                <a:solidFill>
                  <a:srgbClr val="5F7580"/>
                </a:solidFill>
                <a:latin typeface="Calibri" pitchFamily="34" charset="0"/>
                <a:ea typeface="Calibri" pitchFamily="34" charset="-122"/>
                <a:cs typeface="Calibri" pitchFamily="34" charset="-120"/>
              </a:rPr>
              <a:t>Where a result varies across strata we report the range (AUC 0.734–0.965), never a sample-weighted mean, which would hide the weakest stratum.</a:t>
            </a:r>
            <a:endParaRPr lang="en-US" sz="1050" dirty="0"/>
          </a:p>
        </p:txBody>
      </p:sp>
      <p:sp>
        <p:nvSpPr>
          <p:cNvPr id="31" name="Text 29"/>
          <p:cNvSpPr/>
          <p:nvPr/>
        </p:nvSpPr>
        <p:spPr>
          <a:xfrm>
            <a:off x="548640" y="6263640"/>
            <a:ext cx="11064240" cy="274320"/>
          </a:xfrm>
          <a:prstGeom prst="rect">
            <a:avLst/>
          </a:prstGeom>
          <a:noFill/>
          <a:ln/>
        </p:spPr>
        <p:txBody>
          <a:bodyPr wrap="square" lIns="0" tIns="0" rIns="0" bIns="0" rtlCol="0" anchor="ctr"/>
          <a:lstStyle/>
          <a:p>
            <a:pPr indent="0" marL="0">
              <a:buNone/>
            </a:pPr>
            <a:r>
              <a:rPr lang="en-US" sz="1050" i="1" dirty="0">
                <a:solidFill>
                  <a:srgbClr val="5F7580"/>
                </a:solidFill>
                <a:latin typeface="Calibri" pitchFamily="34" charset="0"/>
                <a:ea typeface="Calibri" pitchFamily="34" charset="-122"/>
                <a:cs typeface="Calibri" pitchFamily="34" charset="-120"/>
              </a:rPr>
              <a:t>Full definitions — CLR, Welch t, L1 stability selection and the rest — are in README section 10.</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01</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The Data</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Three files, four studies, 326 samples — and one cohort worth modeling</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INPUTS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Three Input Files, Perfectly Aligned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114800"/>
                <a:gridCol w="4480560"/>
                <a:gridCol w="2468880"/>
              </a:tblGrid>
              <a:tr h="47548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Contents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genus_raw_counts_by_featureID.csv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275 FeatureIDs, integer counts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 matrix</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taxonomy_key.csv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Seven-level taxonomy for all 275 FeatureIDs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Annotation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metadata_all_samples-0810.csv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102 metadata columns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Labels +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sample_counts_by_study_host_infection.csv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8-row summary of study × host ×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Table 1 only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06240"/>
            <a:ext cx="68580" cy="1371600"/>
          </a:xfrm>
          <a:prstGeom prst="rect">
            <a:avLst/>
          </a:prstGeom>
          <a:solidFill>
            <a:srgbClr val="8FB996"/>
          </a:solidFill>
          <a:ln/>
        </p:spPr>
      </p:sp>
      <p:sp>
        <p:nvSpPr>
          <p:cNvPr id="9" name="Text 6"/>
          <p:cNvSpPr/>
          <p:nvPr/>
        </p:nvSpPr>
        <p:spPr>
          <a:xfrm>
            <a:off x="80467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Alignment verified</a:t>
            </a:r>
            <a:endParaRPr lang="en-US" sz="1500" dirty="0"/>
          </a:p>
        </p:txBody>
      </p:sp>
      <p:sp>
        <p:nvSpPr>
          <p:cNvPr id="10" name="Text 7"/>
          <p:cNvSpPr/>
          <p:nvPr/>
        </p:nvSpPr>
        <p:spPr>
          <a:xfrm>
            <a:off x="80467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SampleIDs match 326/326 across all files.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FeatureIDs match 275/275 against the taxonomy.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 missing values, no duplicate identifiers.</a:t>
            </a:r>
            <a:endParaRPr lang="en-US" sz="1200" dirty="0"/>
          </a:p>
        </p:txBody>
      </p:sp>
      <p:sp>
        <p:nvSpPr>
          <p:cNvPr id="11" name="Shape 8"/>
          <p:cNvSpPr/>
          <p:nvPr/>
        </p:nvSpPr>
        <p:spPr>
          <a:xfrm>
            <a:off x="621792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06240"/>
            <a:ext cx="68580" cy="1371600"/>
          </a:xfrm>
          <a:prstGeom prst="rect">
            <a:avLst/>
          </a:prstGeom>
          <a:solidFill>
            <a:srgbClr val="18707F"/>
          </a:solidFill>
          <a:ln/>
        </p:spPr>
      </p:sp>
      <p:sp>
        <p:nvSpPr>
          <p:cNvPr id="13" name="Text 10"/>
          <p:cNvSpPr/>
          <p:nvPr/>
        </p:nvSpPr>
        <p:spPr>
          <a:xfrm>
            <a:off x="647395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Label distribution</a:t>
            </a:r>
            <a:endParaRPr lang="en-US" sz="1500" dirty="0"/>
          </a:p>
        </p:txBody>
      </p:sp>
      <p:sp>
        <p:nvSpPr>
          <p:cNvPr id="14" name="Text 11"/>
          <p:cNvSpPr/>
          <p:nvPr/>
        </p:nvSpPr>
        <p:spPr>
          <a:xfrm>
            <a:off x="647395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Influenza Pos = 196   ·   Neg = 130</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Positive rate 60% overall, 58% in the modeling cohort.</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Mild imbalance — handled with class weighting, not resampling.</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COHORT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Four Studies, One Modeling Cohort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7</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286000"/>
                <a:gridCol w="3200400"/>
                <a:gridCol w="2834640"/>
                <a:gridCol w="914400"/>
                <a:gridCol w="914400"/>
                <a:gridCol w="914400"/>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BioProject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Center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Neg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PRJNA464410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UC Davis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Wild duck (cloacal)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260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109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151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PRJNA644054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Ohio State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Turkey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PRJNA347583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Chinese Acad. of Sciences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Whooper swan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PRJNA379944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South China Agricultural U.</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Chicken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11480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114800"/>
            <a:ext cx="68580" cy="960120"/>
          </a:xfrm>
          <a:prstGeom prst="rect">
            <a:avLst/>
          </a:prstGeom>
          <a:solidFill>
            <a:srgbClr val="18707F"/>
          </a:solidFill>
          <a:ln/>
        </p:spPr>
      </p:sp>
      <p:sp>
        <p:nvSpPr>
          <p:cNvPr id="9" name="Text 6"/>
          <p:cNvSpPr/>
          <p:nvPr/>
        </p:nvSpPr>
        <p:spPr>
          <a:xfrm>
            <a:off x="804672" y="42611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we restrict the primary analysis to PRJNA464410</a:t>
            </a:r>
            <a:endParaRPr lang="en-US" sz="1500" dirty="0"/>
          </a:p>
        </p:txBody>
      </p:sp>
      <p:sp>
        <p:nvSpPr>
          <p:cNvPr id="10" name="Text 7"/>
          <p:cNvSpPr/>
          <p:nvPr/>
        </p:nvSpPr>
        <p:spPr>
          <a:xfrm>
            <a:off x="804672" y="464515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It is the only study with enough samples to model (260 of 326), and it is internally homogeneous — one center, one host species, one tissue type. The other three differ in host, tissue, and geography, and contribute 6–45 samples each.</a:t>
            </a:r>
            <a:endParaRPr lang="en-US" sz="1200" dirty="0"/>
          </a:p>
        </p:txBody>
      </p:sp>
      <p:sp>
        <p:nvSpPr>
          <p:cNvPr id="11" name="Shape 8"/>
          <p:cNvSpPr/>
          <p:nvPr/>
        </p:nvSpPr>
        <p:spPr>
          <a:xfrm>
            <a:off x="548640" y="5257800"/>
            <a:ext cx="11064240" cy="777240"/>
          </a:xfrm>
          <a:prstGeom prst="rect">
            <a:avLst/>
          </a:prstGeom>
          <a:solidFill>
            <a:srgbClr val="FBEDE7"/>
          </a:solidFill>
          <a:ln/>
        </p:spPr>
      </p:sp>
      <p:sp>
        <p:nvSpPr>
          <p:cNvPr id="12" name="Shape 9"/>
          <p:cNvSpPr/>
          <p:nvPr/>
        </p:nvSpPr>
        <p:spPr>
          <a:xfrm>
            <a:off x="548640" y="5257800"/>
            <a:ext cx="68580" cy="777240"/>
          </a:xfrm>
          <a:prstGeom prst="rect">
            <a:avLst/>
          </a:prstGeom>
          <a:solidFill>
            <a:srgbClr val="D2603A"/>
          </a:solidFill>
          <a:ln/>
        </p:spPr>
      </p:sp>
      <p:sp>
        <p:nvSpPr>
          <p:cNvPr id="13" name="Text 10"/>
          <p:cNvSpPr/>
          <p:nvPr/>
        </p:nvSpPr>
        <p:spPr>
          <a:xfrm>
            <a:off x="804672" y="5349240"/>
            <a:ext cx="10607040" cy="59436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Pooling all four is tempting but does not work: under GroupKFold by BioProject, AUC collapses to 0.54 ± 0.29 — indistinguishable from chance. See slide on limitations.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CHARACTERISTICS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the Feature Matrix Looks Like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8</a:t>
            </a:r>
            <a:endParaRPr lang="en-US" sz="1000" dirty="0"/>
          </a:p>
        </p:txBody>
      </p:sp>
      <p:sp>
        <p:nvSpPr>
          <p:cNvPr id="6" name="Text 4"/>
          <p:cNvSpPr/>
          <p:nvPr/>
        </p:nvSpPr>
        <p:spPr>
          <a:xfrm>
            <a:off x="548640" y="1417320"/>
            <a:ext cx="26517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90.2%</a:t>
            </a:r>
            <a:endParaRPr lang="en-US" sz="4000" dirty="0"/>
          </a:p>
        </p:txBody>
      </p:sp>
      <p:sp>
        <p:nvSpPr>
          <p:cNvPr id="7" name="Text 5"/>
          <p:cNvSpPr/>
          <p:nvPr/>
        </p:nvSpPr>
        <p:spPr>
          <a:xfrm>
            <a:off x="54864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Zero cells</a:t>
            </a:r>
            <a:endParaRPr lang="en-US" sz="1150" dirty="0"/>
          </a:p>
        </p:txBody>
      </p:sp>
      <p:sp>
        <p:nvSpPr>
          <p:cNvPr id="8" name="Text 6"/>
          <p:cNvSpPr/>
          <p:nvPr/>
        </p:nvSpPr>
        <p:spPr>
          <a:xfrm>
            <a:off x="54864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extreme sparsity</a:t>
            </a:r>
            <a:endParaRPr lang="en-US" sz="1000" dirty="0"/>
          </a:p>
        </p:txBody>
      </p:sp>
      <p:sp>
        <p:nvSpPr>
          <p:cNvPr id="9" name="Text 7"/>
          <p:cNvSpPr/>
          <p:nvPr/>
        </p:nvSpPr>
        <p:spPr>
          <a:xfrm>
            <a:off x="338328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5000</a:t>
            </a:r>
            <a:endParaRPr lang="en-US" sz="4000" dirty="0"/>
          </a:p>
        </p:txBody>
      </p:sp>
      <p:sp>
        <p:nvSpPr>
          <p:cNvPr id="10" name="Text 8"/>
          <p:cNvSpPr/>
          <p:nvPr/>
        </p:nvSpPr>
        <p:spPr>
          <a:xfrm>
            <a:off x="338328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Read depth cap</a:t>
            </a:r>
            <a:endParaRPr lang="en-US" sz="1150" dirty="0"/>
          </a:p>
        </p:txBody>
      </p:sp>
      <p:sp>
        <p:nvSpPr>
          <p:cNvPr id="11" name="Text 9"/>
          <p:cNvSpPr/>
          <p:nvPr/>
        </p:nvSpPr>
        <p:spPr>
          <a:xfrm>
            <a:off x="338328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208 of 326 samples exactly</a:t>
            </a:r>
            <a:endParaRPr lang="en-US" sz="1000" dirty="0"/>
          </a:p>
        </p:txBody>
      </p:sp>
      <p:sp>
        <p:nvSpPr>
          <p:cNvPr id="12" name="Text 10"/>
          <p:cNvSpPr/>
          <p:nvPr/>
        </p:nvSpPr>
        <p:spPr>
          <a:xfrm>
            <a:off x="621792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275</a:t>
            </a:r>
            <a:endParaRPr lang="en-US" sz="4000" dirty="0"/>
          </a:p>
        </p:txBody>
      </p:sp>
      <p:sp>
        <p:nvSpPr>
          <p:cNvPr id="13" name="Text 11"/>
          <p:cNvSpPr/>
          <p:nvPr/>
        </p:nvSpPr>
        <p:spPr>
          <a:xfrm>
            <a:off x="621792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FeatureIDs</a:t>
            </a:r>
            <a:endParaRPr lang="en-US" sz="1150" dirty="0"/>
          </a:p>
        </p:txBody>
      </p:sp>
      <p:sp>
        <p:nvSpPr>
          <p:cNvPr id="14" name="Text 12"/>
          <p:cNvSpPr/>
          <p:nvPr/>
        </p:nvSpPr>
        <p:spPr>
          <a:xfrm>
            <a:off x="621792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155 genera</a:t>
            </a:r>
            <a:endParaRPr lang="en-US" sz="1000" dirty="0"/>
          </a:p>
        </p:txBody>
      </p:sp>
      <p:sp>
        <p:nvSpPr>
          <p:cNvPr id="15" name="Text 13"/>
          <p:cNvSpPr/>
          <p:nvPr/>
        </p:nvSpPr>
        <p:spPr>
          <a:xfrm>
            <a:off x="9052560" y="1417320"/>
            <a:ext cx="256032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70</a:t>
            </a:r>
            <a:endParaRPr lang="en-US" sz="4000" dirty="0"/>
          </a:p>
        </p:txBody>
      </p:sp>
      <p:sp>
        <p:nvSpPr>
          <p:cNvPr id="16" name="Text 14"/>
          <p:cNvSpPr/>
          <p:nvPr/>
        </p:nvSpPr>
        <p:spPr>
          <a:xfrm>
            <a:off x="9052560" y="2093976"/>
            <a:ext cx="256032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After filtering</a:t>
            </a:r>
            <a:endParaRPr lang="en-US" sz="1150" dirty="0"/>
          </a:p>
        </p:txBody>
      </p:sp>
      <p:sp>
        <p:nvSpPr>
          <p:cNvPr id="17" name="Text 15"/>
          <p:cNvSpPr/>
          <p:nvPr/>
        </p:nvSpPr>
        <p:spPr>
          <a:xfrm>
            <a:off x="9052560" y="2386584"/>
            <a:ext cx="256032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prevalence ≥ 10%</a:t>
            </a:r>
            <a:endParaRPr lang="en-US" sz="1000" dirty="0"/>
          </a:p>
        </p:txBody>
      </p:sp>
      <p:sp>
        <p:nvSpPr>
          <p:cNvPr id="18" name="Shape 16"/>
          <p:cNvSpPr/>
          <p:nvPr/>
        </p:nvSpPr>
        <p:spPr>
          <a:xfrm>
            <a:off x="54864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2926080"/>
            <a:ext cx="68580" cy="1691640"/>
          </a:xfrm>
          <a:prstGeom prst="rect">
            <a:avLst/>
          </a:prstGeom>
          <a:solidFill>
            <a:srgbClr val="18707F"/>
          </a:solidFill>
          <a:ln/>
        </p:spPr>
      </p:sp>
      <p:sp>
        <p:nvSpPr>
          <p:cNvPr id="20" name="Text 18"/>
          <p:cNvSpPr/>
          <p:nvPr/>
        </p:nvSpPr>
        <p:spPr>
          <a:xfrm>
            <a:off x="80467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Prevalence filtering ladder</a:t>
            </a:r>
            <a:endParaRPr lang="en-US" sz="1500" dirty="0"/>
          </a:p>
        </p:txBody>
      </p:sp>
      <p:sp>
        <p:nvSpPr>
          <p:cNvPr id="21" name="Text 19"/>
          <p:cNvSpPr/>
          <p:nvPr/>
        </p:nvSpPr>
        <p:spPr>
          <a:xfrm>
            <a:off x="80467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  → 117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10% → 79 features   (used here)</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20% → 36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50% → 10 features</a:t>
            </a:r>
            <a:endParaRPr lang="en-US" sz="1200" dirty="0"/>
          </a:p>
        </p:txBody>
      </p:sp>
      <p:sp>
        <p:nvSpPr>
          <p:cNvPr id="22" name="Shape 20"/>
          <p:cNvSpPr/>
          <p:nvPr/>
        </p:nvSpPr>
        <p:spPr>
          <a:xfrm>
            <a:off x="621792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217920" y="2926080"/>
            <a:ext cx="68580" cy="1691640"/>
          </a:xfrm>
          <a:prstGeom prst="rect">
            <a:avLst/>
          </a:prstGeom>
          <a:solidFill>
            <a:srgbClr val="18707F"/>
          </a:solidFill>
          <a:ln/>
        </p:spPr>
      </p:sp>
      <p:sp>
        <p:nvSpPr>
          <p:cNvPr id="24" name="Text 22"/>
          <p:cNvSpPr/>
          <p:nvPr/>
        </p:nvSpPr>
        <p:spPr>
          <a:xfrm>
            <a:off x="647395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Taxonomic resolution</a:t>
            </a:r>
            <a:endParaRPr lang="en-US" sz="1500" dirty="0"/>
          </a:p>
        </p:txBody>
      </p:sp>
      <p:sp>
        <p:nvSpPr>
          <p:cNvPr id="25" name="Text 23"/>
          <p:cNvSpPr/>
          <p:nvPr/>
        </p:nvSpPr>
        <p:spPr>
          <a:xfrm>
            <a:off x="647395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Phylum → Family annotated for 262–274 of 275.</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Genus annotated for 220; 55 unassigned.</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Species level is entirely empty.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Interpretation is therefore capped at genus/family.</a:t>
            </a:r>
            <a:endParaRPr lang="en-US" sz="1200" dirty="0"/>
          </a:p>
        </p:txBody>
      </p:sp>
      <p:sp>
        <p:nvSpPr>
          <p:cNvPr id="26" name="Shape 24"/>
          <p:cNvSpPr/>
          <p:nvPr/>
        </p:nvSpPr>
        <p:spPr>
          <a:xfrm>
            <a:off x="548640" y="4846320"/>
            <a:ext cx="11064240" cy="868680"/>
          </a:xfrm>
          <a:prstGeom prst="rect">
            <a:avLst/>
          </a:prstGeom>
          <a:solidFill>
            <a:srgbClr val="FBEDE7"/>
          </a:solidFill>
          <a:ln/>
        </p:spPr>
      </p:sp>
      <p:sp>
        <p:nvSpPr>
          <p:cNvPr id="27" name="Shape 25"/>
          <p:cNvSpPr/>
          <p:nvPr/>
        </p:nvSpPr>
        <p:spPr>
          <a:xfrm>
            <a:off x="548640" y="4846320"/>
            <a:ext cx="68580" cy="868680"/>
          </a:xfrm>
          <a:prstGeom prst="rect">
            <a:avLst/>
          </a:prstGeom>
          <a:solidFill>
            <a:srgbClr val="D2603A"/>
          </a:solidFill>
          <a:ln/>
        </p:spPr>
      </p:sp>
      <p:sp>
        <p:nvSpPr>
          <p:cNvPr id="28" name="Text 26"/>
          <p:cNvSpPr/>
          <p:nvPr/>
        </p:nvSpPr>
        <p:spPr>
          <a:xfrm>
            <a:off x="804672" y="493776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275 features is unusually few for avian gut 16S data (typically thousands of ASVs). The table was almost certainly pre-filtered upstream by an unknown rule — the single largest open risk in this project.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02</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Data Processing</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Removing what leaks, transforming what is compositional, and keeping folds honest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LEAKAGE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Biggest Trap: Label Leakage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10</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Of 102 metadata columns, many are the label itself or a deterministic function of it. Keeping any one of them yields 100% accuracy and zero insight.</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4206240"/>
                <a:gridCol w="6858000"/>
              </a:tblGrid>
              <a:tr h="45720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Column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How it leaks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Byte-for-byte identical to the Influenza label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CoreGroup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Encodes HostGroup_label directly, e.g. "Duck_Pos"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HASubType / NASubType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Negatives are the literal string "neg"; positives carry a subtype number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Log10_Virus_titer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Viral titer is a direct physical measurement of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True_or_Neg, Infection_Status,</a:t>
                      </a:r>
                      <a:endParaRPr lang="en-US" sz="1150" dirty="0">
                        <a:latin typeface="Calibri" charset="0"/>
                        <a:ea typeface="Calibri" charset="0"/>
                        <a:cs typeface="Calibri" charset="0"/>
                      </a:endParaRPr>
                    </a:p>
                    <a:p>
                      <a:pPr algn="l" indent="0" marL="0">
                        <a:buNone/>
                      </a:pPr>
                      <a:r>
                        <a:rPr lang="en-US" sz="1150" dirty="0">
                          <a:solidFill>
                            <a:srgbClr val="16252C"/>
                          </a:solidFill>
                          <a:latin typeface="Calibri" pitchFamily="34" charset="0"/>
                          <a:ea typeface="Calibri" pitchFamily="34" charset="-122"/>
                          <a:cs typeface="Calibri" pitchFamily="34" charset="-120"/>
                        </a:rPr>
                        <a:t>Infecting_Agent, experimental_group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Experimental infection-group annotations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isolation_source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"mock" for controls vs "Intestine N" for infected birds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12064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120640"/>
            <a:ext cx="68580" cy="1051560"/>
          </a:xfrm>
          <a:prstGeom prst="rect">
            <a:avLst/>
          </a:prstGeom>
          <a:solidFill>
            <a:srgbClr val="8FB996"/>
          </a:solidFill>
          <a:ln/>
        </p:spPr>
      </p:sp>
      <p:sp>
        <p:nvSpPr>
          <p:cNvPr id="10" name="Text 7"/>
          <p:cNvSpPr/>
          <p:nvPr/>
        </p:nvSpPr>
        <p:spPr>
          <a:xfrm>
            <a:off x="804672" y="526694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Also removed</a:t>
            </a:r>
            <a:endParaRPr lang="en-US" sz="1500" dirty="0"/>
          </a:p>
        </p:txBody>
      </p:sp>
      <p:sp>
        <p:nvSpPr>
          <p:cNvPr id="11" name="Text 8"/>
          <p:cNvSpPr/>
          <p:nvPr/>
        </p:nvSpPr>
        <p:spPr>
          <a:xfrm>
            <a:off x="804672" y="565099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10 sample-identifier columns (all 326 unique, and carrying naming conventions a tree model would memorize) and 17 batch-proxy columns that map one-to-one onto BioProject. The audit is codified in mb_common.py: LEAKAGE_COLS, and build_features.py prints each column's label-separability so it can be inspected rather than trusted.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TRANSFORMATION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Microbiome Data Is Compositional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11</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Each sample sums to a fixed sequencing depth, so abundances carry only relative information. Feeding raw counts to a linear model is a methodological error.</a:t>
            </a:r>
            <a:endParaRPr lang="en-US" sz="1300" dirty="0"/>
          </a:p>
        </p:txBody>
      </p:sp>
      <p:sp>
        <p:nvSpPr>
          <p:cNvPr id="7" name="Shape 5"/>
          <p:cNvSpPr/>
          <p:nvPr/>
        </p:nvSpPr>
        <p:spPr>
          <a:xfrm>
            <a:off x="548640"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965960"/>
            <a:ext cx="2606040" cy="68580"/>
          </a:xfrm>
          <a:prstGeom prst="rect">
            <a:avLst/>
          </a:prstGeom>
          <a:solidFill>
            <a:srgbClr val="18707F"/>
          </a:solidFill>
          <a:ln/>
        </p:spPr>
      </p:sp>
      <p:sp>
        <p:nvSpPr>
          <p:cNvPr id="9" name="Shape 7"/>
          <p:cNvSpPr/>
          <p:nvPr/>
        </p:nvSpPr>
        <p:spPr>
          <a:xfrm>
            <a:off x="768096" y="2194560"/>
            <a:ext cx="457200" cy="457200"/>
          </a:xfrm>
          <a:prstGeom prst="ellipse">
            <a:avLst/>
          </a:prstGeom>
          <a:solidFill>
            <a:srgbClr val="0B3C49"/>
          </a:solidFill>
          <a:ln/>
        </p:spPr>
      </p:sp>
      <p:sp>
        <p:nvSpPr>
          <p:cNvPr id="10" name="Text 8"/>
          <p:cNvSpPr/>
          <p:nvPr/>
        </p:nvSpPr>
        <p:spPr>
          <a:xfrm>
            <a:off x="768096"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768096"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Prevalence filter</a:t>
            </a:r>
            <a:endParaRPr lang="en-US" sz="1350" dirty="0"/>
          </a:p>
        </p:txBody>
      </p:sp>
      <p:sp>
        <p:nvSpPr>
          <p:cNvPr id="12" name="Text 10"/>
          <p:cNvSpPr/>
          <p:nvPr/>
        </p:nvSpPr>
        <p:spPr>
          <a:xfrm>
            <a:off x="768096"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Keep features present in ≥ 10% of samples</a:t>
            </a:r>
            <a:endParaRPr lang="en-US" sz="1050" dirty="0"/>
          </a:p>
        </p:txBody>
      </p:sp>
      <p:sp>
        <p:nvSpPr>
          <p:cNvPr id="13" name="Text 11"/>
          <p:cNvSpPr/>
          <p:nvPr/>
        </p:nvSpPr>
        <p:spPr>
          <a:xfrm>
            <a:off x="3172968"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3401568"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3401568" y="1965960"/>
            <a:ext cx="2606040" cy="68580"/>
          </a:xfrm>
          <a:prstGeom prst="rect">
            <a:avLst/>
          </a:prstGeom>
          <a:solidFill>
            <a:srgbClr val="18707F"/>
          </a:solidFill>
          <a:ln/>
        </p:spPr>
      </p:sp>
      <p:sp>
        <p:nvSpPr>
          <p:cNvPr id="16" name="Shape 14"/>
          <p:cNvSpPr/>
          <p:nvPr/>
        </p:nvSpPr>
        <p:spPr>
          <a:xfrm>
            <a:off x="3621024" y="2194560"/>
            <a:ext cx="457200" cy="457200"/>
          </a:xfrm>
          <a:prstGeom prst="ellipse">
            <a:avLst/>
          </a:prstGeom>
          <a:solidFill>
            <a:srgbClr val="0B3C49"/>
          </a:solidFill>
          <a:ln/>
        </p:spPr>
      </p:sp>
      <p:sp>
        <p:nvSpPr>
          <p:cNvPr id="17" name="Text 15"/>
          <p:cNvSpPr/>
          <p:nvPr/>
        </p:nvSpPr>
        <p:spPr>
          <a:xfrm>
            <a:off x="3621024"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8" name="Text 16"/>
          <p:cNvSpPr/>
          <p:nvPr/>
        </p:nvSpPr>
        <p:spPr>
          <a:xfrm>
            <a:off x="3621024"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Pseudocount</a:t>
            </a:r>
            <a:endParaRPr lang="en-US" sz="1350" dirty="0"/>
          </a:p>
        </p:txBody>
      </p:sp>
      <p:sp>
        <p:nvSpPr>
          <p:cNvPr id="19" name="Text 17"/>
          <p:cNvSpPr/>
          <p:nvPr/>
        </p:nvSpPr>
        <p:spPr>
          <a:xfrm>
            <a:off x="3621024"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Add 0.5 to every cell so logs are defined</a:t>
            </a:r>
            <a:endParaRPr lang="en-US" sz="1050" dirty="0"/>
          </a:p>
        </p:txBody>
      </p:sp>
      <p:sp>
        <p:nvSpPr>
          <p:cNvPr id="20" name="Text 18"/>
          <p:cNvSpPr/>
          <p:nvPr/>
        </p:nvSpPr>
        <p:spPr>
          <a:xfrm>
            <a:off x="6025896"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6254496"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2" name="Shape 20"/>
          <p:cNvSpPr/>
          <p:nvPr/>
        </p:nvSpPr>
        <p:spPr>
          <a:xfrm>
            <a:off x="6254496" y="1965960"/>
            <a:ext cx="2606040" cy="68580"/>
          </a:xfrm>
          <a:prstGeom prst="rect">
            <a:avLst/>
          </a:prstGeom>
          <a:solidFill>
            <a:srgbClr val="18707F"/>
          </a:solidFill>
          <a:ln/>
        </p:spPr>
      </p:sp>
      <p:sp>
        <p:nvSpPr>
          <p:cNvPr id="23" name="Shape 21"/>
          <p:cNvSpPr/>
          <p:nvPr/>
        </p:nvSpPr>
        <p:spPr>
          <a:xfrm>
            <a:off x="6473952" y="2194560"/>
            <a:ext cx="457200" cy="457200"/>
          </a:xfrm>
          <a:prstGeom prst="ellipse">
            <a:avLst/>
          </a:prstGeom>
          <a:solidFill>
            <a:srgbClr val="0B3C49"/>
          </a:solidFill>
          <a:ln/>
        </p:spPr>
      </p:sp>
      <p:sp>
        <p:nvSpPr>
          <p:cNvPr id="24" name="Text 22"/>
          <p:cNvSpPr/>
          <p:nvPr/>
        </p:nvSpPr>
        <p:spPr>
          <a:xfrm>
            <a:off x="6473952"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5" name="Text 23"/>
          <p:cNvSpPr/>
          <p:nvPr/>
        </p:nvSpPr>
        <p:spPr>
          <a:xfrm>
            <a:off x="6473952"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Relative abundance</a:t>
            </a:r>
            <a:endParaRPr lang="en-US" sz="1350" dirty="0"/>
          </a:p>
        </p:txBody>
      </p:sp>
      <p:sp>
        <p:nvSpPr>
          <p:cNvPr id="26" name="Text 24"/>
          <p:cNvSpPr/>
          <p:nvPr/>
        </p:nvSpPr>
        <p:spPr>
          <a:xfrm>
            <a:off x="6473952"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Divide each row by its own total</a:t>
            </a:r>
            <a:endParaRPr lang="en-US" sz="1050" dirty="0"/>
          </a:p>
        </p:txBody>
      </p:sp>
      <p:sp>
        <p:nvSpPr>
          <p:cNvPr id="27" name="Text 25"/>
          <p:cNvSpPr/>
          <p:nvPr/>
        </p:nvSpPr>
        <p:spPr>
          <a:xfrm>
            <a:off x="8878824"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107424"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9" name="Shape 27"/>
          <p:cNvSpPr/>
          <p:nvPr/>
        </p:nvSpPr>
        <p:spPr>
          <a:xfrm>
            <a:off x="9107424" y="1965960"/>
            <a:ext cx="2606040" cy="68580"/>
          </a:xfrm>
          <a:prstGeom prst="rect">
            <a:avLst/>
          </a:prstGeom>
          <a:solidFill>
            <a:srgbClr val="18707F"/>
          </a:solidFill>
          <a:ln/>
        </p:spPr>
      </p:sp>
      <p:sp>
        <p:nvSpPr>
          <p:cNvPr id="30" name="Shape 28"/>
          <p:cNvSpPr/>
          <p:nvPr/>
        </p:nvSpPr>
        <p:spPr>
          <a:xfrm>
            <a:off x="9326880" y="2194560"/>
            <a:ext cx="457200" cy="457200"/>
          </a:xfrm>
          <a:prstGeom prst="ellipse">
            <a:avLst/>
          </a:prstGeom>
          <a:solidFill>
            <a:srgbClr val="0B3C49"/>
          </a:solidFill>
          <a:ln/>
        </p:spPr>
      </p:sp>
      <p:sp>
        <p:nvSpPr>
          <p:cNvPr id="31" name="Text 29"/>
          <p:cNvSpPr/>
          <p:nvPr/>
        </p:nvSpPr>
        <p:spPr>
          <a:xfrm>
            <a:off x="9326880"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2" name="Text 30"/>
          <p:cNvSpPr/>
          <p:nvPr/>
        </p:nvSpPr>
        <p:spPr>
          <a:xfrm>
            <a:off x="9326880"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CLR</a:t>
            </a:r>
            <a:endParaRPr lang="en-US" sz="1350" dirty="0"/>
          </a:p>
        </p:txBody>
      </p:sp>
      <p:sp>
        <p:nvSpPr>
          <p:cNvPr id="33" name="Text 31"/>
          <p:cNvSpPr/>
          <p:nvPr/>
        </p:nvSpPr>
        <p:spPr>
          <a:xfrm>
            <a:off x="9326880"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Log, then subtract each row's log-mean</a:t>
            </a:r>
            <a:endParaRPr lang="en-US" sz="1050" dirty="0"/>
          </a:p>
        </p:txBody>
      </p:sp>
      <p:sp>
        <p:nvSpPr>
          <p:cNvPr id="34" name="Shape 32"/>
          <p:cNvSpPr/>
          <p:nvPr/>
        </p:nvSpPr>
        <p:spPr>
          <a:xfrm>
            <a:off x="54864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5" name="Shape 33"/>
          <p:cNvSpPr/>
          <p:nvPr/>
        </p:nvSpPr>
        <p:spPr>
          <a:xfrm>
            <a:off x="548640" y="4114800"/>
            <a:ext cx="68580" cy="1691640"/>
          </a:xfrm>
          <a:prstGeom prst="rect">
            <a:avLst/>
          </a:prstGeom>
          <a:solidFill>
            <a:srgbClr val="18707F"/>
          </a:solidFill>
          <a:ln/>
        </p:spPr>
      </p:sp>
      <p:sp>
        <p:nvSpPr>
          <p:cNvPr id="36" name="Text 34"/>
          <p:cNvSpPr/>
          <p:nvPr/>
        </p:nvSpPr>
        <p:spPr>
          <a:xfrm>
            <a:off x="80467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Result</a:t>
            </a:r>
            <a:endParaRPr lang="en-US" sz="1500" dirty="0"/>
          </a:p>
        </p:txBody>
      </p:sp>
      <p:sp>
        <p:nvSpPr>
          <p:cNvPr id="37" name="Text 35"/>
          <p:cNvSpPr/>
          <p:nvPr/>
        </p:nvSpPr>
        <p:spPr>
          <a:xfrm>
            <a:off x="80467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70 CLR features for 260 samples — p/n ≈ 0.27.</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 a high-dimensional problem: no PCA, no aggressive selection needed.</a:t>
            </a:r>
            <a:endParaRPr lang="en-US" sz="1200" dirty="0"/>
          </a:p>
        </p:txBody>
      </p:sp>
      <p:sp>
        <p:nvSpPr>
          <p:cNvPr id="38" name="Shape 36"/>
          <p:cNvSpPr/>
          <p:nvPr/>
        </p:nvSpPr>
        <p:spPr>
          <a:xfrm>
            <a:off x="621792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9" name="Shape 37"/>
          <p:cNvSpPr/>
          <p:nvPr/>
        </p:nvSpPr>
        <p:spPr>
          <a:xfrm>
            <a:off x="6217920" y="4114800"/>
            <a:ext cx="68580" cy="1691640"/>
          </a:xfrm>
          <a:prstGeom prst="rect">
            <a:avLst/>
          </a:prstGeom>
          <a:solidFill>
            <a:srgbClr val="8FB996"/>
          </a:solidFill>
          <a:ln/>
        </p:spPr>
      </p:sp>
      <p:sp>
        <p:nvSpPr>
          <p:cNvPr id="40" name="Text 38"/>
          <p:cNvSpPr/>
          <p:nvPr/>
        </p:nvSpPr>
        <p:spPr>
          <a:xfrm>
            <a:off x="647395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Genus aggregation keeps the unassigned</a:t>
            </a:r>
            <a:endParaRPr lang="en-US" sz="1500" dirty="0"/>
          </a:p>
        </p:txBody>
      </p:sp>
      <p:sp>
        <p:nvSpPr>
          <p:cNvPr id="41" name="Text 39"/>
          <p:cNvSpPr/>
          <p:nvPr/>
        </p:nvSpPr>
        <p:spPr>
          <a:xfrm>
            <a:off x="647395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55 features lack a genus label. They are kept as Genus_unassigned_&lt;ID&gt;, not dropped — discarding them would break compositional closure and distort the CLR. Hence 275 → 210, not 155.</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LEAK-FREE CV</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Keeping the Folds Honest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1417320"/>
            <a:ext cx="5394960" cy="21488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17320"/>
            <a:ext cx="68580" cy="2148840"/>
          </a:xfrm>
          <a:prstGeom prst="rect">
            <a:avLst/>
          </a:prstGeom>
          <a:solidFill>
            <a:srgbClr val="D2603A"/>
          </a:solidFill>
          <a:ln/>
        </p:spPr>
      </p:sp>
      <p:sp>
        <p:nvSpPr>
          <p:cNvPr id="8" name="Text 6"/>
          <p:cNvSpPr/>
          <p:nvPr/>
        </p:nvSpPr>
        <p:spPr>
          <a:xfrm>
            <a:off x="80467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common mistake</a:t>
            </a:r>
            <a:endParaRPr lang="en-US" sz="1500" dirty="0"/>
          </a:p>
        </p:txBody>
      </p:sp>
      <p:sp>
        <p:nvSpPr>
          <p:cNvPr id="9" name="Text 7"/>
          <p:cNvSpPr/>
          <p:nvPr/>
        </p:nvSpPr>
        <p:spPr>
          <a:xfrm>
            <a:off x="80467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Filter features on the full dataset, then cross-validate.</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validation fold silently influences which features survive. Reported AUC inflates by roughly 0.01–0.02 — small, but it is the difference between an honest and a dishonest number.</a:t>
            </a:r>
            <a:endParaRPr lang="en-US" sz="1200" dirty="0"/>
          </a:p>
        </p:txBody>
      </p:sp>
      <p:sp>
        <p:nvSpPr>
          <p:cNvPr id="10" name="Shape 8"/>
          <p:cNvSpPr/>
          <p:nvPr/>
        </p:nvSpPr>
        <p:spPr>
          <a:xfrm>
            <a:off x="6217920" y="1417320"/>
            <a:ext cx="5394960" cy="21488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17320"/>
            <a:ext cx="68580" cy="2148840"/>
          </a:xfrm>
          <a:prstGeom prst="rect">
            <a:avLst/>
          </a:prstGeom>
          <a:solidFill>
            <a:srgbClr val="8FB996"/>
          </a:solidFill>
          <a:ln/>
        </p:spPr>
      </p:sp>
      <p:sp>
        <p:nvSpPr>
          <p:cNvPr id="12" name="Text 10"/>
          <p:cNvSpPr/>
          <p:nvPr/>
        </p:nvSpPr>
        <p:spPr>
          <a:xfrm>
            <a:off x="647395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do instead</a:t>
            </a:r>
            <a:endParaRPr lang="en-US" sz="1500" dirty="0"/>
          </a:p>
        </p:txBody>
      </p:sp>
      <p:sp>
        <p:nvSpPr>
          <p:cNvPr id="13" name="Text 11"/>
          <p:cNvSpPr/>
          <p:nvPr/>
        </p:nvSpPr>
        <p:spPr>
          <a:xfrm>
            <a:off x="647395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Prevalence filtering and CLR are wrapped in a scikit-learn transformer, PrevalenceCLR, and refitted inside every training fold.</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CLR itself is a within-row operation, so it carries no cross-sample leakage — only the filter needed protecting.</a:t>
            </a:r>
            <a:endParaRPr lang="en-US" sz="1200" dirty="0"/>
          </a:p>
        </p:txBody>
      </p:sp>
      <p:sp>
        <p:nvSpPr>
          <p:cNvPr id="14" name="Shape 12"/>
          <p:cNvSpPr/>
          <p:nvPr/>
        </p:nvSpPr>
        <p:spPr>
          <a:xfrm>
            <a:off x="548640" y="3794760"/>
            <a:ext cx="11064240" cy="914400"/>
          </a:xfrm>
          <a:prstGeom prst="rect">
            <a:avLst/>
          </a:prstGeom>
          <a:solidFill>
            <a:srgbClr val="0B3C49"/>
          </a:solidFill>
          <a:ln/>
        </p:spPr>
      </p:sp>
      <p:sp>
        <p:nvSpPr>
          <p:cNvPr id="15" name="Text 13"/>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dirty="0">
                <a:solidFill>
                  <a:srgbClr val="8FB996"/>
                </a:solidFill>
                <a:latin typeface="Consolas" pitchFamily="34" charset="0"/>
                <a:ea typeface="Consolas" pitchFamily="34" charset="-122"/>
                <a:cs typeface="Consolas" pitchFamily="34" charset="-120"/>
              </a:rPr>
              <a:t>Pipeline([('clr', PrevalenceCLR(0.10)), ('sc', StandardScaler()), ('clf', SVC(kernel='rbf'))])</a:t>
            </a:r>
            <a:endParaRPr lang="en-US" sz="1400" dirty="0"/>
          </a:p>
        </p:txBody>
      </p:sp>
      <p:sp>
        <p:nvSpPr>
          <p:cNvPr id="16" name="Shape 14"/>
          <p:cNvSpPr/>
          <p:nvPr/>
        </p:nvSpPr>
        <p:spPr>
          <a:xfrm>
            <a:off x="548640" y="4983480"/>
            <a:ext cx="11064240" cy="9144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4983480"/>
            <a:ext cx="68580" cy="914400"/>
          </a:xfrm>
          <a:prstGeom prst="rect">
            <a:avLst/>
          </a:prstGeom>
          <a:solidFill>
            <a:srgbClr val="18707F"/>
          </a:solidFill>
          <a:ln/>
        </p:spPr>
      </p:sp>
      <p:sp>
        <p:nvSpPr>
          <p:cNvPr id="18" name="Text 16"/>
          <p:cNvSpPr/>
          <p:nvPr/>
        </p:nvSpPr>
        <p:spPr>
          <a:xfrm>
            <a:off x="804672" y="51297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matters more than the model choice</a:t>
            </a:r>
            <a:endParaRPr lang="en-US" sz="1500" dirty="0"/>
          </a:p>
        </p:txBody>
      </p:sp>
      <p:sp>
        <p:nvSpPr>
          <p:cNvPr id="19" name="Text 17"/>
          <p:cNvSpPr/>
          <p:nvPr/>
        </p:nvSpPr>
        <p:spPr>
          <a:xfrm>
            <a:off x="804672" y="5513832"/>
            <a:ext cx="10607040" cy="2560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Most published microbiome classifiers report a single number from a pipeline where feature selection saw the whole dataset. Getting this right costs a few AUC points on paper and buys the result its credibility.</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03</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Modeling &amp; Evaluation</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A nested protocol, seventeen models, one honest comparison</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PROTOCOL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Evaluation Protocol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14</a:t>
            </a:r>
            <a:endParaRPr lang="en-US" sz="1000" dirty="0"/>
          </a:p>
        </p:txBody>
      </p:sp>
      <p:sp>
        <p:nvSpPr>
          <p:cNvPr id="6" name="Shape 4"/>
          <p:cNvSpPr/>
          <p:nvPr/>
        </p:nvSpPr>
        <p:spPr>
          <a:xfrm>
            <a:off x="54864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25880"/>
            <a:ext cx="68580" cy="1371600"/>
          </a:xfrm>
          <a:prstGeom prst="rect">
            <a:avLst/>
          </a:prstGeom>
          <a:solidFill>
            <a:srgbClr val="12505F"/>
          </a:solidFill>
          <a:ln/>
        </p:spPr>
      </p:sp>
      <p:sp>
        <p:nvSpPr>
          <p:cNvPr id="8" name="Text 6"/>
          <p:cNvSpPr/>
          <p:nvPr/>
        </p:nvSpPr>
        <p:spPr>
          <a:xfrm>
            <a:off x="80467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Outer loop</a:t>
            </a:r>
            <a:endParaRPr lang="en-US" sz="1400" dirty="0"/>
          </a:p>
        </p:txBody>
      </p:sp>
      <p:sp>
        <p:nvSpPr>
          <p:cNvPr id="9" name="Text 7"/>
          <p:cNvSpPr/>
          <p:nvPr/>
        </p:nvSpPr>
        <p:spPr>
          <a:xfrm>
            <a:off x="80467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RepeatedStratifiedKFold</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5 folds × 5 repeats = 25</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performance estimate</a:t>
            </a:r>
            <a:endParaRPr lang="en-US" sz="1100" dirty="0"/>
          </a:p>
        </p:txBody>
      </p:sp>
      <p:sp>
        <p:nvSpPr>
          <p:cNvPr id="10" name="Shape 8"/>
          <p:cNvSpPr/>
          <p:nvPr/>
        </p:nvSpPr>
        <p:spPr>
          <a:xfrm>
            <a:off x="429768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4297680" y="1325880"/>
            <a:ext cx="68580" cy="1371600"/>
          </a:xfrm>
          <a:prstGeom prst="rect">
            <a:avLst/>
          </a:prstGeom>
          <a:solidFill>
            <a:srgbClr val="18707F"/>
          </a:solidFill>
          <a:ln/>
        </p:spPr>
      </p:sp>
      <p:sp>
        <p:nvSpPr>
          <p:cNvPr id="12" name="Text 10"/>
          <p:cNvSpPr/>
          <p:nvPr/>
        </p:nvSpPr>
        <p:spPr>
          <a:xfrm>
            <a:off x="455371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Inner loop</a:t>
            </a:r>
            <a:endParaRPr lang="en-US" sz="1400" dirty="0"/>
          </a:p>
        </p:txBody>
      </p:sp>
      <p:sp>
        <p:nvSpPr>
          <p:cNvPr id="13" name="Text 11"/>
          <p:cNvSpPr/>
          <p:nvPr/>
        </p:nvSpPr>
        <p:spPr>
          <a:xfrm>
            <a:off x="455371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StratifiedKFold, 4 folds</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GridSearchCV on ROC-AUC</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hyperparameter search</a:t>
            </a:r>
            <a:endParaRPr lang="en-US" sz="1100" dirty="0"/>
          </a:p>
        </p:txBody>
      </p:sp>
      <p:sp>
        <p:nvSpPr>
          <p:cNvPr id="14" name="Shape 12"/>
          <p:cNvSpPr/>
          <p:nvPr/>
        </p:nvSpPr>
        <p:spPr>
          <a:xfrm>
            <a:off x="804672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8046720" y="1325880"/>
            <a:ext cx="68580" cy="1371600"/>
          </a:xfrm>
          <a:prstGeom prst="rect">
            <a:avLst/>
          </a:prstGeom>
          <a:solidFill>
            <a:srgbClr val="8FB996"/>
          </a:solidFill>
          <a:ln/>
        </p:spPr>
      </p:sp>
      <p:sp>
        <p:nvSpPr>
          <p:cNvPr id="16" name="Text 14"/>
          <p:cNvSpPr/>
          <p:nvPr/>
        </p:nvSpPr>
        <p:spPr>
          <a:xfrm>
            <a:off x="830275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Shared splits</a:t>
            </a:r>
            <a:endParaRPr lang="en-US" sz="1400" dirty="0"/>
          </a:p>
        </p:txBody>
      </p:sp>
      <p:sp>
        <p:nvSpPr>
          <p:cNvPr id="17" name="Text 15"/>
          <p:cNvSpPr/>
          <p:nvPr/>
        </p:nvSpPr>
        <p:spPr>
          <a:xfrm>
            <a:off x="830275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Every model sees the identical</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fold partition</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fair comparison</a:t>
            </a:r>
            <a:endParaRPr lang="en-US" sz="1100" dirty="0"/>
          </a:p>
        </p:txBody>
      </p:sp>
      <p:sp>
        <p:nvSpPr>
          <p:cNvPr id="18" name="Text 16"/>
          <p:cNvSpPr/>
          <p:nvPr/>
        </p:nvSpPr>
        <p:spPr>
          <a:xfrm>
            <a:off x="548640" y="278892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Nesting isolates tuning from evaluation, so the reported AUC carries no tuning bias.</a:t>
            </a:r>
            <a:endParaRPr lang="en-US" sz="1100" dirty="0"/>
          </a:p>
        </p:txBody>
      </p:sp>
      <p:sp>
        <p:nvSpPr>
          <p:cNvPr id="19" name="Shape 17"/>
          <p:cNvSpPr/>
          <p:nvPr/>
        </p:nvSpPr>
        <p:spPr>
          <a:xfrm>
            <a:off x="548640" y="324612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0" name="Shape 18"/>
          <p:cNvSpPr/>
          <p:nvPr/>
        </p:nvSpPr>
        <p:spPr>
          <a:xfrm>
            <a:off x="548640" y="3246120"/>
            <a:ext cx="68580" cy="1691640"/>
          </a:xfrm>
          <a:prstGeom prst="rect">
            <a:avLst/>
          </a:prstGeom>
          <a:solidFill>
            <a:srgbClr val="8FB996"/>
          </a:solidFill>
          <a:ln/>
        </p:spPr>
      </p:sp>
      <p:sp>
        <p:nvSpPr>
          <p:cNvPr id="21" name="Text 19"/>
          <p:cNvSpPr/>
          <p:nvPr/>
        </p:nvSpPr>
        <p:spPr>
          <a:xfrm>
            <a:off x="804672" y="339242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Hyperparameters are not over-tuned</a:t>
            </a:r>
            <a:endParaRPr lang="en-US" sz="1400" dirty="0"/>
          </a:p>
        </p:txBody>
      </p:sp>
      <p:sp>
        <p:nvSpPr>
          <p:cNvPr id="22" name="Text 20"/>
          <p:cNvSpPr/>
          <p:nvPr/>
        </p:nvSpPr>
        <p:spPr>
          <a:xfrm>
            <a:off x="804672" y="3776472"/>
            <a:ext cx="4937760" cy="103327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SVM-RBF grid was expanded to C ∈ [0.01, 500] and gamma ∈ [1e-4, 0.1] + scale.</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0 of 15 folds selected a boundary value, AUC was essentially unchanged, and the whole surface spans only 0.73–0.81.</a:t>
            </a:r>
            <a:endParaRPr lang="en-US" sz="1100" dirty="0"/>
          </a:p>
        </p:txBody>
      </p:sp>
      <p:sp>
        <p:nvSpPr>
          <p:cNvPr id="23" name="Shape 21"/>
          <p:cNvSpPr/>
          <p:nvPr/>
        </p:nvSpPr>
        <p:spPr>
          <a:xfrm>
            <a:off x="6217920" y="324612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4" name="Shape 22"/>
          <p:cNvSpPr/>
          <p:nvPr/>
        </p:nvSpPr>
        <p:spPr>
          <a:xfrm>
            <a:off x="6217920" y="3246120"/>
            <a:ext cx="68580" cy="1691640"/>
          </a:xfrm>
          <a:prstGeom prst="rect">
            <a:avLst/>
          </a:prstGeom>
          <a:solidFill>
            <a:srgbClr val="18707F"/>
          </a:solidFill>
          <a:ln/>
        </p:spPr>
      </p:sp>
      <p:sp>
        <p:nvSpPr>
          <p:cNvPr id="25" name="Text 23"/>
          <p:cNvSpPr/>
          <p:nvPr/>
        </p:nvSpPr>
        <p:spPr>
          <a:xfrm>
            <a:off x="6473952" y="339242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Metrics reported</a:t>
            </a:r>
            <a:endParaRPr lang="en-US" sz="1400" dirty="0"/>
          </a:p>
        </p:txBody>
      </p:sp>
      <p:sp>
        <p:nvSpPr>
          <p:cNvPr id="26" name="Text 24"/>
          <p:cNvSpPr/>
          <p:nvPr/>
        </p:nvSpPr>
        <p:spPr>
          <a:xfrm>
            <a:off x="6473952" y="3776472"/>
            <a:ext cx="4937760" cy="103327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ROC-AUC · PR-AUC · Accuracy · Balanced Accuracy · Sensitivity · Specificity · Precision · F1 · MCC</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How to read them: see the conventions on slide 4.</a:t>
            </a:r>
            <a:endParaRPr lang="en-US" sz="1100" dirty="0"/>
          </a:p>
        </p:txBody>
      </p:sp>
      <p:sp>
        <p:nvSpPr>
          <p:cNvPr id="27" name="Shape 25"/>
          <p:cNvSpPr/>
          <p:nvPr/>
        </p:nvSpPr>
        <p:spPr>
          <a:xfrm>
            <a:off x="548640" y="5120640"/>
            <a:ext cx="11064240" cy="777240"/>
          </a:xfrm>
          <a:prstGeom prst="rect">
            <a:avLst/>
          </a:prstGeom>
          <a:solidFill>
            <a:srgbClr val="FBEDE7"/>
          </a:solidFill>
          <a:ln/>
        </p:spPr>
      </p:sp>
      <p:sp>
        <p:nvSpPr>
          <p:cNvPr id="28" name="Shape 26"/>
          <p:cNvSpPr/>
          <p:nvPr/>
        </p:nvSpPr>
        <p:spPr>
          <a:xfrm>
            <a:off x="548640" y="5120640"/>
            <a:ext cx="68580" cy="777240"/>
          </a:xfrm>
          <a:prstGeom prst="rect">
            <a:avLst/>
          </a:prstGeom>
          <a:solidFill>
            <a:srgbClr val="D2603A"/>
          </a:solidFill>
          <a:ln/>
        </p:spPr>
      </p:sp>
      <p:sp>
        <p:nvSpPr>
          <p:cNvPr id="29" name="Text 27"/>
          <p:cNvSpPr/>
          <p:nvPr/>
        </p:nvSpPr>
        <p:spPr>
          <a:xfrm>
            <a:off x="804672" y="5212080"/>
            <a:ext cx="10607040" cy="594360"/>
          </a:xfrm>
          <a:prstGeom prst="rect">
            <a:avLst/>
          </a:prstGeom>
          <a:noFill/>
          <a:ln/>
        </p:spPr>
        <p:txBody>
          <a:bodyPr wrap="square" lIns="0" tIns="0" rIns="0" bIns="0" rtlCol="0" anchor="t"/>
          <a:lstStyle/>
          <a:p>
            <a:pPr indent="0" marL="0">
              <a:lnSpc>
                <a:spcPct val="110000"/>
              </a:lnSpc>
              <a:buNone/>
            </a:pPr>
            <a:r>
              <a:rPr lang="en-US" sz="1100" dirty="0">
                <a:solidFill>
                  <a:srgbClr val="7A2E14"/>
                </a:solidFill>
                <a:latin typeface="Calibri" pitchFamily="34" charset="0"/>
                <a:ea typeface="Calibri" pitchFamily="34" charset="-122"/>
                <a:cs typeface="Calibri" pitchFamily="34" charset="-120"/>
              </a:rPr>
              <a:t>All accuracy figures use a fixed 0.5 threshold. A 0.55 threshold performs better, but was chosen by looking at test data — using it would require folding threshold selection into the inner loop.</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COMPARISON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Seventeen Models, No Consistent Ranking</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15</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1051560"/>
                <a:gridCol w="1143000"/>
                <a:gridCol w="1051560"/>
                <a:gridCol w="1051560"/>
                <a:gridCol w="960120"/>
                <a:gridCol w="960120"/>
                <a:gridCol w="914400"/>
                <a:gridCol w="91440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Bal. Acc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ROC-AUC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Sens.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ExtraTrees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0.887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0.626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SVM-RBF</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0.535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Ensemble (soft-vote)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0.816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0.699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SVM-poly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0.740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0.579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0.463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GP-RBF</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0.749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0.821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0.834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0.631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0.482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GP-Matérn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0.746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0.615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0.475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RandomForest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0.693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0.535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0.416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XGBoost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0.646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0.768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HistGB</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0.695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0.608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0.399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kNN-Aitchison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0.679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0.830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0.870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0.488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0.402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Baseline (always Pos)</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0.735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Text 4"/>
          <p:cNvSpPr/>
          <p:nvPr/>
        </p:nvSpPr>
        <p:spPr>
          <a:xfrm>
            <a:off x="548640" y="5047488"/>
            <a:ext cx="11064240" cy="274320"/>
          </a:xfrm>
          <a:prstGeom prst="rect">
            <a:avLst/>
          </a:prstGeom>
          <a:noFill/>
          <a:ln/>
        </p:spPr>
        <p:txBody>
          <a:bodyPr wrap="square" lIns="0" tIns="0" rIns="0" bIns="0" rtlCol="0" anchor="ctr"/>
          <a:lstStyle/>
          <a:p>
            <a:pPr indent="0" marL="0">
              <a:buNone/>
            </a:pPr>
            <a:r>
              <a:rPr lang="en-US" sz="950" i="1" dirty="0">
                <a:solidFill>
                  <a:srgbClr val="5F7580"/>
                </a:solidFill>
                <a:latin typeface="Calibri" pitchFamily="34" charset="0"/>
                <a:ea typeface="Calibri" pitchFamily="34" charset="-122"/>
                <a:cs typeface="Calibri" pitchFamily="34" charset="-120"/>
              </a:rPr>
              <a:t>Top 10 of 17 by ROC-AUC · shading marks the leading group · full table in results/model_comparison_all16.csv</a:t>
            </a:r>
            <a:endParaRPr lang="en-US" sz="950" dirty="0"/>
          </a:p>
        </p:txBody>
      </p:sp>
      <p:sp>
        <p:nvSpPr>
          <p:cNvPr id="8" name="Shape 5"/>
          <p:cNvSpPr/>
          <p:nvPr/>
        </p:nvSpPr>
        <p:spPr>
          <a:xfrm>
            <a:off x="548640" y="5349240"/>
            <a:ext cx="11064240" cy="868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349240"/>
            <a:ext cx="68580" cy="868680"/>
          </a:xfrm>
          <a:prstGeom prst="rect">
            <a:avLst/>
          </a:prstGeom>
          <a:solidFill>
            <a:srgbClr val="18707F"/>
          </a:solidFill>
          <a:ln/>
        </p:spPr>
      </p:sp>
      <p:sp>
        <p:nvSpPr>
          <p:cNvPr id="10" name="Text 7"/>
          <p:cNvSpPr/>
          <p:nvPr/>
        </p:nvSpPr>
        <p:spPr>
          <a:xfrm>
            <a:off x="804672" y="5495544"/>
            <a:ext cx="1060704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Read the top block as a group, not as a ranking</a:t>
            </a:r>
            <a:endParaRPr lang="en-US" sz="1400" dirty="0"/>
          </a:p>
        </p:txBody>
      </p:sp>
      <p:sp>
        <p:nvSpPr>
          <p:cNvPr id="11" name="Text 8"/>
          <p:cNvSpPr/>
          <p:nvPr/>
        </p:nvSpPr>
        <p:spPr>
          <a:xfrm>
            <a:off x="804672" y="5879592"/>
            <a:ext cx="10607040" cy="210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ExtraTrees leads only nominally (p=0.041, uncorrected); SVM-RBF, the ensemble and SVM-poly are mutually indistinguishable (next slide). Real separation starts at GP-RBF.</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SIGNIFICANCE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AUC Cannot Settle the Model Choice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16</a:t>
            </a:r>
            <a:endParaRPr lang="en-US" sz="1000" dirty="0"/>
          </a:p>
        </p:txBody>
      </p:sp>
      <p:sp>
        <p:nvSpPr>
          <p:cNvPr id="6" name="Text 4"/>
          <p:cNvSpPr/>
          <p:nvPr/>
        </p:nvSpPr>
        <p:spPr>
          <a:xfrm>
            <a:off x="548640" y="1298448"/>
            <a:ext cx="11064240" cy="50292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Comparing the best model against a clearly weaker one proves nothing. The question that matters is whether the leading models can be told apart at all. All 15 pairwise tests among the top six, on the same 25 folds:</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286000"/>
                <a:gridCol w="1755648"/>
                <a:gridCol w="1755648"/>
                <a:gridCol w="1755648"/>
                <a:gridCol w="1755648"/>
                <a:gridCol w="1755648"/>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Wilcoxon 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GP-Matérn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.041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.539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.069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.331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.023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.809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.044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8" name="Shape 5"/>
          <p:cNvSpPr/>
          <p:nvPr/>
        </p:nvSpPr>
        <p:spPr>
          <a:xfrm>
            <a:off x="548640" y="4334256"/>
            <a:ext cx="164592" cy="164592"/>
          </a:xfrm>
          <a:prstGeom prst="rect">
            <a:avLst/>
          </a:prstGeom>
          <a:solidFill>
            <a:srgbClr val="EDEDEA"/>
          </a:solidFill>
          <a:ln/>
        </p:spPr>
      </p:sp>
      <p:sp>
        <p:nvSpPr>
          <p:cNvPr id="9" name="Text 6"/>
          <p:cNvSpPr/>
          <p:nvPr/>
        </p:nvSpPr>
        <p:spPr>
          <a:xfrm>
            <a:off x="804672" y="4306824"/>
            <a:ext cx="3840480" cy="237744"/>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grey = indistinguishable (p ≥ 0.05)</a:t>
            </a:r>
            <a:endParaRPr lang="en-US" sz="1000" dirty="0"/>
          </a:p>
        </p:txBody>
      </p:sp>
      <p:sp>
        <p:nvSpPr>
          <p:cNvPr id="10" name="Shape 7"/>
          <p:cNvSpPr/>
          <p:nvPr/>
        </p:nvSpPr>
        <p:spPr>
          <a:xfrm>
            <a:off x="4480560" y="4334256"/>
            <a:ext cx="164592" cy="164592"/>
          </a:xfrm>
          <a:prstGeom prst="rect">
            <a:avLst/>
          </a:prstGeom>
          <a:solidFill>
            <a:srgbClr val="E4F0F0"/>
          </a:solidFill>
          <a:ln/>
        </p:spPr>
      </p:sp>
      <p:sp>
        <p:nvSpPr>
          <p:cNvPr id="11" name="Text 8"/>
          <p:cNvSpPr/>
          <p:nvPr/>
        </p:nvSpPr>
        <p:spPr>
          <a:xfrm>
            <a:off x="4736592" y="4306824"/>
            <a:ext cx="3657600" cy="237744"/>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teal = distinguishable</a:t>
            </a:r>
            <a:endParaRPr lang="en-US" sz="1000" dirty="0"/>
          </a:p>
        </p:txBody>
      </p:sp>
      <p:sp>
        <p:nvSpPr>
          <p:cNvPr id="12" name="Shape 9"/>
          <p:cNvSpPr/>
          <p:nvPr/>
        </p:nvSpPr>
        <p:spPr>
          <a:xfrm>
            <a:off x="548640" y="4626864"/>
            <a:ext cx="5394960" cy="13258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3" name="Shape 10"/>
          <p:cNvSpPr/>
          <p:nvPr/>
        </p:nvSpPr>
        <p:spPr>
          <a:xfrm>
            <a:off x="548640" y="4626864"/>
            <a:ext cx="68580" cy="1325880"/>
          </a:xfrm>
          <a:prstGeom prst="rect">
            <a:avLst/>
          </a:prstGeom>
          <a:solidFill>
            <a:srgbClr val="D2603A"/>
          </a:solidFill>
          <a:ln/>
        </p:spPr>
      </p:sp>
      <p:sp>
        <p:nvSpPr>
          <p:cNvPr id="14" name="Text 11"/>
          <p:cNvSpPr/>
          <p:nvPr/>
        </p:nvSpPr>
        <p:spPr>
          <a:xfrm>
            <a:off x="804672" y="4773168"/>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Indistinguishability is not transitive</a:t>
            </a:r>
            <a:endParaRPr lang="en-US" sz="1400" dirty="0"/>
          </a:p>
        </p:txBody>
      </p:sp>
      <p:sp>
        <p:nvSpPr>
          <p:cNvPr id="15" name="Text 12"/>
          <p:cNvSpPr/>
          <p:nvPr/>
        </p:nvSpPr>
        <p:spPr>
          <a:xfrm>
            <a:off x="804672" y="5157216"/>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ExtraTrees is nominally ahead of everything (p = 0.041 vs SVM-RBF) but fails the Bonferroni threshold for 15 tests (0.0033) and wins only 14/25 folds.</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SVM-RBF, ensemble and SVM-poly are mutually inseparable (p = 0.270–0.539).</a:t>
            </a:r>
            <a:endParaRPr lang="en-US" sz="1100" dirty="0"/>
          </a:p>
        </p:txBody>
      </p:sp>
      <p:sp>
        <p:nvSpPr>
          <p:cNvPr id="16" name="Shape 13"/>
          <p:cNvSpPr/>
          <p:nvPr/>
        </p:nvSpPr>
        <p:spPr>
          <a:xfrm>
            <a:off x="6217920" y="4626864"/>
            <a:ext cx="5394960" cy="13258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4"/>
          <p:cNvSpPr/>
          <p:nvPr/>
        </p:nvSpPr>
        <p:spPr>
          <a:xfrm>
            <a:off x="6217920" y="4626864"/>
            <a:ext cx="68580" cy="1325880"/>
          </a:xfrm>
          <a:prstGeom prst="rect">
            <a:avLst/>
          </a:prstGeom>
          <a:solidFill>
            <a:srgbClr val="8FB996"/>
          </a:solidFill>
          <a:ln/>
        </p:spPr>
      </p:sp>
      <p:sp>
        <p:nvSpPr>
          <p:cNvPr id="18" name="Text 15"/>
          <p:cNvSpPr/>
          <p:nvPr/>
        </p:nvSpPr>
        <p:spPr>
          <a:xfrm>
            <a:off x="6473952" y="4773168"/>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So the choice must rest on something else</a:t>
            </a:r>
            <a:endParaRPr lang="en-US" sz="1400" dirty="0"/>
          </a:p>
        </p:txBody>
      </p:sp>
      <p:sp>
        <p:nvSpPr>
          <p:cNvPr id="19" name="Text 16"/>
          <p:cNvSpPr/>
          <p:nvPr/>
        </p:nvSpPr>
        <p:spPr>
          <a:xfrm>
            <a:off x="6473952" y="5157216"/>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Two grounds remain: error structure at the operating threshold (specificity 0.703 for SVM-RBF vs 0.620 for ExtraTrees) and robustness where the signal is weak.</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next slide is the test that actually decides.</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MODEL CHOICE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Why ExtraTrees Does Not Take Over</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17</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A 0.023 AUC lead at p=0.041, uncorrected for 15 comparisons, does not settle a model choice. The decisive test is where each model stands when the signal is weak — so we re-ran both inside every sampling-month stratum.</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017520"/>
                <a:gridCol w="1280160"/>
                <a:gridCol w="1280160"/>
                <a:gridCol w="2011680"/>
                <a:gridCol w="1828800"/>
                <a:gridCol w="1645920"/>
              </a:tblGrid>
              <a:tr h="42062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0.988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0.819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Jan + Oct  (weakest)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0.715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−0.060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bl>
          </a:graphicData>
        </a:graphic>
      </p:graphicFrame>
      <p:sp>
        <p:nvSpPr>
          <p:cNvPr id="8" name="Shape 5"/>
          <p:cNvSpPr/>
          <p:nvPr/>
        </p:nvSpPr>
        <p:spPr>
          <a:xfrm>
            <a:off x="548640" y="4023360"/>
            <a:ext cx="5394960" cy="17373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023360"/>
            <a:ext cx="68580" cy="1737360"/>
          </a:xfrm>
          <a:prstGeom prst="rect">
            <a:avLst/>
          </a:prstGeom>
          <a:solidFill>
            <a:srgbClr val="D2603A"/>
          </a:solidFill>
          <a:ln/>
        </p:spPr>
      </p:sp>
      <p:sp>
        <p:nvSpPr>
          <p:cNvPr id="10" name="Text 7"/>
          <p:cNvSpPr/>
          <p:nvPr/>
        </p:nvSpPr>
        <p:spPr>
          <a:xfrm>
            <a:off x="80467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lead comes only from the easy strata</a:t>
            </a:r>
            <a:endParaRPr lang="en-US" sz="1500" dirty="0"/>
          </a:p>
        </p:txBody>
      </p:sp>
      <p:sp>
        <p:nvSpPr>
          <p:cNvPr id="11" name="Text 8"/>
          <p:cNvSpPr/>
          <p:nvPr/>
        </p:nvSpPr>
        <p:spPr>
          <a:xfrm>
            <a:off x="80467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ExtraTrees gains +0.008 to +0.013 where the task is already easy, and loses 0.060 on the hardest stratum.</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That is the signature of heavy regularisation: harmless when signal is strong, destructive when it is weak.</a:t>
            </a:r>
            <a:endParaRPr lang="en-US" sz="1200" dirty="0"/>
          </a:p>
        </p:txBody>
      </p:sp>
      <p:sp>
        <p:nvSpPr>
          <p:cNvPr id="12" name="Shape 9"/>
          <p:cNvSpPr/>
          <p:nvPr/>
        </p:nvSpPr>
        <p:spPr>
          <a:xfrm>
            <a:off x="6217920" y="4023360"/>
            <a:ext cx="5394960" cy="17373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023360"/>
            <a:ext cx="68580" cy="1737360"/>
          </a:xfrm>
          <a:prstGeom prst="rect">
            <a:avLst/>
          </a:prstGeom>
          <a:solidFill>
            <a:srgbClr val="8FB996"/>
          </a:solidFill>
          <a:ln/>
        </p:spPr>
      </p:sp>
      <p:sp>
        <p:nvSpPr>
          <p:cNvPr id="14" name="Text 11"/>
          <p:cNvSpPr/>
          <p:nvPr/>
        </p:nvSpPr>
        <p:spPr>
          <a:xfrm>
            <a:off x="647395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keep from it</a:t>
            </a:r>
            <a:endParaRPr lang="en-US" sz="1500" dirty="0"/>
          </a:p>
        </p:txBody>
      </p:sp>
      <p:sp>
        <p:nvSpPr>
          <p:cNvPr id="15" name="Text 12"/>
          <p:cNvSpPr/>
          <p:nvPr/>
        </p:nvSpPr>
        <p:spPr>
          <a:xfrm>
            <a:off x="647395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Permutation-importance ranks agree between the two models: Spearman ρ = 0.738 (p = 3.3e-13), top-15 overlap 10/15.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biomarker panel therefore does not depend on which model is chosen — this strengthens the findings section.</a:t>
            </a:r>
            <a:endParaRPr lang="en-US" sz="1200" dirty="0"/>
          </a:p>
        </p:txBody>
      </p:sp>
      <p:sp>
        <p:nvSpPr>
          <p:cNvPr id="16" name="Text 13"/>
          <p:cNvSpPr/>
          <p:nvPr/>
        </p:nvSpPr>
        <p:spPr>
          <a:xfrm>
            <a:off x="548640" y="589788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ExtraTrees also passes its own permutation test (observed 0.856, null 0.496 ± 0.046, p = 0.0099).</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04</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Is the Signal Real?</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Permutation testing, confounders, and stratified re-analysis</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OVERFITTING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Permutation Test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19</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Shuffle the labels 100 times and re-run the entire pipeline. If the model can find structure in noise, the observed score is meaningless.</a:t>
            </a:r>
            <a:endParaRPr lang="en-US" sz="1300" dirty="0"/>
          </a:p>
        </p:txBody>
      </p:sp>
      <p:sp>
        <p:nvSpPr>
          <p:cNvPr id="7" name="Text 5"/>
          <p:cNvSpPr/>
          <p:nvPr/>
        </p:nvSpPr>
        <p:spPr>
          <a:xfrm>
            <a:off x="822960" y="1965960"/>
            <a:ext cx="31089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0.743</a:t>
            </a:r>
            <a:endParaRPr lang="en-US" sz="4000" dirty="0"/>
          </a:p>
        </p:txBody>
      </p:sp>
      <p:sp>
        <p:nvSpPr>
          <p:cNvPr id="8" name="Text 6"/>
          <p:cNvSpPr/>
          <p:nvPr/>
        </p:nvSpPr>
        <p:spPr>
          <a:xfrm>
            <a:off x="82296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Observed AUC</a:t>
            </a:r>
            <a:endParaRPr lang="en-US" sz="1150" dirty="0"/>
          </a:p>
        </p:txBody>
      </p:sp>
      <p:sp>
        <p:nvSpPr>
          <p:cNvPr id="9" name="Text 7"/>
          <p:cNvSpPr/>
          <p:nvPr/>
        </p:nvSpPr>
        <p:spPr>
          <a:xfrm>
            <a:off x="82296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true labels</a:t>
            </a:r>
            <a:endParaRPr lang="en-US" sz="1000" dirty="0"/>
          </a:p>
        </p:txBody>
      </p:sp>
      <p:sp>
        <p:nvSpPr>
          <p:cNvPr id="10" name="Text 8"/>
          <p:cNvSpPr/>
          <p:nvPr/>
        </p:nvSpPr>
        <p:spPr>
          <a:xfrm>
            <a:off x="4297680" y="1965960"/>
            <a:ext cx="3108960" cy="658368"/>
          </a:xfrm>
          <a:prstGeom prst="rect">
            <a:avLst/>
          </a:prstGeom>
          <a:noFill/>
          <a:ln/>
        </p:spPr>
        <p:txBody>
          <a:bodyPr wrap="square" lIns="0" tIns="0" rIns="0" bIns="0" rtlCol="0" anchor="ctr"/>
          <a:lstStyle/>
          <a:p>
            <a:pPr algn="ctr" indent="0" marL="0">
              <a:buNone/>
            </a:pPr>
            <a:r>
              <a:rPr lang="en-US" sz="4000" b="1" dirty="0">
                <a:solidFill>
                  <a:srgbClr val="5F7580"/>
                </a:solidFill>
                <a:latin typeface="Georgia" pitchFamily="34" charset="0"/>
                <a:ea typeface="Georgia" pitchFamily="34" charset="-122"/>
                <a:cs typeface="Georgia" pitchFamily="34" charset="-120"/>
              </a:rPr>
              <a:t>0.501</a:t>
            </a:r>
            <a:endParaRPr lang="en-US" sz="4000" dirty="0"/>
          </a:p>
        </p:txBody>
      </p:sp>
      <p:sp>
        <p:nvSpPr>
          <p:cNvPr id="11" name="Text 9"/>
          <p:cNvSpPr/>
          <p:nvPr/>
        </p:nvSpPr>
        <p:spPr>
          <a:xfrm>
            <a:off x="429768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Null mean</a:t>
            </a:r>
            <a:endParaRPr lang="en-US" sz="1150" dirty="0"/>
          </a:p>
        </p:txBody>
      </p:sp>
      <p:sp>
        <p:nvSpPr>
          <p:cNvPr id="12" name="Text 10"/>
          <p:cNvSpPr/>
          <p:nvPr/>
        </p:nvSpPr>
        <p:spPr>
          <a:xfrm>
            <a:off x="429768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0.049, max 0.614</a:t>
            </a:r>
            <a:endParaRPr lang="en-US" sz="1000" dirty="0"/>
          </a:p>
        </p:txBody>
      </p:sp>
      <p:sp>
        <p:nvSpPr>
          <p:cNvPr id="13" name="Text 11"/>
          <p:cNvSpPr/>
          <p:nvPr/>
        </p:nvSpPr>
        <p:spPr>
          <a:xfrm>
            <a:off x="7772400" y="1965960"/>
            <a:ext cx="3566160" cy="658368"/>
          </a:xfrm>
          <a:prstGeom prst="rect">
            <a:avLst/>
          </a:prstGeom>
          <a:noFill/>
          <a:ln/>
        </p:spPr>
        <p:txBody>
          <a:bodyPr wrap="square" lIns="0" tIns="0" rIns="0" bIns="0" rtlCol="0" anchor="ctr"/>
          <a:lstStyle/>
          <a:p>
            <a:pPr algn="ctr" indent="0" marL="0">
              <a:buNone/>
            </a:pPr>
            <a:r>
              <a:rPr lang="en-US" sz="3400" b="1" dirty="0">
                <a:solidFill>
                  <a:srgbClr val="8FB996"/>
                </a:solidFill>
                <a:latin typeface="Georgia" pitchFamily="34" charset="0"/>
                <a:ea typeface="Georgia" pitchFamily="34" charset="-122"/>
                <a:cs typeface="Georgia" pitchFamily="34" charset="-120"/>
              </a:rPr>
              <a:t>p = 0.0099</a:t>
            </a:r>
            <a:endParaRPr lang="en-US" sz="3400" dirty="0"/>
          </a:p>
        </p:txBody>
      </p:sp>
      <p:sp>
        <p:nvSpPr>
          <p:cNvPr id="14" name="Text 12"/>
          <p:cNvSpPr/>
          <p:nvPr/>
        </p:nvSpPr>
        <p:spPr>
          <a:xfrm>
            <a:off x="7772400" y="2642616"/>
            <a:ext cx="35661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Empirical p-value</a:t>
            </a:r>
            <a:endParaRPr lang="en-US" sz="1150" dirty="0"/>
          </a:p>
        </p:txBody>
      </p:sp>
      <p:sp>
        <p:nvSpPr>
          <p:cNvPr id="15" name="Text 13"/>
          <p:cNvSpPr/>
          <p:nvPr/>
        </p:nvSpPr>
        <p:spPr>
          <a:xfrm>
            <a:off x="7772400" y="2935224"/>
            <a:ext cx="35661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0 of 100 shuffles reached the observed score</a:t>
            </a:r>
            <a:endParaRPr lang="en-US" sz="1000" dirty="0"/>
          </a:p>
        </p:txBody>
      </p:sp>
      <p:sp>
        <p:nvSpPr>
          <p:cNvPr id="16" name="Shape 14"/>
          <p:cNvSpPr/>
          <p:nvPr/>
        </p:nvSpPr>
        <p:spPr>
          <a:xfrm>
            <a:off x="548640" y="370332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3703320"/>
            <a:ext cx="68580" cy="1051560"/>
          </a:xfrm>
          <a:prstGeom prst="rect">
            <a:avLst/>
          </a:prstGeom>
          <a:solidFill>
            <a:srgbClr val="8FB996"/>
          </a:solidFill>
          <a:ln/>
        </p:spPr>
      </p:sp>
      <p:sp>
        <p:nvSpPr>
          <p:cNvPr id="18" name="Text 16"/>
          <p:cNvSpPr/>
          <p:nvPr/>
        </p:nvSpPr>
        <p:spPr>
          <a:xfrm>
            <a:off x="804672" y="38496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Interpretation</a:t>
            </a:r>
            <a:endParaRPr lang="en-US" sz="1500" dirty="0"/>
          </a:p>
        </p:txBody>
      </p:sp>
      <p:sp>
        <p:nvSpPr>
          <p:cNvPr id="19" name="Text 17"/>
          <p:cNvSpPr/>
          <p:nvPr/>
        </p:nvSpPr>
        <p:spPr>
          <a:xfrm>
            <a:off x="804672" y="42336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null distribution is centred exactly where theory says it should be (0.50), and its maximum across 100 shuffles is 0.614 — well below the observed 0.743. The pipeline is not manufacturing signal from noise.</a:t>
            </a:r>
            <a:endParaRPr lang="en-US" sz="1200" dirty="0"/>
          </a:p>
        </p:txBody>
      </p:sp>
      <p:sp>
        <p:nvSpPr>
          <p:cNvPr id="20" name="Shape 18"/>
          <p:cNvSpPr/>
          <p:nvPr/>
        </p:nvSpPr>
        <p:spPr>
          <a:xfrm>
            <a:off x="548640" y="493776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4937760"/>
            <a:ext cx="68580" cy="960120"/>
          </a:xfrm>
          <a:prstGeom prst="rect">
            <a:avLst/>
          </a:prstGeom>
          <a:solidFill>
            <a:srgbClr val="18707F"/>
          </a:solidFill>
          <a:ln/>
        </p:spPr>
      </p:sp>
      <p:sp>
        <p:nvSpPr>
          <p:cNvPr id="22" name="Text 20"/>
          <p:cNvSpPr/>
          <p:nvPr/>
        </p:nvSpPr>
        <p:spPr>
          <a:xfrm>
            <a:off x="804672" y="508406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this does not prove</a:t>
            </a:r>
            <a:endParaRPr lang="en-US" sz="1500" dirty="0"/>
          </a:p>
        </p:txBody>
      </p:sp>
      <p:sp>
        <p:nvSpPr>
          <p:cNvPr id="23" name="Text 21"/>
          <p:cNvSpPr/>
          <p:nvPr/>
        </p:nvSpPr>
        <p:spPr>
          <a:xfrm>
            <a:off x="804672" y="546811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permutation test rules out overfitting. It says nothing about confounding — a model that predicts sampling season perfectly would also pass it. That question is next.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CONFOUNDING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Confounder: Sampling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286000"/>
                <a:gridCol w="1618488"/>
                <a:gridCol w="1618488"/>
                <a:gridCol w="1618488"/>
                <a:gridCol w="1618488"/>
                <a:gridCol w="1618488"/>
                <a:gridCol w="1618488"/>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Jan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Jul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Negative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Positive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3154680"/>
            <a:ext cx="68580" cy="1481328"/>
          </a:xfrm>
          <a:prstGeom prst="rect">
            <a:avLst/>
          </a:prstGeom>
          <a:solidFill>
            <a:srgbClr val="D2603A"/>
          </a:solidFill>
          <a:ln/>
        </p:spPr>
      </p:sp>
      <p:sp>
        <p:nvSpPr>
          <p:cNvPr id="9" name="Text 6"/>
          <p:cNvSpPr/>
          <p:nvPr/>
        </p:nvSpPr>
        <p:spPr>
          <a:xfrm>
            <a:off x="80467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problem</a:t>
            </a:r>
            <a:endParaRPr lang="en-US" sz="1500" dirty="0"/>
          </a:p>
        </p:txBody>
      </p:sp>
      <p:sp>
        <p:nvSpPr>
          <p:cNvPr id="10" name="Text 7"/>
          <p:cNvSpPr/>
          <p:nvPr/>
        </p:nvSpPr>
        <p:spPr>
          <a:xfrm>
            <a:off x="80467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November–December is 100% positive. January is 90% negative. Sampling month alone reaches AUC 0.777 — before any microbe is considered.</a:t>
            </a:r>
            <a:endParaRPr lang="en-US" sz="1200" dirty="0"/>
          </a:p>
        </p:txBody>
      </p:sp>
      <p:sp>
        <p:nvSpPr>
          <p:cNvPr id="11" name="Shape 8"/>
          <p:cNvSpPr/>
          <p:nvPr/>
        </p:nvSpPr>
        <p:spPr>
          <a:xfrm>
            <a:off x="621792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3154680"/>
            <a:ext cx="68580" cy="1481328"/>
          </a:xfrm>
          <a:prstGeom prst="rect">
            <a:avLst/>
          </a:prstGeom>
          <a:solidFill>
            <a:srgbClr val="D2603A"/>
          </a:solidFill>
          <a:ln/>
        </p:spPr>
      </p:sp>
      <p:sp>
        <p:nvSpPr>
          <p:cNvPr id="13" name="Text 10"/>
          <p:cNvSpPr/>
          <p:nvPr/>
        </p:nvSpPr>
        <p:spPr>
          <a:xfrm>
            <a:off x="647395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It contaminates the features too</a:t>
            </a:r>
            <a:endParaRPr lang="en-US" sz="1500" dirty="0"/>
          </a:p>
        </p:txBody>
      </p:sp>
      <p:sp>
        <p:nvSpPr>
          <p:cNvPr id="14" name="Text 11"/>
          <p:cNvSpPr/>
          <p:nvPr/>
        </p:nvSpPr>
        <p:spPr>
          <a:xfrm>
            <a:off x="647395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"sampled in Nov–Dec":  AUC 0.777</a:t>
            </a: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sampling site:  AUC 0.795</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encodes when and where the bird was caught.</a:t>
            </a:r>
            <a:endParaRPr lang="en-US" sz="1200" dirty="0"/>
          </a:p>
        </p:txBody>
      </p:sp>
      <p:sp>
        <p:nvSpPr>
          <p:cNvPr id="15" name="Shape 12"/>
          <p:cNvSpPr/>
          <p:nvPr/>
        </p:nvSpPr>
        <p:spPr>
          <a:xfrm>
            <a:off x="548640" y="4864608"/>
            <a:ext cx="11064240" cy="10972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3"/>
          <p:cNvSpPr/>
          <p:nvPr/>
        </p:nvSpPr>
        <p:spPr>
          <a:xfrm>
            <a:off x="548640" y="4864608"/>
            <a:ext cx="68580" cy="1097280"/>
          </a:xfrm>
          <a:prstGeom prst="rect">
            <a:avLst/>
          </a:prstGeom>
          <a:solidFill>
            <a:srgbClr val="18707F"/>
          </a:solidFill>
          <a:ln/>
        </p:spPr>
      </p:sp>
      <p:sp>
        <p:nvSpPr>
          <p:cNvPr id="17" name="Text 14"/>
          <p:cNvSpPr/>
          <p:nvPr/>
        </p:nvSpPr>
        <p:spPr>
          <a:xfrm>
            <a:off x="804672" y="5010912"/>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is not simply fatal</a:t>
            </a:r>
            <a:endParaRPr lang="en-US" sz="1500" dirty="0"/>
          </a:p>
        </p:txBody>
      </p:sp>
      <p:sp>
        <p:nvSpPr>
          <p:cNvPr id="18" name="Text 15"/>
          <p:cNvSpPr/>
          <p:nvPr/>
        </p:nvSpPr>
        <p:spPr>
          <a:xfrm>
            <a:off x="804672" y="5394960"/>
            <a:ext cx="10607040" cy="4389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Seasonality in avian influenza prevalence is genuine biology, not only an artefact of sampling logistics. The question is whether anything remains once season is held constant — which requires stratified re-analysis, not a p-value.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STRATIFICATION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Re-Running Within a Single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023360"/>
                <a:gridCol w="2011680"/>
                <a:gridCol w="2286000"/>
                <a:gridCol w="2743200"/>
              </a:tblGrid>
              <a:tr h="43891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0.964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Jan + Oct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0.668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38912">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January / Nov + Dec</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50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minority class too small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51960"/>
            <a:ext cx="5394960" cy="14173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51960"/>
            <a:ext cx="68580" cy="1417320"/>
          </a:xfrm>
          <a:prstGeom prst="rect">
            <a:avLst/>
          </a:prstGeom>
          <a:solidFill>
            <a:srgbClr val="8FB996"/>
          </a:solidFill>
          <a:ln/>
        </p:spPr>
      </p:sp>
      <p:sp>
        <p:nvSpPr>
          <p:cNvPr id="9" name="Text 6"/>
          <p:cNvSpPr/>
          <p:nvPr/>
        </p:nvSpPr>
        <p:spPr>
          <a:xfrm>
            <a:off x="80467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signal survives</a:t>
            </a:r>
            <a:endParaRPr lang="en-US" sz="1500" dirty="0"/>
          </a:p>
        </p:txBody>
      </p:sp>
      <p:sp>
        <p:nvSpPr>
          <p:cNvPr id="10" name="Text 7"/>
          <p:cNvSpPr/>
          <p:nvPr/>
        </p:nvSpPr>
        <p:spPr>
          <a:xfrm>
            <a:off x="80467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Holding sampling month constant, AUC stays at 0.86–0.96 in the summer strata. Seasonal confounding does not explain the association away.</a:t>
            </a:r>
            <a:endParaRPr lang="en-US" sz="1200" dirty="0"/>
          </a:p>
        </p:txBody>
      </p:sp>
      <p:sp>
        <p:nvSpPr>
          <p:cNvPr id="11" name="Shape 8"/>
          <p:cNvSpPr/>
          <p:nvPr/>
        </p:nvSpPr>
        <p:spPr>
          <a:xfrm>
            <a:off x="6217920" y="4251960"/>
            <a:ext cx="5394960" cy="141732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51960"/>
            <a:ext cx="68580" cy="1417320"/>
          </a:xfrm>
          <a:prstGeom prst="rect">
            <a:avLst/>
          </a:prstGeom>
          <a:solidFill>
            <a:srgbClr val="D2603A"/>
          </a:solidFill>
          <a:ln/>
        </p:spPr>
      </p:sp>
      <p:sp>
        <p:nvSpPr>
          <p:cNvPr id="13" name="Text 10"/>
          <p:cNvSpPr/>
          <p:nvPr/>
        </p:nvSpPr>
        <p:spPr>
          <a:xfrm>
            <a:off x="647395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But it is uneven</a:t>
            </a:r>
            <a:endParaRPr lang="en-US" sz="1500" dirty="0"/>
          </a:p>
        </p:txBody>
      </p:sp>
      <p:sp>
        <p:nvSpPr>
          <p:cNvPr id="14" name="Text 11"/>
          <p:cNvSpPr/>
          <p:nvPr/>
        </p:nvSpPr>
        <p:spPr>
          <a:xfrm>
            <a:off x="647395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Jan + Oct drops to 0.668. The effect is strongly heterogeneous across seasons, and reporting only the 0.944 would be cherry-picking.</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PRIMARY ESTIMATE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Microbiome Effect, With Season Held Fixed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22</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Season is a confounder, not an exposure of interest — so it does not belong in the model. Instead we fix the month and compare within strata. The model contains nothing but the 70 CLR features.</a:t>
            </a:r>
            <a:endParaRPr lang="en-US" sz="12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gridCol w="1097280"/>
                <a:gridCol w="1371600"/>
                <a:gridCol w="1554480"/>
                <a:gridCol w="1371600"/>
                <a:gridCol w="1234440"/>
                <a:gridCol w="123444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All samples (unstratified)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260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0.833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0.772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0.581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0.703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0.530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0.965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0.949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August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0.910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0.838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0.676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0.667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0.618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October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0.734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0.676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0.571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0.533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0.328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Jul + Aug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123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0.959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0.626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0.896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0.850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4434840"/>
            <a:ext cx="5394960" cy="14630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434840"/>
            <a:ext cx="68580" cy="1463040"/>
          </a:xfrm>
          <a:prstGeom prst="rect">
            <a:avLst/>
          </a:prstGeom>
          <a:solidFill>
            <a:srgbClr val="18707F"/>
          </a:solidFill>
          <a:ln/>
        </p:spPr>
      </p:sp>
      <p:sp>
        <p:nvSpPr>
          <p:cNvPr id="10" name="Text 7"/>
          <p:cNvSpPr/>
          <p:nvPr/>
        </p:nvSpPr>
        <p:spPr>
          <a:xfrm>
            <a:off x="804672" y="458114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Report the range, not an average</a:t>
            </a:r>
            <a:endParaRPr lang="en-US" sz="1400" dirty="0"/>
          </a:p>
        </p:txBody>
      </p:sp>
      <p:sp>
        <p:nvSpPr>
          <p:cNvPr id="11" name="Text 8"/>
          <p:cNvSpPr/>
          <p:nvPr/>
        </p:nvSpPr>
        <p:spPr>
          <a:xfrm>
            <a:off x="804672" y="4965192"/>
            <a:ext cx="4937760" cy="80467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AUC 0.734–0.965 · accuracy 0.676–0.949 · MCC 0.328–0.893.</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A sample-weighted mean (0.894) would hide October, and its weights come from field-campaign size, not scientific relevance.</a:t>
            </a:r>
            <a:endParaRPr lang="en-US" sz="1100" dirty="0"/>
          </a:p>
        </p:txBody>
      </p:sp>
      <p:sp>
        <p:nvSpPr>
          <p:cNvPr id="12" name="Shape 9"/>
          <p:cNvSpPr/>
          <p:nvPr/>
        </p:nvSpPr>
        <p:spPr>
          <a:xfrm>
            <a:off x="6217920" y="4434840"/>
            <a:ext cx="5394960" cy="14630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434840"/>
            <a:ext cx="68580" cy="1463040"/>
          </a:xfrm>
          <a:prstGeom prst="rect">
            <a:avLst/>
          </a:prstGeom>
          <a:solidFill>
            <a:srgbClr val="D2603A"/>
          </a:solidFill>
          <a:ln/>
        </p:spPr>
      </p:sp>
      <p:sp>
        <p:nvSpPr>
          <p:cNvPr id="14" name="Text 11"/>
          <p:cNvSpPr/>
          <p:nvPr/>
        </p:nvSpPr>
        <p:spPr>
          <a:xfrm>
            <a:off x="6473952" y="458114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Two caveats that travel with these numbers</a:t>
            </a:r>
            <a:endParaRPr lang="en-US" sz="1400" dirty="0"/>
          </a:p>
        </p:txBody>
      </p:sp>
      <p:sp>
        <p:nvSpPr>
          <p:cNvPr id="15" name="Text 12"/>
          <p:cNvSpPr/>
          <p:nvPr/>
        </p:nvSpPr>
        <p:spPr>
          <a:xfrm>
            <a:off x="6473952" y="4965192"/>
            <a:ext cx="4937760" cy="80467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October specificity is 0.533 — barely better than chance on negatives.</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Only 165 of 260 samples can be stratified at all: November and December are 100% positive, so AUC is undefined there.</a:t>
            </a:r>
            <a:endParaRPr lang="en-US" sz="1100" dirty="0"/>
          </a:p>
        </p:txBody>
      </p:sp>
      <p:sp>
        <p:nvSpPr>
          <p:cNvPr id="16" name="Text 13"/>
          <p:cNvSpPr/>
          <p:nvPr/>
        </p:nvSpPr>
        <p:spPr>
          <a:xfrm>
            <a:off x="548640" y="5989320"/>
            <a:ext cx="10789920" cy="274320"/>
          </a:xfrm>
          <a:prstGeom prst="rect">
            <a:avLst/>
          </a:prstGeom>
          <a:noFill/>
          <a:ln/>
        </p:spPr>
        <p:txBody>
          <a:bodyPr wrap="square" lIns="0" tIns="0" rIns="0" bIns="0" rtlCol="0" anchor="ctr"/>
          <a:lstStyle/>
          <a:p>
            <a:pPr indent="0" marL="0">
              <a:buNone/>
            </a:pPr>
            <a:r>
              <a:rPr lang="en-US" sz="1050" i="1" dirty="0">
                <a:solidFill>
                  <a:srgbClr val="5F7580"/>
                </a:solidFill>
                <a:latin typeface="Calibri" pitchFamily="34" charset="0"/>
                <a:ea typeface="Calibri" pitchFamily="34" charset="-122"/>
                <a:cs typeface="Calibri" pitchFamily="34" charset="-120"/>
              </a:rPr>
              <a:t>Under covariate adjustment instead, the increment is +0.043 (L2-LR) to +0.105 (SVM-RBF) — model-dependent, which is why stratification is the primary estimate.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SENSITIVITY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If We Simply Drop the Confounded Months?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23</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November–December is 100% positive and January 90% negative. On those 95 samples a model scores well by learning the month, not the microbiome. Excluding them (n = 260 → 165):</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309360" cy="914400"/>
        </p:xfrm>
        <a:graphic>
          <a:graphicData uri="http://schemas.openxmlformats.org/drawingml/2006/table">
            <a:tbl>
              <a:tblPr/>
              <a:tblGrid>
                <a:gridCol w="2468880"/>
                <a:gridCol w="1280160"/>
                <a:gridCol w="1371600"/>
                <a:gridCol w="1188720"/>
              </a:tblGrid>
              <a:tr h="402336">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 set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Full n=260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Subset n=165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Covariates only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0.881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0.774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−0.107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Microbiome only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0.766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0.933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+0.168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Microbiome + covariates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8FB996"/>
                          </a:solidFill>
                          <a:latin typeface="Calibri" pitchFamily="34" charset="0"/>
                          <a:ea typeface="Calibri" pitchFamily="34" charset="-122"/>
                          <a:cs typeface="Calibri" pitchFamily="34" charset="-120"/>
                        </a:rPr>
                        <a:t>+0.027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Independent contribution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+0.043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+0.177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8" name="Shape 5"/>
          <p:cNvSpPr/>
          <p:nvPr/>
        </p:nvSpPr>
        <p:spPr>
          <a:xfrm>
            <a:off x="7132320" y="1828800"/>
            <a:ext cx="4480560" cy="2011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7132320" y="1828800"/>
            <a:ext cx="68580" cy="2011680"/>
          </a:xfrm>
          <a:prstGeom prst="rect">
            <a:avLst/>
          </a:prstGeom>
          <a:solidFill>
            <a:srgbClr val="8FB996"/>
          </a:solidFill>
          <a:ln/>
        </p:spPr>
      </p:sp>
      <p:sp>
        <p:nvSpPr>
          <p:cNvPr id="10" name="Text 7"/>
          <p:cNvSpPr/>
          <p:nvPr/>
        </p:nvSpPr>
        <p:spPr>
          <a:xfrm>
            <a:off x="7388352" y="1975104"/>
            <a:ext cx="40233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Deconfounding worked</a:t>
            </a:r>
            <a:endParaRPr lang="en-US" sz="1400" dirty="0"/>
          </a:p>
        </p:txBody>
      </p:sp>
      <p:sp>
        <p:nvSpPr>
          <p:cNvPr id="11" name="Text 8"/>
          <p:cNvSpPr/>
          <p:nvPr/>
        </p:nvSpPr>
        <p:spPr>
          <a:xfrm>
            <a:off x="7388352" y="2359152"/>
            <a:ext cx="4023360" cy="1353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Predicting the label from month alone:</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   full cohort  AUC 0.775</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   subset       AUC 0.426</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Month is fully neutralised. Permutation test on the subset: p = 0.0099.</a:t>
            </a:r>
            <a:endParaRPr lang="en-US" sz="1100" dirty="0"/>
          </a:p>
        </p:txBody>
      </p:sp>
      <p:sp>
        <p:nvSpPr>
          <p:cNvPr id="12" name="Shape 9"/>
          <p:cNvSpPr/>
          <p:nvPr/>
        </p:nvSpPr>
        <p:spPr>
          <a:xfrm>
            <a:off x="548640" y="4069080"/>
            <a:ext cx="5394960" cy="17830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548640" y="4069080"/>
            <a:ext cx="68580" cy="1783080"/>
          </a:xfrm>
          <a:prstGeom prst="rect">
            <a:avLst/>
          </a:prstGeom>
          <a:solidFill>
            <a:srgbClr val="18707F"/>
          </a:solidFill>
          <a:ln/>
        </p:spPr>
      </p:sp>
      <p:sp>
        <p:nvSpPr>
          <p:cNvPr id="14" name="Text 11"/>
          <p:cNvSpPr/>
          <p:nvPr/>
        </p:nvSpPr>
        <p:spPr>
          <a:xfrm>
            <a:off x="804672" y="421538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biomarkers get stronger, not different</a:t>
            </a:r>
            <a:endParaRPr lang="en-US" sz="1400" dirty="0"/>
          </a:p>
        </p:txBody>
      </p:sp>
      <p:sp>
        <p:nvSpPr>
          <p:cNvPr id="15" name="Text 12"/>
          <p:cNvSpPr/>
          <p:nvPr/>
        </p:nvSpPr>
        <p:spPr>
          <a:xfrm>
            <a:off x="804672" y="4599432"/>
            <a:ext cx="4937760" cy="11247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Significant taxa 19/70 → 34/65; Spearman ρ = 0.879 on t-statistics; 18 significant in both.</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Veillonella (FDR 3.7e-29) and Prevotella — the two that collinearity had pushed out of the nine-taxon panel — are now the strongest hits.</a:t>
            </a:r>
            <a:endParaRPr lang="en-US" sz="1100" dirty="0"/>
          </a:p>
        </p:txBody>
      </p:sp>
      <p:sp>
        <p:nvSpPr>
          <p:cNvPr id="16" name="Shape 13"/>
          <p:cNvSpPr/>
          <p:nvPr/>
        </p:nvSpPr>
        <p:spPr>
          <a:xfrm>
            <a:off x="6217920" y="4069080"/>
            <a:ext cx="5394960" cy="17830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7" name="Shape 14"/>
          <p:cNvSpPr/>
          <p:nvPr/>
        </p:nvSpPr>
        <p:spPr>
          <a:xfrm>
            <a:off x="6217920" y="4069080"/>
            <a:ext cx="68580" cy="1783080"/>
          </a:xfrm>
          <a:prstGeom prst="rect">
            <a:avLst/>
          </a:prstGeom>
          <a:solidFill>
            <a:srgbClr val="D2603A"/>
          </a:solidFill>
          <a:ln/>
        </p:spPr>
      </p:sp>
      <p:sp>
        <p:nvSpPr>
          <p:cNvPr id="18" name="Text 15"/>
          <p:cNvSpPr/>
          <p:nvPr/>
        </p:nvSpPr>
        <p:spPr>
          <a:xfrm>
            <a:off x="6473952" y="421538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But this is a sensitivity analysis, not the result</a:t>
            </a:r>
            <a:endParaRPr lang="en-US" sz="1400" dirty="0"/>
          </a:p>
        </p:txBody>
      </p:sp>
      <p:sp>
        <p:nvSpPr>
          <p:cNvPr id="19" name="Text 16"/>
          <p:cNvSpPr/>
          <p:nvPr/>
        </p:nvSpPr>
        <p:spPr>
          <a:xfrm>
            <a:off x="6473952" y="4599432"/>
            <a:ext cx="4937760" cy="112471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The 95 excluded samples are also the hardest to classify (Jan+Oct stratum: AUC 0.668), so the two AUCs are not comparable.</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And spatial confounding is untouched: site → label AUC 0.740, microbiome → site AUC 0.753.</a:t>
            </a:r>
            <a:endParaRPr lang="en-US" sz="1100" dirty="0"/>
          </a:p>
        </p:txBody>
      </p:sp>
      <p:sp>
        <p:nvSpPr>
          <p:cNvPr id="20" name="Text 17"/>
          <p:cNvSpPr/>
          <p:nvPr/>
        </p:nvSpPr>
        <p:spPr>
          <a:xfrm>
            <a:off x="548640" y="5943600"/>
            <a:ext cx="10607040" cy="274320"/>
          </a:xfrm>
          <a:prstGeom prst="rect">
            <a:avLst/>
          </a:prstGeom>
          <a:noFill/>
          <a:ln/>
        </p:spPr>
        <p:txBody>
          <a:bodyPr wrap="square" lIns="0" tIns="0" rIns="0" bIns="0" rtlCol="0" anchor="ctr"/>
          <a:lstStyle/>
          <a:p>
            <a:pPr indent="0" marL="0">
              <a:buNone/>
            </a:pPr>
            <a:r>
              <a:rPr lang="en-US" sz="1050" i="1" dirty="0">
                <a:solidFill>
                  <a:srgbClr val="5F7580"/>
                </a:solidFill>
                <a:latin typeface="Calibri" pitchFamily="34" charset="0"/>
                <a:ea typeface="Calibri" pitchFamily="34" charset="-122"/>
                <a:cs typeface="Calibri" pitchFamily="34" charset="-120"/>
              </a:rPr>
              <a:t>Read as a bracket on the microbiome's independent information: conservatively +0.043, +0.177 once temporal confounding is removed.</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GENERALIZATION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Would It Work at a New Wetland?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24</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Random cross-validation lets a model score by recognising the site. Grouping by site removes that shortcut. The naive result looks catastrophic — and is misleading.</a:t>
            </a:r>
            <a:endParaRPr lang="en-US" sz="12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5486400" cy="914400"/>
        </p:xfrm>
        <a:graphic>
          <a:graphicData uri="http://schemas.openxmlformats.org/drawingml/2006/table">
            <a:tbl>
              <a:tblPr/>
              <a:tblGrid>
                <a:gridCol w="1920240"/>
                <a:gridCol w="1234440"/>
                <a:gridCol w="1234440"/>
                <a:gridCol w="1097280"/>
              </a:tblGrid>
              <a:tr h="402336">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Leave-one-site-out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LOLO 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Random CV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Drop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0.853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D2603A"/>
                          </a:solidFill>
                          <a:latin typeface="Calibri" pitchFamily="34" charset="0"/>
                          <a:ea typeface="Calibri" pitchFamily="34" charset="-122"/>
                          <a:cs typeface="Calibri" pitchFamily="34" charset="-120"/>
                        </a:rPr>
                        <a:t>−0.409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0.842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D2603A"/>
                          </a:solidFill>
                          <a:latin typeface="Calibri" pitchFamily="34" charset="0"/>
                          <a:ea typeface="Calibri" pitchFamily="34" charset="-122"/>
                          <a:cs typeface="Calibri" pitchFamily="34" charset="-120"/>
                        </a:rPr>
                        <a:t>−0.399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L1-LR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0.469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0.777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D2603A"/>
                          </a:solidFill>
                          <a:latin typeface="Calibri" pitchFamily="34" charset="0"/>
                          <a:ea typeface="Calibri" pitchFamily="34" charset="-122"/>
                          <a:cs typeface="Calibri" pitchFamily="34" charset="-120"/>
                        </a:rPr>
                        <a:t>−0.308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6309360" y="1828800"/>
            <a:ext cx="5303520" cy="1773936"/>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6309360" y="1828800"/>
            <a:ext cx="68580" cy="1773936"/>
          </a:xfrm>
          <a:prstGeom prst="rect">
            <a:avLst/>
          </a:prstGeom>
          <a:solidFill>
            <a:srgbClr val="D2603A"/>
          </a:solidFill>
          <a:ln/>
        </p:spPr>
      </p:sp>
      <p:sp>
        <p:nvSpPr>
          <p:cNvPr id="10" name="Text 7"/>
          <p:cNvSpPr/>
          <p:nvPr/>
        </p:nvSpPr>
        <p:spPr>
          <a:xfrm>
            <a:off x="6565392" y="1975104"/>
            <a:ext cx="484632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Why it is misleading</a:t>
            </a:r>
            <a:endParaRPr lang="en-US" sz="1400" dirty="0"/>
          </a:p>
        </p:txBody>
      </p:sp>
      <p:sp>
        <p:nvSpPr>
          <p:cNvPr id="11" name="Text 8"/>
          <p:cNvSpPr/>
          <p:nvPr/>
        </p:nvSpPr>
        <p:spPr>
          <a:xfrm>
            <a:off x="6565392" y="2359152"/>
            <a:ext cx="4846320" cy="1115568"/>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Site and month are nearly interchangeable here: Sacramento is 46/80 January, GIWA 82/96 July–August, ConawayRanch autumn only.</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So leave-one-site-out is also leave-one-season-out.</a:t>
            </a:r>
            <a:endParaRPr lang="en-US" sz="1100" dirty="0"/>
          </a:p>
        </p:txBody>
      </p:sp>
      <p:sp>
        <p:nvSpPr>
          <p:cNvPr id="12" name="Text 9"/>
          <p:cNvSpPr/>
          <p:nvPr/>
        </p:nvSpPr>
        <p:spPr>
          <a:xfrm>
            <a:off x="548640" y="3840480"/>
            <a:ext cx="11064240" cy="274320"/>
          </a:xfrm>
          <a:prstGeom prst="rect">
            <a:avLst/>
          </a:prstGeom>
          <a:noFill/>
          <a:ln/>
        </p:spPr>
        <p:txBody>
          <a:bodyPr wrap="square" lIns="0" tIns="0" rIns="0" bIns="0" rtlCol="0" anchor="ctr"/>
          <a:lstStyle/>
          <a:p>
            <a:pPr indent="0" marL="0">
              <a:buNone/>
            </a:pPr>
            <a:r>
              <a:rPr lang="en-US" sz="1500" b="1" dirty="0">
                <a:solidFill>
                  <a:srgbClr val="16252C"/>
                </a:solidFill>
                <a:latin typeface="Georgia" pitchFamily="34" charset="0"/>
                <a:ea typeface="Georgia" pitchFamily="34" charset="-122"/>
                <a:cs typeface="Georgia" pitchFamily="34" charset="-120"/>
              </a:rPr>
              <a:t>Hold season fixed (July–August only) and repeat leave-one-site-out:</a:t>
            </a:r>
            <a:endParaRPr lang="en-US" sz="1500" dirty="0"/>
          </a:p>
        </p:txBody>
      </p:sp>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486400" cy="914400"/>
        </p:xfrm>
        <a:graphic>
          <a:graphicData uri="http://schemas.openxmlformats.org/drawingml/2006/table">
            <a:tbl>
              <a:tblPr/>
              <a:tblGrid>
                <a:gridCol w="2331720"/>
                <a:gridCol w="960120"/>
                <a:gridCol w="960120"/>
                <a:gridCol w="123444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Held-out site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GIWA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2E6B3A"/>
                          </a:solidFill>
                          <a:latin typeface="Calibri" pitchFamily="34" charset="0"/>
                          <a:ea typeface="Calibri" pitchFamily="34" charset="-122"/>
                          <a:cs typeface="Calibri" pitchFamily="34" charset="-120"/>
                        </a:rPr>
                        <a:t>0.919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MandevilleIsland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2E6B3A"/>
                          </a:solidFill>
                          <a:latin typeface="Calibri" pitchFamily="34" charset="0"/>
                          <a:ea typeface="Calibri" pitchFamily="34" charset="-122"/>
                          <a:cs typeface="Calibri" pitchFamily="34" charset="-120"/>
                        </a:rPr>
                        <a:t>0.844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SuisunMarsh/Balboa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mean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0.921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14" name="Shape 10"/>
          <p:cNvSpPr/>
          <p:nvPr/>
        </p:nvSpPr>
        <p:spPr>
          <a:xfrm>
            <a:off x="6309360" y="4206240"/>
            <a:ext cx="5303520" cy="153619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1"/>
          <p:cNvSpPr/>
          <p:nvPr/>
        </p:nvSpPr>
        <p:spPr>
          <a:xfrm>
            <a:off x="6309360" y="4206240"/>
            <a:ext cx="68580" cy="1536192"/>
          </a:xfrm>
          <a:prstGeom prst="rect">
            <a:avLst/>
          </a:prstGeom>
          <a:solidFill>
            <a:srgbClr val="8FB996"/>
          </a:solidFill>
          <a:ln/>
        </p:spPr>
      </p:sp>
      <p:sp>
        <p:nvSpPr>
          <p:cNvPr id="16" name="Text 12"/>
          <p:cNvSpPr/>
          <p:nvPr/>
        </p:nvSpPr>
        <p:spPr>
          <a:xfrm>
            <a:off x="6565392" y="4352544"/>
            <a:ext cx="484632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Spatial generalization is not the bottleneck</a:t>
            </a:r>
            <a:endParaRPr lang="en-US" sz="1400" dirty="0"/>
          </a:p>
        </p:txBody>
      </p:sp>
      <p:sp>
        <p:nvSpPr>
          <p:cNvPr id="17" name="Text 13"/>
          <p:cNvSpPr/>
          <p:nvPr/>
        </p:nvSpPr>
        <p:spPr>
          <a:xfrm>
            <a:off x="6565392" y="4736592"/>
            <a:ext cx="4846320" cy="877824"/>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With season comparable, the model transfers across wetlands at AUC 0.84–0.92.</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Sacramento fold that dragged the naive average down had 46 January samples with a single positive — that AUC is one bird's percentile rank, not an estimate.</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05</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Biological Findings</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Which taxa carry the signal — and what the methods disagree about</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BIOMARKER PANEL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Nine Biomarkers, Three Independent Methods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26</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SVM permutation importance, L1 stability selection (200 bootstraps), and differential abundance (CLR + Welch t + BH-FDR) were run separately and intersected.</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gridCol w="2743200"/>
                <a:gridCol w="1554480"/>
                <a:gridCol w="1371600"/>
                <a:gridCol w="1371600"/>
                <a:gridCol w="128016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 imp.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L1 freq.</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(unassigned)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Ruminococcaceae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0.0198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Varibaculum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Actinomycetaceae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0.0131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Rothia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0.995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Psittacicella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Pasteurellaceae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0.0079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0.940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1e-03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Lawsonella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Corynebacteriaceae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0.0055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Candidatus Arthromitus (SFB)</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Clostridiaceae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0.0050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0.995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3F7A47"/>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4e-05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2 unannotated features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0.915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1e-04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285232"/>
            <a:ext cx="11064240" cy="98755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285232"/>
            <a:ext cx="68580" cy="987552"/>
          </a:xfrm>
          <a:prstGeom prst="rect">
            <a:avLst/>
          </a:prstGeom>
          <a:solidFill>
            <a:srgbClr val="8FB996"/>
          </a:solidFill>
          <a:ln/>
        </p:spPr>
      </p:sp>
      <p:sp>
        <p:nvSpPr>
          <p:cNvPr id="10" name="Text 7"/>
          <p:cNvSpPr/>
          <p:nvPr/>
        </p:nvSpPr>
        <p:spPr>
          <a:xfrm>
            <a:off x="804672" y="5431536"/>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Candidatus Arthromitus is the most interpretable hit</a:t>
            </a:r>
            <a:endParaRPr lang="en-US" sz="1500" dirty="0"/>
          </a:p>
        </p:txBody>
      </p:sp>
      <p:sp>
        <p:nvSpPr>
          <p:cNvPr id="11" name="Text 8"/>
          <p:cNvSpPr/>
          <p:nvPr/>
        </p:nvSpPr>
        <p:spPr>
          <a:xfrm>
            <a:off x="804672" y="5815584"/>
            <a:ext cx="10607040" cy="329184"/>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Segmented filamentous bacteria are enriched in infected birds. SFB are known inducers of Th17 and mucosal IgA responses — an independent immunological line of support for the association.</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Where the Methods Disagree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27</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i="1" dirty="0">
                <a:solidFill>
                  <a:srgbClr val="5F7580"/>
                </a:solidFill>
                <a:latin typeface="Calibri" pitchFamily="34" charset="0"/>
                <a:ea typeface="Calibri" pitchFamily="34" charset="-122"/>
                <a:cs typeface="Calibri" pitchFamily="34" charset="-120"/>
              </a:rPr>
              <a:t>The intersection is the safest list. The disagreements are where the biology is.</a:t>
            </a:r>
            <a:endParaRPr lang="en-US" sz="1300" dirty="0"/>
          </a:p>
        </p:txBody>
      </p:sp>
      <p:sp>
        <p:nvSpPr>
          <p:cNvPr id="7" name="Shape 5"/>
          <p:cNvSpPr/>
          <p:nvPr/>
        </p:nvSpPr>
        <p:spPr>
          <a:xfrm>
            <a:off x="54864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828800"/>
            <a:ext cx="68580" cy="2286000"/>
          </a:xfrm>
          <a:prstGeom prst="rect">
            <a:avLst/>
          </a:prstGeom>
          <a:solidFill>
            <a:srgbClr val="18707F"/>
          </a:solidFill>
          <a:ln/>
        </p:spPr>
      </p:sp>
      <p:sp>
        <p:nvSpPr>
          <p:cNvPr id="9" name="Text 7"/>
          <p:cNvSpPr/>
          <p:nvPr/>
        </p:nvSpPr>
        <p:spPr>
          <a:xfrm>
            <a:off x="80467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Veillonella — dropped by L1, but real</a:t>
            </a:r>
            <a:endParaRPr lang="en-US" sz="1500" dirty="0"/>
          </a:p>
        </p:txBody>
      </p:sp>
      <p:sp>
        <p:nvSpPr>
          <p:cNvPr id="10" name="Text 8"/>
          <p:cNvSpPr/>
          <p:nvPr/>
        </p:nvSpPr>
        <p:spPr>
          <a:xfrm>
            <a:off x="80467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Ranks 2nd in permutation importance and is positive in 100% of 25 folds. FDR = 2.3e-05.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Yet its L1 selection frequency is only 0.105.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Textbook collinearity: L1 keeps one member of a correlated group and discards the rest. Excluding Veillonella because L1 ignored it would be a mistake.</a:t>
            </a:r>
            <a:endParaRPr lang="en-US" sz="1150" dirty="0"/>
          </a:p>
        </p:txBody>
      </p:sp>
      <p:sp>
        <p:nvSpPr>
          <p:cNvPr id="11" name="Shape 9"/>
          <p:cNvSpPr/>
          <p:nvPr/>
        </p:nvSpPr>
        <p:spPr>
          <a:xfrm>
            <a:off x="621792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10"/>
          <p:cNvSpPr/>
          <p:nvPr/>
        </p:nvSpPr>
        <p:spPr>
          <a:xfrm>
            <a:off x="6217920" y="1828800"/>
            <a:ext cx="68580" cy="2286000"/>
          </a:xfrm>
          <a:prstGeom prst="rect">
            <a:avLst/>
          </a:prstGeom>
          <a:solidFill>
            <a:srgbClr val="8FB996"/>
          </a:solidFill>
          <a:ln/>
        </p:spPr>
      </p:sp>
      <p:sp>
        <p:nvSpPr>
          <p:cNvPr id="13" name="Text 11"/>
          <p:cNvSpPr/>
          <p:nvPr/>
        </p:nvSpPr>
        <p:spPr>
          <a:xfrm>
            <a:off x="647395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Moraxella, Fusibacter, Cetobacterium</a:t>
            </a:r>
            <a:endParaRPr lang="en-US" sz="1500" dirty="0"/>
          </a:p>
        </p:txBody>
      </p:sp>
      <p:sp>
        <p:nvSpPr>
          <p:cNvPr id="14" name="Text 12"/>
          <p:cNvSpPr/>
          <p:nvPr/>
        </p:nvSpPr>
        <p:spPr>
          <a:xfrm>
            <a:off x="647395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Permutation importance 0.008–0.009, positive in 88% of folds.</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Univariate FDR: 0.87, 0.90, 0.97 — entirely non-significant.</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They contribute only through interactions with other taxa. No univariate test could ever find them; this is precisely what the RBF kernel is exploiting.</a:t>
            </a:r>
            <a:endParaRPr lang="en-US" sz="1150" dirty="0"/>
          </a:p>
        </p:txBody>
      </p:sp>
      <p:sp>
        <p:nvSpPr>
          <p:cNvPr id="15" name="Shape 13"/>
          <p:cNvSpPr/>
          <p:nvPr/>
        </p:nvSpPr>
        <p:spPr>
          <a:xfrm>
            <a:off x="548640" y="4343400"/>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4"/>
          <p:cNvSpPr/>
          <p:nvPr/>
        </p:nvSpPr>
        <p:spPr>
          <a:xfrm>
            <a:off x="548640" y="4343400"/>
            <a:ext cx="68580" cy="1371600"/>
          </a:xfrm>
          <a:prstGeom prst="rect">
            <a:avLst/>
          </a:prstGeom>
          <a:solidFill>
            <a:srgbClr val="12505F"/>
          </a:solidFill>
          <a:ln/>
        </p:spPr>
      </p:sp>
      <p:sp>
        <p:nvSpPr>
          <p:cNvPr id="17" name="Text 15"/>
          <p:cNvSpPr/>
          <p:nvPr/>
        </p:nvSpPr>
        <p:spPr>
          <a:xfrm>
            <a:off x="804672" y="44897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Practical consequence for the manuscript</a:t>
            </a:r>
            <a:endParaRPr lang="en-US" sz="1500" dirty="0"/>
          </a:p>
        </p:txBody>
      </p:sp>
      <p:sp>
        <p:nvSpPr>
          <p:cNvPr id="18" name="Text 16"/>
          <p:cNvSpPr/>
          <p:nvPr/>
        </p:nvSpPr>
        <p:spPr>
          <a:xfrm>
            <a:off x="804672" y="4873752"/>
            <a:ext cx="1060704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biomarker panel derived from any single method would be wrong in a specific, predictable way. Univariate testing misses interaction-driven taxa; L1 misses collinear ones; permutation importance alone gives no direction of effect. Reporting the intersection — plus the named exceptions — is more defensible than any one ranking, and takes only one extra analysis to produce.</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NONLINEARITY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Evidence for Genuine Nonlinear Structure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28</a:t>
            </a:r>
            <a:endParaRPr lang="en-US" sz="1000" dirty="0"/>
          </a:p>
        </p:txBody>
      </p:sp>
      <p:sp>
        <p:nvSpPr>
          <p:cNvPr id="6" name="Shape 4"/>
          <p:cNvSpPr/>
          <p:nvPr/>
        </p:nvSpPr>
        <p:spPr>
          <a:xfrm>
            <a:off x="54864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92024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1 — the kernel gap</a:t>
            </a:r>
            <a:endParaRPr lang="en-US" sz="1500" dirty="0"/>
          </a:p>
        </p:txBody>
      </p:sp>
      <p:sp>
        <p:nvSpPr>
          <p:cNvPr id="9" name="Text 7"/>
          <p:cNvSpPr/>
          <p:nvPr/>
        </p:nvSpPr>
        <p:spPr>
          <a:xfrm>
            <a:off x="80467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SVM-RBF     AUC 0.835</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SVM-linear  AUC 0.755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Δ = +0.080, winning 24 of 25 folds, Wilcoxon p &lt; 0.0001.</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controlled comparison — same model family, only the kernel differs — and the most decisive test in this deck.</a:t>
            </a:r>
            <a:endParaRPr lang="en-US" sz="1200" dirty="0"/>
          </a:p>
        </p:txBody>
      </p:sp>
      <p:sp>
        <p:nvSpPr>
          <p:cNvPr id="10" name="Shape 8"/>
          <p:cNvSpPr/>
          <p:nvPr/>
        </p:nvSpPr>
        <p:spPr>
          <a:xfrm>
            <a:off x="621792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63040"/>
            <a:ext cx="68580" cy="1920240"/>
          </a:xfrm>
          <a:prstGeom prst="rect">
            <a:avLst/>
          </a:prstGeom>
          <a:solidFill>
            <a:srgbClr val="18707F"/>
          </a:solidFill>
          <a:ln/>
        </p:spPr>
      </p:sp>
      <p:sp>
        <p:nvSpPr>
          <p:cNvPr id="12" name="Text 10"/>
          <p:cNvSpPr/>
          <p:nvPr/>
        </p:nvSpPr>
        <p:spPr>
          <a:xfrm>
            <a:off x="647395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2 — invisible taxa</a:t>
            </a:r>
            <a:endParaRPr lang="en-US" sz="1500" dirty="0"/>
          </a:p>
        </p:txBody>
      </p:sp>
      <p:sp>
        <p:nvSpPr>
          <p:cNvPr id="13" name="Text 11"/>
          <p:cNvSpPr/>
          <p:nvPr/>
        </p:nvSpPr>
        <p:spPr>
          <a:xfrm>
            <a:off x="647395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Several features carry substantial permutation importance while being entirely non-significant univariately (FDR 0.87–0.97).</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Their effect exists only in combination with other taxa.</a:t>
            </a:r>
            <a:endParaRPr lang="en-US" sz="1200" dirty="0"/>
          </a:p>
        </p:txBody>
      </p:sp>
      <p:sp>
        <p:nvSpPr>
          <p:cNvPr id="14" name="Shape 12"/>
          <p:cNvSpPr/>
          <p:nvPr/>
        </p:nvSpPr>
        <p:spPr>
          <a:xfrm>
            <a:off x="548640" y="3611880"/>
            <a:ext cx="11064240" cy="1143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3611880"/>
            <a:ext cx="68580" cy="1143000"/>
          </a:xfrm>
          <a:prstGeom prst="rect">
            <a:avLst/>
          </a:prstGeom>
          <a:solidFill>
            <a:srgbClr val="8FB996"/>
          </a:solidFill>
          <a:ln/>
        </p:spPr>
      </p:sp>
      <p:sp>
        <p:nvSpPr>
          <p:cNvPr id="16" name="Text 14"/>
          <p:cNvSpPr/>
          <p:nvPr/>
        </p:nvSpPr>
        <p:spPr>
          <a:xfrm>
            <a:off x="804672" y="37581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Biological reading</a:t>
            </a:r>
            <a:endParaRPr lang="en-US" sz="1500" dirty="0"/>
          </a:p>
        </p:txBody>
      </p:sp>
      <p:sp>
        <p:nvSpPr>
          <p:cNvPr id="17" name="Text 15"/>
          <p:cNvSpPr/>
          <p:nvPr/>
        </p:nvSpPr>
        <p:spPr>
          <a:xfrm>
            <a:off x="804672" y="4142232"/>
            <a:ext cx="10607040" cy="4846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This is consistent with what is known about gut communities: taxa act through consortia and metabolic cross-feeding rather than in isolation. A single genus rarely determines an immune phenotype on its own.</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Note the contrast with the model comparison: there, nothing separated the leaders. Here, one controlled change separates cleanly on every fold.</a:t>
            </a:r>
            <a:endParaRPr lang="en-US" sz="1200" dirty="0"/>
          </a:p>
        </p:txBody>
      </p:sp>
      <p:sp>
        <p:nvSpPr>
          <p:cNvPr id="18" name="Shape 16"/>
          <p:cNvSpPr/>
          <p:nvPr/>
        </p:nvSpPr>
        <p:spPr>
          <a:xfrm>
            <a:off x="548640" y="4983480"/>
            <a:ext cx="11064240" cy="1051560"/>
          </a:xfrm>
          <a:prstGeom prst="rect">
            <a:avLst/>
          </a:prstGeom>
          <a:solidFill>
            <a:srgbClr val="0B3C49"/>
          </a:solidFill>
          <a:ln/>
        </p:spPr>
      </p:sp>
      <p:sp>
        <p:nvSpPr>
          <p:cNvPr id="19" name="Text 17"/>
          <p:cNvSpPr/>
          <p:nvPr/>
        </p:nvSpPr>
        <p:spPr>
          <a:xfrm>
            <a:off x="868680" y="5138928"/>
            <a:ext cx="10515600" cy="274320"/>
          </a:xfrm>
          <a:prstGeom prst="rect">
            <a:avLst/>
          </a:prstGeom>
          <a:noFill/>
          <a:ln/>
        </p:spPr>
        <p:txBody>
          <a:bodyPr wrap="square" lIns="0" tIns="0" rIns="0" bIns="0" rtlCol="0" anchor="ctr"/>
          <a:lstStyle/>
          <a:p>
            <a:pPr indent="0" marL="0">
              <a:buNone/>
            </a:pPr>
            <a:r>
              <a:rPr lang="en-US" sz="1400" b="1" dirty="0">
                <a:solidFill>
                  <a:srgbClr val="FFFFFF"/>
                </a:solidFill>
                <a:latin typeface="Georgia" pitchFamily="34" charset="0"/>
                <a:ea typeface="Georgia" pitchFamily="34" charset="-122"/>
                <a:cs typeface="Georgia" pitchFamily="34" charset="-120"/>
              </a:rPr>
              <a:t>A correction on the record</a:t>
            </a:r>
            <a:endParaRPr lang="en-US" sz="1400" dirty="0"/>
          </a:p>
        </p:txBody>
      </p:sp>
      <p:sp>
        <p:nvSpPr>
          <p:cNvPr id="20" name="Text 18"/>
          <p:cNvSpPr/>
          <p:nvPr/>
        </p:nvSpPr>
        <p:spPr>
          <a:xfrm>
            <a:off x="868680" y="5413248"/>
            <a:ext cx="10515600" cy="502920"/>
          </a:xfrm>
          <a:prstGeom prst="rect">
            <a:avLst/>
          </a:prstGeom>
          <a:noFill/>
          <a:ln/>
        </p:spPr>
        <p:txBody>
          <a:bodyPr wrap="square" lIns="0" tIns="0" rIns="0" bIns="0" rtlCol="0" anchor="ctr"/>
          <a:lstStyle/>
          <a:p>
            <a:pPr indent="0" marL="0">
              <a:buNone/>
            </a:pPr>
            <a:r>
              <a:rPr lang="en-US" sz="1150" dirty="0">
                <a:solidFill>
                  <a:srgbClr val="8FB996"/>
                </a:solidFill>
                <a:latin typeface="Calibri" pitchFamily="34" charset="0"/>
                <a:ea typeface="Calibri" pitchFamily="34" charset="-122"/>
                <a:cs typeface="Calibri" pitchFamily="34" charset="-120"/>
              </a:rPr>
              <a:t>An earlier round of this analysis concluded that nonlinearity was weak, based on linear and tree models performing comparably. Adding the RBF kernel overturned that. The conclusion changed because the model class was incomplete, not because the data changed.</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LIMITATIONS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Eight Known Limitations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29</a:t>
            </a:r>
            <a:endParaRPr lang="en-US" sz="1000" dirty="0"/>
          </a:p>
        </p:txBody>
      </p:sp>
      <p:sp>
        <p:nvSpPr>
          <p:cNvPr id="6" name="Shape 4"/>
          <p:cNvSpPr/>
          <p:nvPr/>
        </p:nvSpPr>
        <p:spPr>
          <a:xfrm>
            <a:off x="548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71600"/>
            <a:ext cx="68580" cy="1078992"/>
          </a:xfrm>
          <a:prstGeom prst="rect">
            <a:avLst/>
          </a:prstGeom>
          <a:solidFill>
            <a:srgbClr val="D2603A"/>
          </a:solidFill>
          <a:ln/>
        </p:spPr>
      </p:sp>
      <p:sp>
        <p:nvSpPr>
          <p:cNvPr id="8" name="Text 6"/>
          <p:cNvSpPr/>
          <p:nvPr/>
        </p:nvSpPr>
        <p:spPr>
          <a:xfrm>
            <a:off x="804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Cross-study generalization fails</a:t>
            </a:r>
            <a:endParaRPr lang="en-US" sz="1250" dirty="0"/>
          </a:p>
        </p:txBody>
      </p:sp>
      <p:sp>
        <p:nvSpPr>
          <p:cNvPr id="9" name="Text 7"/>
          <p:cNvSpPr/>
          <p:nvPr/>
        </p:nvSpPr>
        <p:spPr>
          <a:xfrm>
            <a:off x="804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GroupKFold by BioProject: AUC 0.54 ± 0.29. Four studies differ in host, tissue, geography.</a:t>
            </a:r>
            <a:endParaRPr lang="en-US" sz="1050" dirty="0"/>
          </a:p>
        </p:txBody>
      </p:sp>
      <p:sp>
        <p:nvSpPr>
          <p:cNvPr id="10" name="Shape 8"/>
          <p:cNvSpPr/>
          <p:nvPr/>
        </p:nvSpPr>
        <p:spPr>
          <a:xfrm>
            <a:off x="6263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371600"/>
            <a:ext cx="68580" cy="1078992"/>
          </a:xfrm>
          <a:prstGeom prst="rect">
            <a:avLst/>
          </a:prstGeom>
          <a:solidFill>
            <a:srgbClr val="D2603A"/>
          </a:solidFill>
          <a:ln/>
        </p:spPr>
      </p:sp>
      <p:sp>
        <p:nvSpPr>
          <p:cNvPr id="12" name="Text 10"/>
          <p:cNvSpPr/>
          <p:nvPr/>
        </p:nvSpPr>
        <p:spPr>
          <a:xfrm>
            <a:off x="6519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Upstream filtering rule unknown</a:t>
            </a:r>
            <a:endParaRPr lang="en-US" sz="1250" dirty="0"/>
          </a:p>
        </p:txBody>
      </p:sp>
      <p:sp>
        <p:nvSpPr>
          <p:cNvPr id="13" name="Text 11"/>
          <p:cNvSpPr/>
          <p:nvPr/>
        </p:nvSpPr>
        <p:spPr>
          <a:xfrm>
            <a:off x="6519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275 features is far too few for avian 16S. If filtering used labels, every number here is inflated.</a:t>
            </a:r>
            <a:endParaRPr lang="en-US" sz="1050" dirty="0"/>
          </a:p>
        </p:txBody>
      </p:sp>
      <p:sp>
        <p:nvSpPr>
          <p:cNvPr id="14" name="Shape 12"/>
          <p:cNvSpPr/>
          <p:nvPr/>
        </p:nvSpPr>
        <p:spPr>
          <a:xfrm>
            <a:off x="548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587752"/>
            <a:ext cx="68580" cy="1078992"/>
          </a:xfrm>
          <a:prstGeom prst="rect">
            <a:avLst/>
          </a:prstGeom>
          <a:solidFill>
            <a:srgbClr val="D2603A"/>
          </a:solidFill>
          <a:ln/>
        </p:spPr>
      </p:sp>
      <p:sp>
        <p:nvSpPr>
          <p:cNvPr id="16" name="Text 14"/>
          <p:cNvSpPr/>
          <p:nvPr/>
        </p:nvSpPr>
        <p:spPr>
          <a:xfrm>
            <a:off x="804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Rarefaction is not rigorous</a:t>
            </a:r>
            <a:endParaRPr lang="en-US" sz="1250" dirty="0"/>
          </a:p>
        </p:txBody>
      </p:sp>
      <p:sp>
        <p:nvSpPr>
          <p:cNvPr id="17" name="Text 15"/>
          <p:cNvSpPr/>
          <p:nvPr/>
        </p:nvSpPr>
        <p:spPr>
          <a:xfrm>
            <a:off x="804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208 samples at exactly 5000, 118 below. CLR sidesteps it; depth-dependent metrics would not.</a:t>
            </a:r>
            <a:endParaRPr lang="en-US" sz="1050" dirty="0"/>
          </a:p>
        </p:txBody>
      </p:sp>
      <p:sp>
        <p:nvSpPr>
          <p:cNvPr id="18" name="Shape 16"/>
          <p:cNvSpPr/>
          <p:nvPr/>
        </p:nvSpPr>
        <p:spPr>
          <a:xfrm>
            <a:off x="6263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587752"/>
            <a:ext cx="68580" cy="1078992"/>
          </a:xfrm>
          <a:prstGeom prst="rect">
            <a:avLst/>
          </a:prstGeom>
          <a:solidFill>
            <a:srgbClr val="D2603A"/>
          </a:solidFill>
          <a:ln/>
        </p:spPr>
      </p:sp>
      <p:sp>
        <p:nvSpPr>
          <p:cNvPr id="20" name="Text 18"/>
          <p:cNvSpPr/>
          <p:nvPr/>
        </p:nvSpPr>
        <p:spPr>
          <a:xfrm>
            <a:off x="6519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4.  Threshold not optimized</a:t>
            </a:r>
            <a:endParaRPr lang="en-US" sz="1250" dirty="0"/>
          </a:p>
        </p:txBody>
      </p:sp>
      <p:sp>
        <p:nvSpPr>
          <p:cNvPr id="21" name="Text 19"/>
          <p:cNvSpPr/>
          <p:nvPr/>
        </p:nvSpPr>
        <p:spPr>
          <a:xfrm>
            <a:off x="6519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All accuracies use a fixed 0.5. Tuning it would require nesting the choice inside CV.</a:t>
            </a:r>
            <a:endParaRPr lang="en-US" sz="1050" dirty="0"/>
          </a:p>
        </p:txBody>
      </p:sp>
      <p:sp>
        <p:nvSpPr>
          <p:cNvPr id="22" name="Shape 20"/>
          <p:cNvSpPr/>
          <p:nvPr/>
        </p:nvSpPr>
        <p:spPr>
          <a:xfrm>
            <a:off x="548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3803904"/>
            <a:ext cx="68580" cy="1078992"/>
          </a:xfrm>
          <a:prstGeom prst="rect">
            <a:avLst/>
          </a:prstGeom>
          <a:solidFill>
            <a:srgbClr val="D2603A"/>
          </a:solidFill>
          <a:ln/>
        </p:spPr>
      </p:sp>
      <p:sp>
        <p:nvSpPr>
          <p:cNvPr id="24" name="Text 22"/>
          <p:cNvSpPr/>
          <p:nvPr/>
        </p:nvSpPr>
        <p:spPr>
          <a:xfrm>
            <a:off x="804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5.  Taxonomic resolution is capped</a:t>
            </a:r>
            <a:endParaRPr lang="en-US" sz="1250" dirty="0"/>
          </a:p>
        </p:txBody>
      </p:sp>
      <p:sp>
        <p:nvSpPr>
          <p:cNvPr id="25" name="Text 23"/>
          <p:cNvSpPr/>
          <p:nvPr/>
        </p:nvSpPr>
        <p:spPr>
          <a:xfrm>
            <a:off x="804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Species level entirely empty; 55 features lack a genus. Interpretation stops at genus/family.</a:t>
            </a:r>
            <a:endParaRPr lang="en-US" sz="1050" dirty="0"/>
          </a:p>
        </p:txBody>
      </p:sp>
      <p:sp>
        <p:nvSpPr>
          <p:cNvPr id="26" name="Shape 24"/>
          <p:cNvSpPr/>
          <p:nvPr/>
        </p:nvSpPr>
        <p:spPr>
          <a:xfrm>
            <a:off x="6263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3803904"/>
            <a:ext cx="68580" cy="1078992"/>
          </a:xfrm>
          <a:prstGeom prst="rect">
            <a:avLst/>
          </a:prstGeom>
          <a:solidFill>
            <a:srgbClr val="D2603A"/>
          </a:solidFill>
          <a:ln/>
        </p:spPr>
      </p:sp>
      <p:sp>
        <p:nvSpPr>
          <p:cNvPr id="28" name="Text 26"/>
          <p:cNvSpPr/>
          <p:nvPr/>
        </p:nvSpPr>
        <p:spPr>
          <a:xfrm>
            <a:off x="6519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6.  Confounder baseline is high</a:t>
            </a:r>
            <a:endParaRPr lang="en-US" sz="1250" dirty="0"/>
          </a:p>
        </p:txBody>
      </p:sp>
      <p:sp>
        <p:nvSpPr>
          <p:cNvPr id="29" name="Text 27"/>
          <p:cNvSpPr/>
          <p:nvPr/>
        </p:nvSpPr>
        <p:spPr>
          <a:xfrm>
            <a:off x="6519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Covariates alone reach 0.881. Microbiome claims must always be framed relative to that.</a:t>
            </a:r>
            <a:endParaRPr lang="en-US" sz="1050" dirty="0"/>
          </a:p>
        </p:txBody>
      </p:sp>
      <p:sp>
        <p:nvSpPr>
          <p:cNvPr id="30" name="Shape 28"/>
          <p:cNvSpPr/>
          <p:nvPr/>
        </p:nvSpPr>
        <p:spPr>
          <a:xfrm>
            <a:off x="548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1" name="Shape 29"/>
          <p:cNvSpPr/>
          <p:nvPr/>
        </p:nvSpPr>
        <p:spPr>
          <a:xfrm>
            <a:off x="548640" y="5020056"/>
            <a:ext cx="68580" cy="1078992"/>
          </a:xfrm>
          <a:prstGeom prst="rect">
            <a:avLst/>
          </a:prstGeom>
          <a:solidFill>
            <a:srgbClr val="D2603A"/>
          </a:solidFill>
          <a:ln/>
        </p:spPr>
      </p:sp>
      <p:sp>
        <p:nvSpPr>
          <p:cNvPr id="32" name="Text 30"/>
          <p:cNvSpPr/>
          <p:nvPr/>
        </p:nvSpPr>
        <p:spPr>
          <a:xfrm>
            <a:off x="804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7.  Multiple comparison inflates the winner</a:t>
            </a:r>
            <a:endParaRPr lang="en-US" sz="1250" dirty="0"/>
          </a:p>
        </p:txBody>
      </p:sp>
      <p:sp>
        <p:nvSpPr>
          <p:cNvPr id="33" name="Text 31"/>
          <p:cNvSpPr/>
          <p:nvPr/>
        </p:nvSpPr>
        <p:spPr>
          <a:xfrm>
            <a:off x="804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17 models compared; the reported best is a best-of-17. Bonferroni over 17 tests would demand p &lt; 0.003.</a:t>
            </a:r>
            <a:endParaRPr lang="en-US" sz="1050" dirty="0"/>
          </a:p>
        </p:txBody>
      </p:sp>
      <p:sp>
        <p:nvSpPr>
          <p:cNvPr id="34" name="Shape 32"/>
          <p:cNvSpPr/>
          <p:nvPr/>
        </p:nvSpPr>
        <p:spPr>
          <a:xfrm>
            <a:off x="6263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5" name="Shape 33"/>
          <p:cNvSpPr/>
          <p:nvPr/>
        </p:nvSpPr>
        <p:spPr>
          <a:xfrm>
            <a:off x="6263640" y="5020056"/>
            <a:ext cx="68580" cy="1078992"/>
          </a:xfrm>
          <a:prstGeom prst="rect">
            <a:avLst/>
          </a:prstGeom>
          <a:solidFill>
            <a:srgbClr val="D2603A"/>
          </a:solidFill>
          <a:ln/>
        </p:spPr>
      </p:sp>
      <p:sp>
        <p:nvSpPr>
          <p:cNvPr id="36" name="Text 34"/>
          <p:cNvSpPr/>
          <p:nvPr/>
        </p:nvSpPr>
        <p:spPr>
          <a:xfrm>
            <a:off x="6519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8.  Sampling design binds space to time</a:t>
            </a:r>
            <a:endParaRPr lang="en-US" sz="1250" dirty="0"/>
          </a:p>
        </p:txBody>
      </p:sp>
      <p:sp>
        <p:nvSpPr>
          <p:cNvPr id="37" name="Text 35"/>
          <p:cNvSpPr/>
          <p:nvPr/>
        </p:nvSpPr>
        <p:spPr>
          <a:xfrm>
            <a:off x="6519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Site and month are nearly interchangeable, so cross-season deployment cannot be tested. Cross-site transfer itself is fine (0.84–0.92).</a:t>
            </a:r>
            <a:endParaRPr lang="en-US" sz="1050" dirty="0"/>
          </a:p>
        </p:txBody>
      </p:sp>
      <p:sp>
        <p:nvSpPr>
          <p:cNvPr id="38" name="Text 36"/>
          <p:cNvSpPr/>
          <p:nvPr/>
        </p:nvSpPr>
        <p:spPr>
          <a:xfrm>
            <a:off x="548640" y="6309360"/>
            <a:ext cx="11064240" cy="274320"/>
          </a:xfrm>
          <a:prstGeom prst="rect">
            <a:avLst/>
          </a:prstGeom>
          <a:noFill/>
          <a:ln/>
        </p:spPr>
        <p:txBody>
          <a:bodyPr wrap="square" lIns="0" tIns="0" rIns="0" bIns="0" rtlCol="0" anchor="t"/>
          <a:lstStyle/>
          <a:p>
            <a:pPr indent="0" marL="0">
              <a:buNone/>
            </a:pPr>
            <a:r>
              <a:rPr lang="en-US" sz="1100" i="1" dirty="0">
                <a:solidFill>
                  <a:srgbClr val="5F7580"/>
                </a:solidFill>
                <a:latin typeface="Calibri" pitchFamily="34" charset="0"/>
                <a:ea typeface="Calibri" pitchFamily="34" charset="-122"/>
                <a:cs typeface="Calibri" pitchFamily="34" charset="-120"/>
              </a:rPr>
              <a:t>Stated in the README as written here — not softened for presentation.</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Conclusions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30</a:t>
            </a:r>
            <a:endParaRPr lang="en-US" sz="1000" dirty="0"/>
          </a:p>
        </p:txBody>
      </p:sp>
      <p:sp>
        <p:nvSpPr>
          <p:cNvPr id="6" name="Shape 4"/>
          <p:cNvSpPr/>
          <p:nvPr/>
        </p:nvSpPr>
        <p:spPr>
          <a:xfrm>
            <a:off x="548640" y="1289304"/>
            <a:ext cx="457200" cy="457200"/>
          </a:xfrm>
          <a:prstGeom prst="ellipse">
            <a:avLst/>
          </a:prstGeom>
          <a:solidFill>
            <a:srgbClr val="18707F"/>
          </a:solidFill>
          <a:ln/>
        </p:spPr>
      </p:sp>
      <p:sp>
        <p:nvSpPr>
          <p:cNvPr id="7" name="Text 5"/>
          <p:cNvSpPr/>
          <p:nvPr/>
        </p:nvSpPr>
        <p:spPr>
          <a:xfrm>
            <a:off x="548640" y="136245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8" name="Text 6"/>
          <p:cNvSpPr/>
          <p:nvPr/>
        </p:nvSpPr>
        <p:spPr>
          <a:xfrm>
            <a:off x="1188720" y="125272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Duck gut microbiota carry a real, reproducible signal for influenza infection status (permutation p = 0.0099).</a:t>
            </a:r>
            <a:endParaRPr lang="en-US" sz="1250" dirty="0"/>
          </a:p>
        </p:txBody>
      </p:sp>
      <p:sp>
        <p:nvSpPr>
          <p:cNvPr id="9" name="Shape 7"/>
          <p:cNvSpPr/>
          <p:nvPr/>
        </p:nvSpPr>
        <p:spPr>
          <a:xfrm>
            <a:off x="548640" y="2011680"/>
            <a:ext cx="457200" cy="457200"/>
          </a:xfrm>
          <a:prstGeom prst="ellipse">
            <a:avLst/>
          </a:prstGeom>
          <a:solidFill>
            <a:srgbClr val="18707F"/>
          </a:solidFill>
          <a:ln/>
        </p:spPr>
      </p:sp>
      <p:sp>
        <p:nvSpPr>
          <p:cNvPr id="10" name="Text 8"/>
          <p:cNvSpPr/>
          <p:nvPr/>
        </p:nvSpPr>
        <p:spPr>
          <a:xfrm>
            <a:off x="548640" y="208483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1" name="Text 9"/>
          <p:cNvSpPr/>
          <p:nvPr/>
        </p:nvSpPr>
        <p:spPr>
          <a:xfrm>
            <a:off x="1188720" y="197510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SVM-RBF is the primary model — AUC 0.835, MCC 0.535 — significantly beating Random Forest (p = 0.017), XGBoost (p = 0.005) and L1-LR (p &lt; 0.001) among 17 models compared.</a:t>
            </a:r>
            <a:endParaRPr lang="en-US" sz="1250" dirty="0"/>
          </a:p>
        </p:txBody>
      </p:sp>
      <p:sp>
        <p:nvSpPr>
          <p:cNvPr id="12" name="Shape 10"/>
          <p:cNvSpPr/>
          <p:nvPr/>
        </p:nvSpPr>
        <p:spPr>
          <a:xfrm>
            <a:off x="548640" y="2734056"/>
            <a:ext cx="457200" cy="457200"/>
          </a:xfrm>
          <a:prstGeom prst="ellipse">
            <a:avLst/>
          </a:prstGeom>
          <a:solidFill>
            <a:srgbClr val="18707F"/>
          </a:solidFill>
          <a:ln/>
        </p:spPr>
      </p:sp>
      <p:sp>
        <p:nvSpPr>
          <p:cNvPr id="13" name="Text 11"/>
          <p:cNvSpPr/>
          <p:nvPr/>
        </p:nvSpPr>
        <p:spPr>
          <a:xfrm>
            <a:off x="548640" y="2807208"/>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4" name="Text 12"/>
          <p:cNvSpPr/>
          <p:nvPr/>
        </p:nvSpPr>
        <p:spPr>
          <a:xfrm>
            <a:off x="1188720" y="2697480"/>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The signal is partly nonlinear: the RBF kernel gains 0.073 AUC over a linear one, and several taxa act only in combination.</a:t>
            </a:r>
            <a:endParaRPr lang="en-US" sz="1250" dirty="0"/>
          </a:p>
        </p:txBody>
      </p:sp>
      <p:sp>
        <p:nvSpPr>
          <p:cNvPr id="15" name="Shape 13"/>
          <p:cNvSpPr/>
          <p:nvPr/>
        </p:nvSpPr>
        <p:spPr>
          <a:xfrm>
            <a:off x="548640" y="3456432"/>
            <a:ext cx="457200" cy="457200"/>
          </a:xfrm>
          <a:prstGeom prst="ellipse">
            <a:avLst/>
          </a:prstGeom>
          <a:solidFill>
            <a:srgbClr val="18707F"/>
          </a:solidFill>
          <a:ln/>
        </p:spPr>
      </p:sp>
      <p:sp>
        <p:nvSpPr>
          <p:cNvPr id="16" name="Text 14"/>
          <p:cNvSpPr/>
          <p:nvPr/>
        </p:nvSpPr>
        <p:spPr>
          <a:xfrm>
            <a:off x="548640" y="3529584"/>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7" name="Text 15"/>
          <p:cNvSpPr/>
          <p:nvPr/>
        </p:nvSpPr>
        <p:spPr>
          <a:xfrm>
            <a:off x="1188720" y="3419856"/>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Nine taxa survive three independent selection methods; Candidatus Arthromitus (SFB) has independent immunological support.</a:t>
            </a:r>
            <a:endParaRPr lang="en-US" sz="1250" dirty="0"/>
          </a:p>
        </p:txBody>
      </p:sp>
      <p:sp>
        <p:nvSpPr>
          <p:cNvPr id="18" name="Shape 16"/>
          <p:cNvSpPr/>
          <p:nvPr/>
        </p:nvSpPr>
        <p:spPr>
          <a:xfrm>
            <a:off x="548640" y="4178808"/>
            <a:ext cx="457200" cy="457200"/>
          </a:xfrm>
          <a:prstGeom prst="ellipse">
            <a:avLst/>
          </a:prstGeom>
          <a:solidFill>
            <a:srgbClr val="18707F"/>
          </a:solidFill>
          <a:ln/>
        </p:spPr>
      </p:sp>
      <p:sp>
        <p:nvSpPr>
          <p:cNvPr id="19" name="Text 17"/>
          <p:cNvSpPr/>
          <p:nvPr/>
        </p:nvSpPr>
        <p:spPr>
          <a:xfrm>
            <a:off x="548640" y="4251960"/>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20" name="Text 18"/>
          <p:cNvSpPr/>
          <p:nvPr/>
        </p:nvSpPr>
        <p:spPr>
          <a:xfrm>
            <a:off x="1188720" y="4142232"/>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Season is a confounder, so the primary estimate keeps only microbiome features and fixes the month: AUC 0.734 (October) to 0.965 (July), accuracy 0.676 to 0.949. The effect is real but strongly season-dependent.</a:t>
            </a:r>
            <a:endParaRPr lang="en-US" sz="1250" dirty="0"/>
          </a:p>
        </p:txBody>
      </p:sp>
      <p:sp>
        <p:nvSpPr>
          <p:cNvPr id="21" name="Shape 19"/>
          <p:cNvSpPr/>
          <p:nvPr/>
        </p:nvSpPr>
        <p:spPr>
          <a:xfrm>
            <a:off x="548640" y="4901184"/>
            <a:ext cx="457200" cy="457200"/>
          </a:xfrm>
          <a:prstGeom prst="ellipse">
            <a:avLst/>
          </a:prstGeom>
          <a:solidFill>
            <a:srgbClr val="D2603A"/>
          </a:solidFill>
          <a:ln/>
        </p:spPr>
      </p:sp>
      <p:sp>
        <p:nvSpPr>
          <p:cNvPr id="22" name="Text 20"/>
          <p:cNvSpPr/>
          <p:nvPr/>
        </p:nvSpPr>
        <p:spPr>
          <a:xfrm>
            <a:off x="548640" y="497433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23" name="Text 21"/>
          <p:cNvSpPr/>
          <p:nvPr/>
        </p:nvSpPr>
        <p:spPr>
          <a:xfrm>
            <a:off x="1188720" y="486460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ExtraTrees scores higher (AUC 0.858, p = 0.041 uncorrected) but is worse on the weakest stratum (0.715 vs 0.774); its lead comes only from strata that were already easy.</a:t>
            </a:r>
            <a:endParaRPr lang="en-US" sz="1250" dirty="0"/>
          </a:p>
        </p:txBody>
      </p:sp>
      <p:sp>
        <p:nvSpPr>
          <p:cNvPr id="24" name="Shape 22"/>
          <p:cNvSpPr/>
          <p:nvPr/>
        </p:nvSpPr>
        <p:spPr>
          <a:xfrm>
            <a:off x="548640" y="5623560"/>
            <a:ext cx="457200" cy="457200"/>
          </a:xfrm>
          <a:prstGeom prst="ellipse">
            <a:avLst/>
          </a:prstGeom>
          <a:solidFill>
            <a:srgbClr val="D2603A"/>
          </a:solidFill>
          <a:ln/>
        </p:spPr>
      </p:sp>
      <p:sp>
        <p:nvSpPr>
          <p:cNvPr id="25" name="Text 23"/>
          <p:cNvSpPr/>
          <p:nvPr/>
        </p:nvSpPr>
        <p:spPr>
          <a:xfrm>
            <a:off x="548640" y="569671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7</a:t>
            </a:r>
            <a:endParaRPr lang="en-US" sz="1400" dirty="0"/>
          </a:p>
        </p:txBody>
      </p:sp>
      <p:sp>
        <p:nvSpPr>
          <p:cNvPr id="26" name="Text 24"/>
          <p:cNvSpPr/>
          <p:nvPr/>
        </p:nvSpPr>
        <p:spPr>
          <a:xfrm>
            <a:off x="1188720" y="558698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Conclusions apply to the UC Davis wild-duck cohort only; they do not transfer across hosts or studies.</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REPRODUCIBILITY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Everything Is Reproducible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31</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291840"/>
                <a:gridCol w="7772400"/>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Script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build_features.py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Feature matrix + QC report (depth, sparsity, leakage audit)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export_ml_dataset.py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Ready-to-model datasets with metadata and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train_eval.py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Nested CV, permutation test, confounder checks, stratification, stability selection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compare_models.py + explore_models.py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17-model comparison across nine metrics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svm_analysis.py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Grid expansion + permutation importance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97680"/>
            <a:ext cx="11064240" cy="960120"/>
          </a:xfrm>
          <a:prstGeom prst="rect">
            <a:avLst/>
          </a:prstGeom>
          <a:solidFill>
            <a:srgbClr val="0B3C49"/>
          </a:solidFill>
          <a:ln/>
        </p:spPr>
      </p:sp>
      <p:sp>
        <p:nvSpPr>
          <p:cNvPr id="8" name="Text 5"/>
          <p:cNvSpPr/>
          <p:nvPr/>
        </p:nvSpPr>
        <p:spPr>
          <a:xfrm>
            <a:off x="868680" y="4462272"/>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git clone https://github.com/pengsihua2023/Christina-machine-learning-project</a:t>
            </a:r>
            <a:endParaRPr lang="en-US" sz="1300" dirty="0"/>
          </a:p>
        </p:txBody>
      </p:sp>
      <p:sp>
        <p:nvSpPr>
          <p:cNvPr id="9" name="Text 6"/>
          <p:cNvSpPr/>
          <p:nvPr/>
        </p:nvSpPr>
        <p:spPr>
          <a:xfrm>
            <a:off x="868680" y="4809744"/>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python3 build_features.py &amp;&amp; python3 train_eval.py &amp;&amp; python3 compare_models.py</a:t>
            </a:r>
            <a:endParaRPr lang="en-US" sz="1300" dirty="0"/>
          </a:p>
        </p:txBody>
      </p:sp>
      <p:sp>
        <p:nvSpPr>
          <p:cNvPr id="10" name="Shape 7"/>
          <p:cNvSpPr/>
          <p:nvPr/>
        </p:nvSpPr>
        <p:spPr>
          <a:xfrm>
            <a:off x="548640" y="5440680"/>
            <a:ext cx="11064240" cy="7315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8"/>
          <p:cNvSpPr/>
          <p:nvPr/>
        </p:nvSpPr>
        <p:spPr>
          <a:xfrm>
            <a:off x="548640" y="5440680"/>
            <a:ext cx="68580" cy="731520"/>
          </a:xfrm>
          <a:prstGeom prst="rect">
            <a:avLst/>
          </a:prstGeom>
          <a:solidFill>
            <a:srgbClr val="8FB996"/>
          </a:solidFill>
          <a:ln/>
        </p:spPr>
      </p:sp>
      <p:sp>
        <p:nvSpPr>
          <p:cNvPr id="12" name="Text 9"/>
          <p:cNvSpPr/>
          <p:nvPr/>
        </p:nvSpPr>
        <p:spPr>
          <a:xfrm>
            <a:off x="804672" y="5605272"/>
            <a:ext cx="10607040" cy="402336"/>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40 files under version control: all code, all input data, all result tables and figures, plus documentation in English (README.en.md) and Chinese (README.md).</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Text 1"/>
          <p:cNvSpPr/>
          <p:nvPr/>
        </p:nvSpPr>
        <p:spPr>
          <a:xfrm>
            <a:off x="914400" y="1234440"/>
            <a:ext cx="10332720" cy="73152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Next Steps</a:t>
            </a:r>
            <a:endParaRPr lang="en-US" sz="4000" dirty="0"/>
          </a:p>
        </p:txBody>
      </p:sp>
      <p:sp>
        <p:nvSpPr>
          <p:cNvPr id="4" name="Shape 2"/>
          <p:cNvSpPr/>
          <p:nvPr/>
        </p:nvSpPr>
        <p:spPr>
          <a:xfrm>
            <a:off x="914400" y="2331720"/>
            <a:ext cx="10332720" cy="960120"/>
          </a:xfrm>
          <a:prstGeom prst="rect">
            <a:avLst/>
          </a:prstGeom>
          <a:solidFill>
            <a:srgbClr val="12505F"/>
          </a:solidFill>
          <a:ln/>
        </p:spPr>
      </p:sp>
      <p:sp>
        <p:nvSpPr>
          <p:cNvPr id="5" name="Shape 3"/>
          <p:cNvSpPr/>
          <p:nvPr/>
        </p:nvSpPr>
        <p:spPr>
          <a:xfrm>
            <a:off x="914400" y="2331720"/>
            <a:ext cx="68580" cy="960120"/>
          </a:xfrm>
          <a:prstGeom prst="rect">
            <a:avLst/>
          </a:prstGeom>
          <a:solidFill>
            <a:srgbClr val="8FB996"/>
          </a:solidFill>
          <a:ln/>
        </p:spPr>
      </p:sp>
      <p:sp>
        <p:nvSpPr>
          <p:cNvPr id="6" name="Text 4"/>
          <p:cNvSpPr/>
          <p:nvPr/>
        </p:nvSpPr>
        <p:spPr>
          <a:xfrm>
            <a:off x="1234440" y="2459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Confirm the upstream filtering rule</a:t>
            </a:r>
            <a:endParaRPr lang="en-US" sz="1600" dirty="0"/>
          </a:p>
        </p:txBody>
      </p:sp>
      <p:sp>
        <p:nvSpPr>
          <p:cNvPr id="7" name="Text 5"/>
          <p:cNvSpPr/>
          <p:nvPr/>
        </p:nvSpPr>
        <p:spPr>
          <a:xfrm>
            <a:off x="1234440" y="2807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The single change that could invalidate the performance figures. Needs the data provider.</a:t>
            </a:r>
            <a:endParaRPr lang="en-US" sz="1200" dirty="0"/>
          </a:p>
        </p:txBody>
      </p:sp>
      <p:sp>
        <p:nvSpPr>
          <p:cNvPr id="8" name="Shape 6"/>
          <p:cNvSpPr/>
          <p:nvPr/>
        </p:nvSpPr>
        <p:spPr>
          <a:xfrm>
            <a:off x="914400" y="3474720"/>
            <a:ext cx="10332720" cy="960120"/>
          </a:xfrm>
          <a:prstGeom prst="rect">
            <a:avLst/>
          </a:prstGeom>
          <a:solidFill>
            <a:srgbClr val="12505F"/>
          </a:solidFill>
          <a:ln/>
        </p:spPr>
      </p:sp>
      <p:sp>
        <p:nvSpPr>
          <p:cNvPr id="9" name="Shape 7"/>
          <p:cNvSpPr/>
          <p:nvPr/>
        </p:nvSpPr>
        <p:spPr>
          <a:xfrm>
            <a:off x="914400" y="3474720"/>
            <a:ext cx="68580" cy="960120"/>
          </a:xfrm>
          <a:prstGeom prst="rect">
            <a:avLst/>
          </a:prstGeom>
          <a:solidFill>
            <a:srgbClr val="8FB996"/>
          </a:solidFill>
          <a:ln/>
        </p:spPr>
      </p:sp>
      <p:sp>
        <p:nvSpPr>
          <p:cNvPr id="10" name="Text 8"/>
          <p:cNvSpPr/>
          <p:nvPr/>
        </p:nvSpPr>
        <p:spPr>
          <a:xfrm>
            <a:off x="1234440" y="3602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Nest the decision threshold</a:t>
            </a:r>
            <a:endParaRPr lang="en-US" sz="1600" dirty="0"/>
          </a:p>
        </p:txBody>
      </p:sp>
      <p:sp>
        <p:nvSpPr>
          <p:cNvPr id="11" name="Text 9"/>
          <p:cNvSpPr/>
          <p:nvPr/>
        </p:nvSpPr>
        <p:spPr>
          <a:xfrm>
            <a:off x="1234440" y="3950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Fold threshold selection into the inner CV loop to get an unbiased accuracy.</a:t>
            </a:r>
            <a:endParaRPr lang="en-US" sz="1200" dirty="0"/>
          </a:p>
        </p:txBody>
      </p:sp>
      <p:sp>
        <p:nvSpPr>
          <p:cNvPr id="12" name="Shape 10"/>
          <p:cNvSpPr/>
          <p:nvPr/>
        </p:nvSpPr>
        <p:spPr>
          <a:xfrm>
            <a:off x="914400" y="4617720"/>
            <a:ext cx="10332720" cy="960120"/>
          </a:xfrm>
          <a:prstGeom prst="rect">
            <a:avLst/>
          </a:prstGeom>
          <a:solidFill>
            <a:srgbClr val="12505F"/>
          </a:solidFill>
          <a:ln/>
        </p:spPr>
      </p:sp>
      <p:sp>
        <p:nvSpPr>
          <p:cNvPr id="13" name="Shape 11"/>
          <p:cNvSpPr/>
          <p:nvPr/>
        </p:nvSpPr>
        <p:spPr>
          <a:xfrm>
            <a:off x="914400" y="4617720"/>
            <a:ext cx="68580" cy="960120"/>
          </a:xfrm>
          <a:prstGeom prst="rect">
            <a:avLst/>
          </a:prstGeom>
          <a:solidFill>
            <a:srgbClr val="8FB996"/>
          </a:solidFill>
          <a:ln/>
        </p:spPr>
      </p:sp>
      <p:sp>
        <p:nvSpPr>
          <p:cNvPr id="14" name="Text 12"/>
          <p:cNvSpPr/>
          <p:nvPr/>
        </p:nvSpPr>
        <p:spPr>
          <a:xfrm>
            <a:off x="1234440" y="4745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Expand the cohort</a:t>
            </a:r>
            <a:endParaRPr lang="en-US" sz="1600" dirty="0"/>
          </a:p>
        </p:txBody>
      </p:sp>
      <p:sp>
        <p:nvSpPr>
          <p:cNvPr id="15" name="Text 13"/>
          <p:cNvSpPr/>
          <p:nvPr/>
        </p:nvSpPr>
        <p:spPr>
          <a:xfrm>
            <a:off x="1234440" y="5093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Cross-study generalization needs more birds of the same host, not more studies of different ones.</a:t>
            </a:r>
            <a:endParaRPr lang="en-US" sz="1200" dirty="0"/>
          </a:p>
        </p:txBody>
      </p:sp>
      <p:sp>
        <p:nvSpPr>
          <p:cNvPr id="16" name="Text 14"/>
          <p:cNvSpPr/>
          <p:nvPr/>
        </p:nvSpPr>
        <p:spPr>
          <a:xfrm>
            <a:off x="914400" y="6172200"/>
            <a:ext cx="10332720" cy="365760"/>
          </a:xfrm>
          <a:prstGeom prst="rect">
            <a:avLst/>
          </a:prstGeom>
          <a:noFill/>
          <a:ln/>
        </p:spPr>
        <p:txBody>
          <a:bodyPr wrap="square" lIns="0" tIns="0" rIns="0" bIns="0" rtlCol="0" anchor="ctr"/>
          <a:lstStyle/>
          <a:p>
            <a:pPr indent="0" marL="0">
              <a:buNone/>
            </a:pPr>
            <a:r>
              <a:rPr lang="en-US" sz="1200" dirty="0">
                <a:solidFill>
                  <a:srgbClr val="4E9FAD"/>
                </a:solidFill>
                <a:latin typeface="Calibri" pitchFamily="34" charset="0"/>
                <a:ea typeface="Calibri" pitchFamily="34" charset="-122"/>
                <a:cs typeface="Calibri" pitchFamily="34" charset="-120"/>
              </a:rPr>
              <a:t>Sihua Peng  ·  University of Georgia, College of Public Health  ·  pengsihua99@gmail.com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Avian Influenza Infection from Gut Microbiota</dc:title>
  <dc:subject>PptxGenJS Presentation</dc:subject>
  <dc:creator>Sihua Peng</dc:creator>
  <cp:lastModifiedBy>Sihua Peng</cp:lastModifiedBy>
  <cp:revision>1</cp:revision>
  <dcterms:created xsi:type="dcterms:W3CDTF">2026-08-11T13:30:20Z</dcterms:created>
  <dcterms:modified xsi:type="dcterms:W3CDTF">2026-08-11T13:30:20Z</dcterms:modified>
</cp:coreProperties>
</file>