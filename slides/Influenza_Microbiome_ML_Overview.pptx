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indent="0" marL="0">
              <a:buNone/>
            </a:pPr>
            <a:r>
              <a:rPr lang="en-US" sz="1500" b="1" spc="300" kern="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indent="0" marL="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indent="0" marL="0">
              <a:buNone/>
            </a:pPr>
            <a:r>
              <a:rPr lang="en-US" sz="1300" dirty="0">
                <a:solidFill>
                  <a:srgbClr val="8FB996"/>
                </a:solidFill>
                <a:latin typeface="Calibri" pitchFamily="34" charset="0"/>
                <a:ea typeface="Calibri" pitchFamily="34" charset="-122"/>
                <a:cs typeface="Calibri" pitchFamily="34" charset="-120"/>
              </a:rPr>
              <a:t>260 wild ducks  ·  70 microbial features  ·  17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algn="r" indent="0" marL="0">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417320"/>
            <a:ext cx="260604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0.839</a:t>
            </a:r>
            <a:endParaRPr lang="en-US" sz="4000" dirty="0"/>
          </a:p>
        </p:txBody>
      </p:sp>
      <p:sp>
        <p:nvSpPr>
          <p:cNvPr id="7" name="Text 5"/>
          <p:cNvSpPr/>
          <p:nvPr/>
        </p:nvSpPr>
        <p:spPr>
          <a:xfrm>
            <a:off x="548640" y="209397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ROC-AUC</a:t>
            </a:r>
            <a:endParaRPr lang="en-US" sz="1150" dirty="0"/>
          </a:p>
        </p:txBody>
      </p:sp>
      <p:sp>
        <p:nvSpPr>
          <p:cNvPr id="8" name="Text 6"/>
          <p:cNvSpPr/>
          <p:nvPr/>
        </p:nvSpPr>
        <p:spPr>
          <a:xfrm>
            <a:off x="548640" y="238658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SVM-RBF, nested CV</a:t>
            </a:r>
            <a:endParaRPr lang="en-US" sz="1000" dirty="0"/>
          </a:p>
        </p:txBody>
      </p:sp>
      <p:sp>
        <p:nvSpPr>
          <p:cNvPr id="9" name="Text 7"/>
          <p:cNvSpPr/>
          <p:nvPr/>
        </p:nvSpPr>
        <p:spPr>
          <a:xfrm>
            <a:off x="3291840" y="1417320"/>
            <a:ext cx="260604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0.531</a:t>
            </a:r>
            <a:endParaRPr lang="en-US" sz="4000" dirty="0"/>
          </a:p>
        </p:txBody>
      </p:sp>
      <p:sp>
        <p:nvSpPr>
          <p:cNvPr id="10" name="Text 8"/>
          <p:cNvSpPr/>
          <p:nvPr/>
        </p:nvSpPr>
        <p:spPr>
          <a:xfrm>
            <a:off x="3291840" y="209397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MCC</a:t>
            </a:r>
            <a:endParaRPr lang="en-US" sz="1150" dirty="0"/>
          </a:p>
        </p:txBody>
      </p:sp>
      <p:sp>
        <p:nvSpPr>
          <p:cNvPr id="11" name="Text 9"/>
          <p:cNvSpPr/>
          <p:nvPr/>
        </p:nvSpPr>
        <p:spPr>
          <a:xfrm>
            <a:off x="3291840" y="238658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baseline = 0</a:t>
            </a:r>
            <a:endParaRPr lang="en-US" sz="1000" dirty="0"/>
          </a:p>
        </p:txBody>
      </p:sp>
      <p:sp>
        <p:nvSpPr>
          <p:cNvPr id="12" name="Text 10"/>
          <p:cNvSpPr/>
          <p:nvPr/>
        </p:nvSpPr>
        <p:spPr>
          <a:xfrm>
            <a:off x="6035040" y="1417320"/>
            <a:ext cx="2606040" cy="658368"/>
          </a:xfrm>
          <a:prstGeom prst="rect">
            <a:avLst/>
          </a:prstGeom>
          <a:noFill/>
          <a:ln/>
        </p:spPr>
        <p:txBody>
          <a:bodyPr wrap="square" lIns="0" tIns="0" rIns="0" bIns="0" rtlCol="0" anchor="ctr"/>
          <a:lstStyle/>
          <a:p>
            <a:pPr algn="ctr" indent="0" marL="0">
              <a:buNone/>
            </a:pPr>
            <a:r>
              <a:rPr lang="en-US" sz="3200" b="1" dirty="0">
                <a:solidFill>
                  <a:srgbClr val="12505F"/>
                </a:solidFill>
                <a:latin typeface="Georgia" pitchFamily="34" charset="0"/>
                <a:ea typeface="Georgia" pitchFamily="34" charset="-122"/>
                <a:cs typeface="Georgia" pitchFamily="34" charset="-120"/>
              </a:rPr>
              <a:t>p=0.0099</a:t>
            </a:r>
            <a:endParaRPr lang="en-US" sz="3200" dirty="0"/>
          </a:p>
        </p:txBody>
      </p:sp>
      <p:sp>
        <p:nvSpPr>
          <p:cNvPr id="13" name="Text 11"/>
          <p:cNvSpPr/>
          <p:nvPr/>
        </p:nvSpPr>
        <p:spPr>
          <a:xfrm>
            <a:off x="6035040" y="209397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Permutation test</a:t>
            </a:r>
            <a:endParaRPr lang="en-US" sz="1150" dirty="0"/>
          </a:p>
        </p:txBody>
      </p:sp>
      <p:sp>
        <p:nvSpPr>
          <p:cNvPr id="14" name="Text 12"/>
          <p:cNvSpPr/>
          <p:nvPr/>
        </p:nvSpPr>
        <p:spPr>
          <a:xfrm>
            <a:off x="6035040" y="238658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signal is real</a:t>
            </a:r>
            <a:endParaRPr lang="en-US" sz="1000" dirty="0"/>
          </a:p>
        </p:txBody>
      </p:sp>
      <p:sp>
        <p:nvSpPr>
          <p:cNvPr id="15" name="Text 13"/>
          <p:cNvSpPr/>
          <p:nvPr/>
        </p:nvSpPr>
        <p:spPr>
          <a:xfrm>
            <a:off x="8778240" y="1417320"/>
            <a:ext cx="283464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93976"/>
            <a:ext cx="28346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86584"/>
            <a:ext cx="28346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3 methods agree</a:t>
            </a:r>
            <a:endParaRPr lang="en-US" sz="1000" dirty="0"/>
          </a:p>
        </p:txBody>
      </p:sp>
      <p:sp>
        <p:nvSpPr>
          <p:cNvPr id="18" name="Shape 16"/>
          <p:cNvSpPr/>
          <p:nvPr/>
        </p:nvSpPr>
        <p:spPr>
          <a:xfrm>
            <a:off x="548640" y="2880360"/>
            <a:ext cx="5486400" cy="16002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880360"/>
            <a:ext cx="68580" cy="1600200"/>
          </a:xfrm>
          <a:prstGeom prst="rect">
            <a:avLst/>
          </a:prstGeom>
          <a:solidFill>
            <a:srgbClr val="18707F"/>
          </a:solidFill>
          <a:ln/>
        </p:spPr>
      </p:sp>
      <p:sp>
        <p:nvSpPr>
          <p:cNvPr id="20" name="Text 18"/>
          <p:cNvSpPr/>
          <p:nvPr/>
        </p:nvSpPr>
        <p:spPr>
          <a:xfrm>
            <a:off x="804672" y="3026664"/>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1" name="Text 19"/>
          <p:cNvSpPr/>
          <p:nvPr/>
        </p:nvSpPr>
        <p:spPr>
          <a:xfrm>
            <a:off x="804672" y="3410712"/>
            <a:ext cx="5029200" cy="9418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2" name="Shape 20"/>
          <p:cNvSpPr/>
          <p:nvPr/>
        </p:nvSpPr>
        <p:spPr>
          <a:xfrm>
            <a:off x="6309360" y="2880360"/>
            <a:ext cx="5303520" cy="16002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309360" y="2880360"/>
            <a:ext cx="68580" cy="1600200"/>
          </a:xfrm>
          <a:prstGeom prst="rect">
            <a:avLst/>
          </a:prstGeom>
          <a:solidFill>
            <a:srgbClr val="8FB996"/>
          </a:solidFill>
          <a:ln/>
        </p:spPr>
      </p:sp>
      <p:sp>
        <p:nvSpPr>
          <p:cNvPr id="24" name="Text 22"/>
          <p:cNvSpPr/>
          <p:nvPr/>
        </p:nvSpPr>
        <p:spPr>
          <a:xfrm>
            <a:off x="6565392" y="3026664"/>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5" name="Text 23"/>
          <p:cNvSpPr/>
          <p:nvPr/>
        </p:nvSpPr>
        <p:spPr>
          <a:xfrm>
            <a:off x="6565392" y="3410712"/>
            <a:ext cx="4846320" cy="9418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seventeen models compared on identical splits; three independent feature-ranking methods cross-checked against each other.</a:t>
            </a:r>
            <a:endParaRPr lang="en-US" sz="1200" dirty="0"/>
          </a:p>
        </p:txBody>
      </p:sp>
      <p:sp>
        <p:nvSpPr>
          <p:cNvPr id="26" name="Shape 24"/>
          <p:cNvSpPr/>
          <p:nvPr/>
        </p:nvSpPr>
        <p:spPr>
          <a:xfrm>
            <a:off x="548640" y="4709160"/>
            <a:ext cx="11064240" cy="1005840"/>
          </a:xfrm>
          <a:prstGeom prst="rect">
            <a:avLst/>
          </a:prstGeom>
          <a:solidFill>
            <a:srgbClr val="FBEDE7"/>
          </a:solidFill>
          <a:ln/>
        </p:spPr>
      </p:sp>
      <p:sp>
        <p:nvSpPr>
          <p:cNvPr id="27" name="Shape 25"/>
          <p:cNvSpPr/>
          <p:nvPr/>
        </p:nvSpPr>
        <p:spPr>
          <a:xfrm>
            <a:off x="548640" y="4709160"/>
            <a:ext cx="68580" cy="1005840"/>
          </a:xfrm>
          <a:prstGeom prst="rect">
            <a:avLst/>
          </a:prstGeom>
          <a:solidFill>
            <a:srgbClr val="D2603A"/>
          </a:solidFill>
          <a:ln/>
        </p:spPr>
      </p:sp>
      <p:sp>
        <p:nvSpPr>
          <p:cNvPr id="28" name="Text 26"/>
          <p:cNvSpPr/>
          <p:nvPr/>
        </p:nvSpPr>
        <p:spPr>
          <a:xfrm>
            <a:off x="804672" y="4800600"/>
            <a:ext cx="10607040" cy="8229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seventeen-model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and stratified re-analysis</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Seven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114800"/>
                <a:gridCol w="4480560"/>
                <a:gridCol w="2468880"/>
              </a:tblGrid>
              <a:tr h="47548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86000"/>
                <a:gridCol w="3200400"/>
                <a:gridCol w="2834640"/>
                <a:gridCol w="914400"/>
                <a:gridCol w="914400"/>
                <a:gridCol w="91440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11480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4206240"/>
                <a:gridCol w="685800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algn="l" indent="0" marL="0">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12064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10" name="Text 7"/>
          <p:cNvSpPr/>
          <p:nvPr/>
        </p:nvSpPr>
        <p:spPr>
          <a:xfrm>
            <a:off x="804672" y="526694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CLR</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A nested protocol, seventeen models, one honest comparison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Evaluation Protocol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417320"/>
            <a:ext cx="35661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1783080"/>
          </a:xfrm>
          <a:prstGeom prst="rect">
            <a:avLst/>
          </a:prstGeom>
          <a:solidFill>
            <a:srgbClr val="12505F"/>
          </a:solidFill>
          <a:ln/>
        </p:spPr>
      </p:sp>
      <p:sp>
        <p:nvSpPr>
          <p:cNvPr id="8" name="Text 6"/>
          <p:cNvSpPr/>
          <p:nvPr/>
        </p:nvSpPr>
        <p:spPr>
          <a:xfrm>
            <a:off x="804672" y="1563624"/>
            <a:ext cx="31089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Outer loop</a:t>
            </a:r>
            <a:endParaRPr lang="en-US" sz="1500" dirty="0"/>
          </a:p>
        </p:txBody>
      </p:sp>
      <p:sp>
        <p:nvSpPr>
          <p:cNvPr id="9" name="Text 7"/>
          <p:cNvSpPr/>
          <p:nvPr/>
        </p:nvSpPr>
        <p:spPr>
          <a:xfrm>
            <a:off x="804672" y="1947672"/>
            <a:ext cx="3108960" cy="11247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RepeatedStratifiedKFold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 folds × 5 repeats = 25 folds</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Purpose: performance estimation</a:t>
            </a:r>
            <a:endParaRPr lang="en-US" sz="1200" dirty="0"/>
          </a:p>
        </p:txBody>
      </p:sp>
      <p:sp>
        <p:nvSpPr>
          <p:cNvPr id="10" name="Shape 8"/>
          <p:cNvSpPr/>
          <p:nvPr/>
        </p:nvSpPr>
        <p:spPr>
          <a:xfrm>
            <a:off x="4297680" y="1417320"/>
            <a:ext cx="35661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4297680" y="1417320"/>
            <a:ext cx="68580" cy="1783080"/>
          </a:xfrm>
          <a:prstGeom prst="rect">
            <a:avLst/>
          </a:prstGeom>
          <a:solidFill>
            <a:srgbClr val="18707F"/>
          </a:solidFill>
          <a:ln/>
        </p:spPr>
      </p:sp>
      <p:sp>
        <p:nvSpPr>
          <p:cNvPr id="12" name="Text 10"/>
          <p:cNvSpPr/>
          <p:nvPr/>
        </p:nvSpPr>
        <p:spPr>
          <a:xfrm>
            <a:off x="4553712" y="1563624"/>
            <a:ext cx="31089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Inner loop</a:t>
            </a:r>
            <a:endParaRPr lang="en-US" sz="1500" dirty="0"/>
          </a:p>
        </p:txBody>
      </p:sp>
      <p:sp>
        <p:nvSpPr>
          <p:cNvPr id="13" name="Text 11"/>
          <p:cNvSpPr/>
          <p:nvPr/>
        </p:nvSpPr>
        <p:spPr>
          <a:xfrm>
            <a:off x="4553712" y="1947672"/>
            <a:ext cx="3108960" cy="11247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StratifiedKFold, 4 folds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GridSearchCV on ROC-AUC</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Purpose: hyperparameter search</a:t>
            </a:r>
            <a:endParaRPr lang="en-US" sz="1200" dirty="0"/>
          </a:p>
        </p:txBody>
      </p:sp>
      <p:sp>
        <p:nvSpPr>
          <p:cNvPr id="14" name="Shape 12"/>
          <p:cNvSpPr/>
          <p:nvPr/>
        </p:nvSpPr>
        <p:spPr>
          <a:xfrm>
            <a:off x="8046720" y="1417320"/>
            <a:ext cx="35661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8046720" y="1417320"/>
            <a:ext cx="68580" cy="1783080"/>
          </a:xfrm>
          <a:prstGeom prst="rect">
            <a:avLst/>
          </a:prstGeom>
          <a:solidFill>
            <a:srgbClr val="8FB996"/>
          </a:solidFill>
          <a:ln/>
        </p:spPr>
      </p:sp>
      <p:sp>
        <p:nvSpPr>
          <p:cNvPr id="16" name="Text 14"/>
          <p:cNvSpPr/>
          <p:nvPr/>
        </p:nvSpPr>
        <p:spPr>
          <a:xfrm>
            <a:off x="8302752" y="1563624"/>
            <a:ext cx="31089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Shared splits</a:t>
            </a:r>
            <a:endParaRPr lang="en-US" sz="1500" dirty="0"/>
          </a:p>
        </p:txBody>
      </p:sp>
      <p:sp>
        <p:nvSpPr>
          <p:cNvPr id="17" name="Text 15"/>
          <p:cNvSpPr/>
          <p:nvPr/>
        </p:nvSpPr>
        <p:spPr>
          <a:xfrm>
            <a:off x="8302752" y="1947672"/>
            <a:ext cx="3108960" cy="11247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Every model sees the identical</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fold partition</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Purpose: fair comparison</a:t>
            </a:r>
            <a:endParaRPr lang="en-US" sz="1200" dirty="0"/>
          </a:p>
        </p:txBody>
      </p:sp>
      <p:sp>
        <p:nvSpPr>
          <p:cNvPr id="18" name="Shape 16"/>
          <p:cNvSpPr/>
          <p:nvPr/>
        </p:nvSpPr>
        <p:spPr>
          <a:xfrm>
            <a:off x="548640" y="3429000"/>
            <a:ext cx="548640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3429000"/>
            <a:ext cx="68580" cy="1371600"/>
          </a:xfrm>
          <a:prstGeom prst="rect">
            <a:avLst/>
          </a:prstGeom>
          <a:solidFill>
            <a:srgbClr val="18707F"/>
          </a:solidFill>
          <a:ln/>
        </p:spPr>
      </p:sp>
      <p:sp>
        <p:nvSpPr>
          <p:cNvPr id="20" name="Text 18"/>
          <p:cNvSpPr/>
          <p:nvPr/>
        </p:nvSpPr>
        <p:spPr>
          <a:xfrm>
            <a:off x="804672" y="3575304"/>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nested</a:t>
            </a:r>
            <a:endParaRPr lang="en-US" sz="1500" dirty="0"/>
          </a:p>
        </p:txBody>
      </p:sp>
      <p:sp>
        <p:nvSpPr>
          <p:cNvPr id="21" name="Text 19"/>
          <p:cNvSpPr/>
          <p:nvPr/>
        </p:nvSpPr>
        <p:spPr>
          <a:xfrm>
            <a:off x="804672" y="3959352"/>
            <a:ext cx="502920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Tuning and evaluating on the same folds inflates results. Nesting isolates the two, so the reported AUC contains no tuning bias.</a:t>
            </a:r>
            <a:endParaRPr lang="en-US" sz="1200" dirty="0"/>
          </a:p>
        </p:txBody>
      </p:sp>
      <p:sp>
        <p:nvSpPr>
          <p:cNvPr id="22" name="Shape 20"/>
          <p:cNvSpPr/>
          <p:nvPr/>
        </p:nvSpPr>
        <p:spPr>
          <a:xfrm>
            <a:off x="6309360" y="3429000"/>
            <a:ext cx="530352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309360" y="3429000"/>
            <a:ext cx="68580" cy="1371600"/>
          </a:xfrm>
          <a:prstGeom prst="rect">
            <a:avLst/>
          </a:prstGeom>
          <a:solidFill>
            <a:srgbClr val="18707F"/>
          </a:solidFill>
          <a:ln/>
        </p:spPr>
      </p:sp>
      <p:sp>
        <p:nvSpPr>
          <p:cNvPr id="24" name="Text 22"/>
          <p:cNvSpPr/>
          <p:nvPr/>
        </p:nvSpPr>
        <p:spPr>
          <a:xfrm>
            <a:off x="6565392" y="3575304"/>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Metrics reported</a:t>
            </a:r>
            <a:endParaRPr lang="en-US" sz="1500" dirty="0"/>
          </a:p>
        </p:txBody>
      </p:sp>
      <p:sp>
        <p:nvSpPr>
          <p:cNvPr id="25" name="Text 23"/>
          <p:cNvSpPr/>
          <p:nvPr/>
        </p:nvSpPr>
        <p:spPr>
          <a:xfrm>
            <a:off x="6565392" y="3959352"/>
            <a:ext cx="484632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ROC-AUC · PR-AUC · Accuracy · Balanced Accuracy · Sensitivity · Specificity · Precision · F1 · MCC</a:t>
            </a:r>
            <a:endParaRPr lang="en-US" sz="1200" dirty="0"/>
          </a:p>
        </p:txBody>
      </p:sp>
      <p:sp>
        <p:nvSpPr>
          <p:cNvPr id="26" name="Shape 24"/>
          <p:cNvSpPr/>
          <p:nvPr/>
        </p:nvSpPr>
        <p:spPr>
          <a:xfrm>
            <a:off x="548640" y="5029200"/>
            <a:ext cx="11064240" cy="868680"/>
          </a:xfrm>
          <a:prstGeom prst="rect">
            <a:avLst/>
          </a:prstGeom>
          <a:solidFill>
            <a:srgbClr val="FBEDE7"/>
          </a:solidFill>
          <a:ln/>
        </p:spPr>
      </p:sp>
      <p:sp>
        <p:nvSpPr>
          <p:cNvPr id="27" name="Shape 25"/>
          <p:cNvSpPr/>
          <p:nvPr/>
        </p:nvSpPr>
        <p:spPr>
          <a:xfrm>
            <a:off x="548640" y="5029200"/>
            <a:ext cx="68580" cy="868680"/>
          </a:xfrm>
          <a:prstGeom prst="rect">
            <a:avLst/>
          </a:prstGeom>
          <a:solidFill>
            <a:srgbClr val="D2603A"/>
          </a:solidFill>
          <a:ln/>
        </p:spPr>
      </p:sp>
      <p:sp>
        <p:nvSpPr>
          <p:cNvPr id="28" name="Text 26"/>
          <p:cNvSpPr/>
          <p:nvPr/>
        </p:nvSpPr>
        <p:spPr>
          <a:xfrm>
            <a:off x="804672" y="512064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Seventeen Models, Four of Them Tied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1051560"/>
                <a:gridCol w="1143000"/>
                <a:gridCol w="1051560"/>
                <a:gridCol w="1051560"/>
                <a:gridCol w="960120"/>
                <a:gridCol w="960120"/>
                <a:gridCol w="914400"/>
                <a:gridCol w="91440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ExtraTrees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0.531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Ensemble (soft-vote)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0.694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SVM-poly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0.748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0.728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0.604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0.797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0.481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GP-RBF</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GP-Matérn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0.632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RandomForest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0.553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0.433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XGBoost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0.656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0.449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HistGB</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kNN-Aitchison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0.687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0.885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Baseline (always Pos)</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0.735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Text 4"/>
          <p:cNvSpPr/>
          <p:nvPr/>
        </p:nvSpPr>
        <p:spPr>
          <a:xfrm>
            <a:off x="548640" y="5047488"/>
            <a:ext cx="11064240" cy="274320"/>
          </a:xfrm>
          <a:prstGeom prst="rect">
            <a:avLst/>
          </a:prstGeom>
          <a:noFill/>
          <a:ln/>
        </p:spPr>
        <p:txBody>
          <a:bodyPr wrap="square" lIns="0" tIns="0" rIns="0" bIns="0" rtlCol="0" anchor="ctr"/>
          <a:lstStyle/>
          <a:p>
            <a:pPr indent="0" marL="0">
              <a:buNone/>
            </a:pPr>
            <a:r>
              <a:rPr lang="en-US" sz="950" i="1" dirty="0">
                <a:solidFill>
                  <a:srgbClr val="5F7580"/>
                </a:solidFill>
                <a:latin typeface="Calibri" pitchFamily="34" charset="0"/>
                <a:ea typeface="Calibri" pitchFamily="34" charset="-122"/>
                <a:cs typeface="Calibri" pitchFamily="34" charset="-120"/>
              </a:rPr>
              <a:t>Top 10 of 17 by ROC-AUC · shading marks the tied leading group · full table in results/model_comparison_all16.csv</a:t>
            </a:r>
            <a:endParaRPr lang="en-US" sz="950" dirty="0"/>
          </a:p>
        </p:txBody>
      </p:sp>
      <p:sp>
        <p:nvSpPr>
          <p:cNvPr id="8" name="Shape 5"/>
          <p:cNvSpPr/>
          <p:nvPr/>
        </p:nvSpPr>
        <p:spPr>
          <a:xfrm>
            <a:off x="548640" y="5349240"/>
            <a:ext cx="11064240" cy="868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349240"/>
            <a:ext cx="68580" cy="868680"/>
          </a:xfrm>
          <a:prstGeom prst="rect">
            <a:avLst/>
          </a:prstGeom>
          <a:solidFill>
            <a:srgbClr val="18707F"/>
          </a:solidFill>
          <a:ln/>
        </p:spPr>
      </p:sp>
      <p:sp>
        <p:nvSpPr>
          <p:cNvPr id="10" name="Text 7"/>
          <p:cNvSpPr/>
          <p:nvPr/>
        </p:nvSpPr>
        <p:spPr>
          <a:xfrm>
            <a:off x="804672" y="549554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Read the top block as one group, not as a ranking</a:t>
            </a:r>
            <a:endParaRPr lang="en-US" sz="1400" dirty="0"/>
          </a:p>
        </p:txBody>
      </p:sp>
      <p:sp>
        <p:nvSpPr>
          <p:cNvPr id="11" name="Text 8"/>
          <p:cNvSpPr/>
          <p:nvPr/>
        </p:nvSpPr>
        <p:spPr>
          <a:xfrm>
            <a:off x="804672" y="5879592"/>
            <a:ext cx="10607040" cy="210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first four rows cannot be told apart (next slide) — their order here is noise. Real separation starts at GP-RBF.</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AUC Cannot Settle the Model Choice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sp>
        <p:nvSpPr>
          <p:cNvPr id="6" name="Text 4"/>
          <p:cNvSpPr/>
          <p:nvPr/>
        </p:nvSpPr>
        <p:spPr>
          <a:xfrm>
            <a:off x="548640" y="1298448"/>
            <a:ext cx="11064240" cy="50292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Comparing the best model against a clearly weaker one proves nothing. The question that matters is whether the leading models can be told apart at all. All 15 pairwise tests among the top six, on the same 25 folds:</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286000"/>
                <a:gridCol w="1755648"/>
                <a:gridCol w="1755648"/>
                <a:gridCol w="1755648"/>
                <a:gridCol w="1755648"/>
                <a:gridCol w="1755648"/>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GP-Matérn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.360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.476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.609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.554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.420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bl>
          </a:graphicData>
        </a:graphic>
      </p:graphicFrame>
      <p:sp>
        <p:nvSpPr>
          <p:cNvPr id="8" name="Shape 5"/>
          <p:cNvSpPr/>
          <p:nvPr/>
        </p:nvSpPr>
        <p:spPr>
          <a:xfrm>
            <a:off x="548640" y="4407408"/>
            <a:ext cx="182880" cy="182880"/>
          </a:xfrm>
          <a:prstGeom prst="rect">
            <a:avLst/>
          </a:prstGeom>
          <a:solidFill>
            <a:srgbClr val="EDEDEA"/>
          </a:solidFill>
          <a:ln/>
        </p:spPr>
      </p:sp>
      <p:sp>
        <p:nvSpPr>
          <p:cNvPr id="9" name="Text 6"/>
          <p:cNvSpPr/>
          <p:nvPr/>
        </p:nvSpPr>
        <p:spPr>
          <a:xfrm>
            <a:off x="822960" y="4370832"/>
            <a:ext cx="3840480" cy="274320"/>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grey = indistinguishable (p ≥ 0.05)</a:t>
            </a:r>
            <a:endParaRPr lang="en-US" sz="1000" dirty="0"/>
          </a:p>
        </p:txBody>
      </p:sp>
      <p:sp>
        <p:nvSpPr>
          <p:cNvPr id="10" name="Shape 7"/>
          <p:cNvSpPr/>
          <p:nvPr/>
        </p:nvSpPr>
        <p:spPr>
          <a:xfrm>
            <a:off x="4480560" y="4407408"/>
            <a:ext cx="182880" cy="182880"/>
          </a:xfrm>
          <a:prstGeom prst="rect">
            <a:avLst/>
          </a:prstGeom>
          <a:solidFill>
            <a:srgbClr val="E4F0F0"/>
          </a:solidFill>
          <a:ln/>
        </p:spPr>
      </p:sp>
      <p:sp>
        <p:nvSpPr>
          <p:cNvPr id="11" name="Text 8"/>
          <p:cNvSpPr/>
          <p:nvPr/>
        </p:nvSpPr>
        <p:spPr>
          <a:xfrm>
            <a:off x="4754880" y="4370832"/>
            <a:ext cx="3657600" cy="274320"/>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teal = distinguishable</a:t>
            </a:r>
            <a:endParaRPr lang="en-US" sz="1000" dirty="0"/>
          </a:p>
        </p:txBody>
      </p:sp>
      <p:sp>
        <p:nvSpPr>
          <p:cNvPr id="12" name="Shape 9"/>
          <p:cNvSpPr/>
          <p:nvPr/>
        </p:nvSpPr>
        <p:spPr>
          <a:xfrm>
            <a:off x="548640" y="4709160"/>
            <a:ext cx="5394960" cy="15361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709160"/>
            <a:ext cx="68580" cy="1536192"/>
          </a:xfrm>
          <a:prstGeom prst="rect">
            <a:avLst/>
          </a:prstGeom>
          <a:solidFill>
            <a:srgbClr val="D2603A"/>
          </a:solidFill>
          <a:ln/>
        </p:spPr>
      </p:sp>
      <p:sp>
        <p:nvSpPr>
          <p:cNvPr id="14" name="Text 11"/>
          <p:cNvSpPr/>
          <p:nvPr/>
        </p:nvSpPr>
        <p:spPr>
          <a:xfrm>
            <a:off x="804672" y="485546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top four are a statistical tie</a:t>
            </a:r>
            <a:endParaRPr lang="en-US" sz="1400" dirty="0"/>
          </a:p>
        </p:txBody>
      </p:sp>
      <p:sp>
        <p:nvSpPr>
          <p:cNvPr id="15" name="Text 12"/>
          <p:cNvSpPr/>
          <p:nvPr/>
        </p:nvSpPr>
        <p:spPr>
          <a:xfrm>
            <a:off x="804672" y="5239512"/>
            <a:ext cx="4937760" cy="877824"/>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ExtraTrees, SVM-RBF, the ensemble and SVM-poly cannot be separated from one another on this data. Their AUCs span 0.834–0.859, well inside the ±0.04–0.06 fold-to-fold spread.</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Ranking them is reading noise.</a:t>
            </a:r>
            <a:endParaRPr lang="en-US" sz="1100" dirty="0"/>
          </a:p>
        </p:txBody>
      </p:sp>
      <p:sp>
        <p:nvSpPr>
          <p:cNvPr id="16" name="Shape 13"/>
          <p:cNvSpPr/>
          <p:nvPr/>
        </p:nvSpPr>
        <p:spPr>
          <a:xfrm>
            <a:off x="6217920" y="4709160"/>
            <a:ext cx="5394960" cy="153619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709160"/>
            <a:ext cx="68580" cy="1536192"/>
          </a:xfrm>
          <a:prstGeom prst="rect">
            <a:avLst/>
          </a:prstGeom>
          <a:solidFill>
            <a:srgbClr val="8FB996"/>
          </a:solidFill>
          <a:ln/>
        </p:spPr>
      </p:sp>
      <p:sp>
        <p:nvSpPr>
          <p:cNvPr id="18" name="Text 15"/>
          <p:cNvSpPr/>
          <p:nvPr/>
        </p:nvSpPr>
        <p:spPr>
          <a:xfrm>
            <a:off x="6473952" y="485546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So the choice must rest on something else</a:t>
            </a:r>
            <a:endParaRPr lang="en-US" sz="1400" dirty="0"/>
          </a:p>
        </p:txBody>
      </p:sp>
      <p:sp>
        <p:nvSpPr>
          <p:cNvPr id="19" name="Text 16"/>
          <p:cNvSpPr/>
          <p:nvPr/>
        </p:nvSpPr>
        <p:spPr>
          <a:xfrm>
            <a:off x="6473952" y="5239512"/>
            <a:ext cx="4937760" cy="877824"/>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Two grounds remain: error structure at the operating threshold (specificity 0.703 for SVM-RBF vs 0.620 for ExtraTrees) and robustness where the signal is weak.</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next slide is the test that actually decides.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MODEL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Why ExtraTrees Does Not Take Over</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A 0.020 AUC lead at p=0.085 does not settle a model choice. The decisive test is where each model stands when the signal is weak — so we re-ran both inside every sampling-month stratum.</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017520"/>
                <a:gridCol w="1280160"/>
                <a:gridCol w="1280160"/>
                <a:gridCol w="2011680"/>
                <a:gridCol w="1828800"/>
                <a:gridCol w="1645920"/>
              </a:tblGrid>
              <a:tr h="4206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0.988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0.819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Jan + Oct  (weakest)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0.715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−0.060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bl>
          </a:graphicData>
        </a:graphic>
      </p:graphicFrame>
      <p:sp>
        <p:nvSpPr>
          <p:cNvPr id="8" name="Shape 5"/>
          <p:cNvSpPr/>
          <p:nvPr/>
        </p:nvSpPr>
        <p:spPr>
          <a:xfrm>
            <a:off x="548640" y="4023360"/>
            <a:ext cx="5394960" cy="17373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023360"/>
            <a:ext cx="68580" cy="1737360"/>
          </a:xfrm>
          <a:prstGeom prst="rect">
            <a:avLst/>
          </a:prstGeom>
          <a:solidFill>
            <a:srgbClr val="D2603A"/>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lead comes only from the easy strata</a:t>
            </a:r>
            <a:endParaRPr lang="en-US" sz="1500" dirty="0"/>
          </a:p>
        </p:txBody>
      </p:sp>
      <p:sp>
        <p:nvSpPr>
          <p:cNvPr id="11" name="Text 8"/>
          <p:cNvSpPr/>
          <p:nvPr/>
        </p:nvSpPr>
        <p:spPr>
          <a:xfrm>
            <a:off x="80467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ExtraTrees gains +0.008 to +0.013 where the task is already easy, and loses 0.060 on the hardest stratum.</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That is the signature of heavy regularisation: harmless when signal is strong, destructive when it is weak.</a:t>
            </a:r>
            <a:endParaRPr lang="en-US" sz="1200" dirty="0"/>
          </a:p>
        </p:txBody>
      </p:sp>
      <p:sp>
        <p:nvSpPr>
          <p:cNvPr id="12" name="Shape 9"/>
          <p:cNvSpPr/>
          <p:nvPr/>
        </p:nvSpPr>
        <p:spPr>
          <a:xfrm>
            <a:off x="6217920" y="4023360"/>
            <a:ext cx="5394960" cy="17373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023360"/>
            <a:ext cx="68580" cy="173736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keep from it</a:t>
            </a:r>
            <a:endParaRPr lang="en-US" sz="1500" dirty="0"/>
          </a:p>
        </p:txBody>
      </p:sp>
      <p:sp>
        <p:nvSpPr>
          <p:cNvPr id="15" name="Text 12"/>
          <p:cNvSpPr/>
          <p:nvPr/>
        </p:nvSpPr>
        <p:spPr>
          <a:xfrm>
            <a:off x="647395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Permutation-importance ranks agree between the two models: Spearman ρ = 0.738 (p = 3.3e-13), top-15 overlap 10/15.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biomarker panel therefore does not depend on which model is chosen — this strengthens the findings section.</a:t>
            </a:r>
            <a:endParaRPr lang="en-US" sz="1200" dirty="0"/>
          </a:p>
        </p:txBody>
      </p:sp>
      <p:sp>
        <p:nvSpPr>
          <p:cNvPr id="16" name="Text 13"/>
          <p:cNvSpPr/>
          <p:nvPr/>
        </p:nvSpPr>
        <p:spPr>
          <a:xfrm>
            <a:off x="548640" y="589788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ExtraTrees also passes its own permutation test (observed 0.856, null 0.496 ± 0.046, p = 0.0099).</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Ways These Metrics Mislead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17</a:t>
            </a:r>
            <a:endParaRPr lang="en-US" sz="1000" dirty="0"/>
          </a:p>
        </p:txBody>
      </p:sp>
      <p:sp>
        <p:nvSpPr>
          <p:cNvPr id="6" name="Shape 4"/>
          <p:cNvSpPr/>
          <p:nvPr/>
        </p:nvSpPr>
        <p:spPr>
          <a:xfrm>
            <a:off x="548640" y="146304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371600"/>
          </a:xfrm>
          <a:prstGeom prst="rect">
            <a:avLst/>
          </a:prstGeom>
          <a:solidFill>
            <a:srgbClr val="D2603A"/>
          </a:solidFill>
          <a:ln/>
        </p:spPr>
      </p:sp>
      <p:sp>
        <p:nvSpPr>
          <p:cNvPr id="8" name="Shape 6"/>
          <p:cNvSpPr/>
          <p:nvPr/>
        </p:nvSpPr>
        <p:spPr>
          <a:xfrm>
            <a:off x="868680" y="1773936"/>
            <a:ext cx="566928" cy="566928"/>
          </a:xfrm>
          <a:prstGeom prst="ellipse">
            <a:avLst/>
          </a:prstGeom>
          <a:solidFill>
            <a:srgbClr val="0B3C49"/>
          </a:solidFill>
          <a:ln/>
        </p:spPr>
      </p:sp>
      <p:sp>
        <p:nvSpPr>
          <p:cNvPr id="9" name="Text 7"/>
          <p:cNvSpPr/>
          <p:nvPr/>
        </p:nvSpPr>
        <p:spPr>
          <a:xfrm>
            <a:off x="868680" y="1874520"/>
            <a:ext cx="566928"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691640" y="1645920"/>
            <a:ext cx="9601200" cy="329184"/>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The accuracy baseline is 0.581, not 0.5</a:t>
            </a:r>
            <a:endParaRPr lang="en-US" sz="1500" dirty="0"/>
          </a:p>
        </p:txBody>
      </p:sp>
      <p:sp>
        <p:nvSpPr>
          <p:cNvPr id="11" name="Text 9"/>
          <p:cNvSpPr/>
          <p:nvPr/>
        </p:nvSpPr>
        <p:spPr>
          <a:xfrm>
            <a:off x="1691640" y="2011680"/>
            <a:ext cx="9601200" cy="731520"/>
          </a:xfrm>
          <a:prstGeom prst="rect">
            <a:avLst/>
          </a:prstGeom>
          <a:noFill/>
          <a:ln/>
        </p:spPr>
        <p:txBody>
          <a:bodyPr wrap="square" lIns="0" tIns="0" rIns="0" bIns="0" rtlCol="0" anchor="ctr"/>
          <a:lstStyle/>
          <a:p>
            <a:pPr indent="0" marL="0">
              <a:lnSpc>
                <a:spcPct val="110000"/>
              </a:lnSpc>
              <a:buNone/>
            </a:pPr>
            <a:r>
              <a:rPr lang="en-US" sz="1200" dirty="0">
                <a:solidFill>
                  <a:srgbClr val="5F7580"/>
                </a:solidFill>
                <a:latin typeface="Calibri" pitchFamily="34" charset="0"/>
                <a:ea typeface="Calibri" pitchFamily="34" charset="-122"/>
                <a:cs typeface="Calibri" pitchFamily="34" charset="-120"/>
              </a:rPr>
              <a:t>58% of samples are positive, so a model that always predicts Pos already scores 0.581. SVM-RBF's 0.771 is a gain of 19 points, not 27. Accuracy must never be reported without this baseline beside it.</a:t>
            </a:r>
            <a:endParaRPr lang="en-US" sz="1200" dirty="0"/>
          </a:p>
        </p:txBody>
      </p:sp>
      <p:sp>
        <p:nvSpPr>
          <p:cNvPr id="12" name="Shape 10"/>
          <p:cNvSpPr/>
          <p:nvPr/>
        </p:nvSpPr>
        <p:spPr>
          <a:xfrm>
            <a:off x="548640" y="3035808"/>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1"/>
          <p:cNvSpPr/>
          <p:nvPr/>
        </p:nvSpPr>
        <p:spPr>
          <a:xfrm>
            <a:off x="548640" y="3035808"/>
            <a:ext cx="68580" cy="1371600"/>
          </a:xfrm>
          <a:prstGeom prst="rect">
            <a:avLst/>
          </a:prstGeom>
          <a:solidFill>
            <a:srgbClr val="D2603A"/>
          </a:solidFill>
          <a:ln/>
        </p:spPr>
      </p:sp>
      <p:sp>
        <p:nvSpPr>
          <p:cNvPr id="14" name="Shape 12"/>
          <p:cNvSpPr/>
          <p:nvPr/>
        </p:nvSpPr>
        <p:spPr>
          <a:xfrm>
            <a:off x="868680" y="3346704"/>
            <a:ext cx="566928" cy="566928"/>
          </a:xfrm>
          <a:prstGeom prst="ellipse">
            <a:avLst/>
          </a:prstGeom>
          <a:solidFill>
            <a:srgbClr val="0B3C49"/>
          </a:solidFill>
          <a:ln/>
        </p:spPr>
      </p:sp>
      <p:sp>
        <p:nvSpPr>
          <p:cNvPr id="15" name="Text 13"/>
          <p:cNvSpPr/>
          <p:nvPr/>
        </p:nvSpPr>
        <p:spPr>
          <a:xfrm>
            <a:off x="868680" y="3447288"/>
            <a:ext cx="566928"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16" name="Text 14"/>
          <p:cNvSpPr/>
          <p:nvPr/>
        </p:nvSpPr>
        <p:spPr>
          <a:xfrm>
            <a:off x="1691640" y="3218688"/>
            <a:ext cx="9601200" cy="329184"/>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F1 cannot be used for model selection</a:t>
            </a:r>
            <a:endParaRPr lang="en-US" sz="1500" dirty="0"/>
          </a:p>
        </p:txBody>
      </p:sp>
      <p:sp>
        <p:nvSpPr>
          <p:cNvPr id="17" name="Text 15"/>
          <p:cNvSpPr/>
          <p:nvPr/>
        </p:nvSpPr>
        <p:spPr>
          <a:xfrm>
            <a:off x="1691640" y="3584448"/>
            <a:ext cx="9601200" cy="731520"/>
          </a:xfrm>
          <a:prstGeom prst="rect">
            <a:avLst/>
          </a:prstGeom>
          <a:noFill/>
          <a:ln/>
        </p:spPr>
        <p:txBody>
          <a:bodyPr wrap="square" lIns="0" tIns="0" rIns="0" bIns="0" rtlCol="0" anchor="ctr"/>
          <a:lstStyle/>
          <a:p>
            <a:pPr indent="0" marL="0">
              <a:lnSpc>
                <a:spcPct val="110000"/>
              </a:lnSpc>
              <a:buNone/>
            </a:pPr>
            <a:r>
              <a:rPr lang="en-US" sz="1200" dirty="0">
                <a:solidFill>
                  <a:srgbClr val="5F7580"/>
                </a:solidFill>
                <a:latin typeface="Calibri" pitchFamily="34" charset="0"/>
                <a:ea typeface="Calibri" pitchFamily="34" charset="-122"/>
                <a:cs typeface="Calibri" pitchFamily="34" charset="-120"/>
              </a:rPr>
              <a:t>The always-Pos baseline scores F1 = 0.735 — higher than L2-LR's 0.725. F1 inflates whenever the positive class dominates, and here it ranks a useless model above a working one.</a:t>
            </a:r>
            <a:endParaRPr lang="en-US" sz="1200" dirty="0"/>
          </a:p>
        </p:txBody>
      </p:sp>
      <p:sp>
        <p:nvSpPr>
          <p:cNvPr id="18" name="Shape 16"/>
          <p:cNvSpPr/>
          <p:nvPr/>
        </p:nvSpPr>
        <p:spPr>
          <a:xfrm>
            <a:off x="548640" y="4608576"/>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4608576"/>
            <a:ext cx="68580" cy="1371600"/>
          </a:xfrm>
          <a:prstGeom prst="rect">
            <a:avLst/>
          </a:prstGeom>
          <a:solidFill>
            <a:srgbClr val="D2603A"/>
          </a:solidFill>
          <a:ln/>
        </p:spPr>
      </p:sp>
      <p:sp>
        <p:nvSpPr>
          <p:cNvPr id="20" name="Shape 18"/>
          <p:cNvSpPr/>
          <p:nvPr/>
        </p:nvSpPr>
        <p:spPr>
          <a:xfrm>
            <a:off x="868680" y="4919472"/>
            <a:ext cx="566928" cy="566928"/>
          </a:xfrm>
          <a:prstGeom prst="ellipse">
            <a:avLst/>
          </a:prstGeom>
          <a:solidFill>
            <a:srgbClr val="0B3C49"/>
          </a:solidFill>
          <a:ln/>
        </p:spPr>
      </p:sp>
      <p:sp>
        <p:nvSpPr>
          <p:cNvPr id="21" name="Text 19"/>
          <p:cNvSpPr/>
          <p:nvPr/>
        </p:nvSpPr>
        <p:spPr>
          <a:xfrm>
            <a:off x="868680" y="5020056"/>
            <a:ext cx="566928"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22" name="Text 20"/>
          <p:cNvSpPr/>
          <p:nvPr/>
        </p:nvSpPr>
        <p:spPr>
          <a:xfrm>
            <a:off x="1691640" y="4791456"/>
            <a:ext cx="9601200" cy="329184"/>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Accuracy hides the asymmetry between classes</a:t>
            </a:r>
            <a:endParaRPr lang="en-US" sz="1500" dirty="0"/>
          </a:p>
        </p:txBody>
      </p:sp>
      <p:sp>
        <p:nvSpPr>
          <p:cNvPr id="23" name="Text 21"/>
          <p:cNvSpPr/>
          <p:nvPr/>
        </p:nvSpPr>
        <p:spPr>
          <a:xfrm>
            <a:off x="1691640" y="5157216"/>
            <a:ext cx="9601200" cy="731520"/>
          </a:xfrm>
          <a:prstGeom prst="rect">
            <a:avLst/>
          </a:prstGeom>
          <a:noFill/>
          <a:ln/>
        </p:spPr>
        <p:txBody>
          <a:bodyPr wrap="square" lIns="0" tIns="0" rIns="0" bIns="0" rtlCol="0" anchor="ctr"/>
          <a:lstStyle/>
          <a:p>
            <a:pPr indent="0" marL="0">
              <a:lnSpc>
                <a:spcPct val="110000"/>
              </a:lnSpc>
              <a:buNone/>
            </a:pPr>
            <a:r>
              <a:rPr lang="en-US" sz="1200" dirty="0">
                <a:solidFill>
                  <a:srgbClr val="5F7580"/>
                </a:solidFill>
                <a:latin typeface="Calibri" pitchFamily="34" charset="0"/>
                <a:ea typeface="Calibri" pitchFamily="34" charset="-122"/>
                <a:cs typeface="Calibri" pitchFamily="34" charset="-120"/>
              </a:rPr>
              <a:t>Random Forest reaches 0.725 accuracy while detecting only 55% of negatives. MCC and balanced accuracy have a baseline of zero and expose this immediately; they are the metrics to compare 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ROBUSTNESS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Is SVM-RBF Just Over-Tuned?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18</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We expanded the grid far past the original range — C from [0.1…10] to [0.01…500], gamma from [1e-4…0.1] plus 'scale' — and re-ran the nested CV.</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286000"/>
                <a:gridCol w="1755648"/>
                <a:gridCol w="1755648"/>
                <a:gridCol w="1755648"/>
                <a:gridCol w="1755648"/>
                <a:gridCol w="1755648"/>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  \  gamma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1e-4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1e-3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scale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0.747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02336">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0.747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0.762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0.741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0.765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0.779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500.0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0.735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0.779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4572000"/>
            <a:ext cx="352044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572000"/>
            <a:ext cx="68580" cy="1463040"/>
          </a:xfrm>
          <a:prstGeom prst="rect">
            <a:avLst/>
          </a:prstGeom>
          <a:solidFill>
            <a:srgbClr val="8FB996"/>
          </a:solidFill>
          <a:ln/>
        </p:spPr>
      </p:sp>
      <p:sp>
        <p:nvSpPr>
          <p:cNvPr id="10" name="Text 7"/>
          <p:cNvSpPr/>
          <p:nvPr/>
        </p:nvSpPr>
        <p:spPr>
          <a:xfrm>
            <a:off x="804672" y="4718304"/>
            <a:ext cx="30632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No edge effects</a:t>
            </a:r>
            <a:endParaRPr lang="en-US" sz="1500" dirty="0"/>
          </a:p>
        </p:txBody>
      </p:sp>
      <p:sp>
        <p:nvSpPr>
          <p:cNvPr id="11" name="Text 8"/>
          <p:cNvSpPr/>
          <p:nvPr/>
        </p:nvSpPr>
        <p:spPr>
          <a:xfrm>
            <a:off x="804672" y="5102352"/>
            <a:ext cx="3063240" cy="8046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0 of 15 folds selected a value at the grid boundary. C = 5 is an interior optimum.</a:t>
            </a:r>
            <a:endParaRPr lang="en-US" sz="1200" dirty="0"/>
          </a:p>
        </p:txBody>
      </p:sp>
      <p:sp>
        <p:nvSpPr>
          <p:cNvPr id="12" name="Shape 9"/>
          <p:cNvSpPr/>
          <p:nvPr/>
        </p:nvSpPr>
        <p:spPr>
          <a:xfrm>
            <a:off x="4251960" y="4572000"/>
            <a:ext cx="352044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4251960" y="4572000"/>
            <a:ext cx="68580" cy="1463040"/>
          </a:xfrm>
          <a:prstGeom prst="rect">
            <a:avLst/>
          </a:prstGeom>
          <a:solidFill>
            <a:srgbClr val="8FB996"/>
          </a:solidFill>
          <a:ln/>
        </p:spPr>
      </p:sp>
      <p:sp>
        <p:nvSpPr>
          <p:cNvPr id="14" name="Text 11"/>
          <p:cNvSpPr/>
          <p:nvPr/>
        </p:nvSpPr>
        <p:spPr>
          <a:xfrm>
            <a:off x="4507992" y="4718304"/>
            <a:ext cx="30632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Unchanged performance</a:t>
            </a:r>
            <a:endParaRPr lang="en-US" sz="1500" dirty="0"/>
          </a:p>
        </p:txBody>
      </p:sp>
      <p:sp>
        <p:nvSpPr>
          <p:cNvPr id="15" name="Text 12"/>
          <p:cNvSpPr/>
          <p:nvPr/>
        </p:nvSpPr>
        <p:spPr>
          <a:xfrm>
            <a:off x="4507992" y="5102352"/>
            <a:ext cx="3063240" cy="8046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Expanded-grid AUC 0.838 ± 0.052, versus 0.839 originally.</a:t>
            </a:r>
            <a:endParaRPr lang="en-US" sz="1200" dirty="0"/>
          </a:p>
        </p:txBody>
      </p:sp>
      <p:sp>
        <p:nvSpPr>
          <p:cNvPr id="16" name="Shape 13"/>
          <p:cNvSpPr/>
          <p:nvPr/>
        </p:nvSpPr>
        <p:spPr>
          <a:xfrm>
            <a:off x="7955280" y="4572000"/>
            <a:ext cx="365760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4"/>
          <p:cNvSpPr/>
          <p:nvPr/>
        </p:nvSpPr>
        <p:spPr>
          <a:xfrm>
            <a:off x="7955280" y="4572000"/>
            <a:ext cx="68580" cy="1463040"/>
          </a:xfrm>
          <a:prstGeom prst="rect">
            <a:avLst/>
          </a:prstGeom>
          <a:solidFill>
            <a:srgbClr val="18707F"/>
          </a:solidFill>
          <a:ln/>
        </p:spPr>
      </p:sp>
      <p:sp>
        <p:nvSpPr>
          <p:cNvPr id="18" name="Text 15"/>
          <p:cNvSpPr/>
          <p:nvPr/>
        </p:nvSpPr>
        <p:spPr>
          <a:xfrm>
            <a:off x="8211312" y="4718304"/>
            <a:ext cx="32004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Flat surface</a:t>
            </a:r>
            <a:endParaRPr lang="en-US" sz="1500" dirty="0"/>
          </a:p>
        </p:txBody>
      </p:sp>
      <p:sp>
        <p:nvSpPr>
          <p:cNvPr id="19" name="Text 16"/>
          <p:cNvSpPr/>
          <p:nvPr/>
        </p:nvSpPr>
        <p:spPr>
          <a:xfrm>
            <a:off x="8211312" y="5102352"/>
            <a:ext cx="3200400" cy="8046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whole surface spans only 0.73–0.81 — performance does not hinge on fine tuning.</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algn="ctr" indent="0" marL="0">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algn="ctr" indent="0" marL="0">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286000"/>
                <a:gridCol w="1618488"/>
                <a:gridCol w="1618488"/>
                <a:gridCol w="1618488"/>
                <a:gridCol w="1618488"/>
                <a:gridCol w="1618488"/>
                <a:gridCol w="1618488"/>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2011680"/>
                <a:gridCol w="2286000"/>
                <a:gridCol w="2743200"/>
              </a:tblGrid>
              <a:tr h="43891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38912">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51960"/>
            <a:ext cx="5394960" cy="14173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ABLATION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Much Does the Microbiome Actually Add?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23</a:t>
            </a:r>
            <a:endParaRPr lang="en-US" sz="1000" dirty="0"/>
          </a:p>
        </p:txBody>
      </p:sp>
      <p:sp>
        <p:nvSpPr>
          <p:cNvPr id="6" name="Text 4"/>
          <p:cNvSpPr/>
          <p:nvPr/>
        </p:nvSpPr>
        <p:spPr>
          <a:xfrm>
            <a:off x="548640" y="160020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Covariates only</a:t>
            </a:r>
            <a:endParaRPr lang="en-US" sz="1400" dirty="0"/>
          </a:p>
        </p:txBody>
      </p:sp>
      <p:sp>
        <p:nvSpPr>
          <p:cNvPr id="7" name="Text 5"/>
          <p:cNvSpPr/>
          <p:nvPr/>
        </p:nvSpPr>
        <p:spPr>
          <a:xfrm>
            <a:off x="548640" y="191109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season, site, species, sex, month</a:t>
            </a:r>
            <a:endParaRPr lang="en-US" sz="1050" dirty="0"/>
          </a:p>
        </p:txBody>
      </p:sp>
      <p:sp>
        <p:nvSpPr>
          <p:cNvPr id="8" name="Shape 6"/>
          <p:cNvSpPr/>
          <p:nvPr/>
        </p:nvSpPr>
        <p:spPr>
          <a:xfrm>
            <a:off x="3611880" y="1645920"/>
            <a:ext cx="6949440" cy="475488"/>
          </a:xfrm>
          <a:prstGeom prst="rect">
            <a:avLst/>
          </a:prstGeom>
          <a:solidFill>
            <a:srgbClr val="E8EEF0"/>
          </a:solidFill>
          <a:ln/>
        </p:spPr>
      </p:sp>
      <p:sp>
        <p:nvSpPr>
          <p:cNvPr id="9" name="Shape 7"/>
          <p:cNvSpPr/>
          <p:nvPr/>
        </p:nvSpPr>
        <p:spPr>
          <a:xfrm>
            <a:off x="3611880" y="1645920"/>
            <a:ext cx="5883859" cy="475488"/>
          </a:xfrm>
          <a:prstGeom prst="rect">
            <a:avLst/>
          </a:prstGeom>
          <a:solidFill>
            <a:srgbClr val="12505F"/>
          </a:solidFill>
          <a:ln/>
        </p:spPr>
      </p:sp>
      <p:sp>
        <p:nvSpPr>
          <p:cNvPr id="10" name="Text 8"/>
          <p:cNvSpPr/>
          <p:nvPr/>
        </p:nvSpPr>
        <p:spPr>
          <a:xfrm>
            <a:off x="10698480" y="1664208"/>
            <a:ext cx="914400" cy="411480"/>
          </a:xfrm>
          <a:prstGeom prst="rect">
            <a:avLst/>
          </a:prstGeom>
          <a:noFill/>
          <a:ln/>
        </p:spPr>
        <p:txBody>
          <a:bodyPr wrap="square" lIns="0" tIns="0" rIns="0" bIns="0" rtlCol="0" anchor="ctr"/>
          <a:lstStyle/>
          <a:p>
            <a:pPr indent="0" marL="0">
              <a:buNone/>
            </a:pPr>
            <a:r>
              <a:rPr lang="en-US" sz="1700" b="1" dirty="0">
                <a:solidFill>
                  <a:srgbClr val="12505F"/>
                </a:solidFill>
                <a:latin typeface="Georgia" pitchFamily="34" charset="0"/>
                <a:ea typeface="Georgia" pitchFamily="34" charset="-122"/>
                <a:cs typeface="Georgia" pitchFamily="34" charset="-120"/>
              </a:rPr>
              <a:t>0.881</a:t>
            </a:r>
            <a:endParaRPr lang="en-US" sz="1700" dirty="0"/>
          </a:p>
        </p:txBody>
      </p:sp>
      <p:sp>
        <p:nvSpPr>
          <p:cNvPr id="11" name="Text 9"/>
          <p:cNvSpPr/>
          <p:nvPr/>
        </p:nvSpPr>
        <p:spPr>
          <a:xfrm>
            <a:off x="548640" y="265176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only</a:t>
            </a:r>
            <a:endParaRPr lang="en-US" sz="1400" dirty="0"/>
          </a:p>
        </p:txBody>
      </p:sp>
      <p:sp>
        <p:nvSpPr>
          <p:cNvPr id="12" name="Text 10"/>
          <p:cNvSpPr/>
          <p:nvPr/>
        </p:nvSpPr>
        <p:spPr>
          <a:xfrm>
            <a:off x="548640" y="296265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70 CLR features</a:t>
            </a:r>
            <a:endParaRPr lang="en-US" sz="1050" dirty="0"/>
          </a:p>
        </p:txBody>
      </p:sp>
      <p:sp>
        <p:nvSpPr>
          <p:cNvPr id="13" name="Shape 11"/>
          <p:cNvSpPr/>
          <p:nvPr/>
        </p:nvSpPr>
        <p:spPr>
          <a:xfrm>
            <a:off x="3611880" y="2697480"/>
            <a:ext cx="6949440" cy="475488"/>
          </a:xfrm>
          <a:prstGeom prst="rect">
            <a:avLst/>
          </a:prstGeom>
          <a:solidFill>
            <a:srgbClr val="E8EEF0"/>
          </a:solidFill>
          <a:ln/>
        </p:spPr>
      </p:sp>
      <p:sp>
        <p:nvSpPr>
          <p:cNvPr id="14" name="Shape 12"/>
          <p:cNvSpPr/>
          <p:nvPr/>
        </p:nvSpPr>
        <p:spPr>
          <a:xfrm>
            <a:off x="3611880" y="2697480"/>
            <a:ext cx="4107891" cy="475488"/>
          </a:xfrm>
          <a:prstGeom prst="rect">
            <a:avLst/>
          </a:prstGeom>
          <a:solidFill>
            <a:srgbClr val="18707F"/>
          </a:solidFill>
          <a:ln/>
        </p:spPr>
      </p:sp>
      <p:sp>
        <p:nvSpPr>
          <p:cNvPr id="15" name="Text 13"/>
          <p:cNvSpPr/>
          <p:nvPr/>
        </p:nvSpPr>
        <p:spPr>
          <a:xfrm>
            <a:off x="10698480" y="2715768"/>
            <a:ext cx="914400" cy="411480"/>
          </a:xfrm>
          <a:prstGeom prst="rect">
            <a:avLst/>
          </a:prstGeom>
          <a:noFill/>
          <a:ln/>
        </p:spPr>
        <p:txBody>
          <a:bodyPr wrap="square" lIns="0" tIns="0" rIns="0" bIns="0" rtlCol="0" anchor="ctr"/>
          <a:lstStyle/>
          <a:p>
            <a:pPr indent="0" marL="0">
              <a:buNone/>
            </a:pPr>
            <a:r>
              <a:rPr lang="en-US" sz="1700" b="1" dirty="0">
                <a:solidFill>
                  <a:srgbClr val="18707F"/>
                </a:solidFill>
                <a:latin typeface="Georgia" pitchFamily="34" charset="0"/>
                <a:ea typeface="Georgia" pitchFamily="34" charset="-122"/>
                <a:cs typeface="Georgia" pitchFamily="34" charset="-120"/>
              </a:rPr>
              <a:t>0.766</a:t>
            </a:r>
            <a:endParaRPr lang="en-US" sz="1700" dirty="0"/>
          </a:p>
        </p:txBody>
      </p:sp>
      <p:sp>
        <p:nvSpPr>
          <p:cNvPr id="16" name="Text 14"/>
          <p:cNvSpPr/>
          <p:nvPr/>
        </p:nvSpPr>
        <p:spPr>
          <a:xfrm>
            <a:off x="548640" y="370332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 covariates</a:t>
            </a:r>
            <a:endParaRPr lang="en-US" sz="1400" dirty="0"/>
          </a:p>
        </p:txBody>
      </p:sp>
      <p:sp>
        <p:nvSpPr>
          <p:cNvPr id="17" name="Text 15"/>
          <p:cNvSpPr/>
          <p:nvPr/>
        </p:nvSpPr>
        <p:spPr>
          <a:xfrm>
            <a:off x="548640" y="401421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combined model</a:t>
            </a:r>
            <a:endParaRPr lang="en-US" sz="1050" dirty="0"/>
          </a:p>
        </p:txBody>
      </p:sp>
      <p:sp>
        <p:nvSpPr>
          <p:cNvPr id="18" name="Shape 16"/>
          <p:cNvSpPr/>
          <p:nvPr/>
        </p:nvSpPr>
        <p:spPr>
          <a:xfrm>
            <a:off x="3611880" y="3749040"/>
            <a:ext cx="6949440" cy="475488"/>
          </a:xfrm>
          <a:prstGeom prst="rect">
            <a:avLst/>
          </a:prstGeom>
          <a:solidFill>
            <a:srgbClr val="E8EEF0"/>
          </a:solidFill>
          <a:ln/>
        </p:spPr>
      </p:sp>
      <p:sp>
        <p:nvSpPr>
          <p:cNvPr id="19" name="Shape 17"/>
          <p:cNvSpPr/>
          <p:nvPr/>
        </p:nvSpPr>
        <p:spPr>
          <a:xfrm>
            <a:off x="3611880" y="3749040"/>
            <a:ext cx="6547917" cy="475488"/>
          </a:xfrm>
          <a:prstGeom prst="rect">
            <a:avLst/>
          </a:prstGeom>
          <a:solidFill>
            <a:srgbClr val="8FB996"/>
          </a:solidFill>
          <a:ln/>
        </p:spPr>
      </p:sp>
      <p:sp>
        <p:nvSpPr>
          <p:cNvPr id="20" name="Text 18"/>
          <p:cNvSpPr/>
          <p:nvPr/>
        </p:nvSpPr>
        <p:spPr>
          <a:xfrm>
            <a:off x="10698480" y="3767328"/>
            <a:ext cx="914400" cy="411480"/>
          </a:xfrm>
          <a:prstGeom prst="rect">
            <a:avLst/>
          </a:prstGeom>
          <a:noFill/>
          <a:ln/>
        </p:spPr>
        <p:txBody>
          <a:bodyPr wrap="square" lIns="0" tIns="0" rIns="0" bIns="0" rtlCol="0" anchor="ctr"/>
          <a:lstStyle/>
          <a:p>
            <a:pPr indent="0" marL="0">
              <a:buNone/>
            </a:pPr>
            <a:r>
              <a:rPr lang="en-US" sz="1700" b="1" dirty="0">
                <a:solidFill>
                  <a:srgbClr val="8FB996"/>
                </a:solidFill>
                <a:latin typeface="Georgia" pitchFamily="34" charset="0"/>
                <a:ea typeface="Georgia" pitchFamily="34" charset="-122"/>
                <a:cs typeface="Georgia" pitchFamily="34" charset="-120"/>
              </a:rPr>
              <a:t>0.924</a:t>
            </a:r>
            <a:endParaRPr lang="en-US" sz="1700" dirty="0"/>
          </a:p>
        </p:txBody>
      </p:sp>
      <p:sp>
        <p:nvSpPr>
          <p:cNvPr id="21" name="Text 19"/>
          <p:cNvSpPr/>
          <p:nvPr/>
        </p:nvSpPr>
        <p:spPr>
          <a:xfrm>
            <a:off x="3611880" y="4709160"/>
            <a:ext cx="3657600" cy="274320"/>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AUC  (bar origin = 0.50)</a:t>
            </a:r>
            <a:endParaRPr lang="en-US" sz="1000" dirty="0"/>
          </a:p>
        </p:txBody>
      </p:sp>
      <p:sp>
        <p:nvSpPr>
          <p:cNvPr id="22" name="Shape 20"/>
          <p:cNvSpPr/>
          <p:nvPr/>
        </p:nvSpPr>
        <p:spPr>
          <a:xfrm>
            <a:off x="548640" y="5074920"/>
            <a:ext cx="11064240" cy="10515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5074920"/>
            <a:ext cx="68580" cy="1051560"/>
          </a:xfrm>
          <a:prstGeom prst="rect">
            <a:avLst/>
          </a:prstGeom>
          <a:solidFill>
            <a:srgbClr val="D2603A"/>
          </a:solidFill>
          <a:ln/>
        </p:spPr>
      </p:sp>
      <p:sp>
        <p:nvSpPr>
          <p:cNvPr id="24" name="Text 22"/>
          <p:cNvSpPr/>
          <p:nvPr/>
        </p:nvSpPr>
        <p:spPr>
          <a:xfrm>
            <a:off x="804672" y="52212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Read this carefully</a:t>
            </a:r>
            <a:endParaRPr lang="en-US" sz="1500" dirty="0"/>
          </a:p>
        </p:txBody>
      </p:sp>
      <p:sp>
        <p:nvSpPr>
          <p:cNvPr id="25" name="Text 23"/>
          <p:cNvSpPr/>
          <p:nvPr/>
        </p:nvSpPr>
        <p:spPr>
          <a:xfrm>
            <a:off x="804672" y="56052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adds +0.043 over covariates alone — a real but modest independent contribution. Covariates by themselves already reach 0.881. Any claim that "gut microbiota predict influenza" must be quoted against that baseline, not against 0.50.</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25</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2743200"/>
                <a:gridCol w="1554480"/>
                <a:gridCol w="1371600"/>
                <a:gridCol w="1371600"/>
                <a:gridCol w="128016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285232"/>
            <a:ext cx="11064240" cy="98755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SVM-RBF     AUC 0.839</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SVM-linear  AUC 0.766</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Δ = +0.073, winning 25 of 25 folds, Wilcoxon p = 1e-5.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controlled comparison — same model family, only the kernel differs — and the most decisive test in this deck.</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Note the contrast with the model comparison: there, nothing separated the leaders. Here, one controlled change separates cleanly on every fold.</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indent="0" marL="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sp>
        <p:nvSpPr>
          <p:cNvPr id="6" name="Shape 4"/>
          <p:cNvSpPr/>
          <p:nvPr/>
        </p:nvSpPr>
        <p:spPr>
          <a:xfrm>
            <a:off x="548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71600"/>
            <a:ext cx="68580" cy="1078992"/>
          </a:xfrm>
          <a:prstGeom prst="rect">
            <a:avLst/>
          </a:prstGeom>
          <a:solidFill>
            <a:srgbClr val="D2603A"/>
          </a:solidFill>
          <a:ln/>
        </p:spPr>
      </p:sp>
      <p:sp>
        <p:nvSpPr>
          <p:cNvPr id="8" name="Text 6"/>
          <p:cNvSpPr/>
          <p:nvPr/>
        </p:nvSpPr>
        <p:spPr>
          <a:xfrm>
            <a:off x="804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Cross-study generalization fails</a:t>
            </a:r>
            <a:endParaRPr lang="en-US" sz="1250" dirty="0"/>
          </a:p>
        </p:txBody>
      </p:sp>
      <p:sp>
        <p:nvSpPr>
          <p:cNvPr id="9" name="Text 7"/>
          <p:cNvSpPr/>
          <p:nvPr/>
        </p:nvSpPr>
        <p:spPr>
          <a:xfrm>
            <a:off x="804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050" dirty="0"/>
          </a:p>
        </p:txBody>
      </p:sp>
      <p:sp>
        <p:nvSpPr>
          <p:cNvPr id="10" name="Shape 8"/>
          <p:cNvSpPr/>
          <p:nvPr/>
        </p:nvSpPr>
        <p:spPr>
          <a:xfrm>
            <a:off x="6263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371600"/>
            <a:ext cx="68580" cy="1078992"/>
          </a:xfrm>
          <a:prstGeom prst="rect">
            <a:avLst/>
          </a:prstGeom>
          <a:solidFill>
            <a:srgbClr val="D2603A"/>
          </a:solidFill>
          <a:ln/>
        </p:spPr>
      </p:sp>
      <p:sp>
        <p:nvSpPr>
          <p:cNvPr id="12" name="Text 10"/>
          <p:cNvSpPr/>
          <p:nvPr/>
        </p:nvSpPr>
        <p:spPr>
          <a:xfrm>
            <a:off x="6519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Upstream filtering rule unknown</a:t>
            </a:r>
            <a:endParaRPr lang="en-US" sz="1250" dirty="0"/>
          </a:p>
        </p:txBody>
      </p:sp>
      <p:sp>
        <p:nvSpPr>
          <p:cNvPr id="13" name="Text 11"/>
          <p:cNvSpPr/>
          <p:nvPr/>
        </p:nvSpPr>
        <p:spPr>
          <a:xfrm>
            <a:off x="6519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050" dirty="0"/>
          </a:p>
        </p:txBody>
      </p:sp>
      <p:sp>
        <p:nvSpPr>
          <p:cNvPr id="14" name="Shape 12"/>
          <p:cNvSpPr/>
          <p:nvPr/>
        </p:nvSpPr>
        <p:spPr>
          <a:xfrm>
            <a:off x="548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587752"/>
            <a:ext cx="68580" cy="1078992"/>
          </a:xfrm>
          <a:prstGeom prst="rect">
            <a:avLst/>
          </a:prstGeom>
          <a:solidFill>
            <a:srgbClr val="D2603A"/>
          </a:solidFill>
          <a:ln/>
        </p:spPr>
      </p:sp>
      <p:sp>
        <p:nvSpPr>
          <p:cNvPr id="16" name="Text 14"/>
          <p:cNvSpPr/>
          <p:nvPr/>
        </p:nvSpPr>
        <p:spPr>
          <a:xfrm>
            <a:off x="804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Rarefaction is not rigorous</a:t>
            </a:r>
            <a:endParaRPr lang="en-US" sz="1250" dirty="0"/>
          </a:p>
        </p:txBody>
      </p:sp>
      <p:sp>
        <p:nvSpPr>
          <p:cNvPr id="17" name="Text 15"/>
          <p:cNvSpPr/>
          <p:nvPr/>
        </p:nvSpPr>
        <p:spPr>
          <a:xfrm>
            <a:off x="804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050" dirty="0"/>
          </a:p>
        </p:txBody>
      </p:sp>
      <p:sp>
        <p:nvSpPr>
          <p:cNvPr id="18" name="Shape 16"/>
          <p:cNvSpPr/>
          <p:nvPr/>
        </p:nvSpPr>
        <p:spPr>
          <a:xfrm>
            <a:off x="6263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587752"/>
            <a:ext cx="68580" cy="1078992"/>
          </a:xfrm>
          <a:prstGeom prst="rect">
            <a:avLst/>
          </a:prstGeom>
          <a:solidFill>
            <a:srgbClr val="D2603A"/>
          </a:solidFill>
          <a:ln/>
        </p:spPr>
      </p:sp>
      <p:sp>
        <p:nvSpPr>
          <p:cNvPr id="20" name="Text 18"/>
          <p:cNvSpPr/>
          <p:nvPr/>
        </p:nvSpPr>
        <p:spPr>
          <a:xfrm>
            <a:off x="6519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4.  Threshold not optimized</a:t>
            </a:r>
            <a:endParaRPr lang="en-US" sz="1250" dirty="0"/>
          </a:p>
        </p:txBody>
      </p:sp>
      <p:sp>
        <p:nvSpPr>
          <p:cNvPr id="21" name="Text 19"/>
          <p:cNvSpPr/>
          <p:nvPr/>
        </p:nvSpPr>
        <p:spPr>
          <a:xfrm>
            <a:off x="6519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050" dirty="0"/>
          </a:p>
        </p:txBody>
      </p:sp>
      <p:sp>
        <p:nvSpPr>
          <p:cNvPr id="22" name="Shape 20"/>
          <p:cNvSpPr/>
          <p:nvPr/>
        </p:nvSpPr>
        <p:spPr>
          <a:xfrm>
            <a:off x="548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3803904"/>
            <a:ext cx="68580" cy="1078992"/>
          </a:xfrm>
          <a:prstGeom prst="rect">
            <a:avLst/>
          </a:prstGeom>
          <a:solidFill>
            <a:srgbClr val="D2603A"/>
          </a:solidFill>
          <a:ln/>
        </p:spPr>
      </p:sp>
      <p:sp>
        <p:nvSpPr>
          <p:cNvPr id="24" name="Text 22"/>
          <p:cNvSpPr/>
          <p:nvPr/>
        </p:nvSpPr>
        <p:spPr>
          <a:xfrm>
            <a:off x="804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5.  Taxonomic resolution is capped</a:t>
            </a:r>
            <a:endParaRPr lang="en-US" sz="1250" dirty="0"/>
          </a:p>
        </p:txBody>
      </p:sp>
      <p:sp>
        <p:nvSpPr>
          <p:cNvPr id="25" name="Text 23"/>
          <p:cNvSpPr/>
          <p:nvPr/>
        </p:nvSpPr>
        <p:spPr>
          <a:xfrm>
            <a:off x="804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050" dirty="0"/>
          </a:p>
        </p:txBody>
      </p:sp>
      <p:sp>
        <p:nvSpPr>
          <p:cNvPr id="26" name="Shape 24"/>
          <p:cNvSpPr/>
          <p:nvPr/>
        </p:nvSpPr>
        <p:spPr>
          <a:xfrm>
            <a:off x="6263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3803904"/>
            <a:ext cx="68580" cy="1078992"/>
          </a:xfrm>
          <a:prstGeom prst="rect">
            <a:avLst/>
          </a:prstGeom>
          <a:solidFill>
            <a:srgbClr val="D2603A"/>
          </a:solidFill>
          <a:ln/>
        </p:spPr>
      </p:sp>
      <p:sp>
        <p:nvSpPr>
          <p:cNvPr id="28" name="Text 26"/>
          <p:cNvSpPr/>
          <p:nvPr/>
        </p:nvSpPr>
        <p:spPr>
          <a:xfrm>
            <a:off x="6519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6.  Confounder baseline is high</a:t>
            </a:r>
            <a:endParaRPr lang="en-US" sz="1250" dirty="0"/>
          </a:p>
        </p:txBody>
      </p:sp>
      <p:sp>
        <p:nvSpPr>
          <p:cNvPr id="29" name="Text 27"/>
          <p:cNvSpPr/>
          <p:nvPr/>
        </p:nvSpPr>
        <p:spPr>
          <a:xfrm>
            <a:off x="6519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050" dirty="0"/>
          </a:p>
        </p:txBody>
      </p:sp>
      <p:sp>
        <p:nvSpPr>
          <p:cNvPr id="30" name="Shape 28"/>
          <p:cNvSpPr/>
          <p:nvPr/>
        </p:nvSpPr>
        <p:spPr>
          <a:xfrm>
            <a:off x="548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1" name="Shape 29"/>
          <p:cNvSpPr/>
          <p:nvPr/>
        </p:nvSpPr>
        <p:spPr>
          <a:xfrm>
            <a:off x="548640" y="5020056"/>
            <a:ext cx="68580" cy="1078992"/>
          </a:xfrm>
          <a:prstGeom prst="rect">
            <a:avLst/>
          </a:prstGeom>
          <a:solidFill>
            <a:srgbClr val="D2603A"/>
          </a:solidFill>
          <a:ln/>
        </p:spPr>
      </p:sp>
      <p:sp>
        <p:nvSpPr>
          <p:cNvPr id="32" name="Text 30"/>
          <p:cNvSpPr/>
          <p:nvPr/>
        </p:nvSpPr>
        <p:spPr>
          <a:xfrm>
            <a:off x="804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7.  Multiple comparison inflates the winner</a:t>
            </a:r>
            <a:endParaRPr lang="en-US" sz="1250" dirty="0"/>
          </a:p>
        </p:txBody>
      </p:sp>
      <p:sp>
        <p:nvSpPr>
          <p:cNvPr id="33" name="Text 31"/>
          <p:cNvSpPr/>
          <p:nvPr/>
        </p:nvSpPr>
        <p:spPr>
          <a:xfrm>
            <a:off x="804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17 models compared; the reported best is a best-of-17. Bonferroni over 17 tests would demand p &lt; 0.003.</a:t>
            </a:r>
            <a:endParaRPr lang="en-US" sz="1050" dirty="0"/>
          </a:p>
        </p:txBody>
      </p:sp>
      <p:sp>
        <p:nvSpPr>
          <p:cNvPr id="34" name="Text 32"/>
          <p:cNvSpPr/>
          <p:nvPr/>
        </p:nvSpPr>
        <p:spPr>
          <a:xfrm>
            <a:off x="6263640" y="5029200"/>
            <a:ext cx="5303520" cy="914400"/>
          </a:xfrm>
          <a:prstGeom prst="rect">
            <a:avLst/>
          </a:prstGeom>
          <a:noFill/>
          <a:ln/>
        </p:spPr>
        <p:txBody>
          <a:bodyPr wrap="square" lIns="0" tIns="0" rIns="0" bIns="0" rtlCol="0" anchor="t"/>
          <a:lstStyle/>
          <a:p>
            <a:pPr indent="0" marL="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a:p>
            <a:pPr indent="0" marL="0">
              <a:buNone/>
            </a:pPr>
            <a:r>
              <a:rPr lang="en-US" sz="1100" i="1" dirty="0">
                <a:solidFill>
                  <a:srgbClr val="5F7580"/>
                </a:solidFill>
                <a:latin typeface="Calibri" pitchFamily="34" charset="0"/>
                <a:ea typeface="Calibri" pitchFamily="34" charset="-122"/>
                <a:cs typeface="Calibri" pitchFamily="34" charset="-120"/>
              </a:rPr>
              <a:t>Item 7 is why ExtraTrees, despite the highest AUC, is not the primary model.</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29</a:t>
            </a:r>
            <a:endParaRPr lang="en-US" sz="1000" dirty="0"/>
          </a:p>
        </p:txBody>
      </p:sp>
      <p:sp>
        <p:nvSpPr>
          <p:cNvPr id="6" name="Shape 4"/>
          <p:cNvSpPr/>
          <p:nvPr/>
        </p:nvSpPr>
        <p:spPr>
          <a:xfrm>
            <a:off x="548640" y="1289304"/>
            <a:ext cx="457200" cy="457200"/>
          </a:xfrm>
          <a:prstGeom prst="ellipse">
            <a:avLst/>
          </a:prstGeom>
          <a:solidFill>
            <a:srgbClr val="18707F"/>
          </a:solidFill>
          <a:ln/>
        </p:spPr>
      </p:sp>
      <p:sp>
        <p:nvSpPr>
          <p:cNvPr id="7" name="Text 5"/>
          <p:cNvSpPr/>
          <p:nvPr/>
        </p:nvSpPr>
        <p:spPr>
          <a:xfrm>
            <a:off x="548640" y="136245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25272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250" dirty="0"/>
          </a:p>
        </p:txBody>
      </p:sp>
      <p:sp>
        <p:nvSpPr>
          <p:cNvPr id="9" name="Shape 7"/>
          <p:cNvSpPr/>
          <p:nvPr/>
        </p:nvSpPr>
        <p:spPr>
          <a:xfrm>
            <a:off x="548640" y="2011680"/>
            <a:ext cx="457200" cy="457200"/>
          </a:xfrm>
          <a:prstGeom prst="ellipse">
            <a:avLst/>
          </a:prstGeom>
          <a:solidFill>
            <a:srgbClr val="18707F"/>
          </a:solidFill>
          <a:ln/>
        </p:spPr>
      </p:sp>
      <p:sp>
        <p:nvSpPr>
          <p:cNvPr id="10" name="Text 8"/>
          <p:cNvSpPr/>
          <p:nvPr/>
        </p:nvSpPr>
        <p:spPr>
          <a:xfrm>
            <a:off x="548640" y="208483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197510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SVM-RBF is the primary model — AUC 0.839, MCC 0.531 — significantly beating Random Forest (p = 0.021), XGBoost (p = 0.0016) and L1-LR (p &lt; 0.001) among 17 models compared.</a:t>
            </a:r>
            <a:endParaRPr lang="en-US" sz="1250" dirty="0"/>
          </a:p>
        </p:txBody>
      </p:sp>
      <p:sp>
        <p:nvSpPr>
          <p:cNvPr id="12" name="Shape 10"/>
          <p:cNvSpPr/>
          <p:nvPr/>
        </p:nvSpPr>
        <p:spPr>
          <a:xfrm>
            <a:off x="548640" y="2734056"/>
            <a:ext cx="457200" cy="457200"/>
          </a:xfrm>
          <a:prstGeom prst="ellipse">
            <a:avLst/>
          </a:prstGeom>
          <a:solidFill>
            <a:srgbClr val="18707F"/>
          </a:solidFill>
          <a:ln/>
        </p:spPr>
      </p:sp>
      <p:sp>
        <p:nvSpPr>
          <p:cNvPr id="13" name="Text 11"/>
          <p:cNvSpPr/>
          <p:nvPr/>
        </p:nvSpPr>
        <p:spPr>
          <a:xfrm>
            <a:off x="548640" y="2807208"/>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697480"/>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250" dirty="0"/>
          </a:p>
        </p:txBody>
      </p:sp>
      <p:sp>
        <p:nvSpPr>
          <p:cNvPr id="15" name="Shape 13"/>
          <p:cNvSpPr/>
          <p:nvPr/>
        </p:nvSpPr>
        <p:spPr>
          <a:xfrm>
            <a:off x="548640" y="3456432"/>
            <a:ext cx="457200" cy="457200"/>
          </a:xfrm>
          <a:prstGeom prst="ellipse">
            <a:avLst/>
          </a:prstGeom>
          <a:solidFill>
            <a:srgbClr val="18707F"/>
          </a:solidFill>
          <a:ln/>
        </p:spPr>
      </p:sp>
      <p:sp>
        <p:nvSpPr>
          <p:cNvPr id="16" name="Text 14"/>
          <p:cNvSpPr/>
          <p:nvPr/>
        </p:nvSpPr>
        <p:spPr>
          <a:xfrm>
            <a:off x="548640" y="3529584"/>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419856"/>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250" dirty="0"/>
          </a:p>
        </p:txBody>
      </p:sp>
      <p:sp>
        <p:nvSpPr>
          <p:cNvPr id="18" name="Shape 16"/>
          <p:cNvSpPr/>
          <p:nvPr/>
        </p:nvSpPr>
        <p:spPr>
          <a:xfrm>
            <a:off x="548640" y="4178808"/>
            <a:ext cx="457200" cy="457200"/>
          </a:xfrm>
          <a:prstGeom prst="ellipse">
            <a:avLst/>
          </a:prstGeom>
          <a:solidFill>
            <a:srgbClr val="18707F"/>
          </a:solidFill>
          <a:ln/>
        </p:spPr>
      </p:sp>
      <p:sp>
        <p:nvSpPr>
          <p:cNvPr id="19" name="Text 17"/>
          <p:cNvSpPr/>
          <p:nvPr/>
        </p:nvSpPr>
        <p:spPr>
          <a:xfrm>
            <a:off x="548640" y="4251960"/>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142232"/>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Sampling season is a serious confounder (covariates alone: AUC 0.881), but stratified analysis shows it does not explain the signal away.</a:t>
            </a:r>
            <a:endParaRPr lang="en-US" sz="1250" dirty="0"/>
          </a:p>
        </p:txBody>
      </p:sp>
      <p:sp>
        <p:nvSpPr>
          <p:cNvPr id="21" name="Shape 19"/>
          <p:cNvSpPr/>
          <p:nvPr/>
        </p:nvSpPr>
        <p:spPr>
          <a:xfrm>
            <a:off x="548640" y="4901184"/>
            <a:ext cx="457200" cy="457200"/>
          </a:xfrm>
          <a:prstGeom prst="ellipse">
            <a:avLst/>
          </a:prstGeom>
          <a:solidFill>
            <a:srgbClr val="D2603A"/>
          </a:solidFill>
          <a:ln/>
        </p:spPr>
      </p:sp>
      <p:sp>
        <p:nvSpPr>
          <p:cNvPr id="22" name="Text 20"/>
          <p:cNvSpPr/>
          <p:nvPr/>
        </p:nvSpPr>
        <p:spPr>
          <a:xfrm>
            <a:off x="548640" y="497433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486460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ExtraTrees scores higher (AUC 0.859) but is worse on the weakest stratum (0.715 vs 0.774); its lead comes only from strata that were already easy.</a:t>
            </a:r>
            <a:endParaRPr lang="en-US" sz="1250" dirty="0"/>
          </a:p>
        </p:txBody>
      </p:sp>
      <p:sp>
        <p:nvSpPr>
          <p:cNvPr id="24" name="Shape 22"/>
          <p:cNvSpPr/>
          <p:nvPr/>
        </p:nvSpPr>
        <p:spPr>
          <a:xfrm>
            <a:off x="548640" y="5623560"/>
            <a:ext cx="457200" cy="457200"/>
          </a:xfrm>
          <a:prstGeom prst="ellipse">
            <a:avLst/>
          </a:prstGeom>
          <a:solidFill>
            <a:srgbClr val="D2603A"/>
          </a:solidFill>
          <a:ln/>
        </p:spPr>
      </p:sp>
      <p:sp>
        <p:nvSpPr>
          <p:cNvPr id="25" name="Text 23"/>
          <p:cNvSpPr/>
          <p:nvPr/>
        </p:nvSpPr>
        <p:spPr>
          <a:xfrm>
            <a:off x="548640" y="569671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7</a:t>
            </a:r>
            <a:endParaRPr lang="en-US" sz="1400" dirty="0"/>
          </a:p>
        </p:txBody>
      </p:sp>
      <p:sp>
        <p:nvSpPr>
          <p:cNvPr id="26" name="Text 24"/>
          <p:cNvSpPr/>
          <p:nvPr/>
        </p:nvSpPr>
        <p:spPr>
          <a:xfrm>
            <a:off x="1188720" y="558698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30</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gridCol w="777240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compare_models.py + explore_models.py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17-model comparison across nine metrics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indent="0" marL="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1</cp:revision>
  <dcterms:created xsi:type="dcterms:W3CDTF">2026-08-10T22:45:47Z</dcterms:created>
  <dcterms:modified xsi:type="dcterms:W3CDTF">2026-08-10T22:45:47Z</dcterms:modified>
</cp:coreProperties>
</file>