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6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417320"/>
            <a:ext cx="260604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0.839</a:t>
            </a:r>
            <a:endParaRPr lang="en-US" sz="4000" dirty="0"/>
          </a:p>
        </p:txBody>
      </p:sp>
      <p:sp>
        <p:nvSpPr>
          <p:cNvPr id="7" name="Text 5"/>
          <p:cNvSpPr/>
          <p:nvPr/>
        </p:nvSpPr>
        <p:spPr>
          <a:xfrm>
            <a:off x="5486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ROC-AUC</a:t>
            </a:r>
            <a:endParaRPr lang="en-US" sz="1150" dirty="0"/>
          </a:p>
        </p:txBody>
      </p:sp>
      <p:sp>
        <p:nvSpPr>
          <p:cNvPr id="8" name="Text 6"/>
          <p:cNvSpPr/>
          <p:nvPr/>
        </p:nvSpPr>
        <p:spPr>
          <a:xfrm>
            <a:off x="5486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SVM-RBF, nested CV</a:t>
            </a:r>
            <a:endParaRPr lang="en-US" sz="1000" dirty="0"/>
          </a:p>
        </p:txBody>
      </p:sp>
      <p:sp>
        <p:nvSpPr>
          <p:cNvPr id="9" name="Text 7"/>
          <p:cNvSpPr/>
          <p:nvPr/>
        </p:nvSpPr>
        <p:spPr>
          <a:xfrm>
            <a:off x="3291840" y="1417320"/>
            <a:ext cx="260604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0.531</a:t>
            </a:r>
            <a:endParaRPr lang="en-US" sz="4000" dirty="0"/>
          </a:p>
        </p:txBody>
      </p:sp>
      <p:sp>
        <p:nvSpPr>
          <p:cNvPr id="10" name="Text 8"/>
          <p:cNvSpPr/>
          <p:nvPr/>
        </p:nvSpPr>
        <p:spPr>
          <a:xfrm>
            <a:off x="32918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MCC</a:t>
            </a:r>
            <a:endParaRPr lang="en-US" sz="1150" dirty="0"/>
          </a:p>
        </p:txBody>
      </p:sp>
      <p:sp>
        <p:nvSpPr>
          <p:cNvPr id="11" name="Text 9"/>
          <p:cNvSpPr/>
          <p:nvPr/>
        </p:nvSpPr>
        <p:spPr>
          <a:xfrm>
            <a:off x="32918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baseline = 0</a:t>
            </a:r>
            <a:endParaRPr lang="en-US" sz="1000" dirty="0"/>
          </a:p>
        </p:txBody>
      </p:sp>
      <p:sp>
        <p:nvSpPr>
          <p:cNvPr id="12" name="Text 10"/>
          <p:cNvSpPr/>
          <p:nvPr/>
        </p:nvSpPr>
        <p:spPr>
          <a:xfrm>
            <a:off x="6035040" y="1417320"/>
            <a:ext cx="2606040" cy="658368"/>
          </a:xfrm>
          <a:prstGeom prst="rect">
            <a:avLst/>
          </a:prstGeom>
          <a:noFill/>
          <a:ln/>
        </p:spPr>
        <p:txBody>
          <a:bodyPr wrap="square" lIns="0" tIns="0" rIns="0" bIns="0" rtlCol="0" anchor="ctr"/>
          <a:lstStyle/>
          <a:p>
            <a:pPr algn="ctr" indent="0" marL="0">
              <a:buNone/>
            </a:pPr>
            <a:r>
              <a:rPr lang="en-US" sz="3200" b="1" dirty="0">
                <a:solidFill>
                  <a:srgbClr val="12505F"/>
                </a:solidFill>
                <a:latin typeface="Georgia" pitchFamily="34" charset="0"/>
                <a:ea typeface="Georgia" pitchFamily="34" charset="-122"/>
                <a:cs typeface="Georgia" pitchFamily="34" charset="-120"/>
              </a:rPr>
              <a:t>p=0.0099</a:t>
            </a:r>
            <a:endParaRPr lang="en-US" sz="3200" dirty="0"/>
          </a:p>
        </p:txBody>
      </p:sp>
      <p:sp>
        <p:nvSpPr>
          <p:cNvPr id="13" name="Text 11"/>
          <p:cNvSpPr/>
          <p:nvPr/>
        </p:nvSpPr>
        <p:spPr>
          <a:xfrm>
            <a:off x="6035040" y="209397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Permutation test</a:t>
            </a:r>
            <a:endParaRPr lang="en-US" sz="1150" dirty="0"/>
          </a:p>
        </p:txBody>
      </p:sp>
      <p:sp>
        <p:nvSpPr>
          <p:cNvPr id="14" name="Text 12"/>
          <p:cNvSpPr/>
          <p:nvPr/>
        </p:nvSpPr>
        <p:spPr>
          <a:xfrm>
            <a:off x="6035040" y="238658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signal is real</a:t>
            </a:r>
            <a:endParaRPr lang="en-US" sz="1000" dirty="0"/>
          </a:p>
        </p:txBody>
      </p:sp>
      <p:sp>
        <p:nvSpPr>
          <p:cNvPr id="15" name="Text 13"/>
          <p:cNvSpPr/>
          <p:nvPr/>
        </p:nvSpPr>
        <p:spPr>
          <a:xfrm>
            <a:off x="8778240" y="141732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9397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8658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methods agree</a:t>
            </a:r>
            <a:endParaRPr lang="en-US" sz="1000" dirty="0"/>
          </a:p>
        </p:txBody>
      </p:sp>
      <p:sp>
        <p:nvSpPr>
          <p:cNvPr id="18" name="Shape 16"/>
          <p:cNvSpPr/>
          <p:nvPr/>
        </p:nvSpPr>
        <p:spPr>
          <a:xfrm>
            <a:off x="548640" y="2880360"/>
            <a:ext cx="5486400" cy="16002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880360"/>
            <a:ext cx="68580" cy="1600200"/>
          </a:xfrm>
          <a:prstGeom prst="rect">
            <a:avLst/>
          </a:prstGeom>
          <a:solidFill>
            <a:srgbClr val="18707F"/>
          </a:solidFill>
          <a:ln/>
        </p:spPr>
      </p:sp>
      <p:sp>
        <p:nvSpPr>
          <p:cNvPr id="20" name="Text 18"/>
          <p:cNvSpPr/>
          <p:nvPr/>
        </p:nvSpPr>
        <p:spPr>
          <a:xfrm>
            <a:off x="804672" y="3026664"/>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1" name="Text 19"/>
          <p:cNvSpPr/>
          <p:nvPr/>
        </p:nvSpPr>
        <p:spPr>
          <a:xfrm>
            <a:off x="804672" y="3410712"/>
            <a:ext cx="5029200" cy="9418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2" name="Shape 20"/>
          <p:cNvSpPr/>
          <p:nvPr/>
        </p:nvSpPr>
        <p:spPr>
          <a:xfrm>
            <a:off x="6309360" y="2880360"/>
            <a:ext cx="5303520" cy="16002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309360" y="2880360"/>
            <a:ext cx="68580" cy="1600200"/>
          </a:xfrm>
          <a:prstGeom prst="rect">
            <a:avLst/>
          </a:prstGeom>
          <a:solidFill>
            <a:srgbClr val="8FB996"/>
          </a:solidFill>
          <a:ln/>
        </p:spPr>
      </p:sp>
      <p:sp>
        <p:nvSpPr>
          <p:cNvPr id="24" name="Text 22"/>
          <p:cNvSpPr/>
          <p:nvPr/>
        </p:nvSpPr>
        <p:spPr>
          <a:xfrm>
            <a:off x="6565392" y="3026664"/>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5" name="Text 23"/>
          <p:cNvSpPr/>
          <p:nvPr/>
        </p:nvSpPr>
        <p:spPr>
          <a:xfrm>
            <a:off x="6565392" y="3410712"/>
            <a:ext cx="4846320" cy="9418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six models compared on identical splits; three independent feature-ranking methods cross-checked against each other.</a:t>
            </a:r>
            <a:endParaRPr lang="en-US" sz="1200" dirty="0"/>
          </a:p>
        </p:txBody>
      </p:sp>
      <p:sp>
        <p:nvSpPr>
          <p:cNvPr id="26" name="Shape 24"/>
          <p:cNvSpPr/>
          <p:nvPr/>
        </p:nvSpPr>
        <p:spPr>
          <a:xfrm>
            <a:off x="548640" y="4709160"/>
            <a:ext cx="11064240" cy="1005840"/>
          </a:xfrm>
          <a:prstGeom prst="rect">
            <a:avLst/>
          </a:prstGeom>
          <a:solidFill>
            <a:srgbClr val="FBEDE7"/>
          </a:solidFill>
          <a:ln/>
        </p:spPr>
      </p:sp>
      <p:sp>
        <p:nvSpPr>
          <p:cNvPr id="27" name="Shape 25"/>
          <p:cNvSpPr/>
          <p:nvPr/>
        </p:nvSpPr>
        <p:spPr>
          <a:xfrm>
            <a:off x="548640" y="4709160"/>
            <a:ext cx="68580" cy="1005840"/>
          </a:xfrm>
          <a:prstGeom prst="rect">
            <a:avLst/>
          </a:prstGeom>
          <a:solidFill>
            <a:srgbClr val="D2603A"/>
          </a:solidFill>
          <a:ln/>
        </p:spPr>
      </p:sp>
      <p:sp>
        <p:nvSpPr>
          <p:cNvPr id="28" name="Text 26"/>
          <p:cNvSpPr/>
          <p:nvPr/>
        </p:nvSpPr>
        <p:spPr>
          <a:xfrm>
            <a:off x="804672" y="4800600"/>
            <a:ext cx="10607040" cy="8229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six-model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and stratified re-analysis</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Six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six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Evaluation Protocol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1783080"/>
          </a:xfrm>
          <a:prstGeom prst="rect">
            <a:avLst/>
          </a:prstGeom>
          <a:solidFill>
            <a:srgbClr val="12505F"/>
          </a:solidFill>
          <a:ln/>
        </p:spPr>
      </p:sp>
      <p:sp>
        <p:nvSpPr>
          <p:cNvPr id="8" name="Text 6"/>
          <p:cNvSpPr/>
          <p:nvPr/>
        </p:nvSpPr>
        <p:spPr>
          <a:xfrm>
            <a:off x="80467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Outer loop</a:t>
            </a:r>
            <a:endParaRPr lang="en-US" sz="1500" dirty="0"/>
          </a:p>
        </p:txBody>
      </p:sp>
      <p:sp>
        <p:nvSpPr>
          <p:cNvPr id="9" name="Text 7"/>
          <p:cNvSpPr/>
          <p:nvPr/>
        </p:nvSpPr>
        <p:spPr>
          <a:xfrm>
            <a:off x="80467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RepeatedStratifiedKFold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 folds × 5 repeats = 25 folds</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performance estimation</a:t>
            </a:r>
            <a:endParaRPr lang="en-US" sz="1200" dirty="0"/>
          </a:p>
        </p:txBody>
      </p:sp>
      <p:sp>
        <p:nvSpPr>
          <p:cNvPr id="10" name="Shape 8"/>
          <p:cNvSpPr/>
          <p:nvPr/>
        </p:nvSpPr>
        <p:spPr>
          <a:xfrm>
            <a:off x="429768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417320"/>
            <a:ext cx="68580" cy="1783080"/>
          </a:xfrm>
          <a:prstGeom prst="rect">
            <a:avLst/>
          </a:prstGeom>
          <a:solidFill>
            <a:srgbClr val="18707F"/>
          </a:solidFill>
          <a:ln/>
        </p:spPr>
      </p:sp>
      <p:sp>
        <p:nvSpPr>
          <p:cNvPr id="12" name="Text 10"/>
          <p:cNvSpPr/>
          <p:nvPr/>
        </p:nvSpPr>
        <p:spPr>
          <a:xfrm>
            <a:off x="455371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Inner loop</a:t>
            </a:r>
            <a:endParaRPr lang="en-US" sz="1500" dirty="0"/>
          </a:p>
        </p:txBody>
      </p:sp>
      <p:sp>
        <p:nvSpPr>
          <p:cNvPr id="13" name="Text 11"/>
          <p:cNvSpPr/>
          <p:nvPr/>
        </p:nvSpPr>
        <p:spPr>
          <a:xfrm>
            <a:off x="455371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StratifiedKFold, 4 folds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GridSearchCV on ROC-AUC</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hyperparameter search</a:t>
            </a:r>
            <a:endParaRPr lang="en-US" sz="1200" dirty="0"/>
          </a:p>
        </p:txBody>
      </p:sp>
      <p:sp>
        <p:nvSpPr>
          <p:cNvPr id="14" name="Shape 12"/>
          <p:cNvSpPr/>
          <p:nvPr/>
        </p:nvSpPr>
        <p:spPr>
          <a:xfrm>
            <a:off x="8046720" y="1417320"/>
            <a:ext cx="35661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417320"/>
            <a:ext cx="68580" cy="1783080"/>
          </a:xfrm>
          <a:prstGeom prst="rect">
            <a:avLst/>
          </a:prstGeom>
          <a:solidFill>
            <a:srgbClr val="8FB996"/>
          </a:solidFill>
          <a:ln/>
        </p:spPr>
      </p:sp>
      <p:sp>
        <p:nvSpPr>
          <p:cNvPr id="16" name="Text 14"/>
          <p:cNvSpPr/>
          <p:nvPr/>
        </p:nvSpPr>
        <p:spPr>
          <a:xfrm>
            <a:off x="8302752" y="1563624"/>
            <a:ext cx="31089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Shared splits</a:t>
            </a:r>
            <a:endParaRPr lang="en-US" sz="1500" dirty="0"/>
          </a:p>
        </p:txBody>
      </p:sp>
      <p:sp>
        <p:nvSpPr>
          <p:cNvPr id="17" name="Text 15"/>
          <p:cNvSpPr/>
          <p:nvPr/>
        </p:nvSpPr>
        <p:spPr>
          <a:xfrm>
            <a:off x="8302752" y="1947672"/>
            <a:ext cx="3108960" cy="11247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Every model sees the identical</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fold partition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Purpose: fair comparison</a:t>
            </a:r>
            <a:endParaRPr lang="en-US" sz="1200" dirty="0"/>
          </a:p>
        </p:txBody>
      </p:sp>
      <p:sp>
        <p:nvSpPr>
          <p:cNvPr id="18" name="Shape 16"/>
          <p:cNvSpPr/>
          <p:nvPr/>
        </p:nvSpPr>
        <p:spPr>
          <a:xfrm>
            <a:off x="548640" y="3429000"/>
            <a:ext cx="548640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3429000"/>
            <a:ext cx="68580" cy="1371600"/>
          </a:xfrm>
          <a:prstGeom prst="rect">
            <a:avLst/>
          </a:prstGeom>
          <a:solidFill>
            <a:srgbClr val="18707F"/>
          </a:solidFill>
          <a:ln/>
        </p:spPr>
      </p:sp>
      <p:sp>
        <p:nvSpPr>
          <p:cNvPr id="20" name="Text 18"/>
          <p:cNvSpPr/>
          <p:nvPr/>
        </p:nvSpPr>
        <p:spPr>
          <a:xfrm>
            <a:off x="804672" y="3575304"/>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nested</a:t>
            </a:r>
            <a:endParaRPr lang="en-US" sz="1500" dirty="0"/>
          </a:p>
        </p:txBody>
      </p:sp>
      <p:sp>
        <p:nvSpPr>
          <p:cNvPr id="21" name="Text 19"/>
          <p:cNvSpPr/>
          <p:nvPr/>
        </p:nvSpPr>
        <p:spPr>
          <a:xfrm>
            <a:off x="804672" y="3959352"/>
            <a:ext cx="502920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Tuning and evaluating on the same folds inflates results. Nesting isolates the two, so the reported AUC contains no tuning bias.</a:t>
            </a:r>
            <a:endParaRPr lang="en-US" sz="1200" dirty="0"/>
          </a:p>
        </p:txBody>
      </p:sp>
      <p:sp>
        <p:nvSpPr>
          <p:cNvPr id="22" name="Shape 20"/>
          <p:cNvSpPr/>
          <p:nvPr/>
        </p:nvSpPr>
        <p:spPr>
          <a:xfrm>
            <a:off x="6309360" y="3429000"/>
            <a:ext cx="530352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309360" y="3429000"/>
            <a:ext cx="68580" cy="1371600"/>
          </a:xfrm>
          <a:prstGeom prst="rect">
            <a:avLst/>
          </a:prstGeom>
          <a:solidFill>
            <a:srgbClr val="18707F"/>
          </a:solidFill>
          <a:ln/>
        </p:spPr>
      </p:sp>
      <p:sp>
        <p:nvSpPr>
          <p:cNvPr id="24" name="Text 22"/>
          <p:cNvSpPr/>
          <p:nvPr/>
        </p:nvSpPr>
        <p:spPr>
          <a:xfrm>
            <a:off x="6565392" y="3575304"/>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Metrics reported</a:t>
            </a:r>
            <a:endParaRPr lang="en-US" sz="1500" dirty="0"/>
          </a:p>
        </p:txBody>
      </p:sp>
      <p:sp>
        <p:nvSpPr>
          <p:cNvPr id="25" name="Text 23"/>
          <p:cNvSpPr/>
          <p:nvPr/>
        </p:nvSpPr>
        <p:spPr>
          <a:xfrm>
            <a:off x="6565392" y="3959352"/>
            <a:ext cx="484632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ROC-AUC · PR-AUC · Accuracy · Balanced Accuracy · Sensitivity · Specificity · Precision · F1 · MCC</a:t>
            </a:r>
            <a:endParaRPr lang="en-US" sz="1200" dirty="0"/>
          </a:p>
        </p:txBody>
      </p:sp>
      <p:sp>
        <p:nvSpPr>
          <p:cNvPr id="26" name="Shape 24"/>
          <p:cNvSpPr/>
          <p:nvPr/>
        </p:nvSpPr>
        <p:spPr>
          <a:xfrm>
            <a:off x="548640" y="5029200"/>
            <a:ext cx="11064240" cy="868680"/>
          </a:xfrm>
          <a:prstGeom prst="rect">
            <a:avLst/>
          </a:prstGeom>
          <a:solidFill>
            <a:srgbClr val="FBEDE7"/>
          </a:solidFill>
          <a:ln/>
        </p:spPr>
      </p:sp>
      <p:sp>
        <p:nvSpPr>
          <p:cNvPr id="27" name="Shape 25"/>
          <p:cNvSpPr/>
          <p:nvPr/>
        </p:nvSpPr>
        <p:spPr>
          <a:xfrm>
            <a:off x="548640" y="5029200"/>
            <a:ext cx="68580" cy="868680"/>
          </a:xfrm>
          <a:prstGeom prst="rect">
            <a:avLst/>
          </a:prstGeom>
          <a:solidFill>
            <a:srgbClr val="D2603A"/>
          </a:solidFill>
          <a:ln/>
        </p:spPr>
      </p:sp>
      <p:sp>
        <p:nvSpPr>
          <p:cNvPr id="28" name="Text 26"/>
          <p:cNvSpPr/>
          <p:nvPr/>
        </p:nvSpPr>
        <p:spPr>
          <a:xfrm>
            <a:off x="804672" y="51206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Six Models on Identical Folds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743200"/>
                <a:gridCol w="1078992"/>
                <a:gridCol w="1078992"/>
                <a:gridCol w="1078992"/>
                <a:gridCol w="1078992"/>
                <a:gridCol w="996696"/>
                <a:gridCol w="996696"/>
                <a:gridCol w="1005840"/>
                <a:gridCol w="10058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RandomForest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0.810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0.553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0.782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0.433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HistGB</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0.722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0.705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0.796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0.841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0.423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L1-LR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0.707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0.787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0.722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0.692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L2-LR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0.690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0.686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0.782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0.710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0.662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0.373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SVM-linear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0.692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0.672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0.796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0.549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0.749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0.362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Baseline (always 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0.735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75488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754880"/>
            <a:ext cx="68580" cy="1371600"/>
          </a:xfrm>
          <a:prstGeom prst="rect">
            <a:avLst/>
          </a:prstGeom>
          <a:solidFill>
            <a:srgbClr val="18707F"/>
          </a:solidFill>
          <a:ln/>
        </p:spPr>
      </p:sp>
      <p:sp>
        <p:nvSpPr>
          <p:cNvPr id="9" name="Text 6"/>
          <p:cNvSpPr/>
          <p:nvPr/>
        </p:nvSpPr>
        <p:spPr>
          <a:xfrm>
            <a:off x="804672" y="4901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SVM-RBF wins on eight of nine metrics</a:t>
            </a:r>
            <a:endParaRPr lang="en-US" sz="1500" dirty="0"/>
          </a:p>
        </p:txBody>
      </p:sp>
      <p:sp>
        <p:nvSpPr>
          <p:cNvPr id="10" name="Text 7"/>
          <p:cNvSpPr/>
          <p:nvPr/>
        </p:nvSpPr>
        <p:spPr>
          <a:xfrm>
            <a:off x="804672" y="528523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Random Forest edges it out on sensitivity alone (0.850 vs 0.820) — but at the cost of specificity 0.553, meaning it is barely better than a coin flip on negative samples. SVM-RBF is the only model with MCC above 0.5.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Is the Gap Real? Paired Testing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640080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Fold-to-fold SD is ±0.05, so comparing mean AUCs is not enough. We compare per-fold AUCs pairwise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400800" cy="914400"/>
        </p:xfrm>
        <a:graphic>
          <a:graphicData uri="http://schemas.openxmlformats.org/drawingml/2006/table">
            <a:tbl>
              <a:tblPr/>
              <a:tblGrid>
                <a:gridCol w="2377440"/>
                <a:gridCol w="1005840"/>
                <a:gridCol w="914400"/>
                <a:gridCol w="1234440"/>
                <a:gridCol w="86868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Comparison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 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SVM-RBF vs RandomForest</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+0.029</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17/25</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0.013</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SVM-RBF vs L1-LR</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+0.052</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21/25</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050" dirty="0">
                          <a:solidFill>
                            <a:srgbClr val="16252C"/>
                          </a:solidFill>
                          <a:latin typeface="Calibri" pitchFamily="34" charset="0"/>
                          <a:ea typeface="Calibri" pitchFamily="34" charset="-122"/>
                          <a:cs typeface="Calibri" pitchFamily="34" charset="-120"/>
                        </a:rPr>
                        <a:t>&lt;0.0001</a:t>
                      </a:r>
                      <a:endParaRPr lang="en-US" sz="10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pic>
        <p:nvPicPr>
          <p:cNvPr id="8" name="Image 0" descr="/mnt/d/claude-code-project/group-corparation/Christina-project/slides/img/roc6.png">    </p:cNvPr>
          <p:cNvPicPr>
            <a:picLocks noChangeAspect="1"/>
          </p:cNvPicPr>
          <p:nvPr/>
        </p:nvPicPr>
        <p:blipFill>
          <a:blip r:embed="rId1"/>
          <a:stretch>
            <a:fillRect/>
          </a:stretch>
        </p:blipFill>
        <p:spPr>
          <a:xfrm>
            <a:off x="7452360" y="1481328"/>
            <a:ext cx="4069080" cy="3282696"/>
          </a:xfrm>
          <a:prstGeom prst="rect">
            <a:avLst/>
          </a:prstGeom>
        </p:spPr>
      </p:pic>
      <p:sp>
        <p:nvSpPr>
          <p:cNvPr id="9" name="Text 5"/>
          <p:cNvSpPr/>
          <p:nvPr/>
        </p:nvSpPr>
        <p:spPr>
          <a:xfrm>
            <a:off x="7452360" y="4791456"/>
            <a:ext cx="4069080" cy="502920"/>
          </a:xfrm>
          <a:prstGeom prst="rect">
            <a:avLst/>
          </a:prstGeom>
          <a:noFill/>
          <a:ln/>
        </p:spPr>
        <p:txBody>
          <a:bodyPr wrap="square" lIns="0" tIns="0" rIns="0" bIns="0" rtlCol="0" anchor="ctr"/>
          <a:lstStyle/>
          <a:p>
            <a:pPr indent="0" marL="0">
              <a:buNone/>
            </a:pPr>
            <a:r>
              <a:rPr lang="en-US" sz="900" i="1" dirty="0">
                <a:solidFill>
                  <a:srgbClr val="5F7580"/>
                </a:solidFill>
                <a:latin typeface="Calibri" pitchFamily="34" charset="0"/>
                <a:ea typeface="Calibri" pitchFamily="34" charset="-122"/>
                <a:cs typeface="Calibri" pitchFamily="34" charset="-120"/>
              </a:rPr>
              <a:t>Out-of-fold ROC, single 5-fold split at fixed hyperparameters — not the nested-CV estimate in the table on the previous slide.</a:t>
            </a:r>
            <a:endParaRPr lang="en-US" sz="900" dirty="0"/>
          </a:p>
        </p:txBody>
      </p:sp>
      <p:sp>
        <p:nvSpPr>
          <p:cNvPr id="10" name="Shape 6"/>
          <p:cNvSpPr/>
          <p:nvPr/>
        </p:nvSpPr>
        <p:spPr>
          <a:xfrm>
            <a:off x="548640" y="3383280"/>
            <a:ext cx="640080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7"/>
          <p:cNvSpPr/>
          <p:nvPr/>
        </p:nvSpPr>
        <p:spPr>
          <a:xfrm>
            <a:off x="548640" y="3383280"/>
            <a:ext cx="68580" cy="1371600"/>
          </a:xfrm>
          <a:prstGeom prst="rect">
            <a:avLst/>
          </a:prstGeom>
          <a:solidFill>
            <a:srgbClr val="8FB996"/>
          </a:solidFill>
          <a:ln/>
        </p:spPr>
      </p:sp>
      <p:sp>
        <p:nvSpPr>
          <p:cNvPr id="12" name="Text 8"/>
          <p:cNvSpPr/>
          <p:nvPr/>
        </p:nvSpPr>
        <p:spPr>
          <a:xfrm>
            <a:off x="804672" y="3529584"/>
            <a:ext cx="594360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Verdict</a:t>
            </a:r>
            <a:endParaRPr lang="en-US" sz="1400" dirty="0"/>
          </a:p>
        </p:txBody>
      </p:sp>
      <p:sp>
        <p:nvSpPr>
          <p:cNvPr id="13" name="Text 9"/>
          <p:cNvSpPr/>
          <p:nvPr/>
        </p:nvSpPr>
        <p:spPr>
          <a:xfrm>
            <a:off x="804672" y="3913632"/>
            <a:ext cx="5943600" cy="7132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SVM-RBF is significantly better than every other model tested — not merely numerically ahead. An earlier comparison that omitted SVM found no significant differences among four models; adding the RBF kernel changed that conclusion.</a:t>
            </a:r>
            <a:endParaRPr lang="en-US" sz="1150" dirty="0"/>
          </a:p>
        </p:txBody>
      </p:sp>
      <p:sp>
        <p:nvSpPr>
          <p:cNvPr id="14" name="Shape 10"/>
          <p:cNvSpPr/>
          <p:nvPr/>
        </p:nvSpPr>
        <p:spPr>
          <a:xfrm>
            <a:off x="548640" y="5394960"/>
            <a:ext cx="11064240" cy="822960"/>
          </a:xfrm>
          <a:prstGeom prst="rect">
            <a:avLst/>
          </a:prstGeom>
          <a:solidFill>
            <a:srgbClr val="0B3C49"/>
          </a:solidFill>
          <a:ln/>
        </p:spPr>
      </p:sp>
      <p:sp>
        <p:nvSpPr>
          <p:cNvPr id="15" name="Text 11"/>
          <p:cNvSpPr/>
          <p:nvPr/>
        </p:nvSpPr>
        <p:spPr>
          <a:xfrm>
            <a:off x="868680" y="5596128"/>
            <a:ext cx="10515600" cy="457200"/>
          </a:xfrm>
          <a:prstGeom prst="rect">
            <a:avLst/>
          </a:prstGeom>
          <a:noFill/>
          <a:ln/>
        </p:spPr>
        <p:txBody>
          <a:bodyPr wrap="square" lIns="0" tIns="0" rIns="0" bIns="0" rtlCol="0" anchor="ctr"/>
          <a:lstStyle/>
          <a:p>
            <a:pPr indent="0" marL="0">
              <a:buNone/>
            </a:pPr>
            <a:r>
              <a:rPr lang="en-US" sz="1400" i="1" dirty="0">
                <a:solidFill>
                  <a:srgbClr val="8FB996"/>
                </a:solidFill>
                <a:latin typeface="Calibri" pitchFamily="34" charset="0"/>
                <a:ea typeface="Calibri" pitchFamily="34" charset="-122"/>
                <a:cs typeface="Calibri" pitchFamily="34" charset="-120"/>
              </a:rPr>
              <a:t>SVM-linear reaches only 0.766 — the kernel is what wins, not the SVM. This is the first hint of real nonlinear structure.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Ways These Metrics Mislead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Shape 4"/>
          <p:cNvSpPr/>
          <p:nvPr/>
        </p:nvSpPr>
        <p:spPr>
          <a:xfrm>
            <a:off x="548640" y="146304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371600"/>
          </a:xfrm>
          <a:prstGeom prst="rect">
            <a:avLst/>
          </a:prstGeom>
          <a:solidFill>
            <a:srgbClr val="D2603A"/>
          </a:solidFill>
          <a:ln/>
        </p:spPr>
      </p:sp>
      <p:sp>
        <p:nvSpPr>
          <p:cNvPr id="8" name="Shape 6"/>
          <p:cNvSpPr/>
          <p:nvPr/>
        </p:nvSpPr>
        <p:spPr>
          <a:xfrm>
            <a:off x="868680" y="1773936"/>
            <a:ext cx="566928" cy="566928"/>
          </a:xfrm>
          <a:prstGeom prst="ellipse">
            <a:avLst/>
          </a:prstGeom>
          <a:solidFill>
            <a:srgbClr val="0B3C49"/>
          </a:solidFill>
          <a:ln/>
        </p:spPr>
      </p:sp>
      <p:sp>
        <p:nvSpPr>
          <p:cNvPr id="9" name="Text 7"/>
          <p:cNvSpPr/>
          <p:nvPr/>
        </p:nvSpPr>
        <p:spPr>
          <a:xfrm>
            <a:off x="868680" y="1874520"/>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691640" y="1645920"/>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The accuracy baseline is 0.581, not 0.5</a:t>
            </a:r>
            <a:endParaRPr lang="en-US" sz="1500" dirty="0"/>
          </a:p>
        </p:txBody>
      </p:sp>
      <p:sp>
        <p:nvSpPr>
          <p:cNvPr id="11" name="Text 9"/>
          <p:cNvSpPr/>
          <p:nvPr/>
        </p:nvSpPr>
        <p:spPr>
          <a:xfrm>
            <a:off x="1691640" y="2011680"/>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58% of samples are positive, so a model that always predicts Pos already scores 0.581. SVM-RBF's 0.771 is a gain of 19 points, not 27. Accuracy must never be reported without this baseline beside it.</a:t>
            </a:r>
            <a:endParaRPr lang="en-US" sz="1200" dirty="0"/>
          </a:p>
        </p:txBody>
      </p:sp>
      <p:sp>
        <p:nvSpPr>
          <p:cNvPr id="12" name="Shape 10"/>
          <p:cNvSpPr/>
          <p:nvPr/>
        </p:nvSpPr>
        <p:spPr>
          <a:xfrm>
            <a:off x="548640" y="3035808"/>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1"/>
          <p:cNvSpPr/>
          <p:nvPr/>
        </p:nvSpPr>
        <p:spPr>
          <a:xfrm>
            <a:off x="548640" y="3035808"/>
            <a:ext cx="68580" cy="1371600"/>
          </a:xfrm>
          <a:prstGeom prst="rect">
            <a:avLst/>
          </a:prstGeom>
          <a:solidFill>
            <a:srgbClr val="D2603A"/>
          </a:solidFill>
          <a:ln/>
        </p:spPr>
      </p:sp>
      <p:sp>
        <p:nvSpPr>
          <p:cNvPr id="14" name="Shape 12"/>
          <p:cNvSpPr/>
          <p:nvPr/>
        </p:nvSpPr>
        <p:spPr>
          <a:xfrm>
            <a:off x="868680" y="3346704"/>
            <a:ext cx="566928" cy="566928"/>
          </a:xfrm>
          <a:prstGeom prst="ellipse">
            <a:avLst/>
          </a:prstGeom>
          <a:solidFill>
            <a:srgbClr val="0B3C49"/>
          </a:solidFill>
          <a:ln/>
        </p:spPr>
      </p:sp>
      <p:sp>
        <p:nvSpPr>
          <p:cNvPr id="15" name="Text 13"/>
          <p:cNvSpPr/>
          <p:nvPr/>
        </p:nvSpPr>
        <p:spPr>
          <a:xfrm>
            <a:off x="868680" y="3447288"/>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6" name="Text 14"/>
          <p:cNvSpPr/>
          <p:nvPr/>
        </p:nvSpPr>
        <p:spPr>
          <a:xfrm>
            <a:off x="1691640" y="3218688"/>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F1 cannot be used for model selection</a:t>
            </a:r>
            <a:endParaRPr lang="en-US" sz="1500" dirty="0"/>
          </a:p>
        </p:txBody>
      </p:sp>
      <p:sp>
        <p:nvSpPr>
          <p:cNvPr id="17" name="Text 15"/>
          <p:cNvSpPr/>
          <p:nvPr/>
        </p:nvSpPr>
        <p:spPr>
          <a:xfrm>
            <a:off x="1691640" y="3584448"/>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The always-Pos baseline scores F1 = 0.735 — higher than L2-LR's 0.725. F1 inflates whenever the positive class dominates, and here it ranks a useless model above a working one.</a:t>
            </a:r>
            <a:endParaRPr lang="en-US" sz="1200" dirty="0"/>
          </a:p>
        </p:txBody>
      </p:sp>
      <p:sp>
        <p:nvSpPr>
          <p:cNvPr id="18" name="Shape 16"/>
          <p:cNvSpPr/>
          <p:nvPr/>
        </p:nvSpPr>
        <p:spPr>
          <a:xfrm>
            <a:off x="548640" y="4608576"/>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4608576"/>
            <a:ext cx="68580" cy="1371600"/>
          </a:xfrm>
          <a:prstGeom prst="rect">
            <a:avLst/>
          </a:prstGeom>
          <a:solidFill>
            <a:srgbClr val="D2603A"/>
          </a:solidFill>
          <a:ln/>
        </p:spPr>
      </p:sp>
      <p:sp>
        <p:nvSpPr>
          <p:cNvPr id="20" name="Shape 18"/>
          <p:cNvSpPr/>
          <p:nvPr/>
        </p:nvSpPr>
        <p:spPr>
          <a:xfrm>
            <a:off x="868680" y="4919472"/>
            <a:ext cx="566928" cy="566928"/>
          </a:xfrm>
          <a:prstGeom prst="ellipse">
            <a:avLst/>
          </a:prstGeom>
          <a:solidFill>
            <a:srgbClr val="0B3C49"/>
          </a:solidFill>
          <a:ln/>
        </p:spPr>
      </p:sp>
      <p:sp>
        <p:nvSpPr>
          <p:cNvPr id="21" name="Text 19"/>
          <p:cNvSpPr/>
          <p:nvPr/>
        </p:nvSpPr>
        <p:spPr>
          <a:xfrm>
            <a:off x="868680" y="5020056"/>
            <a:ext cx="566928"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22" name="Text 20"/>
          <p:cNvSpPr/>
          <p:nvPr/>
        </p:nvSpPr>
        <p:spPr>
          <a:xfrm>
            <a:off x="1691640" y="4791456"/>
            <a:ext cx="9601200" cy="329184"/>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Accuracy hides the asymmetry between classes</a:t>
            </a:r>
            <a:endParaRPr lang="en-US" sz="1500" dirty="0"/>
          </a:p>
        </p:txBody>
      </p:sp>
      <p:sp>
        <p:nvSpPr>
          <p:cNvPr id="23" name="Text 21"/>
          <p:cNvSpPr/>
          <p:nvPr/>
        </p:nvSpPr>
        <p:spPr>
          <a:xfrm>
            <a:off x="1691640" y="5157216"/>
            <a:ext cx="9601200" cy="731520"/>
          </a:xfrm>
          <a:prstGeom prst="rect">
            <a:avLst/>
          </a:prstGeom>
          <a:noFill/>
          <a:ln/>
        </p:spPr>
        <p:txBody>
          <a:bodyPr wrap="square" lIns="0" tIns="0" rIns="0" bIns="0" rtlCol="0" anchor="ctr"/>
          <a:lstStyle/>
          <a:p>
            <a:pPr indent="0" marL="0">
              <a:lnSpc>
                <a:spcPct val="110000"/>
              </a:lnSpc>
              <a:buNone/>
            </a:pPr>
            <a:r>
              <a:rPr lang="en-US" sz="1200" dirty="0">
                <a:solidFill>
                  <a:srgbClr val="5F7580"/>
                </a:solidFill>
                <a:latin typeface="Calibri" pitchFamily="34" charset="0"/>
                <a:ea typeface="Calibri" pitchFamily="34" charset="-122"/>
                <a:cs typeface="Calibri" pitchFamily="34" charset="-120"/>
              </a:rPr>
              <a:t>Random Forest reaches 0.725 accuracy while detecting only 55% of negatives. MCC and balanced accuracy have a baseline of zero and expose this immediately; they are the metrics to compare 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ROBUSTNESS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Is SVM-RBF Just Over-Tuned?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17</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We expanded the grid far past the original range — C from [0.1…10] to [0.01…500], gamma from [1e-4…0.1] plus 'scale' — and re-ran the nested CV.</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286000"/>
                <a:gridCol w="1755648"/>
                <a:gridCol w="1755648"/>
                <a:gridCol w="1755648"/>
                <a:gridCol w="1755648"/>
                <a:gridCol w="1755648"/>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  \  gamma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1e-4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1e-3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scale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0.741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572000"/>
            <a:ext cx="352044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572000"/>
            <a:ext cx="68580" cy="1463040"/>
          </a:xfrm>
          <a:prstGeom prst="rect">
            <a:avLst/>
          </a:prstGeom>
          <a:solidFill>
            <a:srgbClr val="8FB996"/>
          </a:solidFill>
          <a:ln/>
        </p:spPr>
      </p:sp>
      <p:sp>
        <p:nvSpPr>
          <p:cNvPr id="10" name="Text 7"/>
          <p:cNvSpPr/>
          <p:nvPr/>
        </p:nvSpPr>
        <p:spPr>
          <a:xfrm>
            <a:off x="804672" y="4718304"/>
            <a:ext cx="30632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No edge effects</a:t>
            </a:r>
            <a:endParaRPr lang="en-US" sz="1500" dirty="0"/>
          </a:p>
        </p:txBody>
      </p:sp>
      <p:sp>
        <p:nvSpPr>
          <p:cNvPr id="11" name="Text 8"/>
          <p:cNvSpPr/>
          <p:nvPr/>
        </p:nvSpPr>
        <p:spPr>
          <a:xfrm>
            <a:off x="804672" y="5102352"/>
            <a:ext cx="306324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0 of 15 folds selected a value at the grid boundary. C = 5 is an interior optimum.</a:t>
            </a:r>
            <a:endParaRPr lang="en-US" sz="1200" dirty="0"/>
          </a:p>
        </p:txBody>
      </p:sp>
      <p:sp>
        <p:nvSpPr>
          <p:cNvPr id="12" name="Shape 9"/>
          <p:cNvSpPr/>
          <p:nvPr/>
        </p:nvSpPr>
        <p:spPr>
          <a:xfrm>
            <a:off x="4251960" y="4572000"/>
            <a:ext cx="352044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4251960" y="4572000"/>
            <a:ext cx="68580" cy="1463040"/>
          </a:xfrm>
          <a:prstGeom prst="rect">
            <a:avLst/>
          </a:prstGeom>
          <a:solidFill>
            <a:srgbClr val="8FB996"/>
          </a:solidFill>
          <a:ln/>
        </p:spPr>
      </p:sp>
      <p:sp>
        <p:nvSpPr>
          <p:cNvPr id="14" name="Text 11"/>
          <p:cNvSpPr/>
          <p:nvPr/>
        </p:nvSpPr>
        <p:spPr>
          <a:xfrm>
            <a:off x="4507992" y="4718304"/>
            <a:ext cx="30632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Unchanged performance</a:t>
            </a:r>
            <a:endParaRPr lang="en-US" sz="1500" dirty="0"/>
          </a:p>
        </p:txBody>
      </p:sp>
      <p:sp>
        <p:nvSpPr>
          <p:cNvPr id="15" name="Text 12"/>
          <p:cNvSpPr/>
          <p:nvPr/>
        </p:nvSpPr>
        <p:spPr>
          <a:xfrm>
            <a:off x="4507992" y="5102352"/>
            <a:ext cx="306324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Expanded-grid AUC 0.838 ± 0.052, versus 0.839 originally.</a:t>
            </a:r>
            <a:endParaRPr lang="en-US" sz="1200" dirty="0"/>
          </a:p>
        </p:txBody>
      </p:sp>
      <p:sp>
        <p:nvSpPr>
          <p:cNvPr id="16" name="Shape 13"/>
          <p:cNvSpPr/>
          <p:nvPr/>
        </p:nvSpPr>
        <p:spPr>
          <a:xfrm>
            <a:off x="7955280" y="4572000"/>
            <a:ext cx="365760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7955280" y="4572000"/>
            <a:ext cx="68580" cy="1463040"/>
          </a:xfrm>
          <a:prstGeom prst="rect">
            <a:avLst/>
          </a:prstGeom>
          <a:solidFill>
            <a:srgbClr val="18707F"/>
          </a:solidFill>
          <a:ln/>
        </p:spPr>
      </p:sp>
      <p:sp>
        <p:nvSpPr>
          <p:cNvPr id="18" name="Text 15"/>
          <p:cNvSpPr/>
          <p:nvPr/>
        </p:nvSpPr>
        <p:spPr>
          <a:xfrm>
            <a:off x="8211312" y="4718304"/>
            <a:ext cx="32004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Flat surface</a:t>
            </a:r>
            <a:endParaRPr lang="en-US" sz="1500" dirty="0"/>
          </a:p>
        </p:txBody>
      </p:sp>
      <p:sp>
        <p:nvSpPr>
          <p:cNvPr id="19" name="Text 16"/>
          <p:cNvSpPr/>
          <p:nvPr/>
        </p:nvSpPr>
        <p:spPr>
          <a:xfrm>
            <a:off x="8211312" y="5102352"/>
            <a:ext cx="3200400" cy="8046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whole surface spans only 0.73–0.81 — performance does not hinge on fine tuning.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ABLATION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Much Does the Microbiome Actually Add?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60020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Covariates only</a:t>
            </a:r>
            <a:endParaRPr lang="en-US" sz="1400" dirty="0"/>
          </a:p>
        </p:txBody>
      </p:sp>
      <p:sp>
        <p:nvSpPr>
          <p:cNvPr id="7" name="Text 5"/>
          <p:cNvSpPr/>
          <p:nvPr/>
        </p:nvSpPr>
        <p:spPr>
          <a:xfrm>
            <a:off x="548640" y="191109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season, site, species, sex, month</a:t>
            </a:r>
            <a:endParaRPr lang="en-US" sz="1050" dirty="0"/>
          </a:p>
        </p:txBody>
      </p:sp>
      <p:sp>
        <p:nvSpPr>
          <p:cNvPr id="8" name="Shape 6"/>
          <p:cNvSpPr/>
          <p:nvPr/>
        </p:nvSpPr>
        <p:spPr>
          <a:xfrm>
            <a:off x="3611880" y="1645920"/>
            <a:ext cx="6949440" cy="475488"/>
          </a:xfrm>
          <a:prstGeom prst="rect">
            <a:avLst/>
          </a:prstGeom>
          <a:solidFill>
            <a:srgbClr val="E8EEF0"/>
          </a:solidFill>
          <a:ln/>
        </p:spPr>
      </p:sp>
      <p:sp>
        <p:nvSpPr>
          <p:cNvPr id="9" name="Shape 7"/>
          <p:cNvSpPr/>
          <p:nvPr/>
        </p:nvSpPr>
        <p:spPr>
          <a:xfrm>
            <a:off x="3611880" y="1645920"/>
            <a:ext cx="5883859" cy="475488"/>
          </a:xfrm>
          <a:prstGeom prst="rect">
            <a:avLst/>
          </a:prstGeom>
          <a:solidFill>
            <a:srgbClr val="12505F"/>
          </a:solidFill>
          <a:ln/>
        </p:spPr>
      </p:sp>
      <p:sp>
        <p:nvSpPr>
          <p:cNvPr id="10" name="Text 8"/>
          <p:cNvSpPr/>
          <p:nvPr/>
        </p:nvSpPr>
        <p:spPr>
          <a:xfrm>
            <a:off x="10698480" y="1664208"/>
            <a:ext cx="914400" cy="411480"/>
          </a:xfrm>
          <a:prstGeom prst="rect">
            <a:avLst/>
          </a:prstGeom>
          <a:noFill/>
          <a:ln/>
        </p:spPr>
        <p:txBody>
          <a:bodyPr wrap="square" lIns="0" tIns="0" rIns="0" bIns="0" rtlCol="0" anchor="ctr"/>
          <a:lstStyle/>
          <a:p>
            <a:pPr indent="0" marL="0">
              <a:buNone/>
            </a:pPr>
            <a:r>
              <a:rPr lang="en-US" sz="1700" b="1" dirty="0">
                <a:solidFill>
                  <a:srgbClr val="12505F"/>
                </a:solidFill>
                <a:latin typeface="Georgia" pitchFamily="34" charset="0"/>
                <a:ea typeface="Georgia" pitchFamily="34" charset="-122"/>
                <a:cs typeface="Georgia" pitchFamily="34" charset="-120"/>
              </a:rPr>
              <a:t>0.881</a:t>
            </a:r>
            <a:endParaRPr lang="en-US" sz="1700" dirty="0"/>
          </a:p>
        </p:txBody>
      </p:sp>
      <p:sp>
        <p:nvSpPr>
          <p:cNvPr id="11" name="Text 9"/>
          <p:cNvSpPr/>
          <p:nvPr/>
        </p:nvSpPr>
        <p:spPr>
          <a:xfrm>
            <a:off x="548640" y="265176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only</a:t>
            </a:r>
            <a:endParaRPr lang="en-US" sz="1400" dirty="0"/>
          </a:p>
        </p:txBody>
      </p:sp>
      <p:sp>
        <p:nvSpPr>
          <p:cNvPr id="12" name="Text 10"/>
          <p:cNvSpPr/>
          <p:nvPr/>
        </p:nvSpPr>
        <p:spPr>
          <a:xfrm>
            <a:off x="548640" y="296265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70 CLR features</a:t>
            </a:r>
            <a:endParaRPr lang="en-US" sz="1050" dirty="0"/>
          </a:p>
        </p:txBody>
      </p:sp>
      <p:sp>
        <p:nvSpPr>
          <p:cNvPr id="13" name="Shape 11"/>
          <p:cNvSpPr/>
          <p:nvPr/>
        </p:nvSpPr>
        <p:spPr>
          <a:xfrm>
            <a:off x="3611880" y="2697480"/>
            <a:ext cx="6949440" cy="475488"/>
          </a:xfrm>
          <a:prstGeom prst="rect">
            <a:avLst/>
          </a:prstGeom>
          <a:solidFill>
            <a:srgbClr val="E8EEF0"/>
          </a:solidFill>
          <a:ln/>
        </p:spPr>
      </p:sp>
      <p:sp>
        <p:nvSpPr>
          <p:cNvPr id="14" name="Shape 12"/>
          <p:cNvSpPr/>
          <p:nvPr/>
        </p:nvSpPr>
        <p:spPr>
          <a:xfrm>
            <a:off x="3611880" y="2697480"/>
            <a:ext cx="4107891" cy="475488"/>
          </a:xfrm>
          <a:prstGeom prst="rect">
            <a:avLst/>
          </a:prstGeom>
          <a:solidFill>
            <a:srgbClr val="18707F"/>
          </a:solidFill>
          <a:ln/>
        </p:spPr>
      </p:sp>
      <p:sp>
        <p:nvSpPr>
          <p:cNvPr id="15" name="Text 13"/>
          <p:cNvSpPr/>
          <p:nvPr/>
        </p:nvSpPr>
        <p:spPr>
          <a:xfrm>
            <a:off x="10698480" y="2715768"/>
            <a:ext cx="914400" cy="411480"/>
          </a:xfrm>
          <a:prstGeom prst="rect">
            <a:avLst/>
          </a:prstGeom>
          <a:noFill/>
          <a:ln/>
        </p:spPr>
        <p:txBody>
          <a:bodyPr wrap="square" lIns="0" tIns="0" rIns="0" bIns="0" rtlCol="0" anchor="ctr"/>
          <a:lstStyle/>
          <a:p>
            <a:pPr indent="0" marL="0">
              <a:buNone/>
            </a:pPr>
            <a:r>
              <a:rPr lang="en-US" sz="1700" b="1" dirty="0">
                <a:solidFill>
                  <a:srgbClr val="18707F"/>
                </a:solidFill>
                <a:latin typeface="Georgia" pitchFamily="34" charset="0"/>
                <a:ea typeface="Georgia" pitchFamily="34" charset="-122"/>
                <a:cs typeface="Georgia" pitchFamily="34" charset="-120"/>
              </a:rPr>
              <a:t>0.766</a:t>
            </a:r>
            <a:endParaRPr lang="en-US" sz="1700" dirty="0"/>
          </a:p>
        </p:txBody>
      </p:sp>
      <p:sp>
        <p:nvSpPr>
          <p:cNvPr id="16" name="Text 14"/>
          <p:cNvSpPr/>
          <p:nvPr/>
        </p:nvSpPr>
        <p:spPr>
          <a:xfrm>
            <a:off x="548640" y="370332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 covariates</a:t>
            </a:r>
            <a:endParaRPr lang="en-US" sz="1400" dirty="0"/>
          </a:p>
        </p:txBody>
      </p:sp>
      <p:sp>
        <p:nvSpPr>
          <p:cNvPr id="17" name="Text 15"/>
          <p:cNvSpPr/>
          <p:nvPr/>
        </p:nvSpPr>
        <p:spPr>
          <a:xfrm>
            <a:off x="548640" y="401421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combined model</a:t>
            </a:r>
            <a:endParaRPr lang="en-US" sz="1050" dirty="0"/>
          </a:p>
        </p:txBody>
      </p:sp>
      <p:sp>
        <p:nvSpPr>
          <p:cNvPr id="18" name="Shape 16"/>
          <p:cNvSpPr/>
          <p:nvPr/>
        </p:nvSpPr>
        <p:spPr>
          <a:xfrm>
            <a:off x="3611880" y="3749040"/>
            <a:ext cx="6949440" cy="475488"/>
          </a:xfrm>
          <a:prstGeom prst="rect">
            <a:avLst/>
          </a:prstGeom>
          <a:solidFill>
            <a:srgbClr val="E8EEF0"/>
          </a:solidFill>
          <a:ln/>
        </p:spPr>
      </p:sp>
      <p:sp>
        <p:nvSpPr>
          <p:cNvPr id="19" name="Shape 17"/>
          <p:cNvSpPr/>
          <p:nvPr/>
        </p:nvSpPr>
        <p:spPr>
          <a:xfrm>
            <a:off x="3611880" y="3749040"/>
            <a:ext cx="6547917" cy="475488"/>
          </a:xfrm>
          <a:prstGeom prst="rect">
            <a:avLst/>
          </a:prstGeom>
          <a:solidFill>
            <a:srgbClr val="8FB996"/>
          </a:solidFill>
          <a:ln/>
        </p:spPr>
      </p:sp>
      <p:sp>
        <p:nvSpPr>
          <p:cNvPr id="20" name="Text 18"/>
          <p:cNvSpPr/>
          <p:nvPr/>
        </p:nvSpPr>
        <p:spPr>
          <a:xfrm>
            <a:off x="10698480" y="3767328"/>
            <a:ext cx="914400" cy="411480"/>
          </a:xfrm>
          <a:prstGeom prst="rect">
            <a:avLst/>
          </a:prstGeom>
          <a:noFill/>
          <a:ln/>
        </p:spPr>
        <p:txBody>
          <a:bodyPr wrap="square" lIns="0" tIns="0" rIns="0" bIns="0" rtlCol="0" anchor="ctr"/>
          <a:lstStyle/>
          <a:p>
            <a:pPr indent="0" marL="0">
              <a:buNone/>
            </a:pPr>
            <a:r>
              <a:rPr lang="en-US" sz="1700" b="1" dirty="0">
                <a:solidFill>
                  <a:srgbClr val="8FB996"/>
                </a:solidFill>
                <a:latin typeface="Georgia" pitchFamily="34" charset="0"/>
                <a:ea typeface="Georgia" pitchFamily="34" charset="-122"/>
                <a:cs typeface="Georgia" pitchFamily="34" charset="-120"/>
              </a:rPr>
              <a:t>0.924</a:t>
            </a:r>
            <a:endParaRPr lang="en-US" sz="1700" dirty="0"/>
          </a:p>
        </p:txBody>
      </p:sp>
      <p:sp>
        <p:nvSpPr>
          <p:cNvPr id="21" name="Text 19"/>
          <p:cNvSpPr/>
          <p:nvPr/>
        </p:nvSpPr>
        <p:spPr>
          <a:xfrm>
            <a:off x="3611880" y="4709160"/>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AUC  (bar origin = 0.50)</a:t>
            </a:r>
            <a:endParaRPr lang="en-US" sz="1000" dirty="0"/>
          </a:p>
        </p:txBody>
      </p:sp>
      <p:sp>
        <p:nvSpPr>
          <p:cNvPr id="22" name="Shape 20"/>
          <p:cNvSpPr/>
          <p:nvPr/>
        </p:nvSpPr>
        <p:spPr>
          <a:xfrm>
            <a:off x="548640" y="5074920"/>
            <a:ext cx="11064240" cy="10515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5074920"/>
            <a:ext cx="68580" cy="1051560"/>
          </a:xfrm>
          <a:prstGeom prst="rect">
            <a:avLst/>
          </a:prstGeom>
          <a:solidFill>
            <a:srgbClr val="D2603A"/>
          </a:solidFill>
          <a:ln/>
        </p:spPr>
      </p:sp>
      <p:sp>
        <p:nvSpPr>
          <p:cNvPr id="24" name="Text 22"/>
          <p:cNvSpPr/>
          <p:nvPr/>
        </p:nvSpPr>
        <p:spPr>
          <a:xfrm>
            <a:off x="804672" y="52212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Read this carefully</a:t>
            </a:r>
            <a:endParaRPr lang="en-US" sz="1500" dirty="0"/>
          </a:p>
        </p:txBody>
      </p:sp>
      <p:sp>
        <p:nvSpPr>
          <p:cNvPr id="25" name="Text 23"/>
          <p:cNvSpPr/>
          <p:nvPr/>
        </p:nvSpPr>
        <p:spPr>
          <a:xfrm>
            <a:off x="804672" y="56052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adds +0.043 over covariates alone — a real but modest independent contribution. Covariates by themselves already reach 0.881. Any claim that "gut microbiota predict influenza" must be quoted against that baseline, not against 0.50.</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24</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0.073 gap between two models that differ only in the kernel. The nonlinearity, not the margin formulation, is what earns the performance.</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Six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463040"/>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325880"/>
          </a:xfrm>
          <a:prstGeom prst="rect">
            <a:avLst/>
          </a:prstGeom>
          <a:solidFill>
            <a:srgbClr val="D2603A"/>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350" b="1" dirty="0">
                <a:solidFill>
                  <a:srgbClr val="16252C"/>
                </a:solidFill>
                <a:latin typeface="Georgia" pitchFamily="34" charset="0"/>
                <a:ea typeface="Georgia" pitchFamily="34" charset="-122"/>
                <a:cs typeface="Georgia" pitchFamily="34" charset="-120"/>
              </a:rPr>
              <a:t>1.  Cross-study generalization fails</a:t>
            </a:r>
            <a:endParaRPr lang="en-US" sz="1350" dirty="0"/>
          </a:p>
        </p:txBody>
      </p:sp>
      <p:sp>
        <p:nvSpPr>
          <p:cNvPr id="9" name="Text 7"/>
          <p:cNvSpPr/>
          <p:nvPr/>
        </p:nvSpPr>
        <p:spPr>
          <a:xfrm>
            <a:off x="804672" y="1993392"/>
            <a:ext cx="4937760" cy="66751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150" dirty="0"/>
          </a:p>
        </p:txBody>
      </p:sp>
      <p:sp>
        <p:nvSpPr>
          <p:cNvPr id="10" name="Shape 8"/>
          <p:cNvSpPr/>
          <p:nvPr/>
        </p:nvSpPr>
        <p:spPr>
          <a:xfrm>
            <a:off x="6263640" y="1463040"/>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325880"/>
          </a:xfrm>
          <a:prstGeom prst="rect">
            <a:avLst/>
          </a:prstGeom>
          <a:solidFill>
            <a:srgbClr val="D2603A"/>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350" b="1" dirty="0">
                <a:solidFill>
                  <a:srgbClr val="16252C"/>
                </a:solidFill>
                <a:latin typeface="Georgia" pitchFamily="34" charset="0"/>
                <a:ea typeface="Georgia" pitchFamily="34" charset="-122"/>
                <a:cs typeface="Georgia" pitchFamily="34" charset="-120"/>
              </a:rPr>
              <a:t>2.  Upstream filtering rule unknown</a:t>
            </a:r>
            <a:endParaRPr lang="en-US" sz="1350" dirty="0"/>
          </a:p>
        </p:txBody>
      </p:sp>
      <p:sp>
        <p:nvSpPr>
          <p:cNvPr id="13" name="Text 11"/>
          <p:cNvSpPr/>
          <p:nvPr/>
        </p:nvSpPr>
        <p:spPr>
          <a:xfrm>
            <a:off x="6519672" y="1993392"/>
            <a:ext cx="4937760" cy="66751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150" dirty="0"/>
          </a:p>
        </p:txBody>
      </p:sp>
      <p:sp>
        <p:nvSpPr>
          <p:cNvPr id="14" name="Shape 12"/>
          <p:cNvSpPr/>
          <p:nvPr/>
        </p:nvSpPr>
        <p:spPr>
          <a:xfrm>
            <a:off x="548640" y="298094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80944"/>
            <a:ext cx="68580" cy="1325880"/>
          </a:xfrm>
          <a:prstGeom prst="rect">
            <a:avLst/>
          </a:prstGeom>
          <a:solidFill>
            <a:srgbClr val="D2603A"/>
          </a:solidFill>
          <a:ln/>
        </p:spPr>
      </p:sp>
      <p:sp>
        <p:nvSpPr>
          <p:cNvPr id="16" name="Text 14"/>
          <p:cNvSpPr/>
          <p:nvPr/>
        </p:nvSpPr>
        <p:spPr>
          <a:xfrm>
            <a:off x="804672" y="3127248"/>
            <a:ext cx="4937760" cy="329184"/>
          </a:xfrm>
          <a:prstGeom prst="rect">
            <a:avLst/>
          </a:prstGeom>
          <a:noFill/>
          <a:ln/>
        </p:spPr>
        <p:txBody>
          <a:bodyPr wrap="square" lIns="0" tIns="0" rIns="0" bIns="0" rtlCol="0" anchor="t"/>
          <a:lstStyle/>
          <a:p>
            <a:pPr indent="0" marL="0">
              <a:buNone/>
            </a:pPr>
            <a:r>
              <a:rPr lang="en-US" sz="1350" b="1" dirty="0">
                <a:solidFill>
                  <a:srgbClr val="16252C"/>
                </a:solidFill>
                <a:latin typeface="Georgia" pitchFamily="34" charset="0"/>
                <a:ea typeface="Georgia" pitchFamily="34" charset="-122"/>
                <a:cs typeface="Georgia" pitchFamily="34" charset="-120"/>
              </a:rPr>
              <a:t>3.  Rarefaction is not rigorous</a:t>
            </a:r>
            <a:endParaRPr lang="en-US" sz="1350" dirty="0"/>
          </a:p>
        </p:txBody>
      </p:sp>
      <p:sp>
        <p:nvSpPr>
          <p:cNvPr id="17" name="Text 15"/>
          <p:cNvSpPr/>
          <p:nvPr/>
        </p:nvSpPr>
        <p:spPr>
          <a:xfrm>
            <a:off x="804672" y="3511296"/>
            <a:ext cx="4937760" cy="66751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150" dirty="0"/>
          </a:p>
        </p:txBody>
      </p:sp>
      <p:sp>
        <p:nvSpPr>
          <p:cNvPr id="18" name="Shape 16"/>
          <p:cNvSpPr/>
          <p:nvPr/>
        </p:nvSpPr>
        <p:spPr>
          <a:xfrm>
            <a:off x="6263640" y="298094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80944"/>
            <a:ext cx="68580" cy="1325880"/>
          </a:xfrm>
          <a:prstGeom prst="rect">
            <a:avLst/>
          </a:prstGeom>
          <a:solidFill>
            <a:srgbClr val="D2603A"/>
          </a:solidFill>
          <a:ln/>
        </p:spPr>
      </p:sp>
      <p:sp>
        <p:nvSpPr>
          <p:cNvPr id="20" name="Text 18"/>
          <p:cNvSpPr/>
          <p:nvPr/>
        </p:nvSpPr>
        <p:spPr>
          <a:xfrm>
            <a:off x="6519672" y="3127248"/>
            <a:ext cx="4937760" cy="329184"/>
          </a:xfrm>
          <a:prstGeom prst="rect">
            <a:avLst/>
          </a:prstGeom>
          <a:noFill/>
          <a:ln/>
        </p:spPr>
        <p:txBody>
          <a:bodyPr wrap="square" lIns="0" tIns="0" rIns="0" bIns="0" rtlCol="0" anchor="t"/>
          <a:lstStyle/>
          <a:p>
            <a:pPr indent="0" marL="0">
              <a:buNone/>
            </a:pPr>
            <a:r>
              <a:rPr lang="en-US" sz="1350" b="1" dirty="0">
                <a:solidFill>
                  <a:srgbClr val="16252C"/>
                </a:solidFill>
                <a:latin typeface="Georgia" pitchFamily="34" charset="0"/>
                <a:ea typeface="Georgia" pitchFamily="34" charset="-122"/>
                <a:cs typeface="Georgia" pitchFamily="34" charset="-120"/>
              </a:rPr>
              <a:t>4.  Threshold not optimized</a:t>
            </a:r>
            <a:endParaRPr lang="en-US" sz="1350" dirty="0"/>
          </a:p>
        </p:txBody>
      </p:sp>
      <p:sp>
        <p:nvSpPr>
          <p:cNvPr id="21" name="Text 19"/>
          <p:cNvSpPr/>
          <p:nvPr/>
        </p:nvSpPr>
        <p:spPr>
          <a:xfrm>
            <a:off x="6519672" y="3511296"/>
            <a:ext cx="4937760" cy="66751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150" dirty="0"/>
          </a:p>
        </p:txBody>
      </p:sp>
      <p:sp>
        <p:nvSpPr>
          <p:cNvPr id="22" name="Shape 20"/>
          <p:cNvSpPr/>
          <p:nvPr/>
        </p:nvSpPr>
        <p:spPr>
          <a:xfrm>
            <a:off x="548640" y="4498848"/>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98848"/>
            <a:ext cx="68580" cy="1325880"/>
          </a:xfrm>
          <a:prstGeom prst="rect">
            <a:avLst/>
          </a:prstGeom>
          <a:solidFill>
            <a:srgbClr val="D2603A"/>
          </a:solidFill>
          <a:ln/>
        </p:spPr>
      </p:sp>
      <p:sp>
        <p:nvSpPr>
          <p:cNvPr id="24" name="Text 22"/>
          <p:cNvSpPr/>
          <p:nvPr/>
        </p:nvSpPr>
        <p:spPr>
          <a:xfrm>
            <a:off x="804672" y="4645152"/>
            <a:ext cx="4937760" cy="329184"/>
          </a:xfrm>
          <a:prstGeom prst="rect">
            <a:avLst/>
          </a:prstGeom>
          <a:noFill/>
          <a:ln/>
        </p:spPr>
        <p:txBody>
          <a:bodyPr wrap="square" lIns="0" tIns="0" rIns="0" bIns="0" rtlCol="0" anchor="t"/>
          <a:lstStyle/>
          <a:p>
            <a:pPr indent="0" marL="0">
              <a:buNone/>
            </a:pPr>
            <a:r>
              <a:rPr lang="en-US" sz="1350" b="1" dirty="0">
                <a:solidFill>
                  <a:srgbClr val="16252C"/>
                </a:solidFill>
                <a:latin typeface="Georgia" pitchFamily="34" charset="0"/>
                <a:ea typeface="Georgia" pitchFamily="34" charset="-122"/>
                <a:cs typeface="Georgia" pitchFamily="34" charset="-120"/>
              </a:rPr>
              <a:t>5.  Taxonomic resolution is capped</a:t>
            </a:r>
            <a:endParaRPr lang="en-US" sz="1350" dirty="0"/>
          </a:p>
        </p:txBody>
      </p:sp>
      <p:sp>
        <p:nvSpPr>
          <p:cNvPr id="25" name="Text 23"/>
          <p:cNvSpPr/>
          <p:nvPr/>
        </p:nvSpPr>
        <p:spPr>
          <a:xfrm>
            <a:off x="804672" y="5029200"/>
            <a:ext cx="4937760" cy="66751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150" dirty="0"/>
          </a:p>
        </p:txBody>
      </p:sp>
      <p:sp>
        <p:nvSpPr>
          <p:cNvPr id="26" name="Shape 24"/>
          <p:cNvSpPr/>
          <p:nvPr/>
        </p:nvSpPr>
        <p:spPr>
          <a:xfrm>
            <a:off x="6263640" y="4498848"/>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98848"/>
            <a:ext cx="68580" cy="1325880"/>
          </a:xfrm>
          <a:prstGeom prst="rect">
            <a:avLst/>
          </a:prstGeom>
          <a:solidFill>
            <a:srgbClr val="D2603A"/>
          </a:solidFill>
          <a:ln/>
        </p:spPr>
      </p:sp>
      <p:sp>
        <p:nvSpPr>
          <p:cNvPr id="28" name="Text 26"/>
          <p:cNvSpPr/>
          <p:nvPr/>
        </p:nvSpPr>
        <p:spPr>
          <a:xfrm>
            <a:off x="6519672" y="4645152"/>
            <a:ext cx="4937760" cy="329184"/>
          </a:xfrm>
          <a:prstGeom prst="rect">
            <a:avLst/>
          </a:prstGeom>
          <a:noFill/>
          <a:ln/>
        </p:spPr>
        <p:txBody>
          <a:bodyPr wrap="square" lIns="0" tIns="0" rIns="0" bIns="0" rtlCol="0" anchor="t"/>
          <a:lstStyle/>
          <a:p>
            <a:pPr indent="0" marL="0">
              <a:buNone/>
            </a:pPr>
            <a:r>
              <a:rPr lang="en-US" sz="1350" b="1" dirty="0">
                <a:solidFill>
                  <a:srgbClr val="16252C"/>
                </a:solidFill>
                <a:latin typeface="Georgia" pitchFamily="34" charset="0"/>
                <a:ea typeface="Georgia" pitchFamily="34" charset="-122"/>
                <a:cs typeface="Georgia" pitchFamily="34" charset="-120"/>
              </a:rPr>
              <a:t>6.  Confounder baseline is high</a:t>
            </a:r>
            <a:endParaRPr lang="en-US" sz="1350" dirty="0"/>
          </a:p>
        </p:txBody>
      </p:sp>
      <p:sp>
        <p:nvSpPr>
          <p:cNvPr id="29" name="Text 27"/>
          <p:cNvSpPr/>
          <p:nvPr/>
        </p:nvSpPr>
        <p:spPr>
          <a:xfrm>
            <a:off x="6519672" y="5029200"/>
            <a:ext cx="4937760" cy="66751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150" dirty="0"/>
          </a:p>
        </p:txBody>
      </p:sp>
      <p:sp>
        <p:nvSpPr>
          <p:cNvPr id="30" name="Text 28"/>
          <p:cNvSpPr/>
          <p:nvPr/>
        </p:nvSpPr>
        <p:spPr>
          <a:xfrm>
            <a:off x="548640" y="608076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426464"/>
            <a:ext cx="457200" cy="457200"/>
          </a:xfrm>
          <a:prstGeom prst="ellipse">
            <a:avLst/>
          </a:prstGeom>
          <a:solidFill>
            <a:srgbClr val="18707F"/>
          </a:solidFill>
          <a:ln/>
        </p:spPr>
      </p:sp>
      <p:sp>
        <p:nvSpPr>
          <p:cNvPr id="7" name="Text 5"/>
          <p:cNvSpPr/>
          <p:nvPr/>
        </p:nvSpPr>
        <p:spPr>
          <a:xfrm>
            <a:off x="548640" y="149961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389888"/>
            <a:ext cx="10424160" cy="594360"/>
          </a:xfrm>
          <a:prstGeom prst="rect">
            <a:avLst/>
          </a:prstGeom>
          <a:noFill/>
          <a:ln/>
        </p:spPr>
        <p:txBody>
          <a:bodyPr wrap="square" lIns="0" tIns="0" rIns="0" bIns="0" rtlCol="0" anchor="ctr"/>
          <a:lstStyle/>
          <a:p>
            <a:pPr indent="0" marL="0">
              <a:lnSpc>
                <a:spcPct val="110000"/>
              </a:lnSpc>
              <a:buNone/>
            </a:pPr>
            <a:r>
              <a:rPr lang="en-US" sz="13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350" dirty="0"/>
          </a:p>
        </p:txBody>
      </p:sp>
      <p:sp>
        <p:nvSpPr>
          <p:cNvPr id="9" name="Shape 7"/>
          <p:cNvSpPr/>
          <p:nvPr/>
        </p:nvSpPr>
        <p:spPr>
          <a:xfrm>
            <a:off x="548640" y="2212848"/>
            <a:ext cx="457200" cy="457200"/>
          </a:xfrm>
          <a:prstGeom prst="ellipse">
            <a:avLst/>
          </a:prstGeom>
          <a:solidFill>
            <a:srgbClr val="18707F"/>
          </a:solidFill>
          <a:ln/>
        </p:spPr>
      </p:sp>
      <p:sp>
        <p:nvSpPr>
          <p:cNvPr id="10" name="Text 8"/>
          <p:cNvSpPr/>
          <p:nvPr/>
        </p:nvSpPr>
        <p:spPr>
          <a:xfrm>
            <a:off x="548640" y="228600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2176272"/>
            <a:ext cx="10424160" cy="594360"/>
          </a:xfrm>
          <a:prstGeom prst="rect">
            <a:avLst/>
          </a:prstGeom>
          <a:noFill/>
          <a:ln/>
        </p:spPr>
        <p:txBody>
          <a:bodyPr wrap="square" lIns="0" tIns="0" rIns="0" bIns="0" rtlCol="0" anchor="ctr"/>
          <a:lstStyle/>
          <a:p>
            <a:pPr indent="0" marL="0">
              <a:lnSpc>
                <a:spcPct val="110000"/>
              </a:lnSpc>
              <a:buNone/>
            </a:pPr>
            <a:r>
              <a:rPr lang="en-US" sz="1350" dirty="0">
                <a:solidFill>
                  <a:srgbClr val="16252C"/>
                </a:solidFill>
                <a:latin typeface="Calibri" pitchFamily="34" charset="0"/>
                <a:ea typeface="Calibri" pitchFamily="34" charset="-122"/>
                <a:cs typeface="Calibri" pitchFamily="34" charset="-120"/>
              </a:rPr>
              <a:t>SVM-RBF is the best model — AUC 0.839, MCC 0.531 — and significantly beats Random Forest (p = 0.021) and L1-LR (p &lt; 0.001).</a:t>
            </a:r>
            <a:endParaRPr lang="en-US" sz="1350" dirty="0"/>
          </a:p>
        </p:txBody>
      </p:sp>
      <p:sp>
        <p:nvSpPr>
          <p:cNvPr id="12" name="Shape 10"/>
          <p:cNvSpPr/>
          <p:nvPr/>
        </p:nvSpPr>
        <p:spPr>
          <a:xfrm>
            <a:off x="548640" y="2999232"/>
            <a:ext cx="457200" cy="457200"/>
          </a:xfrm>
          <a:prstGeom prst="ellipse">
            <a:avLst/>
          </a:prstGeom>
          <a:solidFill>
            <a:srgbClr val="18707F"/>
          </a:solidFill>
          <a:ln/>
        </p:spPr>
      </p:sp>
      <p:sp>
        <p:nvSpPr>
          <p:cNvPr id="13" name="Text 11"/>
          <p:cNvSpPr/>
          <p:nvPr/>
        </p:nvSpPr>
        <p:spPr>
          <a:xfrm>
            <a:off x="548640" y="30723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962656"/>
            <a:ext cx="10424160" cy="594360"/>
          </a:xfrm>
          <a:prstGeom prst="rect">
            <a:avLst/>
          </a:prstGeom>
          <a:noFill/>
          <a:ln/>
        </p:spPr>
        <p:txBody>
          <a:bodyPr wrap="square" lIns="0" tIns="0" rIns="0" bIns="0" rtlCol="0" anchor="ctr"/>
          <a:lstStyle/>
          <a:p>
            <a:pPr indent="0" marL="0">
              <a:lnSpc>
                <a:spcPct val="110000"/>
              </a:lnSpc>
              <a:buNone/>
            </a:pPr>
            <a:r>
              <a:rPr lang="en-US" sz="13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350" dirty="0"/>
          </a:p>
        </p:txBody>
      </p:sp>
      <p:sp>
        <p:nvSpPr>
          <p:cNvPr id="15" name="Shape 13"/>
          <p:cNvSpPr/>
          <p:nvPr/>
        </p:nvSpPr>
        <p:spPr>
          <a:xfrm>
            <a:off x="548640" y="3785616"/>
            <a:ext cx="457200" cy="457200"/>
          </a:xfrm>
          <a:prstGeom prst="ellipse">
            <a:avLst/>
          </a:prstGeom>
          <a:solidFill>
            <a:srgbClr val="18707F"/>
          </a:solidFill>
          <a:ln/>
        </p:spPr>
      </p:sp>
      <p:sp>
        <p:nvSpPr>
          <p:cNvPr id="16" name="Text 14"/>
          <p:cNvSpPr/>
          <p:nvPr/>
        </p:nvSpPr>
        <p:spPr>
          <a:xfrm>
            <a:off x="548640" y="385876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749040"/>
            <a:ext cx="10424160" cy="594360"/>
          </a:xfrm>
          <a:prstGeom prst="rect">
            <a:avLst/>
          </a:prstGeom>
          <a:noFill/>
          <a:ln/>
        </p:spPr>
        <p:txBody>
          <a:bodyPr wrap="square" lIns="0" tIns="0" rIns="0" bIns="0" rtlCol="0" anchor="ctr"/>
          <a:lstStyle/>
          <a:p>
            <a:pPr indent="0" marL="0">
              <a:lnSpc>
                <a:spcPct val="110000"/>
              </a:lnSpc>
              <a:buNone/>
            </a:pPr>
            <a:r>
              <a:rPr lang="en-US" sz="13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350" dirty="0"/>
          </a:p>
        </p:txBody>
      </p:sp>
      <p:sp>
        <p:nvSpPr>
          <p:cNvPr id="18" name="Shape 16"/>
          <p:cNvSpPr/>
          <p:nvPr/>
        </p:nvSpPr>
        <p:spPr>
          <a:xfrm>
            <a:off x="548640" y="4572000"/>
            <a:ext cx="457200" cy="457200"/>
          </a:xfrm>
          <a:prstGeom prst="ellipse">
            <a:avLst/>
          </a:prstGeom>
          <a:solidFill>
            <a:srgbClr val="18707F"/>
          </a:solidFill>
          <a:ln/>
        </p:spPr>
      </p:sp>
      <p:sp>
        <p:nvSpPr>
          <p:cNvPr id="19" name="Text 17"/>
          <p:cNvSpPr/>
          <p:nvPr/>
        </p:nvSpPr>
        <p:spPr>
          <a:xfrm>
            <a:off x="548640" y="464515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535424"/>
            <a:ext cx="10424160" cy="594360"/>
          </a:xfrm>
          <a:prstGeom prst="rect">
            <a:avLst/>
          </a:prstGeom>
          <a:noFill/>
          <a:ln/>
        </p:spPr>
        <p:txBody>
          <a:bodyPr wrap="square" lIns="0" tIns="0" rIns="0" bIns="0" rtlCol="0" anchor="ctr"/>
          <a:lstStyle/>
          <a:p>
            <a:pPr indent="0" marL="0">
              <a:lnSpc>
                <a:spcPct val="110000"/>
              </a:lnSpc>
              <a:buNone/>
            </a:pPr>
            <a:r>
              <a:rPr lang="en-US" sz="1350" dirty="0">
                <a:solidFill>
                  <a:srgbClr val="16252C"/>
                </a:solidFill>
                <a:latin typeface="Calibri" pitchFamily="34" charset="0"/>
                <a:ea typeface="Calibri" pitchFamily="34" charset="-122"/>
                <a:cs typeface="Calibri" pitchFamily="34" charset="-120"/>
              </a:rPr>
              <a:t>Sampling season is a serious confounder (covariates alone: AUC 0.881), but stratified analysis shows it does not explain the signal away.</a:t>
            </a:r>
            <a:endParaRPr lang="en-US" sz="1350" dirty="0"/>
          </a:p>
        </p:txBody>
      </p:sp>
      <p:sp>
        <p:nvSpPr>
          <p:cNvPr id="21" name="Shape 19"/>
          <p:cNvSpPr/>
          <p:nvPr/>
        </p:nvSpPr>
        <p:spPr>
          <a:xfrm>
            <a:off x="548640" y="5358384"/>
            <a:ext cx="457200" cy="457200"/>
          </a:xfrm>
          <a:prstGeom prst="ellipse">
            <a:avLst/>
          </a:prstGeom>
          <a:solidFill>
            <a:srgbClr val="D2603A"/>
          </a:solidFill>
          <a:ln/>
        </p:spPr>
      </p:sp>
      <p:sp>
        <p:nvSpPr>
          <p:cNvPr id="22" name="Text 20"/>
          <p:cNvSpPr/>
          <p:nvPr/>
        </p:nvSpPr>
        <p:spPr>
          <a:xfrm>
            <a:off x="548640" y="54315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5321808"/>
            <a:ext cx="10424160" cy="594360"/>
          </a:xfrm>
          <a:prstGeom prst="rect">
            <a:avLst/>
          </a:prstGeom>
          <a:noFill/>
          <a:ln/>
        </p:spPr>
        <p:txBody>
          <a:bodyPr wrap="square" lIns="0" tIns="0" rIns="0" bIns="0" rtlCol="0" anchor="ctr"/>
          <a:lstStyle/>
          <a:p>
            <a:pPr indent="0" marL="0">
              <a:lnSpc>
                <a:spcPct val="110000"/>
              </a:lnSpc>
              <a:buNone/>
            </a:pPr>
            <a:r>
              <a:rPr lang="en-US" sz="13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Six-model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2026-08-10T20:59:12Z</dcterms:created>
  <dcterms:modified xsi:type="dcterms:W3CDTF">2026-08-10T20:59:12Z</dcterms:modified>
</cp:coreProperties>
</file>