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417320"/>
            <a:ext cx="260604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0.839</a:t>
            </a:r>
            <a:endParaRPr lang="en-US" sz="4000" dirty="0"/>
          </a:p>
        </p:txBody>
      </p:sp>
      <p:sp>
        <p:nvSpPr>
          <p:cNvPr id="7" name="Text 5"/>
          <p:cNvSpPr/>
          <p:nvPr/>
        </p:nvSpPr>
        <p:spPr>
          <a:xfrm>
            <a:off x="5486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ROC-AUC</a:t>
            </a:r>
            <a:endParaRPr lang="en-US" sz="1150" dirty="0"/>
          </a:p>
        </p:txBody>
      </p:sp>
      <p:sp>
        <p:nvSpPr>
          <p:cNvPr id="8" name="Text 6"/>
          <p:cNvSpPr/>
          <p:nvPr/>
        </p:nvSpPr>
        <p:spPr>
          <a:xfrm>
            <a:off x="5486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SVM-RBF, nested CV</a:t>
            </a:r>
            <a:endParaRPr lang="en-US" sz="1000" dirty="0"/>
          </a:p>
        </p:txBody>
      </p:sp>
      <p:sp>
        <p:nvSpPr>
          <p:cNvPr id="9" name="Text 7"/>
          <p:cNvSpPr/>
          <p:nvPr/>
        </p:nvSpPr>
        <p:spPr>
          <a:xfrm>
            <a:off x="3291840" y="141732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0.531</a:t>
            </a:r>
            <a:endParaRPr lang="en-US" sz="4000" dirty="0"/>
          </a:p>
        </p:txBody>
      </p:sp>
      <p:sp>
        <p:nvSpPr>
          <p:cNvPr id="10" name="Text 8"/>
          <p:cNvSpPr/>
          <p:nvPr/>
        </p:nvSpPr>
        <p:spPr>
          <a:xfrm>
            <a:off x="32918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MCC</a:t>
            </a:r>
            <a:endParaRPr lang="en-US" sz="1150" dirty="0"/>
          </a:p>
        </p:txBody>
      </p:sp>
      <p:sp>
        <p:nvSpPr>
          <p:cNvPr id="11" name="Text 9"/>
          <p:cNvSpPr/>
          <p:nvPr/>
        </p:nvSpPr>
        <p:spPr>
          <a:xfrm>
            <a:off x="32918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baseline = 0</a:t>
            </a:r>
            <a:endParaRPr lang="en-US" sz="1000" dirty="0"/>
          </a:p>
        </p:txBody>
      </p:sp>
      <p:sp>
        <p:nvSpPr>
          <p:cNvPr id="12" name="Text 10"/>
          <p:cNvSpPr/>
          <p:nvPr/>
        </p:nvSpPr>
        <p:spPr>
          <a:xfrm>
            <a:off x="6035040" y="1417320"/>
            <a:ext cx="2606040" cy="658368"/>
          </a:xfrm>
          <a:prstGeom prst="rect">
            <a:avLst/>
          </a:prstGeom>
          <a:noFill/>
          <a:ln/>
        </p:spPr>
        <p:txBody>
          <a:bodyPr wrap="square" lIns="0" tIns="0" rIns="0" bIns="0" rtlCol="0" anchor="ctr"/>
          <a:lstStyle/>
          <a:p>
            <a:pPr algn="ctr" indent="0" marL="0">
              <a:buNone/>
            </a:pPr>
            <a:r>
              <a:rPr lang="en-US" sz="3200" b="1" dirty="0">
                <a:solidFill>
                  <a:srgbClr val="12505F"/>
                </a:solidFill>
                <a:latin typeface="Georgia" pitchFamily="34" charset="0"/>
                <a:ea typeface="Georgia" pitchFamily="34" charset="-122"/>
                <a:cs typeface="Georgia" pitchFamily="34" charset="-120"/>
              </a:rPr>
              <a:t>p=0.0099</a:t>
            </a:r>
            <a:endParaRPr lang="en-US" sz="3200" dirty="0"/>
          </a:p>
        </p:txBody>
      </p:sp>
      <p:sp>
        <p:nvSpPr>
          <p:cNvPr id="13" name="Text 11"/>
          <p:cNvSpPr/>
          <p:nvPr/>
        </p:nvSpPr>
        <p:spPr>
          <a:xfrm>
            <a:off x="60350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Permutation test</a:t>
            </a:r>
            <a:endParaRPr lang="en-US" sz="1150" dirty="0"/>
          </a:p>
        </p:txBody>
      </p:sp>
      <p:sp>
        <p:nvSpPr>
          <p:cNvPr id="14" name="Text 12"/>
          <p:cNvSpPr/>
          <p:nvPr/>
        </p:nvSpPr>
        <p:spPr>
          <a:xfrm>
            <a:off x="60350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signal is real</a:t>
            </a:r>
            <a:endParaRPr lang="en-US" sz="1000" dirty="0"/>
          </a:p>
        </p:txBody>
      </p:sp>
      <p:sp>
        <p:nvSpPr>
          <p:cNvPr id="15" name="Text 13"/>
          <p:cNvSpPr/>
          <p:nvPr/>
        </p:nvSpPr>
        <p:spPr>
          <a:xfrm>
            <a:off x="8778240" y="141732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9397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8658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methods agree</a:t>
            </a:r>
            <a:endParaRPr lang="en-US" sz="1000" dirty="0"/>
          </a:p>
        </p:txBody>
      </p:sp>
      <p:sp>
        <p:nvSpPr>
          <p:cNvPr id="18" name="Shape 16"/>
          <p:cNvSpPr/>
          <p:nvPr/>
        </p:nvSpPr>
        <p:spPr>
          <a:xfrm>
            <a:off x="548640" y="2880360"/>
            <a:ext cx="548640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880360"/>
            <a:ext cx="68580" cy="1600200"/>
          </a:xfrm>
          <a:prstGeom prst="rect">
            <a:avLst/>
          </a:prstGeom>
          <a:solidFill>
            <a:srgbClr val="18707F"/>
          </a:solidFill>
          <a:ln/>
        </p:spPr>
      </p:sp>
      <p:sp>
        <p:nvSpPr>
          <p:cNvPr id="20" name="Text 18"/>
          <p:cNvSpPr/>
          <p:nvPr/>
        </p:nvSpPr>
        <p:spPr>
          <a:xfrm>
            <a:off x="804672" y="302666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1" name="Text 19"/>
          <p:cNvSpPr/>
          <p:nvPr/>
        </p:nvSpPr>
        <p:spPr>
          <a:xfrm>
            <a:off x="804672" y="3410712"/>
            <a:ext cx="502920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2" name="Shape 20"/>
          <p:cNvSpPr/>
          <p:nvPr/>
        </p:nvSpPr>
        <p:spPr>
          <a:xfrm>
            <a:off x="6309360" y="2880360"/>
            <a:ext cx="530352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2880360"/>
            <a:ext cx="68580" cy="1600200"/>
          </a:xfrm>
          <a:prstGeom prst="rect">
            <a:avLst/>
          </a:prstGeom>
          <a:solidFill>
            <a:srgbClr val="8FB996"/>
          </a:solidFill>
          <a:ln/>
        </p:spPr>
      </p:sp>
      <p:sp>
        <p:nvSpPr>
          <p:cNvPr id="24" name="Text 22"/>
          <p:cNvSpPr/>
          <p:nvPr/>
        </p:nvSpPr>
        <p:spPr>
          <a:xfrm>
            <a:off x="6565392" y="302666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5" name="Text 23"/>
          <p:cNvSpPr/>
          <p:nvPr/>
        </p:nvSpPr>
        <p:spPr>
          <a:xfrm>
            <a:off x="6565392" y="3410712"/>
            <a:ext cx="484632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6" name="Shape 24"/>
          <p:cNvSpPr/>
          <p:nvPr/>
        </p:nvSpPr>
        <p:spPr>
          <a:xfrm>
            <a:off x="548640" y="4709160"/>
            <a:ext cx="11064240" cy="1005840"/>
          </a:xfrm>
          <a:prstGeom prst="rect">
            <a:avLst/>
          </a:prstGeom>
          <a:solidFill>
            <a:srgbClr val="FBEDE7"/>
          </a:solidFill>
          <a:ln/>
        </p:spPr>
      </p:sp>
      <p:sp>
        <p:nvSpPr>
          <p:cNvPr id="27" name="Shape 25"/>
          <p:cNvSpPr/>
          <p:nvPr/>
        </p:nvSpPr>
        <p:spPr>
          <a:xfrm>
            <a:off x="548640" y="4709160"/>
            <a:ext cx="68580" cy="1005840"/>
          </a:xfrm>
          <a:prstGeom prst="rect">
            <a:avLst/>
          </a:prstGeom>
          <a:solidFill>
            <a:srgbClr val="D2603A"/>
          </a:solidFill>
          <a:ln/>
        </p:spPr>
      </p:sp>
      <p:sp>
        <p:nvSpPr>
          <p:cNvPr id="28" name="Text 26"/>
          <p:cNvSpPr/>
          <p:nvPr/>
        </p:nvSpPr>
        <p:spPr>
          <a:xfrm>
            <a:off x="804672" y="4800600"/>
            <a:ext cx="10607040" cy="8229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1783080"/>
          </a:xfrm>
          <a:prstGeom prst="rect">
            <a:avLst/>
          </a:prstGeom>
          <a:solidFill>
            <a:srgbClr val="12505F"/>
          </a:solidFill>
          <a:ln/>
        </p:spPr>
      </p:sp>
      <p:sp>
        <p:nvSpPr>
          <p:cNvPr id="8" name="Text 6"/>
          <p:cNvSpPr/>
          <p:nvPr/>
        </p:nvSpPr>
        <p:spPr>
          <a:xfrm>
            <a:off x="80467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Outer loop</a:t>
            </a:r>
            <a:endParaRPr lang="en-US" sz="1500" dirty="0"/>
          </a:p>
        </p:txBody>
      </p:sp>
      <p:sp>
        <p:nvSpPr>
          <p:cNvPr id="9" name="Text 7"/>
          <p:cNvSpPr/>
          <p:nvPr/>
        </p:nvSpPr>
        <p:spPr>
          <a:xfrm>
            <a:off x="80467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RepeatedStratifiedKFold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 folds × 5 repeats = 25 folds</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performance estimation</a:t>
            </a:r>
            <a:endParaRPr lang="en-US" sz="1200" dirty="0"/>
          </a:p>
        </p:txBody>
      </p:sp>
      <p:sp>
        <p:nvSpPr>
          <p:cNvPr id="10" name="Shape 8"/>
          <p:cNvSpPr/>
          <p:nvPr/>
        </p:nvSpPr>
        <p:spPr>
          <a:xfrm>
            <a:off x="429768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417320"/>
            <a:ext cx="68580" cy="1783080"/>
          </a:xfrm>
          <a:prstGeom prst="rect">
            <a:avLst/>
          </a:prstGeom>
          <a:solidFill>
            <a:srgbClr val="18707F"/>
          </a:solidFill>
          <a:ln/>
        </p:spPr>
      </p:sp>
      <p:sp>
        <p:nvSpPr>
          <p:cNvPr id="12" name="Text 10"/>
          <p:cNvSpPr/>
          <p:nvPr/>
        </p:nvSpPr>
        <p:spPr>
          <a:xfrm>
            <a:off x="455371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Inner loop</a:t>
            </a:r>
            <a:endParaRPr lang="en-US" sz="1500" dirty="0"/>
          </a:p>
        </p:txBody>
      </p:sp>
      <p:sp>
        <p:nvSpPr>
          <p:cNvPr id="13" name="Text 11"/>
          <p:cNvSpPr/>
          <p:nvPr/>
        </p:nvSpPr>
        <p:spPr>
          <a:xfrm>
            <a:off x="455371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StratifiedKFold, 4 folds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GridSearchCV on ROC-AUC</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hyperparameter search</a:t>
            </a:r>
            <a:endParaRPr lang="en-US" sz="1200" dirty="0"/>
          </a:p>
        </p:txBody>
      </p:sp>
      <p:sp>
        <p:nvSpPr>
          <p:cNvPr id="14" name="Shape 12"/>
          <p:cNvSpPr/>
          <p:nvPr/>
        </p:nvSpPr>
        <p:spPr>
          <a:xfrm>
            <a:off x="804672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417320"/>
            <a:ext cx="68580" cy="1783080"/>
          </a:xfrm>
          <a:prstGeom prst="rect">
            <a:avLst/>
          </a:prstGeom>
          <a:solidFill>
            <a:srgbClr val="8FB996"/>
          </a:solidFill>
          <a:ln/>
        </p:spPr>
      </p:sp>
      <p:sp>
        <p:nvSpPr>
          <p:cNvPr id="16" name="Text 14"/>
          <p:cNvSpPr/>
          <p:nvPr/>
        </p:nvSpPr>
        <p:spPr>
          <a:xfrm>
            <a:off x="830275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Shared splits</a:t>
            </a:r>
            <a:endParaRPr lang="en-US" sz="1500" dirty="0"/>
          </a:p>
        </p:txBody>
      </p:sp>
      <p:sp>
        <p:nvSpPr>
          <p:cNvPr id="17" name="Text 15"/>
          <p:cNvSpPr/>
          <p:nvPr/>
        </p:nvSpPr>
        <p:spPr>
          <a:xfrm>
            <a:off x="830275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Every model sees the identical</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fold partition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fair comparison</a:t>
            </a:r>
            <a:endParaRPr lang="en-US" sz="1200" dirty="0"/>
          </a:p>
        </p:txBody>
      </p:sp>
      <p:sp>
        <p:nvSpPr>
          <p:cNvPr id="18" name="Shape 16"/>
          <p:cNvSpPr/>
          <p:nvPr/>
        </p:nvSpPr>
        <p:spPr>
          <a:xfrm>
            <a:off x="548640" y="3429000"/>
            <a:ext cx="548640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3429000"/>
            <a:ext cx="68580" cy="1371600"/>
          </a:xfrm>
          <a:prstGeom prst="rect">
            <a:avLst/>
          </a:prstGeom>
          <a:solidFill>
            <a:srgbClr val="18707F"/>
          </a:solidFill>
          <a:ln/>
        </p:spPr>
      </p:sp>
      <p:sp>
        <p:nvSpPr>
          <p:cNvPr id="20" name="Text 18"/>
          <p:cNvSpPr/>
          <p:nvPr/>
        </p:nvSpPr>
        <p:spPr>
          <a:xfrm>
            <a:off x="804672" y="357530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nested</a:t>
            </a:r>
            <a:endParaRPr lang="en-US" sz="1500" dirty="0"/>
          </a:p>
        </p:txBody>
      </p:sp>
      <p:sp>
        <p:nvSpPr>
          <p:cNvPr id="21" name="Text 19"/>
          <p:cNvSpPr/>
          <p:nvPr/>
        </p:nvSpPr>
        <p:spPr>
          <a:xfrm>
            <a:off x="804672" y="3959352"/>
            <a:ext cx="502920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Tuning and evaluating on the same folds inflates results. Nesting isolates the two, so the reported AUC contains no tuning bias.</a:t>
            </a:r>
            <a:endParaRPr lang="en-US" sz="1200" dirty="0"/>
          </a:p>
        </p:txBody>
      </p:sp>
      <p:sp>
        <p:nvSpPr>
          <p:cNvPr id="22" name="Shape 20"/>
          <p:cNvSpPr/>
          <p:nvPr/>
        </p:nvSpPr>
        <p:spPr>
          <a:xfrm>
            <a:off x="6309360" y="3429000"/>
            <a:ext cx="530352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3429000"/>
            <a:ext cx="68580" cy="1371600"/>
          </a:xfrm>
          <a:prstGeom prst="rect">
            <a:avLst/>
          </a:prstGeom>
          <a:solidFill>
            <a:srgbClr val="18707F"/>
          </a:solidFill>
          <a:ln/>
        </p:spPr>
      </p:sp>
      <p:sp>
        <p:nvSpPr>
          <p:cNvPr id="24" name="Text 22"/>
          <p:cNvSpPr/>
          <p:nvPr/>
        </p:nvSpPr>
        <p:spPr>
          <a:xfrm>
            <a:off x="6565392" y="357530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Metrics reported</a:t>
            </a:r>
            <a:endParaRPr lang="en-US" sz="1500" dirty="0"/>
          </a:p>
        </p:txBody>
      </p:sp>
      <p:sp>
        <p:nvSpPr>
          <p:cNvPr id="25" name="Text 23"/>
          <p:cNvSpPr/>
          <p:nvPr/>
        </p:nvSpPr>
        <p:spPr>
          <a:xfrm>
            <a:off x="6565392" y="3959352"/>
            <a:ext cx="484632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200" dirty="0"/>
          </a:p>
        </p:txBody>
      </p:sp>
      <p:sp>
        <p:nvSpPr>
          <p:cNvPr id="26" name="Shape 24"/>
          <p:cNvSpPr/>
          <p:nvPr/>
        </p:nvSpPr>
        <p:spPr>
          <a:xfrm>
            <a:off x="548640" y="5029200"/>
            <a:ext cx="11064240" cy="868680"/>
          </a:xfrm>
          <a:prstGeom prst="rect">
            <a:avLst/>
          </a:prstGeom>
          <a:solidFill>
            <a:srgbClr val="FBEDE7"/>
          </a:solidFill>
          <a:ln/>
        </p:spPr>
      </p:sp>
      <p:sp>
        <p:nvSpPr>
          <p:cNvPr id="27" name="Shape 25"/>
          <p:cNvSpPr/>
          <p:nvPr/>
        </p:nvSpPr>
        <p:spPr>
          <a:xfrm>
            <a:off x="548640" y="5029200"/>
            <a:ext cx="68580" cy="868680"/>
          </a:xfrm>
          <a:prstGeom prst="rect">
            <a:avLst/>
          </a:prstGeom>
          <a:solidFill>
            <a:srgbClr val="D2603A"/>
          </a:solidFill>
          <a:ln/>
        </p:spPr>
      </p:sp>
      <p:sp>
        <p:nvSpPr>
          <p:cNvPr id="28" name="Text 26"/>
          <p:cNvSpPr/>
          <p:nvPr/>
        </p:nvSpPr>
        <p:spPr>
          <a:xfrm>
            <a:off x="804672" y="51206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on Identical Folds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Ensemble (soft-vote)</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0.873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0.521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SVM-poly</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models by ROC-AUC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ExtraTrees scores highest — but does not become the primary model</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ExtraTrees leads on AUC, PR-AUC and MCC, but the lead is not significant (p=0.085) and it is a best-of-17 score. The next two slides settle the choice.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Is the Gap Real? Paired Testing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640080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Fold-to-fold SD is ±0.05, so comparing mean AUCs is not enough. We compare per-fold AUCs pairwise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400800" cy="914400"/>
        </p:xfrm>
        <a:graphic>
          <a:graphicData uri="http://schemas.openxmlformats.org/drawingml/2006/table">
            <a:tbl>
              <a:tblPr/>
              <a:tblGrid>
                <a:gridCol w="2377440"/>
                <a:gridCol w="1005840"/>
                <a:gridCol w="914400"/>
                <a:gridCol w="1234440"/>
                <a:gridCol w="86868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Comparison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SVM-RBF vs RandomForest</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+0.029</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17/25</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0.013</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SVM-RBF vs L1-LR</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+0.052</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21/25</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&lt;0.0001</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pic>
        <p:nvPicPr>
          <p:cNvPr id="8" name="Image 0" descr="/mnt/d/claude-code-project/group-corparation/Christina-project/slides/img/roc6.png">    </p:cNvPr>
          <p:cNvPicPr>
            <a:picLocks noChangeAspect="1"/>
          </p:cNvPicPr>
          <p:nvPr/>
        </p:nvPicPr>
        <p:blipFill>
          <a:blip r:embed="rId1"/>
          <a:stretch>
            <a:fillRect/>
          </a:stretch>
        </p:blipFill>
        <p:spPr>
          <a:xfrm>
            <a:off x="7452360" y="1481328"/>
            <a:ext cx="4069080" cy="3282696"/>
          </a:xfrm>
          <a:prstGeom prst="rect">
            <a:avLst/>
          </a:prstGeom>
        </p:spPr>
      </p:pic>
      <p:sp>
        <p:nvSpPr>
          <p:cNvPr id="9" name="Text 5"/>
          <p:cNvSpPr/>
          <p:nvPr/>
        </p:nvSpPr>
        <p:spPr>
          <a:xfrm>
            <a:off x="7452360" y="4791456"/>
            <a:ext cx="4069080" cy="502920"/>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Out-of-fold ROC, single 5-fold split at fixed hyperparameters — not the nested-CV estimate in the table on the previous slide.</a:t>
            </a:r>
            <a:endParaRPr lang="en-US" sz="900" dirty="0"/>
          </a:p>
        </p:txBody>
      </p:sp>
      <p:sp>
        <p:nvSpPr>
          <p:cNvPr id="10" name="Shape 6"/>
          <p:cNvSpPr/>
          <p:nvPr/>
        </p:nvSpPr>
        <p:spPr>
          <a:xfrm>
            <a:off x="548640" y="3383280"/>
            <a:ext cx="640080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7"/>
          <p:cNvSpPr/>
          <p:nvPr/>
        </p:nvSpPr>
        <p:spPr>
          <a:xfrm>
            <a:off x="548640" y="3383280"/>
            <a:ext cx="68580" cy="1371600"/>
          </a:xfrm>
          <a:prstGeom prst="rect">
            <a:avLst/>
          </a:prstGeom>
          <a:solidFill>
            <a:srgbClr val="8FB996"/>
          </a:solidFill>
          <a:ln/>
        </p:spPr>
      </p:sp>
      <p:sp>
        <p:nvSpPr>
          <p:cNvPr id="12" name="Text 8"/>
          <p:cNvSpPr/>
          <p:nvPr/>
        </p:nvSpPr>
        <p:spPr>
          <a:xfrm>
            <a:off x="804672" y="3529584"/>
            <a:ext cx="594360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Verdict</a:t>
            </a:r>
            <a:endParaRPr lang="en-US" sz="1400" dirty="0"/>
          </a:p>
        </p:txBody>
      </p:sp>
      <p:sp>
        <p:nvSpPr>
          <p:cNvPr id="13" name="Text 9"/>
          <p:cNvSpPr/>
          <p:nvPr/>
        </p:nvSpPr>
        <p:spPr>
          <a:xfrm>
            <a:off x="804672" y="3913632"/>
            <a:ext cx="5943600" cy="7132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SVM-RBF significantly beats every model except ExtraTrees, whose +0.020 lead reaches only p=0.085 on 14/25 folds. That alone would not settle the choice — the stratified test on the next slide does.</a:t>
            </a:r>
            <a:endParaRPr lang="en-US" sz="1150" dirty="0"/>
          </a:p>
        </p:txBody>
      </p:sp>
      <p:sp>
        <p:nvSpPr>
          <p:cNvPr id="14" name="Shape 10"/>
          <p:cNvSpPr/>
          <p:nvPr/>
        </p:nvSpPr>
        <p:spPr>
          <a:xfrm>
            <a:off x="548640" y="5394960"/>
            <a:ext cx="11064240" cy="822960"/>
          </a:xfrm>
          <a:prstGeom prst="rect">
            <a:avLst/>
          </a:prstGeom>
          <a:solidFill>
            <a:srgbClr val="0B3C49"/>
          </a:solidFill>
          <a:ln/>
        </p:spPr>
      </p:sp>
      <p:sp>
        <p:nvSpPr>
          <p:cNvPr id="15" name="Text 11"/>
          <p:cNvSpPr/>
          <p:nvPr/>
        </p:nvSpPr>
        <p:spPr>
          <a:xfrm>
            <a:off x="868680" y="5596128"/>
            <a:ext cx="10515600" cy="457200"/>
          </a:xfrm>
          <a:prstGeom prst="rect">
            <a:avLst/>
          </a:prstGeom>
          <a:noFill/>
          <a:ln/>
        </p:spPr>
        <p:txBody>
          <a:bodyPr wrap="square" lIns="0" tIns="0" rIns="0" bIns="0" rtlCol="0" anchor="ctr"/>
          <a:lstStyle/>
          <a:p>
            <a:pPr indent="0" marL="0">
              <a:buNone/>
            </a:pPr>
            <a:r>
              <a:rPr lang="en-US" sz="1400" i="1" dirty="0">
                <a:solidFill>
                  <a:srgbClr val="8FB996"/>
                </a:solidFill>
                <a:latin typeface="Calibri" pitchFamily="34" charset="0"/>
                <a:ea typeface="Calibri" pitchFamily="34" charset="-122"/>
                <a:cs typeface="Calibri" pitchFamily="34" charset="-120"/>
              </a:rPr>
              <a:t>SVM-linear reaches only 0.766 — the kernel is what wins, not the SVM. This is the first hint of real nonlinear structure.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Ways These Metrics Mislead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Shape 4"/>
          <p:cNvSpPr/>
          <p:nvPr/>
        </p:nvSpPr>
        <p:spPr>
          <a:xfrm>
            <a:off x="548640" y="146304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371600"/>
          </a:xfrm>
          <a:prstGeom prst="rect">
            <a:avLst/>
          </a:prstGeom>
          <a:solidFill>
            <a:srgbClr val="D2603A"/>
          </a:solidFill>
          <a:ln/>
        </p:spPr>
      </p:sp>
      <p:sp>
        <p:nvSpPr>
          <p:cNvPr id="8" name="Shape 6"/>
          <p:cNvSpPr/>
          <p:nvPr/>
        </p:nvSpPr>
        <p:spPr>
          <a:xfrm>
            <a:off x="868680" y="1773936"/>
            <a:ext cx="566928" cy="566928"/>
          </a:xfrm>
          <a:prstGeom prst="ellipse">
            <a:avLst/>
          </a:prstGeom>
          <a:solidFill>
            <a:srgbClr val="0B3C49"/>
          </a:solidFill>
          <a:ln/>
        </p:spPr>
      </p:sp>
      <p:sp>
        <p:nvSpPr>
          <p:cNvPr id="9" name="Text 7"/>
          <p:cNvSpPr/>
          <p:nvPr/>
        </p:nvSpPr>
        <p:spPr>
          <a:xfrm>
            <a:off x="868680" y="1874520"/>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691640" y="1645920"/>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The accuracy baseline is 0.581, not 0.5</a:t>
            </a:r>
            <a:endParaRPr lang="en-US" sz="1500" dirty="0"/>
          </a:p>
        </p:txBody>
      </p:sp>
      <p:sp>
        <p:nvSpPr>
          <p:cNvPr id="11" name="Text 9"/>
          <p:cNvSpPr/>
          <p:nvPr/>
        </p:nvSpPr>
        <p:spPr>
          <a:xfrm>
            <a:off x="1691640" y="2011680"/>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58% of samples are positive, so a model that always predicts Pos already scores 0.581. SVM-RBF's 0.771 is a gain of 19 points, not 27. Accuracy must never be reported without this baseline beside it.</a:t>
            </a:r>
            <a:endParaRPr lang="en-US" sz="1200" dirty="0"/>
          </a:p>
        </p:txBody>
      </p:sp>
      <p:sp>
        <p:nvSpPr>
          <p:cNvPr id="12" name="Shape 10"/>
          <p:cNvSpPr/>
          <p:nvPr/>
        </p:nvSpPr>
        <p:spPr>
          <a:xfrm>
            <a:off x="548640" y="3035808"/>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1"/>
          <p:cNvSpPr/>
          <p:nvPr/>
        </p:nvSpPr>
        <p:spPr>
          <a:xfrm>
            <a:off x="548640" y="3035808"/>
            <a:ext cx="68580" cy="1371600"/>
          </a:xfrm>
          <a:prstGeom prst="rect">
            <a:avLst/>
          </a:prstGeom>
          <a:solidFill>
            <a:srgbClr val="D2603A"/>
          </a:solidFill>
          <a:ln/>
        </p:spPr>
      </p:sp>
      <p:sp>
        <p:nvSpPr>
          <p:cNvPr id="14" name="Shape 12"/>
          <p:cNvSpPr/>
          <p:nvPr/>
        </p:nvSpPr>
        <p:spPr>
          <a:xfrm>
            <a:off x="868680" y="3346704"/>
            <a:ext cx="566928" cy="566928"/>
          </a:xfrm>
          <a:prstGeom prst="ellipse">
            <a:avLst/>
          </a:prstGeom>
          <a:solidFill>
            <a:srgbClr val="0B3C49"/>
          </a:solidFill>
          <a:ln/>
        </p:spPr>
      </p:sp>
      <p:sp>
        <p:nvSpPr>
          <p:cNvPr id="15" name="Text 13"/>
          <p:cNvSpPr/>
          <p:nvPr/>
        </p:nvSpPr>
        <p:spPr>
          <a:xfrm>
            <a:off x="868680" y="3447288"/>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6" name="Text 14"/>
          <p:cNvSpPr/>
          <p:nvPr/>
        </p:nvSpPr>
        <p:spPr>
          <a:xfrm>
            <a:off x="1691640" y="3218688"/>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F1 cannot be used for model selection</a:t>
            </a:r>
            <a:endParaRPr lang="en-US" sz="1500" dirty="0"/>
          </a:p>
        </p:txBody>
      </p:sp>
      <p:sp>
        <p:nvSpPr>
          <p:cNvPr id="17" name="Text 15"/>
          <p:cNvSpPr/>
          <p:nvPr/>
        </p:nvSpPr>
        <p:spPr>
          <a:xfrm>
            <a:off x="1691640" y="3584448"/>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The always-Pos baseline scores F1 = 0.735 — higher than L2-LR's 0.725. F1 inflates whenever the positive class dominates, and here it ranks a useless model above a working one.</a:t>
            </a:r>
            <a:endParaRPr lang="en-US" sz="1200" dirty="0"/>
          </a:p>
        </p:txBody>
      </p:sp>
      <p:sp>
        <p:nvSpPr>
          <p:cNvPr id="18" name="Shape 16"/>
          <p:cNvSpPr/>
          <p:nvPr/>
        </p:nvSpPr>
        <p:spPr>
          <a:xfrm>
            <a:off x="548640" y="4608576"/>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4608576"/>
            <a:ext cx="68580" cy="1371600"/>
          </a:xfrm>
          <a:prstGeom prst="rect">
            <a:avLst/>
          </a:prstGeom>
          <a:solidFill>
            <a:srgbClr val="D2603A"/>
          </a:solidFill>
          <a:ln/>
        </p:spPr>
      </p:sp>
      <p:sp>
        <p:nvSpPr>
          <p:cNvPr id="20" name="Shape 18"/>
          <p:cNvSpPr/>
          <p:nvPr/>
        </p:nvSpPr>
        <p:spPr>
          <a:xfrm>
            <a:off x="868680" y="4919472"/>
            <a:ext cx="566928" cy="566928"/>
          </a:xfrm>
          <a:prstGeom prst="ellipse">
            <a:avLst/>
          </a:prstGeom>
          <a:solidFill>
            <a:srgbClr val="0B3C49"/>
          </a:solidFill>
          <a:ln/>
        </p:spPr>
      </p:sp>
      <p:sp>
        <p:nvSpPr>
          <p:cNvPr id="21" name="Text 19"/>
          <p:cNvSpPr/>
          <p:nvPr/>
        </p:nvSpPr>
        <p:spPr>
          <a:xfrm>
            <a:off x="868680" y="5020056"/>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22" name="Text 20"/>
          <p:cNvSpPr/>
          <p:nvPr/>
        </p:nvSpPr>
        <p:spPr>
          <a:xfrm>
            <a:off x="1691640" y="4791456"/>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Accuracy hides the asymmetry between classes</a:t>
            </a:r>
            <a:endParaRPr lang="en-US" sz="1500" dirty="0"/>
          </a:p>
        </p:txBody>
      </p:sp>
      <p:sp>
        <p:nvSpPr>
          <p:cNvPr id="23" name="Text 21"/>
          <p:cNvSpPr/>
          <p:nvPr/>
        </p:nvSpPr>
        <p:spPr>
          <a:xfrm>
            <a:off x="1691640" y="5157216"/>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Random Forest reaches 0.725 accuracy while detecting only 55% of negatives. MCC and balanced accuracy have a baseline of zero and expose this immediately; they are the metrics to compare 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ROBUSTNESS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Is SVM-RBF Just Over-Tuned?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We expanded the grid far past the original range — C from [0.1…10] to [0.01…500], gamma from [1e-4…0.1] plus 'scale' — and re-ran the nested CV.</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286000"/>
                <a:gridCol w="1755648"/>
                <a:gridCol w="1755648"/>
                <a:gridCol w="1755648"/>
                <a:gridCol w="1755648"/>
                <a:gridCol w="1755648"/>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  \  gamma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scale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572000"/>
            <a:ext cx="68580" cy="1463040"/>
          </a:xfrm>
          <a:prstGeom prst="rect">
            <a:avLst/>
          </a:prstGeom>
          <a:solidFill>
            <a:srgbClr val="8FB996"/>
          </a:solidFill>
          <a:ln/>
        </p:spPr>
      </p:sp>
      <p:sp>
        <p:nvSpPr>
          <p:cNvPr id="10" name="Text 7"/>
          <p:cNvSpPr/>
          <p:nvPr/>
        </p:nvSpPr>
        <p:spPr>
          <a:xfrm>
            <a:off x="80467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No edge effects</a:t>
            </a:r>
            <a:endParaRPr lang="en-US" sz="1500" dirty="0"/>
          </a:p>
        </p:txBody>
      </p:sp>
      <p:sp>
        <p:nvSpPr>
          <p:cNvPr id="11" name="Text 8"/>
          <p:cNvSpPr/>
          <p:nvPr/>
        </p:nvSpPr>
        <p:spPr>
          <a:xfrm>
            <a:off x="80467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0 of 15 folds selected a value at the grid boundary. C = 5 is an interior optimum.</a:t>
            </a:r>
            <a:endParaRPr lang="en-US" sz="1200" dirty="0"/>
          </a:p>
        </p:txBody>
      </p:sp>
      <p:sp>
        <p:nvSpPr>
          <p:cNvPr id="12" name="Shape 9"/>
          <p:cNvSpPr/>
          <p:nvPr/>
        </p:nvSpPr>
        <p:spPr>
          <a:xfrm>
            <a:off x="425196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4251960" y="4572000"/>
            <a:ext cx="68580" cy="1463040"/>
          </a:xfrm>
          <a:prstGeom prst="rect">
            <a:avLst/>
          </a:prstGeom>
          <a:solidFill>
            <a:srgbClr val="8FB996"/>
          </a:solidFill>
          <a:ln/>
        </p:spPr>
      </p:sp>
      <p:sp>
        <p:nvSpPr>
          <p:cNvPr id="14" name="Text 11"/>
          <p:cNvSpPr/>
          <p:nvPr/>
        </p:nvSpPr>
        <p:spPr>
          <a:xfrm>
            <a:off x="450799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Unchanged performance</a:t>
            </a:r>
            <a:endParaRPr lang="en-US" sz="1500" dirty="0"/>
          </a:p>
        </p:txBody>
      </p:sp>
      <p:sp>
        <p:nvSpPr>
          <p:cNvPr id="15" name="Text 12"/>
          <p:cNvSpPr/>
          <p:nvPr/>
        </p:nvSpPr>
        <p:spPr>
          <a:xfrm>
            <a:off x="450799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Expanded-grid AUC 0.838 ± 0.052, versus 0.839 originally.</a:t>
            </a:r>
            <a:endParaRPr lang="en-US" sz="1200" dirty="0"/>
          </a:p>
        </p:txBody>
      </p:sp>
      <p:sp>
        <p:nvSpPr>
          <p:cNvPr id="16" name="Shape 13"/>
          <p:cNvSpPr/>
          <p:nvPr/>
        </p:nvSpPr>
        <p:spPr>
          <a:xfrm>
            <a:off x="7955280" y="4572000"/>
            <a:ext cx="365760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7955280" y="4572000"/>
            <a:ext cx="68580" cy="1463040"/>
          </a:xfrm>
          <a:prstGeom prst="rect">
            <a:avLst/>
          </a:prstGeom>
          <a:solidFill>
            <a:srgbClr val="18707F"/>
          </a:solidFill>
          <a:ln/>
        </p:spPr>
      </p:sp>
      <p:sp>
        <p:nvSpPr>
          <p:cNvPr id="18" name="Text 15"/>
          <p:cNvSpPr/>
          <p:nvPr/>
        </p:nvSpPr>
        <p:spPr>
          <a:xfrm>
            <a:off x="8211312" y="4718304"/>
            <a:ext cx="32004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Flat surface</a:t>
            </a:r>
            <a:endParaRPr lang="en-US" sz="1500" dirty="0"/>
          </a:p>
        </p:txBody>
      </p:sp>
      <p:sp>
        <p:nvSpPr>
          <p:cNvPr id="19" name="Text 16"/>
          <p:cNvSpPr/>
          <p:nvPr/>
        </p:nvSpPr>
        <p:spPr>
          <a:xfrm>
            <a:off x="8211312" y="5102352"/>
            <a:ext cx="320040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whole surface spans only 0.73–0.81 — performance does not hinge on fine tuning.</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0.073 gap between two models that differ only in the kernel. The nonlinearity, not the margin formulation, is what earns the performance.</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Text 32"/>
          <p:cNvSpPr/>
          <p:nvPr/>
        </p:nvSpPr>
        <p:spPr>
          <a:xfrm>
            <a:off x="6263640" y="5029200"/>
            <a:ext cx="5303520" cy="91440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a:p>
            <a:pPr indent="0" marL="0">
              <a:buNone/>
            </a:pPr>
            <a:r>
              <a:rPr lang="en-US" sz="1100" i="1" dirty="0">
                <a:solidFill>
                  <a:srgbClr val="5F7580"/>
                </a:solidFill>
                <a:latin typeface="Calibri" pitchFamily="34" charset="0"/>
                <a:ea typeface="Calibri" pitchFamily="34" charset="-122"/>
                <a:cs typeface="Calibri" pitchFamily="34" charset="-120"/>
              </a:rPr>
              <a:t>Item 7 is why ExtraTrees, despite the highest AUC, is not the primary model.</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2026-08-10T22:36:51Z</dcterms:created>
  <dcterms:modified xsi:type="dcterms:W3CDTF">2026-08-10T22:36:51Z</dcterms:modified>
</cp:coreProperties>
</file>