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12191695" cy="292608"/>
          </a:xfrm>
          <a:prstGeom prst="rect">
            <a:avLst/>
          </a:prstGeom>
          <a:solidFill>
            <a:srgbClr val="8FB996"/>
          </a:solidFill>
          <a:ln/>
        </p:spPr>
      </p:sp>
      <p:sp>
        <p:nvSpPr>
          <p:cNvPr id="3" name="Shape 1"/>
          <p:cNvSpPr/>
          <p:nvPr/>
        </p:nvSpPr>
        <p:spPr>
          <a:xfrm>
            <a:off x="0" y="6035040"/>
            <a:ext cx="12191695" cy="822960"/>
          </a:xfrm>
          <a:prstGeom prst="rect">
            <a:avLst/>
          </a:prstGeom>
          <a:solidFill>
            <a:srgbClr val="12505F"/>
          </a:solidFill>
          <a:ln/>
        </p:spPr>
      </p:sp>
      <p:sp>
        <p:nvSpPr>
          <p:cNvPr id="4" name="Text 2"/>
          <p:cNvSpPr/>
          <p:nvPr/>
        </p:nvSpPr>
        <p:spPr>
          <a:xfrm>
            <a:off x="914400" y="1554480"/>
            <a:ext cx="10332720" cy="548640"/>
          </a:xfrm>
          <a:prstGeom prst="rect">
            <a:avLst/>
          </a:prstGeom>
          <a:noFill/>
          <a:ln/>
        </p:spPr>
        <p:txBody>
          <a:bodyPr wrap="square" lIns="0" tIns="0" rIns="0" bIns="0" rtlCol="0" anchor="ctr"/>
          <a:lstStyle/>
          <a:p>
            <a:pPr indent="0" marL="0">
              <a:buNone/>
            </a:pPr>
            <a:r>
              <a:rPr lang="en-US" sz="1400" b="1" spc="300" kern="0" dirty="0">
                <a:solidFill>
                  <a:srgbClr val="8FB996"/>
                </a:solidFill>
                <a:latin typeface="Calibri" pitchFamily="34" charset="0"/>
                <a:ea typeface="Calibri" pitchFamily="34" charset="-122"/>
                <a:cs typeface="Calibri" pitchFamily="34" charset="-120"/>
              </a:rPr>
              <a:t>ECOLOGICAL FEATURE SPACES · AIV MICROBIOME</a:t>
            </a:r>
            <a:endParaRPr lang="en-US" sz="1400" dirty="0"/>
          </a:p>
        </p:txBody>
      </p:sp>
      <p:sp>
        <p:nvSpPr>
          <p:cNvPr id="5" name="Text 3"/>
          <p:cNvSpPr/>
          <p:nvPr/>
        </p:nvSpPr>
        <p:spPr>
          <a:xfrm>
            <a:off x="914400" y="2103120"/>
            <a:ext cx="10332720" cy="182880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Georgia" pitchFamily="34" charset="0"/>
                <a:ea typeface="Georgia" pitchFamily="34" charset="-122"/>
                <a:cs typeface="Georgia" pitchFamily="34" charset="-120"/>
              </a:rPr>
              <a:t>When the bacteria differ,</a:t>
            </a:r>
            <a:endParaRPr lang="en-US" sz="4000" dirty="0"/>
          </a:p>
          <a:p>
            <a:pPr indent="0" marL="0">
              <a:lnSpc>
                <a:spcPct val="105000"/>
              </a:lnSpc>
              <a:buNone/>
            </a:pPr>
            <a:r>
              <a:rPr lang="en-US" sz="4000" b="1" dirty="0">
                <a:solidFill>
                  <a:srgbClr val="FFFFFF"/>
                </a:solidFill>
                <a:latin typeface="Georgia" pitchFamily="34" charset="0"/>
                <a:ea typeface="Georgia" pitchFamily="34" charset="-122"/>
                <a:cs typeface="Georgia" pitchFamily="34" charset="-120"/>
              </a:rPr>
              <a:t>does the ecology still transfer?</a:t>
            </a:r>
            <a:endParaRPr lang="en-US" sz="4000" dirty="0"/>
          </a:p>
        </p:txBody>
      </p:sp>
      <p:sp>
        <p:nvSpPr>
          <p:cNvPr id="6" name="Text 4"/>
          <p:cNvSpPr/>
          <p:nvPr/>
        </p:nvSpPr>
        <p:spPr>
          <a:xfrm>
            <a:off x="914400" y="4023360"/>
            <a:ext cx="10332720" cy="411480"/>
          </a:xfrm>
          <a:prstGeom prst="rect">
            <a:avLst/>
          </a:prstGeom>
          <a:noFill/>
          <a:ln/>
        </p:spPr>
        <p:txBody>
          <a:bodyPr wrap="square" lIns="0" tIns="0" rIns="0" bIns="0" rtlCol="0" anchor="ctr"/>
          <a:lstStyle/>
          <a:p>
            <a:pPr indent="0" marL="0">
              <a:buNone/>
            </a:pPr>
            <a:r>
              <a:rPr lang="en-US" sz="1600" dirty="0">
                <a:solidFill>
                  <a:srgbClr val="4E9FAD"/>
                </a:solidFill>
                <a:latin typeface="Calibri" pitchFamily="34" charset="0"/>
                <a:ea typeface="Calibri" pitchFamily="34" charset="-122"/>
                <a:cs typeface="Calibri" pitchFamily="34" charset="-120"/>
              </a:rPr>
              <a:t>Alpha diversity, core retention and community structure against the genus-abundance model</a:t>
            </a:r>
            <a:endParaRPr lang="en-US" sz="1600" dirty="0"/>
          </a:p>
        </p:txBody>
      </p:sp>
      <p:sp>
        <p:nvSpPr>
          <p:cNvPr id="7" name="Shape 5"/>
          <p:cNvSpPr/>
          <p:nvPr/>
        </p:nvSpPr>
        <p:spPr>
          <a:xfrm>
            <a:off x="914400" y="4663440"/>
            <a:ext cx="3291840" cy="36576"/>
          </a:xfrm>
          <a:prstGeom prst="rect">
            <a:avLst/>
          </a:prstGeom>
          <a:solidFill>
            <a:srgbClr val="8FB996"/>
          </a:solidFill>
          <a:ln/>
        </p:spPr>
      </p:sp>
      <p:sp>
        <p:nvSpPr>
          <p:cNvPr id="8" name="Text 6"/>
          <p:cNvSpPr/>
          <p:nvPr/>
        </p:nvSpPr>
        <p:spPr>
          <a:xfrm>
            <a:off x="914400" y="4846320"/>
            <a:ext cx="10332720" cy="457200"/>
          </a:xfrm>
          <a:prstGeom prst="rect">
            <a:avLst/>
          </a:prstGeom>
          <a:noFill/>
          <a:ln/>
        </p:spPr>
        <p:txBody>
          <a:bodyPr wrap="square" lIns="0" tIns="0" rIns="0" bIns="0" rtlCol="0" anchor="ctr"/>
          <a:lstStyle/>
          <a:p>
            <a:pPr indent="0" marL="0">
              <a:buNone/>
            </a:pPr>
            <a:r>
              <a:rPr lang="en-US" sz="1350" dirty="0">
                <a:solidFill>
                  <a:srgbClr val="8FB996"/>
                </a:solidFill>
                <a:latin typeface="Calibri" pitchFamily="34" charset="0"/>
                <a:ea typeface="Calibri" pitchFamily="34" charset="-122"/>
                <a:cs typeface="Calibri" pitchFamily="34" charset="-120"/>
              </a:rPr>
              <a:t>326 samples · 4 hosts · duck-trained ecology transfers to turkey at AUC 0.870</a:t>
            </a:r>
            <a:endParaRPr lang="en-US" sz="1350" dirty="0"/>
          </a:p>
        </p:txBody>
      </p:sp>
      <p:sp>
        <p:nvSpPr>
          <p:cNvPr id="9" name="Text 7"/>
          <p:cNvSpPr/>
          <p:nvPr/>
        </p:nvSpPr>
        <p:spPr>
          <a:xfrm>
            <a:off x="914400" y="6144768"/>
            <a:ext cx="640080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University of Georgia · College of Public Health</a:t>
            </a:r>
            <a:endParaRPr lang="en-US" sz="1200" dirty="0"/>
          </a:p>
        </p:txBody>
      </p:sp>
      <p:sp>
        <p:nvSpPr>
          <p:cNvPr id="10" name="Text 8"/>
          <p:cNvSpPr/>
          <p:nvPr/>
        </p:nvSpPr>
        <p:spPr>
          <a:xfrm>
            <a:off x="5029200" y="6144768"/>
            <a:ext cx="6217920" cy="365760"/>
          </a:xfrm>
          <a:prstGeom prst="rect">
            <a:avLst/>
          </a:prstGeom>
          <a:noFill/>
          <a:ln/>
        </p:spPr>
        <p:txBody>
          <a:bodyPr wrap="square" lIns="0" tIns="0" rIns="0" bIns="0" rtlCol="0" anchor="ctr"/>
          <a:lstStyle/>
          <a:p>
            <a:pPr algn="r" indent="0" marL="0">
              <a:buNone/>
            </a:pPr>
            <a:r>
              <a:rPr lang="en-US" sz="1100" dirty="0">
                <a:solidFill>
                  <a:srgbClr val="4E9FAD"/>
                </a:solidFill>
                <a:latin typeface="Calibri" pitchFamily="34" charset="0"/>
                <a:ea typeface="Calibri" pitchFamily="34" charset="-122"/>
                <a:cs typeface="Calibri" pitchFamily="34" charset="-120"/>
              </a:rPr>
              <a:t>summary_ecological_models.md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EXECUTIVE SUMMARY</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Headline results</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2</a:t>
            </a:r>
            <a:endParaRPr lang="en-US" sz="1000" dirty="0"/>
          </a:p>
        </p:txBody>
      </p:sp>
      <p:sp>
        <p:nvSpPr>
          <p:cNvPr id="6" name="Text 4"/>
          <p:cNvSpPr/>
          <p:nvPr/>
        </p:nvSpPr>
        <p:spPr>
          <a:xfrm>
            <a:off x="548640" y="1325880"/>
            <a:ext cx="2743200" cy="658368"/>
          </a:xfrm>
          <a:prstGeom prst="rect">
            <a:avLst/>
          </a:prstGeom>
          <a:noFill/>
          <a:ln/>
        </p:spPr>
        <p:txBody>
          <a:bodyPr wrap="square" lIns="0" tIns="0" rIns="0" bIns="0" rtlCol="0" anchor="ctr"/>
          <a:lstStyle/>
          <a:p>
            <a:pPr algn="ctr" indent="0" marL="0">
              <a:buNone/>
            </a:pPr>
            <a:r>
              <a:rPr lang="en-US" sz="4000" b="1" dirty="0">
                <a:solidFill>
                  <a:srgbClr val="18707F"/>
                </a:solidFill>
                <a:latin typeface="Georgia" pitchFamily="34" charset="0"/>
                <a:ea typeface="Georgia" pitchFamily="34" charset="-122"/>
                <a:cs typeface="Georgia" pitchFamily="34" charset="-120"/>
              </a:rPr>
              <a:t>0.870</a:t>
            </a:r>
            <a:endParaRPr lang="en-US" sz="4000" dirty="0"/>
          </a:p>
        </p:txBody>
      </p:sp>
      <p:sp>
        <p:nvSpPr>
          <p:cNvPr id="7" name="Text 5"/>
          <p:cNvSpPr/>
          <p:nvPr/>
        </p:nvSpPr>
        <p:spPr>
          <a:xfrm>
            <a:off x="548640" y="2002536"/>
            <a:ext cx="274320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Core retention, duck → turkey</a:t>
            </a:r>
            <a:endParaRPr lang="en-US" sz="1150" dirty="0"/>
          </a:p>
        </p:txBody>
      </p:sp>
      <p:sp>
        <p:nvSpPr>
          <p:cNvPr id="8" name="Text 6"/>
          <p:cNvSpPr/>
          <p:nvPr/>
        </p:nvSpPr>
        <p:spPr>
          <a:xfrm>
            <a:off x="548640" y="2295144"/>
            <a:ext cx="274320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linear model, p=0.0020</a:t>
            </a:r>
            <a:endParaRPr lang="en-US" sz="1000" dirty="0"/>
          </a:p>
        </p:txBody>
      </p:sp>
      <p:sp>
        <p:nvSpPr>
          <p:cNvPr id="9" name="Text 7"/>
          <p:cNvSpPr/>
          <p:nvPr/>
        </p:nvSpPr>
        <p:spPr>
          <a:xfrm>
            <a:off x="3474720" y="1325880"/>
            <a:ext cx="2743200" cy="658368"/>
          </a:xfrm>
          <a:prstGeom prst="rect">
            <a:avLst/>
          </a:prstGeom>
          <a:noFill/>
          <a:ln/>
        </p:spPr>
        <p:txBody>
          <a:bodyPr wrap="square" lIns="0" tIns="0" rIns="0" bIns="0" rtlCol="0" anchor="ctr"/>
          <a:lstStyle/>
          <a:p>
            <a:pPr algn="ctr" indent="0" marL="0">
              <a:buNone/>
            </a:pPr>
            <a:r>
              <a:rPr lang="en-US" sz="4000" b="1" dirty="0">
                <a:solidFill>
                  <a:srgbClr val="D2603A"/>
                </a:solidFill>
                <a:latin typeface="Georgia" pitchFamily="34" charset="0"/>
                <a:ea typeface="Georgia" pitchFamily="34" charset="-122"/>
                <a:cs typeface="Georgia" pitchFamily="34" charset="-120"/>
              </a:rPr>
              <a:t>0.500</a:t>
            </a:r>
            <a:endParaRPr lang="en-US" sz="4000" dirty="0"/>
          </a:p>
        </p:txBody>
      </p:sp>
      <p:sp>
        <p:nvSpPr>
          <p:cNvPr id="10" name="Text 8"/>
          <p:cNvSpPr/>
          <p:nvPr/>
        </p:nvSpPr>
        <p:spPr>
          <a:xfrm>
            <a:off x="3474720" y="2002536"/>
            <a:ext cx="274320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Genus abundance, same test</a:t>
            </a:r>
            <a:endParaRPr lang="en-US" sz="1150" dirty="0"/>
          </a:p>
        </p:txBody>
      </p:sp>
      <p:sp>
        <p:nvSpPr>
          <p:cNvPr id="11" name="Text 9"/>
          <p:cNvSpPr/>
          <p:nvPr/>
        </p:nvSpPr>
        <p:spPr>
          <a:xfrm>
            <a:off x="3474720" y="2295144"/>
            <a:ext cx="274320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degenerate — no discrimination</a:t>
            </a:r>
            <a:endParaRPr lang="en-US" sz="1000" dirty="0"/>
          </a:p>
        </p:txBody>
      </p:sp>
      <p:sp>
        <p:nvSpPr>
          <p:cNvPr id="12" name="Text 10"/>
          <p:cNvSpPr/>
          <p:nvPr/>
        </p:nvSpPr>
        <p:spPr>
          <a:xfrm>
            <a:off x="6400800" y="1325880"/>
            <a:ext cx="2743200" cy="658368"/>
          </a:xfrm>
          <a:prstGeom prst="rect">
            <a:avLst/>
          </a:prstGeom>
          <a:noFill/>
          <a:ln/>
        </p:spPr>
        <p:txBody>
          <a:bodyPr wrap="square" lIns="0" tIns="0" rIns="0" bIns="0" rtlCol="0" anchor="ctr"/>
          <a:lstStyle/>
          <a:p>
            <a:pPr algn="ctr" indent="0" marL="0">
              <a:buNone/>
            </a:pPr>
            <a:r>
              <a:rPr lang="en-US" sz="4000" b="1" dirty="0">
                <a:solidFill>
                  <a:srgbClr val="8FB996"/>
                </a:solidFill>
                <a:latin typeface="Georgia" pitchFamily="34" charset="0"/>
                <a:ea typeface="Georgia" pitchFamily="34" charset="-122"/>
                <a:cs typeface="Georgia" pitchFamily="34" charset="-120"/>
              </a:rPr>
              <a:t>0.72</a:t>
            </a:r>
            <a:endParaRPr lang="en-US" sz="4000" dirty="0"/>
          </a:p>
        </p:txBody>
      </p:sp>
      <p:sp>
        <p:nvSpPr>
          <p:cNvPr id="13" name="Text 11"/>
          <p:cNvSpPr/>
          <p:nvPr/>
        </p:nvSpPr>
        <p:spPr>
          <a:xfrm>
            <a:off x="6400800" y="2002536"/>
            <a:ext cx="274320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Cage / infection ratio</a:t>
            </a:r>
            <a:endParaRPr lang="en-US" sz="1150" dirty="0"/>
          </a:p>
        </p:txBody>
      </p:sp>
      <p:sp>
        <p:nvSpPr>
          <p:cNvPr id="14" name="Text 12"/>
          <p:cNvSpPr/>
          <p:nvPr/>
        </p:nvSpPr>
        <p:spPr>
          <a:xfrm>
            <a:off x="6400800" y="2295144"/>
            <a:ext cx="274320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0 of 3 contrasts significant</a:t>
            </a:r>
            <a:endParaRPr lang="en-US" sz="1000" dirty="0"/>
          </a:p>
        </p:txBody>
      </p:sp>
      <p:sp>
        <p:nvSpPr>
          <p:cNvPr id="15" name="Text 13"/>
          <p:cNvSpPr/>
          <p:nvPr/>
        </p:nvSpPr>
        <p:spPr>
          <a:xfrm>
            <a:off x="9326880" y="1325880"/>
            <a:ext cx="2286000" cy="658368"/>
          </a:xfrm>
          <a:prstGeom prst="rect">
            <a:avLst/>
          </a:prstGeom>
          <a:noFill/>
          <a:ln/>
        </p:spPr>
        <p:txBody>
          <a:bodyPr wrap="square" lIns="0" tIns="0" rIns="0" bIns="0" rtlCol="0" anchor="ctr"/>
          <a:lstStyle/>
          <a:p>
            <a:pPr algn="ctr" indent="0" marL="0">
              <a:buNone/>
            </a:pPr>
            <a:r>
              <a:rPr lang="en-US" sz="4000" b="1" dirty="0">
                <a:solidFill>
                  <a:srgbClr val="D2603A"/>
                </a:solidFill>
                <a:latin typeface="Georgia" pitchFamily="34" charset="0"/>
                <a:ea typeface="Georgia" pitchFamily="34" charset="-122"/>
                <a:cs typeface="Georgia" pitchFamily="34" charset="-120"/>
              </a:rPr>
              <a:t>0.94</a:t>
            </a:r>
            <a:endParaRPr lang="en-US" sz="4000" dirty="0"/>
          </a:p>
        </p:txBody>
      </p:sp>
      <p:sp>
        <p:nvSpPr>
          <p:cNvPr id="16" name="Text 14"/>
          <p:cNvSpPr/>
          <p:nvPr/>
        </p:nvSpPr>
        <p:spPr>
          <a:xfrm>
            <a:off x="9326880" y="2002536"/>
            <a:ext cx="228600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Same ratio, genus</a:t>
            </a:r>
            <a:endParaRPr lang="en-US" sz="1150" dirty="0"/>
          </a:p>
        </p:txBody>
      </p:sp>
      <p:sp>
        <p:nvSpPr>
          <p:cNvPr id="17" name="Text 15"/>
          <p:cNvSpPr/>
          <p:nvPr/>
        </p:nvSpPr>
        <p:spPr>
          <a:xfrm>
            <a:off x="9326880" y="2295144"/>
            <a:ext cx="228600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3 of 3 significant</a:t>
            </a:r>
            <a:endParaRPr lang="en-US" sz="1000" dirty="0"/>
          </a:p>
        </p:txBody>
      </p:sp>
      <p:sp>
        <p:nvSpPr>
          <p:cNvPr id="18" name="Shape 16"/>
          <p:cNvSpPr/>
          <p:nvPr/>
        </p:nvSpPr>
        <p:spPr>
          <a:xfrm>
            <a:off x="548640" y="2880360"/>
            <a:ext cx="5486400" cy="16916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9" name="Shape 17"/>
          <p:cNvSpPr/>
          <p:nvPr/>
        </p:nvSpPr>
        <p:spPr>
          <a:xfrm>
            <a:off x="548640" y="2880360"/>
            <a:ext cx="68580" cy="1691640"/>
          </a:xfrm>
          <a:prstGeom prst="rect">
            <a:avLst/>
          </a:prstGeom>
          <a:solidFill>
            <a:srgbClr val="8FB996"/>
          </a:solidFill>
          <a:ln/>
        </p:spPr>
      </p:sp>
      <p:sp>
        <p:nvSpPr>
          <p:cNvPr id="20" name="Text 18"/>
          <p:cNvSpPr/>
          <p:nvPr/>
        </p:nvSpPr>
        <p:spPr>
          <a:xfrm>
            <a:off x="804672" y="3026664"/>
            <a:ext cx="502920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What holds up</a:t>
            </a:r>
            <a:endParaRPr lang="en-US" sz="1500" dirty="0"/>
          </a:p>
        </p:txBody>
      </p:sp>
      <p:sp>
        <p:nvSpPr>
          <p:cNvPr id="21" name="Text 19"/>
          <p:cNvSpPr/>
          <p:nvPr/>
        </p:nvSpPr>
        <p:spPr>
          <a:xfrm>
            <a:off x="804672" y="3410712"/>
            <a:ext cx="5029200" cy="1033272"/>
          </a:xfrm>
          <a:prstGeom prst="rect">
            <a:avLst/>
          </a:prstGeom>
          <a:noFill/>
          <a:ln/>
        </p:spPr>
        <p:txBody>
          <a:bodyPr wrap="square" lIns="0" tIns="0" rIns="0" bIns="0" rtlCol="0" anchor="t"/>
          <a:lstStyle/>
          <a:p>
            <a:pPr indent="0" marL="0">
              <a:lnSpc>
                <a:spcPct val="112000"/>
              </a:lnSpc>
              <a:buNone/>
            </a:pPr>
            <a:r>
              <a:rPr lang="en-US" sz="1150" dirty="0">
                <a:solidFill>
                  <a:srgbClr val="5F7580"/>
                </a:solidFill>
                <a:latin typeface="Calibri" pitchFamily="34" charset="0"/>
                <a:ea typeface="Calibri" pitchFamily="34" charset="-122"/>
                <a:cs typeface="Calibri" pitchFamily="34" charset="-120"/>
              </a:rPr>
              <a:t>Infected birds retain less of their host-specific baseline core microbiome, and this holds in both hosts. A linear model on core retention alone, trained on 260 wild ducks, separates infected from control turkeys at AUC 0.870 — 0.904 after depth adjustment. The genus model's decision function is constant on the target.</a:t>
            </a:r>
            <a:endParaRPr lang="en-US" sz="1150" dirty="0"/>
          </a:p>
        </p:txBody>
      </p:sp>
      <p:sp>
        <p:nvSpPr>
          <p:cNvPr id="22" name="Shape 20"/>
          <p:cNvSpPr/>
          <p:nvPr/>
        </p:nvSpPr>
        <p:spPr>
          <a:xfrm>
            <a:off x="6309360" y="2880360"/>
            <a:ext cx="5303520" cy="169164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23" name="Shape 21"/>
          <p:cNvSpPr/>
          <p:nvPr/>
        </p:nvSpPr>
        <p:spPr>
          <a:xfrm>
            <a:off x="6309360" y="2880360"/>
            <a:ext cx="68580" cy="1691640"/>
          </a:xfrm>
          <a:prstGeom prst="rect">
            <a:avLst/>
          </a:prstGeom>
          <a:solidFill>
            <a:srgbClr val="D2603A"/>
          </a:solidFill>
          <a:ln/>
        </p:spPr>
      </p:sp>
      <p:sp>
        <p:nvSpPr>
          <p:cNvPr id="24" name="Text 22"/>
          <p:cNvSpPr/>
          <p:nvPr/>
        </p:nvSpPr>
        <p:spPr>
          <a:xfrm>
            <a:off x="6565392" y="3026664"/>
            <a:ext cx="484632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What does not</a:t>
            </a:r>
            <a:endParaRPr lang="en-US" sz="1500" dirty="0"/>
          </a:p>
        </p:txBody>
      </p:sp>
      <p:sp>
        <p:nvSpPr>
          <p:cNvPr id="25" name="Text 23"/>
          <p:cNvSpPr/>
          <p:nvPr/>
        </p:nvSpPr>
        <p:spPr>
          <a:xfrm>
            <a:off x="6565392" y="3410712"/>
            <a:ext cx="4846320" cy="1033272"/>
          </a:xfrm>
          <a:prstGeom prst="rect">
            <a:avLst/>
          </a:prstGeom>
          <a:noFill/>
          <a:ln/>
        </p:spPr>
        <p:txBody>
          <a:bodyPr wrap="square" lIns="0" tIns="0" rIns="0" bIns="0" rtlCol="0" anchor="t"/>
          <a:lstStyle/>
          <a:p>
            <a:pPr indent="0" marL="0">
              <a:lnSpc>
                <a:spcPct val="112000"/>
              </a:lnSpc>
              <a:buNone/>
            </a:pPr>
            <a:r>
              <a:rPr lang="en-US" sz="1150" dirty="0">
                <a:solidFill>
                  <a:srgbClr val="7A2E14"/>
                </a:solidFill>
                <a:latin typeface="Calibri" pitchFamily="34" charset="0"/>
                <a:ea typeface="Calibri" pitchFamily="34" charset="-122"/>
                <a:cs typeface="Calibri" pitchFamily="34" charset="-120"/>
              </a:rPr>
              <a:t>Within host, genus abundance still wins and it is not close in duck (0.836 against 0.674). Alpha diversity clears no permutation null anywhere. The 15-sample swan cohort is uninterpretable — sequencing depth alone predicts infection there at AUC 0.870.</a:t>
            </a:r>
            <a:endParaRPr lang="en-US" sz="1150" dirty="0"/>
          </a:p>
        </p:txBody>
      </p:sp>
      <p:sp>
        <p:nvSpPr>
          <p:cNvPr id="26" name="Shape 24"/>
          <p:cNvSpPr/>
          <p:nvPr/>
        </p:nvSpPr>
        <p:spPr>
          <a:xfrm>
            <a:off x="548640" y="4709160"/>
            <a:ext cx="11064240" cy="868680"/>
          </a:xfrm>
          <a:prstGeom prst="rect">
            <a:avLst/>
          </a:prstGeom>
          <a:solidFill>
            <a:srgbClr val="FBEDE7"/>
          </a:solidFill>
          <a:ln/>
        </p:spPr>
      </p:sp>
      <p:sp>
        <p:nvSpPr>
          <p:cNvPr id="27" name="Shape 25"/>
          <p:cNvSpPr/>
          <p:nvPr/>
        </p:nvSpPr>
        <p:spPr>
          <a:xfrm>
            <a:off x="548640" y="4709160"/>
            <a:ext cx="68580" cy="868680"/>
          </a:xfrm>
          <a:prstGeom prst="rect">
            <a:avLst/>
          </a:prstGeom>
          <a:solidFill>
            <a:srgbClr val="D2603A"/>
          </a:solidFill>
          <a:ln/>
        </p:spPr>
      </p:sp>
      <p:sp>
        <p:nvSpPr>
          <p:cNvPr id="28" name="Text 26"/>
          <p:cNvSpPr/>
          <p:nvPr/>
        </p:nvSpPr>
        <p:spPr>
          <a:xfrm>
            <a:off x="804672" y="4800600"/>
            <a:ext cx="10607040" cy="685800"/>
          </a:xfrm>
          <a:prstGeom prst="rect">
            <a:avLst/>
          </a:prstGeom>
          <a:noFill/>
          <a:ln/>
        </p:spPr>
        <p:txBody>
          <a:bodyPr wrap="square" lIns="0" tIns="0" rIns="0" bIns="0" rtlCol="0" anchor="t"/>
          <a:lstStyle/>
          <a:p>
            <a:pPr indent="0" marL="0">
              <a:lnSpc>
                <a:spcPct val="110000"/>
              </a:lnSpc>
              <a:buNone/>
            </a:pPr>
            <a:r>
              <a:rPr lang="en-US" sz="1150" dirty="0">
                <a:solidFill>
                  <a:srgbClr val="7A2E14"/>
                </a:solidFill>
                <a:latin typeface="Calibri" pitchFamily="34" charset="0"/>
                <a:ea typeface="Calibri" pitchFamily="34" charset="-122"/>
                <a:cs typeface="Calibri" pitchFamily="34" charset="-120"/>
              </a:rPr>
              <a:t>The claim is one direction of one host pair. Turkey → duck gives 0.549 and does not survive depth adjustment; the swan cohort cannot serve as a third host. What makes the result worth reporting is not its size but that it rests on a single interpretable quantity whose direction agrees across two hosts with almost no shared genera.</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MOTIVATION</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Why ask the question at all</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3</a:t>
            </a:r>
            <a:endParaRPr lang="en-US" sz="1000" dirty="0"/>
          </a:p>
        </p:txBody>
      </p:sp>
      <p:sp>
        <p:nvSpPr>
          <p:cNvPr id="6" name="Text 4"/>
          <p:cNvSpPr/>
          <p:nvPr/>
        </p:nvSpPr>
        <p:spPr>
          <a:xfrm>
            <a:off x="548640" y="1280160"/>
            <a:ext cx="11064240" cy="365760"/>
          </a:xfrm>
          <a:prstGeom prst="rect">
            <a:avLst/>
          </a:prstGeom>
          <a:noFill/>
          <a:ln/>
        </p:spPr>
        <p:txBody>
          <a:bodyPr wrap="square" lIns="0" tIns="0" rIns="0" bIns="0" rtlCol="0" anchor="ctr"/>
          <a:lstStyle/>
          <a:p>
            <a:pPr indent="0" marL="0">
              <a:buNone/>
            </a:pPr>
            <a:r>
              <a:rPr lang="en-US" sz="1300" dirty="0">
                <a:solidFill>
                  <a:srgbClr val="5F7580"/>
                </a:solidFill>
                <a:latin typeface="Calibri" pitchFamily="34" charset="0"/>
                <a:ea typeface="Calibri" pitchFamily="34" charset="-122"/>
                <a:cs typeface="Calibri" pitchFamily="34" charset="-120"/>
              </a:rPr>
              <a:t>The taxonomic findings from this project do not survive a change of host. That is the problem this analysis exists to address.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4206240"/>
                <a:gridCol w="6858000"/>
              </a:tblGrid>
              <a:tr h="56692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Duck cohort's nine candidate genera</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Fate in turkey</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566928">
                <a:tc>
                  <a:txBody>
                    <a:bodyPr/>
                    <a:lstStyle/>
                    <a:p>
                      <a:pPr algn="ctr" indent="0" marL="0">
                        <a:buNone/>
                      </a:pPr>
                      <a:r>
                        <a:rPr lang="en-US" sz="1200" dirty="0">
                          <a:solidFill>
                            <a:srgbClr val="16252C"/>
                          </a:solidFill>
                          <a:latin typeface="Calibri" pitchFamily="34" charset="0"/>
                          <a:ea typeface="Calibri" pitchFamily="34" charset="-122"/>
                          <a:cs typeface="Calibri" pitchFamily="34" charset="-120"/>
                        </a:rPr>
                        <a:t>8 of 9</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never enter the candidate pool — prevalence below 10% in turkey</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566928">
                <a:tc>
                  <a:txBody>
                    <a:bodyPr/>
                    <a:lstStyle/>
                    <a:p>
                      <a:pPr algn="ctr" indent="0" marL="0">
                        <a:buNone/>
                      </a:pPr>
                      <a:r>
                        <a:rPr lang="en-US" sz="1200" b="1" i="1" dirty="0">
                          <a:solidFill>
                            <a:srgbClr val="16252C"/>
                          </a:solidFill>
                          <a:latin typeface="Calibri" pitchFamily="34" charset="0"/>
                          <a:ea typeface="Calibri" pitchFamily="34" charset="-122"/>
                          <a:cs typeface="Calibri" pitchFamily="34" charset="-120"/>
                        </a:rPr>
                        <a:t>Staphylococcus</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survives the filter, but points the opposite way and is not significant (t=+0.97, FDR=0.53)</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bl>
          </a:graphicData>
        </a:graphic>
      </p:graphicFrame>
      <p:sp>
        <p:nvSpPr>
          <p:cNvPr id="8" name="Shape 5"/>
          <p:cNvSpPr/>
          <p:nvPr/>
        </p:nvSpPr>
        <p:spPr>
          <a:xfrm>
            <a:off x="548640" y="3200400"/>
            <a:ext cx="11064240" cy="12801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9" name="Shape 6"/>
          <p:cNvSpPr/>
          <p:nvPr/>
        </p:nvSpPr>
        <p:spPr>
          <a:xfrm>
            <a:off x="548640" y="3200400"/>
            <a:ext cx="68580" cy="1280160"/>
          </a:xfrm>
          <a:prstGeom prst="rect">
            <a:avLst/>
          </a:prstGeom>
          <a:solidFill>
            <a:srgbClr val="18707F"/>
          </a:solidFill>
          <a:ln/>
        </p:spPr>
      </p:sp>
      <p:sp>
        <p:nvSpPr>
          <p:cNvPr id="10" name="Text 7"/>
          <p:cNvSpPr/>
          <p:nvPr/>
        </p:nvSpPr>
        <p:spPr>
          <a:xfrm>
            <a:off x="804672" y="334670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The hypothesis under test</a:t>
            </a:r>
            <a:endParaRPr lang="en-US" sz="1500" dirty="0"/>
          </a:p>
        </p:txBody>
      </p:sp>
      <p:sp>
        <p:nvSpPr>
          <p:cNvPr id="11" name="Text 8"/>
          <p:cNvSpPr/>
          <p:nvPr/>
        </p:nvSpPr>
        <p:spPr>
          <a:xfrm>
            <a:off x="804672" y="3730752"/>
            <a:ext cx="10607040" cy="62179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Broader ecological descriptors may be more consistent between hosts than the identity of individual genera — even when the bacteria associated with infection differ completely. The question is not whether they beat the taxonomic model within a cohort; it is whether they survive the crossing.</a:t>
            </a:r>
            <a:endParaRPr lang="en-US" sz="1200" dirty="0"/>
          </a:p>
        </p:txBody>
      </p:sp>
      <p:sp>
        <p:nvSpPr>
          <p:cNvPr id="12" name="Shape 9"/>
          <p:cNvSpPr/>
          <p:nvPr/>
        </p:nvSpPr>
        <p:spPr>
          <a:xfrm>
            <a:off x="548640" y="4663440"/>
            <a:ext cx="11064240" cy="1143000"/>
          </a:xfrm>
          <a:prstGeom prst="rect">
            <a:avLst/>
          </a:prstGeom>
          <a:solidFill>
            <a:srgbClr val="FBEDE7"/>
          </a:solidFill>
          <a:ln/>
        </p:spPr>
      </p:sp>
      <p:sp>
        <p:nvSpPr>
          <p:cNvPr id="13" name="Shape 10"/>
          <p:cNvSpPr/>
          <p:nvPr/>
        </p:nvSpPr>
        <p:spPr>
          <a:xfrm>
            <a:off x="548640" y="4663440"/>
            <a:ext cx="68580" cy="1143000"/>
          </a:xfrm>
          <a:prstGeom prst="rect">
            <a:avLst/>
          </a:prstGeom>
          <a:solidFill>
            <a:srgbClr val="D2603A"/>
          </a:solidFill>
          <a:ln/>
        </p:spPr>
      </p:sp>
      <p:sp>
        <p:nvSpPr>
          <p:cNvPr id="14" name="Text 11"/>
          <p:cNvSpPr/>
          <p:nvPr/>
        </p:nvSpPr>
        <p:spPr>
          <a:xfrm>
            <a:off x="804672" y="4754880"/>
            <a:ext cx="10607040" cy="960120"/>
          </a:xfrm>
          <a:prstGeom prst="rect">
            <a:avLst/>
          </a:prstGeom>
          <a:noFill/>
          <a:ln/>
        </p:spPr>
        <p:txBody>
          <a:bodyPr wrap="square" lIns="0" tIns="0" rIns="0" bIns="0" rtlCol="0" anchor="t"/>
          <a:lstStyle/>
          <a:p>
            <a:pPr indent="0" marL="0">
              <a:lnSpc>
                <a:spcPct val="110000"/>
              </a:lnSpc>
              <a:buNone/>
            </a:pPr>
            <a:r>
              <a:rPr lang="en-US" sz="1150" dirty="0">
                <a:solidFill>
                  <a:srgbClr val="7A2E14"/>
                </a:solidFill>
                <a:latin typeface="Calibri" pitchFamily="34" charset="0"/>
                <a:ea typeface="Calibri" pitchFamily="34" charset="-122"/>
                <a:cs typeface="Calibri" pitchFamily="34" charset="-120"/>
              </a:rPr>
              <a:t>A structural reason to expect this: duck's baseline core is 14 genera and turkey's is 32, with almost no overlap. A model keyed to particular taxa has nothing to carry across. A model keyed to "what proportion of the core was lost" is computing the same quantity in both, from different ingredients.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COHORTS</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The data</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011680"/>
                <a:gridCol w="2103120"/>
                <a:gridCol w="2743200"/>
                <a:gridCol w="1005840"/>
                <a:gridCol w="1005840"/>
                <a:gridCol w="1005840"/>
                <a:gridCol w="1188720"/>
              </a:tblGrid>
              <a:tr h="42062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Host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BioProject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Context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Neg</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Pos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Baseline core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20624">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Duck</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PRJNA464410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wild surveillance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109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151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260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14 genera</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20624">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Turkey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PRJNA644054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experimental infection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32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32 genera</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20624">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Chicken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PRJNA379944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experimental infection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24 genera</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20624">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Whooper swan</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wild surveillance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31 genera</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20624">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130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196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326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7" name="Shape 4"/>
          <p:cNvSpPr/>
          <p:nvPr/>
        </p:nvSpPr>
        <p:spPr>
          <a:xfrm>
            <a:off x="548640" y="4343400"/>
            <a:ext cx="5394960" cy="14630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8" name="Shape 5"/>
          <p:cNvSpPr/>
          <p:nvPr/>
        </p:nvSpPr>
        <p:spPr>
          <a:xfrm>
            <a:off x="548640" y="4343400"/>
            <a:ext cx="68580" cy="1463040"/>
          </a:xfrm>
          <a:prstGeom prst="rect">
            <a:avLst/>
          </a:prstGeom>
          <a:solidFill>
            <a:srgbClr val="18707F"/>
          </a:solidFill>
          <a:ln/>
        </p:spPr>
      </p:sp>
      <p:sp>
        <p:nvSpPr>
          <p:cNvPr id="9" name="Text 6"/>
          <p:cNvSpPr/>
          <p:nvPr/>
        </p:nvSpPr>
        <p:spPr>
          <a:xfrm>
            <a:off x="804672" y="4489704"/>
            <a:ext cx="493776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Only two cohorts can be modelled</a:t>
            </a:r>
            <a:endParaRPr lang="en-US" sz="1400" dirty="0"/>
          </a:p>
        </p:txBody>
      </p:sp>
      <p:sp>
        <p:nvSpPr>
          <p:cNvPr id="10" name="Text 7"/>
          <p:cNvSpPr/>
          <p:nvPr/>
        </p:nvSpPr>
        <p:spPr>
          <a:xfrm>
            <a:off x="804672" y="4873752"/>
            <a:ext cx="4937760" cy="804672"/>
          </a:xfrm>
          <a:prstGeom prst="rect">
            <a:avLst/>
          </a:prstGeom>
          <a:noFill/>
          <a:ln/>
        </p:spPr>
        <p:txBody>
          <a:bodyPr wrap="square" lIns="0" tIns="0" rIns="0" bIns="0" rtlCol="0" anchor="t"/>
          <a:lstStyle/>
          <a:p>
            <a:pPr indent="0" marL="0">
              <a:lnSpc>
                <a:spcPct val="112000"/>
              </a:lnSpc>
              <a:buNone/>
            </a:pPr>
            <a:r>
              <a:rPr lang="en-US" sz="1100" dirty="0">
                <a:solidFill>
                  <a:srgbClr val="5F7580"/>
                </a:solidFill>
                <a:latin typeface="Calibri" pitchFamily="34" charset="0"/>
                <a:ea typeface="Calibri" pitchFamily="34" charset="-122"/>
                <a:cs typeface="Calibri" pitchFamily="34" charset="-120"/>
              </a:rPr>
              <a:t>Duck (n=260) and turkey (n=45). Chicken has 6 samples; swan has 15 with only 5 negatives. Both are too small to model alone.</a:t>
            </a:r>
            <a:endParaRPr lang="en-US" sz="1100" dirty="0"/>
          </a:p>
        </p:txBody>
      </p:sp>
      <p:sp>
        <p:nvSpPr>
          <p:cNvPr id="11" name="Shape 8"/>
          <p:cNvSpPr/>
          <p:nvPr/>
        </p:nvSpPr>
        <p:spPr>
          <a:xfrm>
            <a:off x="6217920" y="4343400"/>
            <a:ext cx="5394960" cy="1463040"/>
          </a:xfrm>
          <a:prstGeom prst="rect">
            <a:avLst/>
          </a:prstGeom>
          <a:solidFill>
            <a:srgbClr val="FBEDE7"/>
          </a:solidFill>
          <a:ln/>
        </p:spPr>
      </p:sp>
      <p:sp>
        <p:nvSpPr>
          <p:cNvPr id="12" name="Shape 9"/>
          <p:cNvSpPr/>
          <p:nvPr/>
        </p:nvSpPr>
        <p:spPr>
          <a:xfrm>
            <a:off x="6217920" y="4343400"/>
            <a:ext cx="68580" cy="1463040"/>
          </a:xfrm>
          <a:prstGeom prst="rect">
            <a:avLst/>
          </a:prstGeom>
          <a:solidFill>
            <a:srgbClr val="D2603A"/>
          </a:solidFill>
          <a:ln/>
        </p:spPr>
      </p:sp>
      <p:sp>
        <p:nvSpPr>
          <p:cNvPr id="13" name="Text 10"/>
          <p:cNvSpPr/>
          <p:nvPr/>
        </p:nvSpPr>
        <p:spPr>
          <a:xfrm>
            <a:off x="6473952" y="4434840"/>
            <a:ext cx="4937760" cy="1280160"/>
          </a:xfrm>
          <a:prstGeom prst="rect">
            <a:avLst/>
          </a:prstGeom>
          <a:noFill/>
          <a:ln/>
        </p:spPr>
        <p:txBody>
          <a:bodyPr wrap="square" lIns="0" tIns="0" rIns="0" bIns="0" rtlCol="0" anchor="t"/>
          <a:lstStyle/>
          <a:p>
            <a:pPr indent="0" marL="0">
              <a:lnSpc>
                <a:spcPct val="110000"/>
              </a:lnSpc>
              <a:buNone/>
            </a:pPr>
            <a:r>
              <a:rPr lang="en-US" sz="1100" dirty="0">
                <a:solidFill>
                  <a:srgbClr val="7A2E14"/>
                </a:solidFill>
                <a:latin typeface="Calibri" pitchFamily="34" charset="0"/>
                <a:ea typeface="Calibri" pitchFamily="34" charset="-122"/>
                <a:cs typeface="Calibri" pitchFamily="34" charset="-120"/>
              </a:rPr>
              <a:t>The two modelled cohorts differ in more than host: wild surveillance versus experimental infection, different laboratories, different library preparation. A failure to transfer between them would confound "different host" with "different study entirely".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METHOD</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The feature spaces compared</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4206240"/>
                <a:gridCol w="1828800"/>
                <a:gridCol w="2377440"/>
                <a:gridCol w="2651760"/>
              </a:tblGrid>
              <a:tr h="4114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 space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Taxonomic detail?</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Fitted in-fold?</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11480">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α diversity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no fitting needed</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11480">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Core retention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yes — from training-fold negatives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11480">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Pure ecological (α + core)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11480">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Community structure — Bray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10 / kernel</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yes for PCoA, none for kernel</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11480">
                <a:tc>
                  <a:txBody>
                    <a:bodyPr/>
                    <a:lstStyle/>
                    <a:p>
                      <a:pPr algn="ctr" indent="0" marL="0">
                        <a:buNone/>
                      </a:pPr>
                      <a:r>
                        <a:rPr lang="en-US" sz="1150" i="1" dirty="0">
                          <a:solidFill>
                            <a:srgbClr val="16252C"/>
                          </a:solidFill>
                          <a:latin typeface="Calibri" pitchFamily="34" charset="0"/>
                          <a:ea typeface="Calibri" pitchFamily="34" charset="-122"/>
                          <a:cs typeface="Calibri" pitchFamily="34" charset="-120"/>
                        </a:rPr>
                        <a:t>Community structure — Aitchison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i="1" dirty="0">
                          <a:solidFill>
                            <a:srgbClr val="16252C"/>
                          </a:solidFill>
                          <a:latin typeface="Calibri" pitchFamily="34" charset="0"/>
                          <a:ea typeface="Calibri" pitchFamily="34" charset="-122"/>
                          <a:cs typeface="Calibri" pitchFamily="34" charset="-120"/>
                        </a:rPr>
                        <a:t>10 / kernel</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i="1" dirty="0">
                          <a:solidFill>
                            <a:srgbClr val="16252C"/>
                          </a:solidFill>
                          <a:latin typeface="Calibri" pitchFamily="34" charset="0"/>
                          <a:ea typeface="Calibri" pitchFamily="34" charset="-122"/>
                          <a:cs typeface="Calibri" pitchFamily="34" charset="-120"/>
                        </a:rPr>
                        <a:t>yes for PCoA</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11480">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Genus abundance CLR (reference)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70 / 62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yes — PrevalenceCLR</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7" name="Shape 4"/>
          <p:cNvSpPr/>
          <p:nvPr/>
        </p:nvSpPr>
        <p:spPr>
          <a:xfrm>
            <a:off x="548640" y="4206240"/>
            <a:ext cx="11064240" cy="1234440"/>
          </a:xfrm>
          <a:prstGeom prst="rect">
            <a:avLst/>
          </a:prstGeom>
          <a:solidFill>
            <a:srgbClr val="FBEDE7"/>
          </a:solidFill>
          <a:ln/>
        </p:spPr>
      </p:sp>
      <p:sp>
        <p:nvSpPr>
          <p:cNvPr id="8" name="Shape 5"/>
          <p:cNvSpPr/>
          <p:nvPr/>
        </p:nvSpPr>
        <p:spPr>
          <a:xfrm>
            <a:off x="548640" y="4206240"/>
            <a:ext cx="68580" cy="1234440"/>
          </a:xfrm>
          <a:prstGeom prst="rect">
            <a:avLst/>
          </a:prstGeom>
          <a:solidFill>
            <a:srgbClr val="D2603A"/>
          </a:solidFill>
          <a:ln/>
        </p:spPr>
      </p:sp>
      <p:sp>
        <p:nvSpPr>
          <p:cNvPr id="9" name="Text 6"/>
          <p:cNvSpPr/>
          <p:nvPr/>
        </p:nvSpPr>
        <p:spPr>
          <a:xfrm>
            <a:off x="804672" y="4297680"/>
            <a:ext cx="10607040" cy="1051560"/>
          </a:xfrm>
          <a:prstGeom prst="rect">
            <a:avLst/>
          </a:prstGeom>
          <a:noFill/>
          <a:ln/>
        </p:spPr>
        <p:txBody>
          <a:bodyPr wrap="square" lIns="0" tIns="0" rIns="0" bIns="0" rtlCol="0" anchor="t"/>
          <a:lstStyle/>
          <a:p>
            <a:pPr indent="0" marL="0">
              <a:lnSpc>
                <a:spcPct val="110000"/>
              </a:lnSpc>
              <a:buNone/>
            </a:pPr>
            <a:r>
              <a:rPr lang="en-US" sz="1200" dirty="0">
                <a:solidFill>
                  <a:srgbClr val="7A2E14"/>
                </a:solidFill>
                <a:latin typeface="Calibri" pitchFamily="34" charset="0"/>
                <a:ea typeface="Calibri" pitchFamily="34" charset="-122"/>
                <a:cs typeface="Calibri" pitchFamily="34" charset="-120"/>
              </a:rPr>
              <a:t>Aitchison distance is Euclidean distance in CLR space — the same genus abundances the taxonomic model uses, in different geometry. Anything built on it carries the full taxonomic signal and is not an ecological alternative to taxonomy. It is kept in every table as a control, always labelled. Bray–Curtis is the honest community-structure comparator.</a:t>
            </a:r>
            <a:endParaRPr lang="en-US" sz="1200" dirty="0"/>
          </a:p>
        </p:txBody>
      </p:sp>
      <p:sp>
        <p:nvSpPr>
          <p:cNvPr id="10" name="Text 7"/>
          <p:cNvSpPr/>
          <p:nvPr/>
        </p:nvSpPr>
        <p:spPr>
          <a:xfrm>
            <a:off x="548640" y="5577840"/>
            <a:ext cx="11064240" cy="365760"/>
          </a:xfrm>
          <a:prstGeom prst="rect">
            <a:avLst/>
          </a:prstGeom>
          <a:noFill/>
          <a:ln/>
        </p:spPr>
        <p:txBody>
          <a:bodyPr wrap="square" lIns="0" tIns="0" rIns="0" bIns="0" rtlCol="0" anchor="ctr"/>
          <a:lstStyle/>
          <a:p>
            <a:pPr indent="0" marL="0">
              <a:buNone/>
            </a:pPr>
            <a:r>
              <a:rPr lang="en-US" sz="1100" i="1" dirty="0">
                <a:solidFill>
                  <a:srgbClr val="5F7580"/>
                </a:solidFill>
                <a:latin typeface="Calibri" pitchFamily="34" charset="0"/>
                <a:ea typeface="Calibri" pitchFamily="34" charset="-122"/>
                <a:cs typeface="Calibri" pitchFamily="34" charset="-120"/>
              </a:rPr>
              <a:t>Model held fixed at SVM-RBF for the within-host and confounding work, so what varies is the feature space and not the learner. Sections on transfer use a linear model — slide 16 explains why.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METHOD · VALIDITY</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Leakage handling, per feature space</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6</a:t>
            </a:r>
            <a:endParaRPr lang="en-US" sz="1000" dirty="0"/>
          </a:p>
        </p:txBody>
      </p:sp>
      <p:sp>
        <p:nvSpPr>
          <p:cNvPr id="6" name="Text 4"/>
          <p:cNvSpPr/>
          <p:nvPr/>
        </p:nvSpPr>
        <p:spPr>
          <a:xfrm>
            <a:off x="548640" y="1280160"/>
            <a:ext cx="11064240" cy="320040"/>
          </a:xfrm>
          <a:prstGeom prst="rect">
            <a:avLst/>
          </a:prstGeom>
          <a:noFill/>
          <a:ln/>
        </p:spPr>
        <p:txBody>
          <a:bodyPr wrap="square" lIns="0" tIns="0" rIns="0" bIns="0" rtlCol="0" anchor="ctr"/>
          <a:lstStyle/>
          <a:p>
            <a:pPr indent="0" marL="0">
              <a:buNone/>
            </a:pPr>
            <a:r>
              <a:rPr lang="en-US" sz="1250" dirty="0">
                <a:solidFill>
                  <a:srgbClr val="5F7580"/>
                </a:solidFill>
                <a:latin typeface="Calibri" pitchFamily="34" charset="0"/>
                <a:ea typeface="Calibri" pitchFamily="34" charset="-122"/>
                <a:cs typeface="Calibri" pitchFamily="34" charset="-120"/>
              </a:rPr>
              <a:t>Each feature space leaks differently. The collaborator flagged one of these; the second was found during this work.</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2011680"/>
                <a:gridCol w="5394960"/>
                <a:gridCol w="3657600"/>
              </a:tblGrid>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Step</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The risk</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What was done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57200">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Core retention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core defined from all negatives — held-out samples help define their own benchmark</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redefined in-fold, from that fold's negatives only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57200">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PCoA</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cmdscale() on the full 326×326 matrix — axes encode held-out samples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fitted on training distances, test projected in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57200">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Distance kernels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none — Bray–Curtis is pairwise, CLR is per-sample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used directly; bandwidth from training only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57200">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Genus abundance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prevalence filter fitted globally</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PrevalenceCLR fitted in-fold</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bl>
          </a:graphicData>
        </a:graphic>
      </p:graphicFrame>
      <p:sp>
        <p:nvSpPr>
          <p:cNvPr id="8" name="Shape 5"/>
          <p:cNvSpPr/>
          <p:nvPr/>
        </p:nvSpPr>
        <p:spPr>
          <a:xfrm>
            <a:off x="548640" y="4297680"/>
            <a:ext cx="11064240" cy="13716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9" name="Shape 6"/>
          <p:cNvSpPr/>
          <p:nvPr/>
        </p:nvSpPr>
        <p:spPr>
          <a:xfrm>
            <a:off x="548640" y="4297680"/>
            <a:ext cx="68580" cy="1371600"/>
          </a:xfrm>
          <a:prstGeom prst="rect">
            <a:avLst/>
          </a:prstGeom>
          <a:solidFill>
            <a:srgbClr val="8FB996"/>
          </a:solidFill>
          <a:ln/>
        </p:spPr>
      </p:sp>
      <p:sp>
        <p:nvSpPr>
          <p:cNvPr id="10" name="Text 7"/>
          <p:cNvSpPr/>
          <p:nvPr/>
        </p:nvSpPr>
        <p:spPr>
          <a:xfrm>
            <a:off x="804672" y="4443984"/>
            <a:ext cx="1060704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Calibration checks before any of this was trusted</a:t>
            </a:r>
            <a:endParaRPr lang="en-US" sz="1400" dirty="0"/>
          </a:p>
        </p:txBody>
      </p:sp>
      <p:sp>
        <p:nvSpPr>
          <p:cNvPr id="11" name="Text 8"/>
          <p:cNvSpPr/>
          <p:nvPr/>
        </p:nvSpPr>
        <p:spPr>
          <a:xfrm>
            <a:off x="804672" y="4828032"/>
            <a:ext cx="10607040" cy="713232"/>
          </a:xfrm>
          <a:prstGeom prst="rect">
            <a:avLst/>
          </a:prstGeom>
          <a:noFill/>
          <a:ln/>
        </p:spPr>
        <p:txBody>
          <a:bodyPr wrap="square" lIns="0" tIns="0" rIns="0" bIns="0" rtlCol="0" anchor="t"/>
          <a:lstStyle/>
          <a:p>
            <a:pPr indent="0" marL="0">
              <a:lnSpc>
                <a:spcPct val="112000"/>
              </a:lnSpc>
              <a:buNone/>
            </a:pPr>
            <a:r>
              <a:rPr lang="en-US" sz="1150" dirty="0">
                <a:solidFill>
                  <a:srgbClr val="5F7580"/>
                </a:solidFill>
                <a:latin typeface="Calibri" pitchFamily="34" charset="0"/>
                <a:ea typeface="Calibri" pitchFamily="34" charset="-122"/>
                <a:cs typeface="Calibri" pitchFamily="34" charset="-120"/>
              </a:rPr>
              <a:t>The Python core-retention implementation reproduces the collaborator's R output exactly on all 7 columns and all 326 samples. The genus reference reproduces the established results: 70 features and AUC 0.836 in duck against a documented 0.835, and 62 features in turkey. The cage contrasts reproduce summary_Turkey_45_sample.md §4 to three decimals.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8FB996"/>
          </a:solidFill>
          <a:ln/>
        </p:spPr>
      </p:sp>
      <p:sp>
        <p:nvSpPr>
          <p:cNvPr id="3" name="Text 1"/>
          <p:cNvSpPr/>
          <p:nvPr/>
        </p:nvSpPr>
        <p:spPr>
          <a:xfrm>
            <a:off x="1005840" y="2057400"/>
            <a:ext cx="2011680" cy="1463040"/>
          </a:xfrm>
          <a:prstGeom prst="rect">
            <a:avLst/>
          </a:prstGeom>
          <a:noFill/>
          <a:ln/>
        </p:spPr>
        <p:txBody>
          <a:bodyPr wrap="square" lIns="0" tIns="0" rIns="0" bIns="0" rtlCol="0" anchor="ctr"/>
          <a:lstStyle/>
          <a:p>
            <a:pPr indent="0" marL="0">
              <a:buNone/>
            </a:pPr>
            <a:r>
              <a:rPr lang="en-US" sz="9600" b="1" dirty="0">
                <a:solidFill>
                  <a:srgbClr val="4E9FAD"/>
                </a:solidFill>
                <a:latin typeface="Georgia" pitchFamily="34" charset="0"/>
                <a:ea typeface="Georgia" pitchFamily="34" charset="-122"/>
                <a:cs typeface="Georgia" pitchFamily="34" charset="-120"/>
              </a:rPr>
              <a:t>01</a:t>
            </a:r>
            <a:endParaRPr lang="en-US" sz="9600" dirty="0"/>
          </a:p>
        </p:txBody>
      </p:sp>
      <p:sp>
        <p:nvSpPr>
          <p:cNvPr id="4" name="Text 2"/>
          <p:cNvSpPr/>
          <p:nvPr/>
        </p:nvSpPr>
        <p:spPr>
          <a:xfrm>
            <a:off x="2834640" y="2286000"/>
            <a:ext cx="8412480" cy="8686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Within host</a:t>
            </a:r>
            <a:endParaRPr lang="en-US" sz="3600" dirty="0"/>
          </a:p>
        </p:txBody>
      </p:sp>
      <p:sp>
        <p:nvSpPr>
          <p:cNvPr id="5" name="Text 3"/>
          <p:cNvSpPr/>
          <p:nvPr/>
        </p:nvSpPr>
        <p:spPr>
          <a:xfrm>
            <a:off x="2880360" y="3200400"/>
            <a:ext cx="8229600" cy="822960"/>
          </a:xfrm>
          <a:prstGeom prst="rect">
            <a:avLst/>
          </a:prstGeom>
          <a:noFill/>
          <a:ln/>
        </p:spPr>
        <p:txBody>
          <a:bodyPr wrap="square" lIns="0" tIns="0" rIns="0" bIns="0" rtlCol="0" anchor="ctr"/>
          <a:lstStyle/>
          <a:p>
            <a:pPr indent="0" marL="0">
              <a:buNone/>
            </a:pPr>
            <a:r>
              <a:rPr lang="en-US" sz="1500" dirty="0">
                <a:solidFill>
                  <a:srgbClr val="8FB996"/>
                </a:solidFill>
                <a:latin typeface="Calibri" pitchFamily="34" charset="0"/>
                <a:ea typeface="Calibri" pitchFamily="34" charset="-122"/>
                <a:cs typeface="Calibri" pitchFamily="34" charset="-120"/>
              </a:rPr>
              <a:t>How well does each space detect infection inside one cohort?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RESULTS · SECTION 1</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Within-host performance</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4023360"/>
                <a:gridCol w="2103120"/>
                <a:gridCol w="1463040"/>
                <a:gridCol w="2103120"/>
                <a:gridCol w="1371600"/>
              </a:tblGrid>
              <a:tr h="38404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 space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Duck (n=260)</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Turkey (n=45)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38404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α diversity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0.538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0.333</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0.748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0.070</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38404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Core retention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0.593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0.050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0.799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0.010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84048">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Pure ecological (α + core)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0.613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0.010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0.807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0.020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8404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Pure ecological + Bray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0.674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0.854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8404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Bray kernel</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0.695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0.850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84048">
                <a:tc>
                  <a:txBody>
                    <a:bodyPr/>
                    <a:lstStyle/>
                    <a:p>
                      <a:pPr algn="ctr" indent="0" marL="0">
                        <a:buNone/>
                      </a:pPr>
                      <a:r>
                        <a:rPr lang="en-US" sz="1150" i="1" dirty="0">
                          <a:solidFill>
                            <a:srgbClr val="16252C"/>
                          </a:solidFill>
                          <a:latin typeface="Calibri" pitchFamily="34" charset="0"/>
                          <a:ea typeface="Calibri" pitchFamily="34" charset="-122"/>
                          <a:cs typeface="Calibri" pitchFamily="34" charset="-120"/>
                        </a:rPr>
                        <a:t>Aitchison kernel — taxonomic</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i="1" dirty="0">
                          <a:solidFill>
                            <a:srgbClr val="16252C"/>
                          </a:solidFill>
                          <a:latin typeface="Calibri" pitchFamily="34" charset="0"/>
                          <a:ea typeface="Calibri" pitchFamily="34" charset="-122"/>
                          <a:cs typeface="Calibri" pitchFamily="34" charset="-120"/>
                        </a:rPr>
                        <a:t>0.848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i="1" dirty="0">
                          <a:solidFill>
                            <a:srgbClr val="16252C"/>
                          </a:solidFill>
                          <a:latin typeface="Calibri" pitchFamily="34" charset="0"/>
                          <a:ea typeface="Calibri" pitchFamily="34" charset="-122"/>
                          <a:cs typeface="Calibri" pitchFamily="34" charset="-120"/>
                        </a:rPr>
                        <a:t>0.005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i="1" dirty="0">
                          <a:solidFill>
                            <a:srgbClr val="16252C"/>
                          </a:solidFill>
                          <a:latin typeface="Calibri" pitchFamily="34" charset="0"/>
                          <a:ea typeface="Calibri" pitchFamily="34" charset="-122"/>
                          <a:cs typeface="Calibri" pitchFamily="34" charset="-120"/>
                        </a:rPr>
                        <a:t>0.970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i="1" dirty="0">
                          <a:solidFill>
                            <a:srgbClr val="16252C"/>
                          </a:solidFill>
                          <a:latin typeface="Calibri" pitchFamily="34" charset="0"/>
                          <a:ea typeface="Calibri" pitchFamily="34" charset="-122"/>
                          <a:cs typeface="Calibri" pitchFamily="34" charset="-120"/>
                        </a:rPr>
                        <a:t>0.005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84048">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Genus abundance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0.836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0.972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7" name="Shape 4"/>
          <p:cNvSpPr/>
          <p:nvPr/>
        </p:nvSpPr>
        <p:spPr>
          <a:xfrm>
            <a:off x="548640" y="4572000"/>
            <a:ext cx="5394960" cy="123444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8" name="Shape 5"/>
          <p:cNvSpPr/>
          <p:nvPr/>
        </p:nvSpPr>
        <p:spPr>
          <a:xfrm>
            <a:off x="548640" y="4572000"/>
            <a:ext cx="68580" cy="1234440"/>
          </a:xfrm>
          <a:prstGeom prst="rect">
            <a:avLst/>
          </a:prstGeom>
          <a:solidFill>
            <a:srgbClr val="D2603A"/>
          </a:solidFill>
          <a:ln/>
        </p:spPr>
      </p:sp>
      <p:sp>
        <p:nvSpPr>
          <p:cNvPr id="9" name="Text 6"/>
          <p:cNvSpPr/>
          <p:nvPr/>
        </p:nvSpPr>
        <p:spPr>
          <a:xfrm>
            <a:off x="804672" y="4718304"/>
            <a:ext cx="493776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Genus abundance wins within host</a:t>
            </a:r>
            <a:endParaRPr lang="en-US" sz="1400" dirty="0"/>
          </a:p>
        </p:txBody>
      </p:sp>
      <p:sp>
        <p:nvSpPr>
          <p:cNvPr id="10" name="Text 7"/>
          <p:cNvSpPr/>
          <p:nvPr/>
        </p:nvSpPr>
        <p:spPr>
          <a:xfrm>
            <a:off x="804672" y="5102352"/>
            <a:ext cx="4937760" cy="576072"/>
          </a:xfrm>
          <a:prstGeom prst="rect">
            <a:avLst/>
          </a:prstGeom>
          <a:noFill/>
          <a:ln/>
        </p:spPr>
        <p:txBody>
          <a:bodyPr wrap="square" lIns="0" tIns="0" rIns="0" bIns="0" rtlCol="0" anchor="t"/>
          <a:lstStyle/>
          <a:p>
            <a:pPr indent="0" marL="0">
              <a:lnSpc>
                <a:spcPct val="112000"/>
              </a:lnSpc>
              <a:buNone/>
            </a:pPr>
            <a:r>
              <a:rPr lang="en-US" sz="1100" dirty="0">
                <a:solidFill>
                  <a:srgbClr val="7A2E14"/>
                </a:solidFill>
                <a:latin typeface="Calibri" pitchFamily="34" charset="0"/>
                <a:ea typeface="Calibri" pitchFamily="34" charset="-122"/>
                <a:cs typeface="Calibri" pitchFamily="34" charset="-120"/>
              </a:rPr>
              <a:t>0.836 against 0.674 for the best purely ecological space in duck. The gap narrows in turkey but does not close.</a:t>
            </a:r>
            <a:endParaRPr lang="en-US" sz="1100" dirty="0"/>
          </a:p>
        </p:txBody>
      </p:sp>
      <p:sp>
        <p:nvSpPr>
          <p:cNvPr id="11" name="Shape 8"/>
          <p:cNvSpPr/>
          <p:nvPr/>
        </p:nvSpPr>
        <p:spPr>
          <a:xfrm>
            <a:off x="6217920" y="4572000"/>
            <a:ext cx="5394960" cy="12344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2" name="Shape 9"/>
          <p:cNvSpPr/>
          <p:nvPr/>
        </p:nvSpPr>
        <p:spPr>
          <a:xfrm>
            <a:off x="6217920" y="4572000"/>
            <a:ext cx="68580" cy="1234440"/>
          </a:xfrm>
          <a:prstGeom prst="rect">
            <a:avLst/>
          </a:prstGeom>
          <a:solidFill>
            <a:srgbClr val="18707F"/>
          </a:solidFill>
          <a:ln/>
        </p:spPr>
      </p:sp>
      <p:sp>
        <p:nvSpPr>
          <p:cNvPr id="13" name="Text 10"/>
          <p:cNvSpPr/>
          <p:nvPr/>
        </p:nvSpPr>
        <p:spPr>
          <a:xfrm>
            <a:off x="6473952" y="4718304"/>
            <a:ext cx="493776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α diversity is not usable on its own</a:t>
            </a:r>
            <a:endParaRPr lang="en-US" sz="1400" dirty="0"/>
          </a:p>
        </p:txBody>
      </p:sp>
      <p:sp>
        <p:nvSpPr>
          <p:cNvPr id="14" name="Text 11"/>
          <p:cNvSpPr/>
          <p:nvPr/>
        </p:nvSpPr>
        <p:spPr>
          <a:xfrm>
            <a:off x="6473952" y="5102352"/>
            <a:ext cx="4937760" cy="576072"/>
          </a:xfrm>
          <a:prstGeom prst="rect">
            <a:avLst/>
          </a:prstGeom>
          <a:noFill/>
          <a:ln/>
        </p:spPr>
        <p:txBody>
          <a:bodyPr wrap="square" lIns="0" tIns="0" rIns="0" bIns="0" rtlCol="0" anchor="t"/>
          <a:lstStyle/>
          <a:p>
            <a:pPr indent="0" marL="0">
              <a:lnSpc>
                <a:spcPct val="112000"/>
              </a:lnSpc>
              <a:buNone/>
            </a:pPr>
            <a:r>
              <a:rPr lang="en-US" sz="1100" dirty="0">
                <a:solidFill>
                  <a:srgbClr val="5F7580"/>
                </a:solidFill>
                <a:latin typeface="Calibri" pitchFamily="34" charset="0"/>
                <a:ea typeface="Calibri" pitchFamily="34" charset="-122"/>
                <a:cs typeface="Calibri" pitchFamily="34" charset="-120"/>
              </a:rPr>
              <a:t>It fails its own permutation null in both cohorts (p=0.333 and 0.070). Only combined with core retention does it clear significance.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RESULTS · A STRUCTURAL CAVEAT</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One row in that table is not a result</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9</a:t>
            </a:r>
            <a:endParaRPr lang="en-US" sz="1000" dirty="0"/>
          </a:p>
        </p:txBody>
      </p:sp>
      <p:sp>
        <p:nvSpPr>
          <p:cNvPr id="6" name="Text 4"/>
          <p:cNvSpPr/>
          <p:nvPr/>
        </p:nvSpPr>
        <p:spPr>
          <a:xfrm>
            <a:off x="1280160" y="1554480"/>
            <a:ext cx="3291840" cy="658368"/>
          </a:xfrm>
          <a:prstGeom prst="rect">
            <a:avLst/>
          </a:prstGeom>
          <a:noFill/>
          <a:ln/>
        </p:spPr>
        <p:txBody>
          <a:bodyPr wrap="square" lIns="0" tIns="0" rIns="0" bIns="0" rtlCol="0" anchor="ctr"/>
          <a:lstStyle/>
          <a:p>
            <a:pPr algn="ctr" indent="0" marL="0">
              <a:buNone/>
            </a:pPr>
            <a:r>
              <a:rPr lang="en-US" sz="4000" b="1" dirty="0">
                <a:solidFill>
                  <a:srgbClr val="18707F"/>
                </a:solidFill>
                <a:latin typeface="Georgia" pitchFamily="34" charset="0"/>
                <a:ea typeface="Georgia" pitchFamily="34" charset="-122"/>
                <a:cs typeface="Georgia" pitchFamily="34" charset="-120"/>
              </a:rPr>
              <a:t>0.848</a:t>
            </a:r>
            <a:endParaRPr lang="en-US" sz="4000" dirty="0"/>
          </a:p>
        </p:txBody>
      </p:sp>
      <p:sp>
        <p:nvSpPr>
          <p:cNvPr id="7" name="Text 5"/>
          <p:cNvSpPr/>
          <p:nvPr/>
        </p:nvSpPr>
        <p:spPr>
          <a:xfrm>
            <a:off x="1280160" y="2231136"/>
            <a:ext cx="329184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Aitchison kernel, duck</a:t>
            </a:r>
            <a:endParaRPr lang="en-US" sz="1150" dirty="0"/>
          </a:p>
        </p:txBody>
      </p:sp>
      <p:sp>
        <p:nvSpPr>
          <p:cNvPr id="8" name="Text 6"/>
          <p:cNvSpPr/>
          <p:nvPr/>
        </p:nvSpPr>
        <p:spPr>
          <a:xfrm>
            <a:off x="1280160" y="2523744"/>
            <a:ext cx="329184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"community structure"</a:t>
            </a:r>
            <a:endParaRPr lang="en-US" sz="1000" dirty="0"/>
          </a:p>
        </p:txBody>
      </p:sp>
      <p:sp>
        <p:nvSpPr>
          <p:cNvPr id="9" name="Text 7"/>
          <p:cNvSpPr/>
          <p:nvPr/>
        </p:nvSpPr>
        <p:spPr>
          <a:xfrm>
            <a:off x="4937760" y="1554480"/>
            <a:ext cx="3291840" cy="658368"/>
          </a:xfrm>
          <a:prstGeom prst="rect">
            <a:avLst/>
          </a:prstGeom>
          <a:noFill/>
          <a:ln/>
        </p:spPr>
        <p:txBody>
          <a:bodyPr wrap="square" lIns="0" tIns="0" rIns="0" bIns="0" rtlCol="0" anchor="ctr"/>
          <a:lstStyle/>
          <a:p>
            <a:pPr algn="ctr" indent="0" marL="0">
              <a:buNone/>
            </a:pPr>
            <a:r>
              <a:rPr lang="en-US" sz="4000" b="1" dirty="0">
                <a:solidFill>
                  <a:srgbClr val="18707F"/>
                </a:solidFill>
                <a:latin typeface="Georgia" pitchFamily="34" charset="0"/>
                <a:ea typeface="Georgia" pitchFamily="34" charset="-122"/>
                <a:cs typeface="Georgia" pitchFamily="34" charset="-120"/>
              </a:rPr>
              <a:t>0.836</a:t>
            </a:r>
            <a:endParaRPr lang="en-US" sz="4000" dirty="0"/>
          </a:p>
        </p:txBody>
      </p:sp>
      <p:sp>
        <p:nvSpPr>
          <p:cNvPr id="10" name="Text 8"/>
          <p:cNvSpPr/>
          <p:nvPr/>
        </p:nvSpPr>
        <p:spPr>
          <a:xfrm>
            <a:off x="4937760" y="2231136"/>
            <a:ext cx="329184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Genus abundance, duck</a:t>
            </a:r>
            <a:endParaRPr lang="en-US" sz="1150" dirty="0"/>
          </a:p>
        </p:txBody>
      </p:sp>
      <p:sp>
        <p:nvSpPr>
          <p:cNvPr id="11" name="Text 9"/>
          <p:cNvSpPr/>
          <p:nvPr/>
        </p:nvSpPr>
        <p:spPr>
          <a:xfrm>
            <a:off x="4937760" y="2523744"/>
            <a:ext cx="329184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the taxonomic model</a:t>
            </a:r>
            <a:endParaRPr lang="en-US" sz="1000" dirty="0"/>
          </a:p>
        </p:txBody>
      </p:sp>
      <p:sp>
        <p:nvSpPr>
          <p:cNvPr id="12" name="Text 10"/>
          <p:cNvSpPr/>
          <p:nvPr/>
        </p:nvSpPr>
        <p:spPr>
          <a:xfrm>
            <a:off x="8595360" y="1554480"/>
            <a:ext cx="2377440" cy="658368"/>
          </a:xfrm>
          <a:prstGeom prst="rect">
            <a:avLst/>
          </a:prstGeom>
          <a:noFill/>
          <a:ln/>
        </p:spPr>
        <p:txBody>
          <a:bodyPr wrap="square" lIns="0" tIns="0" rIns="0" bIns="0" rtlCol="0" anchor="ctr"/>
          <a:lstStyle/>
          <a:p>
            <a:pPr algn="ctr" indent="0" marL="0">
              <a:buNone/>
            </a:pPr>
            <a:r>
              <a:rPr lang="en-US" sz="4400" b="1" dirty="0">
                <a:solidFill>
                  <a:srgbClr val="5F7580"/>
                </a:solidFill>
                <a:latin typeface="Georgia" pitchFamily="34" charset="0"/>
                <a:ea typeface="Georgia" pitchFamily="34" charset="-122"/>
                <a:cs typeface="Georgia" pitchFamily="34" charset="-120"/>
              </a:rPr>
              <a:t>≈</a:t>
            </a:r>
            <a:endParaRPr lang="en-US" sz="4400" dirty="0"/>
          </a:p>
        </p:txBody>
      </p:sp>
      <p:sp>
        <p:nvSpPr>
          <p:cNvPr id="13" name="Text 11"/>
          <p:cNvSpPr/>
          <p:nvPr/>
        </p:nvSpPr>
        <p:spPr>
          <a:xfrm>
            <a:off x="8595360" y="2231136"/>
            <a:ext cx="237744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and in turkey</a:t>
            </a:r>
            <a:endParaRPr lang="en-US" sz="1150" dirty="0"/>
          </a:p>
        </p:txBody>
      </p:sp>
      <p:sp>
        <p:nvSpPr>
          <p:cNvPr id="14" name="Text 12"/>
          <p:cNvSpPr/>
          <p:nvPr/>
        </p:nvSpPr>
        <p:spPr>
          <a:xfrm>
            <a:off x="8595360" y="2523744"/>
            <a:ext cx="237744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0.970 against 0.972</a:t>
            </a:r>
            <a:endParaRPr lang="en-US" sz="1000" dirty="0"/>
          </a:p>
        </p:txBody>
      </p:sp>
      <p:sp>
        <p:nvSpPr>
          <p:cNvPr id="15" name="Shape 13"/>
          <p:cNvSpPr/>
          <p:nvPr/>
        </p:nvSpPr>
        <p:spPr>
          <a:xfrm>
            <a:off x="548640" y="3200400"/>
            <a:ext cx="11064240" cy="137160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16" name="Shape 14"/>
          <p:cNvSpPr/>
          <p:nvPr/>
        </p:nvSpPr>
        <p:spPr>
          <a:xfrm>
            <a:off x="548640" y="3200400"/>
            <a:ext cx="68580" cy="1371600"/>
          </a:xfrm>
          <a:prstGeom prst="rect">
            <a:avLst/>
          </a:prstGeom>
          <a:solidFill>
            <a:srgbClr val="D2603A"/>
          </a:solidFill>
          <a:ln/>
        </p:spPr>
      </p:sp>
      <p:sp>
        <p:nvSpPr>
          <p:cNvPr id="17" name="Text 15"/>
          <p:cNvSpPr/>
          <p:nvPr/>
        </p:nvSpPr>
        <p:spPr>
          <a:xfrm>
            <a:off x="804672" y="334670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This near-equality is close to tautological</a:t>
            </a:r>
            <a:endParaRPr lang="en-US" sz="1500" dirty="0"/>
          </a:p>
        </p:txBody>
      </p:sp>
      <p:sp>
        <p:nvSpPr>
          <p:cNvPr id="18" name="Text 16"/>
          <p:cNvSpPr/>
          <p:nvPr/>
        </p:nvSpPr>
        <p:spPr>
          <a:xfrm>
            <a:off x="804672" y="3730752"/>
            <a:ext cx="10607040" cy="713232"/>
          </a:xfrm>
          <a:prstGeom prst="rect">
            <a:avLst/>
          </a:prstGeom>
          <a:noFill/>
          <a:ln/>
        </p:spPr>
        <p:txBody>
          <a:bodyPr wrap="square" lIns="0" tIns="0" rIns="0" bIns="0" rtlCol="0" anchor="t"/>
          <a:lstStyle/>
          <a:p>
            <a:pPr indent="0" marL="0">
              <a:lnSpc>
                <a:spcPct val="112000"/>
              </a:lnSpc>
              <a:buNone/>
            </a:pPr>
            <a:r>
              <a:rPr lang="en-US" sz="1200" dirty="0">
                <a:solidFill>
                  <a:srgbClr val="7A2E14"/>
                </a:solidFill>
                <a:latin typeface="Calibri" pitchFamily="34" charset="0"/>
                <a:ea typeface="Calibri" pitchFamily="34" charset="-122"/>
                <a:cs typeface="Calibri" pitchFamily="34" charset="-120"/>
              </a:rPr>
              <a:t>Aitchison distance is defined as Euclidean distance between CLR-transformed abundance vectors. It is the genus-abundance matrix, re-expressed. Reporting "community structure performs as well as taxonomy" from this row would be reporting that a quantity equals itself.</a:t>
            </a:r>
            <a:endParaRPr lang="en-US" sz="1200" dirty="0"/>
          </a:p>
        </p:txBody>
      </p:sp>
      <p:sp>
        <p:nvSpPr>
          <p:cNvPr id="19" name="Shape 17"/>
          <p:cNvSpPr/>
          <p:nvPr/>
        </p:nvSpPr>
        <p:spPr>
          <a:xfrm>
            <a:off x="548640" y="4709160"/>
            <a:ext cx="11064240" cy="109728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20" name="Shape 18"/>
          <p:cNvSpPr/>
          <p:nvPr/>
        </p:nvSpPr>
        <p:spPr>
          <a:xfrm>
            <a:off x="548640" y="4709160"/>
            <a:ext cx="68580" cy="1097280"/>
          </a:xfrm>
          <a:prstGeom prst="rect">
            <a:avLst/>
          </a:prstGeom>
          <a:solidFill>
            <a:srgbClr val="8FB996"/>
          </a:solidFill>
          <a:ln/>
        </p:spPr>
      </p:sp>
      <p:sp>
        <p:nvSpPr>
          <p:cNvPr id="21" name="Text 19"/>
          <p:cNvSpPr/>
          <p:nvPr/>
        </p:nvSpPr>
        <p:spPr>
          <a:xfrm>
            <a:off x="804672" y="485546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What the honest comparison looks like</a:t>
            </a:r>
            <a:endParaRPr lang="en-US" sz="1500" dirty="0"/>
          </a:p>
        </p:txBody>
      </p:sp>
      <p:sp>
        <p:nvSpPr>
          <p:cNvPr id="22" name="Text 20"/>
          <p:cNvSpPr/>
          <p:nvPr/>
        </p:nvSpPr>
        <p:spPr>
          <a:xfrm>
            <a:off x="804672" y="5239512"/>
            <a:ext cx="10607040" cy="43891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Bray–Curtis is a genuine community-structure measure that is not a re-expression of the CLR abundances: 0.695 in duck and 0.850 in turkey — clearly below genus abundance. Every Aitchison-based row in this deck is italicised and labelled taxonomic for that reason.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8FB996"/>
          </a:solidFill>
          <a:ln/>
        </p:spPr>
      </p:sp>
      <p:sp>
        <p:nvSpPr>
          <p:cNvPr id="3" name="Text 1"/>
          <p:cNvSpPr/>
          <p:nvPr/>
        </p:nvSpPr>
        <p:spPr>
          <a:xfrm>
            <a:off x="1005840" y="2057400"/>
            <a:ext cx="2011680" cy="1463040"/>
          </a:xfrm>
          <a:prstGeom prst="rect">
            <a:avLst/>
          </a:prstGeom>
          <a:noFill/>
          <a:ln/>
        </p:spPr>
        <p:txBody>
          <a:bodyPr wrap="square" lIns="0" tIns="0" rIns="0" bIns="0" rtlCol="0" anchor="ctr"/>
          <a:lstStyle/>
          <a:p>
            <a:pPr indent="0" marL="0">
              <a:buNone/>
            </a:pPr>
            <a:r>
              <a:rPr lang="en-US" sz="9600" b="1" dirty="0">
                <a:solidFill>
                  <a:srgbClr val="4E9FAD"/>
                </a:solidFill>
                <a:latin typeface="Georgia" pitchFamily="34" charset="0"/>
                <a:ea typeface="Georgia" pitchFamily="34" charset="-122"/>
                <a:cs typeface="Georgia" pitchFamily="34" charset="-120"/>
              </a:rPr>
              <a:t>02</a:t>
            </a:r>
            <a:endParaRPr lang="en-US" sz="9600" dirty="0"/>
          </a:p>
        </p:txBody>
      </p:sp>
      <p:sp>
        <p:nvSpPr>
          <p:cNvPr id="4" name="Text 2"/>
          <p:cNvSpPr/>
          <p:nvPr/>
        </p:nvSpPr>
        <p:spPr>
          <a:xfrm>
            <a:off x="2834640" y="2286000"/>
            <a:ext cx="8412480" cy="8686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Confounding</a:t>
            </a:r>
            <a:endParaRPr lang="en-US" sz="3600" dirty="0"/>
          </a:p>
        </p:txBody>
      </p:sp>
      <p:sp>
        <p:nvSpPr>
          <p:cNvPr id="5" name="Text 3"/>
          <p:cNvSpPr/>
          <p:nvPr/>
        </p:nvSpPr>
        <p:spPr>
          <a:xfrm>
            <a:off x="2880360" y="3200400"/>
            <a:ext cx="8229600" cy="822960"/>
          </a:xfrm>
          <a:prstGeom prst="rect">
            <a:avLst/>
          </a:prstGeom>
          <a:noFill/>
          <a:ln/>
        </p:spPr>
        <p:txBody>
          <a:bodyPr wrap="square" lIns="0" tIns="0" rIns="0" bIns="0" rtlCol="0" anchor="ctr"/>
          <a:lstStyle/>
          <a:p>
            <a:pPr indent="0" marL="0">
              <a:buNone/>
            </a:pPr>
            <a:r>
              <a:rPr lang="en-US" sz="1500" dirty="0">
                <a:solidFill>
                  <a:srgbClr val="8FB996"/>
                </a:solidFill>
                <a:latin typeface="Calibri" pitchFamily="34" charset="0"/>
                <a:ea typeface="Calibri" pitchFamily="34" charset="-122"/>
                <a:cs typeface="Calibri" pitchFamily="34" charset="-120"/>
              </a:rPr>
              <a:t>Two things that had to be ruled out before anything could be read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CONFOUNDING · DEPTH</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Sequencing depth, and what it costs the swan cohort</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11</a:t>
            </a:r>
            <a:endParaRPr lang="en-US" sz="1000" dirty="0"/>
          </a:p>
        </p:txBody>
      </p:sp>
      <p:sp>
        <p:nvSpPr>
          <p:cNvPr id="6" name="Text 4"/>
          <p:cNvSpPr/>
          <p:nvPr/>
        </p:nvSpPr>
        <p:spPr>
          <a:xfrm>
            <a:off x="548640" y="1280160"/>
            <a:ext cx="11064240" cy="320040"/>
          </a:xfrm>
          <a:prstGeom prst="rect">
            <a:avLst/>
          </a:prstGeom>
          <a:noFill/>
          <a:ln/>
        </p:spPr>
        <p:txBody>
          <a:bodyPr wrap="square" lIns="0" tIns="0" rIns="0" bIns="0" rtlCol="0" anchor="ctr"/>
          <a:lstStyle/>
          <a:p>
            <a:pPr indent="0" marL="0">
              <a:buNone/>
            </a:pPr>
            <a:r>
              <a:rPr lang="en-US" sz="1250" dirty="0">
                <a:solidFill>
                  <a:srgbClr val="5F7580"/>
                </a:solidFill>
                <a:latin typeface="Calibri" pitchFamily="34" charset="0"/>
                <a:ea typeface="Calibri" pitchFamily="34" charset="-122"/>
                <a:cs typeface="Calibri" pitchFamily="34" charset="-120"/>
              </a:rPr>
              <a:t>Counts were not rarefied, and richness metrics rise with depth by construction. Depth had to be checked first.</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4206240" cy="914400"/>
        </p:xfrm>
        <a:graphic>
          <a:graphicData uri="http://schemas.openxmlformats.org/drawingml/2006/table">
            <a:tbl>
              <a:tblPr/>
              <a:tblGrid>
                <a:gridCol w="2743200"/>
                <a:gridCol w="1463040"/>
              </a:tblGrid>
              <a:tr h="402336">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Depth → infection status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AUC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02336">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Duck</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0.650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02336">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Turkey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0.560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02336">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Swan (n=15)</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0.870</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5303520" y="1737360"/>
          <a:ext cx="6309360" cy="914400"/>
        </p:xfrm>
        <a:graphic>
          <a:graphicData uri="http://schemas.openxmlformats.org/drawingml/2006/table">
            <a:tbl>
              <a:tblPr/>
              <a:tblGrid>
                <a:gridCol w="2834640"/>
                <a:gridCol w="1737360"/>
                <a:gridCol w="1737360"/>
              </a:tblGrid>
              <a:tr h="402336">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Swan feature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AUC alone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 with depth</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02336">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TotalTaxaPresent</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0.772</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402336">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Observed_Genera</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0.618</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402336">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Shannon_Genus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0.713</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402336">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CoreAbundanceRetention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0.560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0.007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bl>
          </a:graphicData>
        </a:graphic>
      </p:graphicFrame>
      <p:sp>
        <p:nvSpPr>
          <p:cNvPr id="9" name="Shape 5"/>
          <p:cNvSpPr/>
          <p:nvPr/>
        </p:nvSpPr>
        <p:spPr>
          <a:xfrm>
            <a:off x="548640" y="3794760"/>
            <a:ext cx="11064240" cy="10515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0" name="Shape 6"/>
          <p:cNvSpPr/>
          <p:nvPr/>
        </p:nvSpPr>
        <p:spPr>
          <a:xfrm>
            <a:off x="548640" y="3794760"/>
            <a:ext cx="68580" cy="1051560"/>
          </a:xfrm>
          <a:prstGeom prst="rect">
            <a:avLst/>
          </a:prstGeom>
          <a:solidFill>
            <a:srgbClr val="8FB996"/>
          </a:solidFill>
          <a:ln/>
        </p:spPr>
      </p:sp>
      <p:sp>
        <p:nvSpPr>
          <p:cNvPr id="11" name="Text 7"/>
          <p:cNvSpPr/>
          <p:nvPr/>
        </p:nvSpPr>
        <p:spPr>
          <a:xfrm>
            <a:off x="804672" y="3941064"/>
            <a:ext cx="1060704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The last row is the internal control</a:t>
            </a:r>
            <a:endParaRPr lang="en-US" sz="1400" dirty="0"/>
          </a:p>
        </p:txBody>
      </p:sp>
      <p:sp>
        <p:nvSpPr>
          <p:cNvPr id="12" name="Text 8"/>
          <p:cNvSpPr/>
          <p:nvPr/>
        </p:nvSpPr>
        <p:spPr>
          <a:xfrm>
            <a:off x="804672" y="4325112"/>
            <a:ext cx="10607040" cy="393192"/>
          </a:xfrm>
          <a:prstGeom prst="rect">
            <a:avLst/>
          </a:prstGeom>
          <a:noFill/>
          <a:ln/>
        </p:spPr>
        <p:txBody>
          <a:bodyPr wrap="square" lIns="0" tIns="0" rIns="0" bIns="0" rtlCol="0" anchor="t"/>
          <a:lstStyle/>
          <a:p>
            <a:pPr indent="0" marL="0">
              <a:lnSpc>
                <a:spcPct val="112000"/>
              </a:lnSpc>
              <a:buNone/>
            </a:pPr>
            <a:r>
              <a:rPr lang="en-US" sz="1150" dirty="0">
                <a:solidFill>
                  <a:srgbClr val="5F7580"/>
                </a:solidFill>
                <a:latin typeface="Calibri" pitchFamily="34" charset="0"/>
                <a:ea typeface="Calibri" pitchFamily="34" charset="-122"/>
                <a:cs typeface="Calibri" pitchFamily="34" charset="-120"/>
              </a:rPr>
              <a:t>CoreAbundanceRetention is the one core metric essentially uncorrelated with depth — and it is also the only one showing no signal in swan. Every feature that looks strong there is a feature that tracks depth.</a:t>
            </a:r>
            <a:endParaRPr lang="en-US" sz="1150" dirty="0"/>
          </a:p>
        </p:txBody>
      </p:sp>
      <p:sp>
        <p:nvSpPr>
          <p:cNvPr id="13" name="Shape 9"/>
          <p:cNvSpPr/>
          <p:nvPr/>
        </p:nvSpPr>
        <p:spPr>
          <a:xfrm>
            <a:off x="548640" y="4983480"/>
            <a:ext cx="11064240" cy="868680"/>
          </a:xfrm>
          <a:prstGeom prst="rect">
            <a:avLst/>
          </a:prstGeom>
          <a:solidFill>
            <a:srgbClr val="FBEDE7"/>
          </a:solidFill>
          <a:ln/>
        </p:spPr>
      </p:sp>
      <p:sp>
        <p:nvSpPr>
          <p:cNvPr id="14" name="Shape 10"/>
          <p:cNvSpPr/>
          <p:nvPr/>
        </p:nvSpPr>
        <p:spPr>
          <a:xfrm>
            <a:off x="548640" y="4983480"/>
            <a:ext cx="68580" cy="868680"/>
          </a:xfrm>
          <a:prstGeom prst="rect">
            <a:avLst/>
          </a:prstGeom>
          <a:solidFill>
            <a:srgbClr val="D2603A"/>
          </a:solidFill>
          <a:ln/>
        </p:spPr>
      </p:sp>
      <p:sp>
        <p:nvSpPr>
          <p:cNvPr id="15" name="Text 11"/>
          <p:cNvSpPr/>
          <p:nvPr/>
        </p:nvSpPr>
        <p:spPr>
          <a:xfrm>
            <a:off x="804672" y="5074920"/>
            <a:ext cx="10607040" cy="685800"/>
          </a:xfrm>
          <a:prstGeom prst="rect">
            <a:avLst/>
          </a:prstGeom>
          <a:noFill/>
          <a:ln/>
        </p:spPr>
        <p:txBody>
          <a:bodyPr wrap="square" lIns="0" tIns="0" rIns="0" bIns="0" rtlCol="0" anchor="t"/>
          <a:lstStyle/>
          <a:p>
            <a:pPr indent="0" marL="0">
              <a:lnSpc>
                <a:spcPct val="110000"/>
              </a:lnSpc>
              <a:buNone/>
            </a:pPr>
            <a:r>
              <a:rPr lang="en-US" sz="1150" dirty="0">
                <a:solidFill>
                  <a:srgbClr val="7A2E14"/>
                </a:solidFill>
                <a:latin typeface="Calibri" pitchFamily="34" charset="0"/>
                <a:ea typeface="Calibri" pitchFamily="34" charset="-122"/>
                <a:cs typeface="Calibri" pitchFamily="34" charset="-120"/>
              </a:rPr>
              <a:t>Nothing from the swan cohort is interpretable, and it is excluded from every conclusion. A depth-adjusted rerun confirms the diagnosis: turkey → swan transfer collapses from AUC 1.000 to 0.600 (p 0.005 → 0.259), which is exactly what should happen to a depth artefact.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CONFOUNDING · CAGE</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Ecological features are far less cage-confounded</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12</a:t>
            </a:r>
            <a:endParaRPr lang="en-US" sz="1000" dirty="0"/>
          </a:p>
        </p:txBody>
      </p:sp>
      <p:sp>
        <p:nvSpPr>
          <p:cNvPr id="6" name="Text 4"/>
          <p:cNvSpPr/>
          <p:nvPr/>
        </p:nvSpPr>
        <p:spPr>
          <a:xfrm>
            <a:off x="548640" y="1280160"/>
            <a:ext cx="11064240" cy="365760"/>
          </a:xfrm>
          <a:prstGeom prst="rect">
            <a:avLst/>
          </a:prstGeom>
          <a:noFill/>
          <a:ln/>
        </p:spPr>
        <p:txBody>
          <a:bodyPr wrap="square" lIns="0" tIns="0" rIns="0" bIns="0" rtlCol="0" anchor="ctr"/>
          <a:lstStyle/>
          <a:p>
            <a:pPr indent="0" marL="0">
              <a:buNone/>
            </a:pPr>
            <a:r>
              <a:rPr lang="en-US" sz="1250" dirty="0">
                <a:solidFill>
                  <a:srgbClr val="5F7580"/>
                </a:solidFill>
                <a:latin typeface="Calibri" pitchFamily="34" charset="0"/>
                <a:ea typeface="Calibri" pitchFamily="34" charset="-122"/>
                <a:cs typeface="Calibri" pitchFamily="34" charset="-120"/>
              </a:rPr>
              <a:t>In turkey, isolator is perfectly collinear with infection status. The pure cage effect holds strain, batch and infection fixed and varies only the isolator — 8 birds sharing litter, water and feed.</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840480"/>
                <a:gridCol w="1737360"/>
                <a:gridCol w="1737360"/>
                <a:gridCol w="2011680"/>
                <a:gridCol w="1737360"/>
              </a:tblGrid>
              <a:tr h="42976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 space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Pure cage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Infection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Cage / infection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Cage contrasts significant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2976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α diversity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0.502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0.746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0.67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 / 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29768">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Pure ecological (α + core)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0.563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0.784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0.72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 / 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2976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Core retention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0.602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0.780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0.77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 / 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29768">
                <a:tc>
                  <a:txBody>
                    <a:bodyPr/>
                    <a:lstStyle/>
                    <a:p>
                      <a:pPr algn="ctr" indent="0" marL="0">
                        <a:buNone/>
                      </a:pPr>
                      <a:r>
                        <a:rPr lang="en-US" sz="1150" i="1" dirty="0">
                          <a:solidFill>
                            <a:srgbClr val="16252C"/>
                          </a:solidFill>
                          <a:latin typeface="Calibri" pitchFamily="34" charset="0"/>
                          <a:ea typeface="Calibri" pitchFamily="34" charset="-122"/>
                          <a:cs typeface="Calibri" pitchFamily="34" charset="-120"/>
                        </a:rPr>
                        <a:t>PCoA (Aitchison) — taxonomic</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i="1" dirty="0">
                          <a:solidFill>
                            <a:srgbClr val="16252C"/>
                          </a:solidFill>
                          <a:latin typeface="Calibri" pitchFamily="34" charset="0"/>
                          <a:ea typeface="Calibri" pitchFamily="34" charset="-122"/>
                          <a:cs typeface="Calibri" pitchFamily="34" charset="-120"/>
                        </a:rPr>
                        <a:t>0.935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i="1" dirty="0">
                          <a:solidFill>
                            <a:srgbClr val="16252C"/>
                          </a:solidFill>
                          <a:latin typeface="Calibri" pitchFamily="34" charset="0"/>
                          <a:ea typeface="Calibri" pitchFamily="34" charset="-122"/>
                          <a:cs typeface="Calibri" pitchFamily="34" charset="-120"/>
                        </a:rPr>
                        <a:t>0.976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0.96</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3 / 3</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429768">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Genus abundance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0.908</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0.967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0.94</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3 / 3</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bl>
          </a:graphicData>
        </a:graphic>
      </p:graphicFrame>
      <p:sp>
        <p:nvSpPr>
          <p:cNvPr id="8" name="Shape 5"/>
          <p:cNvSpPr/>
          <p:nvPr/>
        </p:nvSpPr>
        <p:spPr>
          <a:xfrm>
            <a:off x="548640" y="4434840"/>
            <a:ext cx="5394960" cy="13716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9" name="Shape 6"/>
          <p:cNvSpPr/>
          <p:nvPr/>
        </p:nvSpPr>
        <p:spPr>
          <a:xfrm>
            <a:off x="548640" y="4434840"/>
            <a:ext cx="68580" cy="1371600"/>
          </a:xfrm>
          <a:prstGeom prst="rect">
            <a:avLst/>
          </a:prstGeom>
          <a:solidFill>
            <a:srgbClr val="8FB996"/>
          </a:solidFill>
          <a:ln/>
        </p:spPr>
      </p:sp>
      <p:sp>
        <p:nvSpPr>
          <p:cNvPr id="10" name="Text 7"/>
          <p:cNvSpPr/>
          <p:nvPr/>
        </p:nvSpPr>
        <p:spPr>
          <a:xfrm>
            <a:off x="804672" y="4581144"/>
            <a:ext cx="493776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Ecological spaces see infection, not the cage</a:t>
            </a:r>
            <a:endParaRPr lang="en-US" sz="1400" dirty="0"/>
          </a:p>
        </p:txBody>
      </p:sp>
      <p:sp>
        <p:nvSpPr>
          <p:cNvPr id="11" name="Text 8"/>
          <p:cNvSpPr/>
          <p:nvPr/>
        </p:nvSpPr>
        <p:spPr>
          <a:xfrm>
            <a:off x="804672" y="4965192"/>
            <a:ext cx="4937760" cy="713232"/>
          </a:xfrm>
          <a:prstGeom prst="rect">
            <a:avLst/>
          </a:prstGeom>
          <a:noFill/>
          <a:ln/>
        </p:spPr>
        <p:txBody>
          <a:bodyPr wrap="square" lIns="0" tIns="0" rIns="0" bIns="0" rtlCol="0" anchor="t"/>
          <a:lstStyle/>
          <a:p>
            <a:pPr indent="0" marL="0">
              <a:lnSpc>
                <a:spcPct val="112000"/>
              </a:lnSpc>
              <a:buNone/>
            </a:pPr>
            <a:r>
              <a:rPr lang="en-US" sz="1100" dirty="0">
                <a:solidFill>
                  <a:srgbClr val="5F7580"/>
                </a:solidFill>
                <a:latin typeface="Calibri" pitchFamily="34" charset="0"/>
                <a:ea typeface="Calibri" pitchFamily="34" charset="-122"/>
                <a:cs typeface="Calibri" pitchFamily="34" charset="-120"/>
              </a:rPr>
              <a:t>Pure ecological: cage contrasts p = 0.40, 0.25, 0.55 — none significant, while the infection effect reaches 0.784 at p=0.0100.</a:t>
            </a:r>
            <a:endParaRPr lang="en-US" sz="1100" dirty="0"/>
          </a:p>
        </p:txBody>
      </p:sp>
      <p:sp>
        <p:nvSpPr>
          <p:cNvPr id="12" name="Shape 9"/>
          <p:cNvSpPr/>
          <p:nvPr/>
        </p:nvSpPr>
        <p:spPr>
          <a:xfrm>
            <a:off x="6217920" y="4434840"/>
            <a:ext cx="5394960" cy="1371600"/>
          </a:xfrm>
          <a:prstGeom prst="rect">
            <a:avLst/>
          </a:prstGeom>
          <a:solidFill>
            <a:srgbClr val="FBEDE7"/>
          </a:solidFill>
          <a:ln/>
        </p:spPr>
      </p:sp>
      <p:sp>
        <p:nvSpPr>
          <p:cNvPr id="13" name="Shape 10"/>
          <p:cNvSpPr/>
          <p:nvPr/>
        </p:nvSpPr>
        <p:spPr>
          <a:xfrm>
            <a:off x="6217920" y="4434840"/>
            <a:ext cx="68580" cy="1371600"/>
          </a:xfrm>
          <a:prstGeom prst="rect">
            <a:avLst/>
          </a:prstGeom>
          <a:solidFill>
            <a:srgbClr val="D2603A"/>
          </a:solidFill>
          <a:ln/>
        </p:spPr>
      </p:sp>
      <p:sp>
        <p:nvSpPr>
          <p:cNvPr id="14" name="Text 11"/>
          <p:cNvSpPr/>
          <p:nvPr/>
        </p:nvSpPr>
        <p:spPr>
          <a:xfrm>
            <a:off x="6473952" y="4526280"/>
            <a:ext cx="4937760" cy="1188720"/>
          </a:xfrm>
          <a:prstGeom prst="rect">
            <a:avLst/>
          </a:prstGeom>
          <a:noFill/>
          <a:ln/>
        </p:spPr>
        <p:txBody>
          <a:bodyPr wrap="square" lIns="0" tIns="0" rIns="0" bIns="0" rtlCol="0" anchor="t"/>
          <a:lstStyle/>
          <a:p>
            <a:pPr indent="0" marL="0">
              <a:lnSpc>
                <a:spcPct val="110000"/>
              </a:lnSpc>
              <a:buNone/>
            </a:pPr>
            <a:r>
              <a:rPr lang="en-US" sz="1100" dirty="0">
                <a:solidFill>
                  <a:srgbClr val="7A2E14"/>
                </a:solidFill>
                <a:latin typeface="Calibri" pitchFamily="34" charset="0"/>
                <a:ea typeface="Calibri" pitchFamily="34" charset="-122"/>
                <a:cs typeface="Calibri" pitchFamily="34" charset="-120"/>
              </a:rPr>
              <a:t>Read the ratio only where the numerator is real. α diversity's 0.67 looks best of all, but α has no infection signal in either cohort — a ratio built on noise means nothing.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8FB996"/>
          </a:solidFill>
          <a:ln/>
        </p:spPr>
      </p:sp>
      <p:sp>
        <p:nvSpPr>
          <p:cNvPr id="3" name="Text 1"/>
          <p:cNvSpPr/>
          <p:nvPr/>
        </p:nvSpPr>
        <p:spPr>
          <a:xfrm>
            <a:off x="1005840" y="2057400"/>
            <a:ext cx="2011680" cy="1463040"/>
          </a:xfrm>
          <a:prstGeom prst="rect">
            <a:avLst/>
          </a:prstGeom>
          <a:noFill/>
          <a:ln/>
        </p:spPr>
        <p:txBody>
          <a:bodyPr wrap="square" lIns="0" tIns="0" rIns="0" bIns="0" rtlCol="0" anchor="ctr"/>
          <a:lstStyle/>
          <a:p>
            <a:pPr indent="0" marL="0">
              <a:buNone/>
            </a:pPr>
            <a:r>
              <a:rPr lang="en-US" sz="9600" b="1" dirty="0">
                <a:solidFill>
                  <a:srgbClr val="4E9FAD"/>
                </a:solidFill>
                <a:latin typeface="Georgia" pitchFamily="34" charset="0"/>
                <a:ea typeface="Georgia" pitchFamily="34" charset="-122"/>
                <a:cs typeface="Georgia" pitchFamily="34" charset="-120"/>
              </a:rPr>
              <a:t>03</a:t>
            </a:r>
            <a:endParaRPr lang="en-US" sz="9600" dirty="0"/>
          </a:p>
        </p:txBody>
      </p:sp>
      <p:sp>
        <p:nvSpPr>
          <p:cNvPr id="4" name="Text 2"/>
          <p:cNvSpPr/>
          <p:nvPr/>
        </p:nvSpPr>
        <p:spPr>
          <a:xfrm>
            <a:off x="2834640" y="2286000"/>
            <a:ext cx="8412480" cy="8686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Across hosts</a:t>
            </a:r>
            <a:endParaRPr lang="en-US" sz="3600" dirty="0"/>
          </a:p>
        </p:txBody>
      </p:sp>
      <p:sp>
        <p:nvSpPr>
          <p:cNvPr id="5" name="Text 3"/>
          <p:cNvSpPr/>
          <p:nvPr/>
        </p:nvSpPr>
        <p:spPr>
          <a:xfrm>
            <a:off x="2880360" y="3200400"/>
            <a:ext cx="8229600" cy="822960"/>
          </a:xfrm>
          <a:prstGeom prst="rect">
            <a:avLst/>
          </a:prstGeom>
          <a:noFill/>
          <a:ln/>
        </p:spPr>
        <p:txBody>
          <a:bodyPr wrap="square" lIns="0" tIns="0" rIns="0" bIns="0" rtlCol="0" anchor="ctr"/>
          <a:lstStyle/>
          <a:p>
            <a:pPr indent="0" marL="0">
              <a:buNone/>
            </a:pPr>
            <a:r>
              <a:rPr lang="en-US" sz="1500" dirty="0">
                <a:solidFill>
                  <a:srgbClr val="8FB996"/>
                </a:solidFill>
                <a:latin typeface="Calibri" pitchFamily="34" charset="0"/>
                <a:ea typeface="Calibri" pitchFamily="34" charset="-122"/>
                <a:cs typeface="Calibri" pitchFamily="34" charset="-120"/>
              </a:rPr>
              <a:t>Train on one host, predict another — the question that started this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RESULTS · SECTION 4</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Cross-host transfer</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14</a:t>
            </a:r>
            <a:endParaRPr lang="en-US" sz="1000" dirty="0"/>
          </a:p>
        </p:txBody>
      </p:sp>
      <p:sp>
        <p:nvSpPr>
          <p:cNvPr id="6" name="Text 4"/>
          <p:cNvSpPr/>
          <p:nvPr/>
        </p:nvSpPr>
        <p:spPr>
          <a:xfrm>
            <a:off x="548640" y="1280160"/>
            <a:ext cx="11064240" cy="365760"/>
          </a:xfrm>
          <a:prstGeom prst="rect">
            <a:avLst/>
          </a:prstGeom>
          <a:noFill/>
          <a:ln/>
        </p:spPr>
        <p:txBody>
          <a:bodyPr wrap="square" lIns="0" tIns="0" rIns="0" bIns="0" rtlCol="0" anchor="ctr"/>
          <a:lstStyle/>
          <a:p>
            <a:pPr indent="0" marL="0">
              <a:buNone/>
            </a:pPr>
            <a:r>
              <a:rPr lang="en-US" sz="1200" dirty="0">
                <a:solidFill>
                  <a:srgbClr val="5F7580"/>
                </a:solidFill>
                <a:latin typeface="Calibri" pitchFamily="34" charset="0"/>
                <a:ea typeface="Calibri" pitchFamily="34" charset="-122"/>
                <a:cs typeface="Calibri" pitchFamily="34" charset="-120"/>
              </a:rPr>
              <a:t>Whole source cohort trains, whole target cohort tests. No target data enters training — not even the standardisation mean. Every AUC carries a permutation null built by shuffling the target labels.</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017520"/>
                <a:gridCol w="1920240"/>
                <a:gridCol w="2011680"/>
                <a:gridCol w="2194560"/>
                <a:gridCol w="1920240"/>
              </a:tblGrid>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Source → target  (SVM-RBF)</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α diversity</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Core retention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Pure ecological</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Genus abundance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57200">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Duck → Turkey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0.375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0.469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0.800  p=0.0050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0.500  degenerate</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457200">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Turkey → Duck</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0.503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0.579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0.549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0.500  degenerate</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457200">
                <a:tc>
                  <a:txBody>
                    <a:bodyPr/>
                    <a:lstStyle/>
                    <a:p>
                      <a:pPr algn="ctr" indent="0" marL="0">
                        <a:buNone/>
                      </a:pPr>
                      <a:r>
                        <a:rPr lang="en-US" sz="1150" dirty="0">
                          <a:solidFill>
                            <a:srgbClr val="5F7580"/>
                          </a:solidFill>
                          <a:latin typeface="Calibri" pitchFamily="34" charset="0"/>
                          <a:ea typeface="Calibri" pitchFamily="34" charset="-122"/>
                          <a:cs typeface="Calibri" pitchFamily="34" charset="-120"/>
                        </a:rPr>
                        <a:t>Duck → Swan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5F7580"/>
                          </a:solidFill>
                          <a:latin typeface="Calibri" pitchFamily="34" charset="0"/>
                          <a:ea typeface="Calibri" pitchFamily="34" charset="-122"/>
                          <a:cs typeface="Calibri" pitchFamily="34" charset="-120"/>
                        </a:rPr>
                        <a:t>0.400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5F7580"/>
                          </a:solidFill>
                          <a:latin typeface="Calibri" pitchFamily="34" charset="0"/>
                          <a:ea typeface="Calibri" pitchFamily="34" charset="-122"/>
                          <a:cs typeface="Calibri" pitchFamily="34" charset="-120"/>
                        </a:rPr>
                        <a:t>0.900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5F7580"/>
                          </a:solidFill>
                          <a:latin typeface="Calibri" pitchFamily="34" charset="0"/>
                          <a:ea typeface="Calibri" pitchFamily="34" charset="-122"/>
                          <a:cs typeface="Calibri" pitchFamily="34" charset="-120"/>
                        </a:rPr>
                        <a:t>0.500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5F7580"/>
                          </a:solidFill>
                          <a:latin typeface="Calibri" pitchFamily="34" charset="0"/>
                          <a:ea typeface="Calibri" pitchFamily="34" charset="-122"/>
                          <a:cs typeface="Calibri" pitchFamily="34" charset="-120"/>
                        </a:rPr>
                        <a:t>0.500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57200">
                <a:tc>
                  <a:txBody>
                    <a:bodyPr/>
                    <a:lstStyle/>
                    <a:p>
                      <a:pPr algn="ctr" indent="0" marL="0">
                        <a:buNone/>
                      </a:pPr>
                      <a:r>
                        <a:rPr lang="en-US" sz="1150" dirty="0">
                          <a:solidFill>
                            <a:srgbClr val="5F7580"/>
                          </a:solidFill>
                          <a:latin typeface="Calibri" pitchFamily="34" charset="0"/>
                          <a:ea typeface="Calibri" pitchFamily="34" charset="-122"/>
                          <a:cs typeface="Calibri" pitchFamily="34" charset="-120"/>
                        </a:rPr>
                        <a:t>Turkey → Swan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5F7580"/>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5F7580"/>
                          </a:solidFill>
                          <a:latin typeface="Calibri" pitchFamily="34" charset="0"/>
                          <a:ea typeface="Calibri" pitchFamily="34" charset="-122"/>
                          <a:cs typeface="Calibri" pitchFamily="34" charset="-120"/>
                        </a:rPr>
                        <a:t>0.980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5F7580"/>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5F7580"/>
                          </a:solidFill>
                          <a:latin typeface="Calibri" pitchFamily="34" charset="0"/>
                          <a:ea typeface="Calibri" pitchFamily="34" charset="-122"/>
                          <a:cs typeface="Calibri" pitchFamily="34" charset="-120"/>
                        </a:rPr>
                        <a:t>0.220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8" name="Shape 5"/>
          <p:cNvSpPr/>
          <p:nvPr/>
        </p:nvSpPr>
        <p:spPr>
          <a:xfrm>
            <a:off x="548640" y="4114800"/>
            <a:ext cx="5394960" cy="914400"/>
          </a:xfrm>
          <a:prstGeom prst="rect">
            <a:avLst/>
          </a:prstGeom>
          <a:solidFill>
            <a:srgbClr val="FBEDE7"/>
          </a:solidFill>
          <a:ln/>
        </p:spPr>
      </p:sp>
      <p:sp>
        <p:nvSpPr>
          <p:cNvPr id="9" name="Shape 6"/>
          <p:cNvSpPr/>
          <p:nvPr/>
        </p:nvSpPr>
        <p:spPr>
          <a:xfrm>
            <a:off x="548640" y="4114800"/>
            <a:ext cx="68580" cy="914400"/>
          </a:xfrm>
          <a:prstGeom prst="rect">
            <a:avLst/>
          </a:prstGeom>
          <a:solidFill>
            <a:srgbClr val="D2603A"/>
          </a:solidFill>
          <a:ln/>
        </p:spPr>
      </p:sp>
      <p:sp>
        <p:nvSpPr>
          <p:cNvPr id="10" name="Text 7"/>
          <p:cNvSpPr/>
          <p:nvPr/>
        </p:nvSpPr>
        <p:spPr>
          <a:xfrm>
            <a:off x="804672" y="4206240"/>
            <a:ext cx="4937760" cy="731520"/>
          </a:xfrm>
          <a:prstGeom prst="rect">
            <a:avLst/>
          </a:prstGeom>
          <a:noFill/>
          <a:ln/>
        </p:spPr>
        <p:txBody>
          <a:bodyPr wrap="square" lIns="0" tIns="0" rIns="0" bIns="0" rtlCol="0" anchor="t"/>
          <a:lstStyle/>
          <a:p>
            <a:pPr indent="0" marL="0">
              <a:lnSpc>
                <a:spcPct val="110000"/>
              </a:lnSpc>
              <a:buNone/>
            </a:pPr>
            <a:r>
              <a:rPr lang="en-US" sz="1100" dirty="0">
                <a:solidFill>
                  <a:srgbClr val="7A2E14"/>
                </a:solidFill>
                <a:latin typeface="Calibri" pitchFamily="34" charset="0"/>
                <a:ea typeface="Calibri" pitchFamily="34" charset="-122"/>
                <a:cs typeface="Calibri" pitchFamily="34" charset="-120"/>
              </a:rPr>
              <a:t>Swan rows greyed out — depth artefacts (slide 11). Both collapse under depth adjustment.</a:t>
            </a:r>
            <a:endParaRPr lang="en-US" sz="1100" dirty="0"/>
          </a:p>
        </p:txBody>
      </p:sp>
      <p:sp>
        <p:nvSpPr>
          <p:cNvPr id="11" name="Shape 8"/>
          <p:cNvSpPr/>
          <p:nvPr/>
        </p:nvSpPr>
        <p:spPr>
          <a:xfrm>
            <a:off x="6217920" y="4114800"/>
            <a:ext cx="5394960" cy="91440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12" name="Shape 9"/>
          <p:cNvSpPr/>
          <p:nvPr/>
        </p:nvSpPr>
        <p:spPr>
          <a:xfrm>
            <a:off x="6217920" y="4114800"/>
            <a:ext cx="68580" cy="914400"/>
          </a:xfrm>
          <a:prstGeom prst="rect">
            <a:avLst/>
          </a:prstGeom>
          <a:solidFill>
            <a:srgbClr val="D2603A"/>
          </a:solidFill>
          <a:ln/>
        </p:spPr>
      </p:sp>
      <p:sp>
        <p:nvSpPr>
          <p:cNvPr id="13" name="Text 10"/>
          <p:cNvSpPr/>
          <p:nvPr/>
        </p:nvSpPr>
        <p:spPr>
          <a:xfrm>
            <a:off x="6473952" y="4261104"/>
            <a:ext cx="4937760" cy="329184"/>
          </a:xfrm>
          <a:prstGeom prst="rect">
            <a:avLst/>
          </a:prstGeom>
          <a:noFill/>
          <a:ln/>
        </p:spPr>
        <p:txBody>
          <a:bodyPr wrap="square" lIns="0" tIns="0" rIns="0" bIns="0" rtlCol="0" anchor="t"/>
          <a:lstStyle/>
          <a:p>
            <a:pPr indent="0" marL="0">
              <a:buNone/>
            </a:pPr>
            <a:r>
              <a:rPr lang="en-US" sz="1300" b="1" dirty="0">
                <a:solidFill>
                  <a:srgbClr val="16252C"/>
                </a:solidFill>
                <a:latin typeface="Georgia" pitchFamily="34" charset="0"/>
                <a:ea typeface="Georgia" pitchFamily="34" charset="-122"/>
                <a:cs typeface="Georgia" pitchFamily="34" charset="-120"/>
              </a:rPr>
              <a:t>"Degenerate" is not "chance"</a:t>
            </a:r>
            <a:endParaRPr lang="en-US" sz="1300" dirty="0"/>
          </a:p>
        </p:txBody>
      </p:sp>
      <p:sp>
        <p:nvSpPr>
          <p:cNvPr id="14" name="Text 11"/>
          <p:cNvSpPr/>
          <p:nvPr/>
        </p:nvSpPr>
        <p:spPr>
          <a:xfrm>
            <a:off x="6473952" y="4645152"/>
            <a:ext cx="4937760" cy="256032"/>
          </a:xfrm>
          <a:prstGeom prst="rect">
            <a:avLst/>
          </a:prstGeom>
          <a:noFill/>
          <a:ln/>
        </p:spPr>
        <p:txBody>
          <a:bodyPr wrap="square" lIns="0" tIns="0" rIns="0" bIns="0" rtlCol="0" anchor="t"/>
          <a:lstStyle/>
          <a:p>
            <a:pPr indent="0" marL="0">
              <a:lnSpc>
                <a:spcPct val="112000"/>
              </a:lnSpc>
              <a:buNone/>
            </a:pPr>
            <a:r>
              <a:rPr lang="en-US" sz="1050" dirty="0">
                <a:solidFill>
                  <a:srgbClr val="7A2E14"/>
                </a:solidFill>
                <a:latin typeface="Calibri" pitchFamily="34" charset="0"/>
                <a:ea typeface="Calibri" pitchFamily="34" charset="-122"/>
                <a:cs typeface="Calibri" pitchFamily="34" charset="-120"/>
              </a:rPr>
              <a:t>The genus model gives every target sample the same score. AUC 0.500 here means no discrimination at all.</a:t>
            </a:r>
            <a:endParaRPr lang="en-US" sz="1050" dirty="0"/>
          </a:p>
        </p:txBody>
      </p:sp>
      <p:sp>
        <p:nvSpPr>
          <p:cNvPr id="15" name="Text 12"/>
          <p:cNvSpPr/>
          <p:nvPr/>
        </p:nvSpPr>
        <p:spPr>
          <a:xfrm>
            <a:off x="548640" y="5212080"/>
            <a:ext cx="11064240" cy="365760"/>
          </a:xfrm>
          <a:prstGeom prst="rect">
            <a:avLst/>
          </a:prstGeom>
          <a:noFill/>
          <a:ln/>
        </p:spPr>
        <p:txBody>
          <a:bodyPr wrap="square" lIns="0" tIns="0" rIns="0" bIns="0" rtlCol="0" anchor="ctr"/>
          <a:lstStyle/>
          <a:p>
            <a:pPr indent="0" marL="0">
              <a:buNone/>
            </a:pPr>
            <a:r>
              <a:rPr lang="en-US" sz="1100" i="1" dirty="0">
                <a:solidFill>
                  <a:srgbClr val="5F7580"/>
                </a:solidFill>
                <a:latin typeface="Calibri" pitchFamily="34" charset="0"/>
                <a:ea typeface="Calibri" pitchFamily="34" charset="-122"/>
                <a:cs typeface="Calibri" pitchFamily="34" charset="-120"/>
              </a:rPr>
              <a:t>These are SVM-RBF figures, kept for protocol consistency with the earlier sections. They understate what these features can transfer — slide 16.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RESULTS · DUCK → TURKEY</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The one direction that works</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15</a:t>
            </a:r>
            <a:endParaRPr lang="en-US" sz="1000" dirty="0"/>
          </a:p>
        </p:txBody>
      </p:sp>
      <p:sp>
        <p:nvSpPr>
          <p:cNvPr id="6" name="Text 4"/>
          <p:cNvSpPr/>
          <p:nvPr/>
        </p:nvSpPr>
        <p:spPr>
          <a:xfrm>
            <a:off x="822960" y="1463040"/>
            <a:ext cx="3108960" cy="658368"/>
          </a:xfrm>
          <a:prstGeom prst="rect">
            <a:avLst/>
          </a:prstGeom>
          <a:noFill/>
          <a:ln/>
        </p:spPr>
        <p:txBody>
          <a:bodyPr wrap="square" lIns="0" tIns="0" rIns="0" bIns="0" rtlCol="0" anchor="ctr"/>
          <a:lstStyle/>
          <a:p>
            <a:pPr algn="ctr" indent="0" marL="0">
              <a:buNone/>
            </a:pPr>
            <a:r>
              <a:rPr lang="en-US" sz="4000" b="1" dirty="0">
                <a:solidFill>
                  <a:srgbClr val="18707F"/>
                </a:solidFill>
                <a:latin typeface="Georgia" pitchFamily="34" charset="0"/>
                <a:ea typeface="Georgia" pitchFamily="34" charset="-122"/>
                <a:cs typeface="Georgia" pitchFamily="34" charset="-120"/>
              </a:rPr>
              <a:t>0.800</a:t>
            </a:r>
            <a:endParaRPr lang="en-US" sz="4000" dirty="0"/>
          </a:p>
        </p:txBody>
      </p:sp>
      <p:sp>
        <p:nvSpPr>
          <p:cNvPr id="7" name="Text 5"/>
          <p:cNvSpPr/>
          <p:nvPr/>
        </p:nvSpPr>
        <p:spPr>
          <a:xfrm>
            <a:off x="822960" y="2139696"/>
            <a:ext cx="31089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Pure ecological, RBF</a:t>
            </a:r>
            <a:endParaRPr lang="en-US" sz="1150" dirty="0"/>
          </a:p>
        </p:txBody>
      </p:sp>
      <p:sp>
        <p:nvSpPr>
          <p:cNvPr id="8" name="Text 6"/>
          <p:cNvSpPr/>
          <p:nvPr/>
        </p:nvSpPr>
        <p:spPr>
          <a:xfrm>
            <a:off x="822960" y="2432304"/>
            <a:ext cx="310896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noise ceiling 0.740</a:t>
            </a:r>
            <a:endParaRPr lang="en-US" sz="1000" dirty="0"/>
          </a:p>
        </p:txBody>
      </p:sp>
      <p:sp>
        <p:nvSpPr>
          <p:cNvPr id="9" name="Text 7"/>
          <p:cNvSpPr/>
          <p:nvPr/>
        </p:nvSpPr>
        <p:spPr>
          <a:xfrm>
            <a:off x="4480560" y="1463040"/>
            <a:ext cx="3108960" cy="658368"/>
          </a:xfrm>
          <a:prstGeom prst="rect">
            <a:avLst/>
          </a:prstGeom>
          <a:noFill/>
          <a:ln/>
        </p:spPr>
        <p:txBody>
          <a:bodyPr wrap="square" lIns="0" tIns="0" rIns="0" bIns="0" rtlCol="0" anchor="ctr"/>
          <a:lstStyle/>
          <a:p>
            <a:pPr algn="ctr" indent="0" marL="0">
              <a:buNone/>
            </a:pPr>
            <a:r>
              <a:rPr lang="en-US" sz="4000" b="1" dirty="0">
                <a:solidFill>
                  <a:srgbClr val="8FB996"/>
                </a:solidFill>
                <a:latin typeface="Georgia" pitchFamily="34" charset="0"/>
                <a:ea typeface="Georgia" pitchFamily="34" charset="-122"/>
                <a:cs typeface="Georgia" pitchFamily="34" charset="-120"/>
              </a:rPr>
              <a:t>0.803</a:t>
            </a:r>
            <a:endParaRPr lang="en-US" sz="4000" dirty="0"/>
          </a:p>
        </p:txBody>
      </p:sp>
      <p:sp>
        <p:nvSpPr>
          <p:cNvPr id="10" name="Text 8"/>
          <p:cNvSpPr/>
          <p:nvPr/>
        </p:nvSpPr>
        <p:spPr>
          <a:xfrm>
            <a:off x="4480560" y="2139696"/>
            <a:ext cx="31089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After depth adjustment</a:t>
            </a:r>
            <a:endParaRPr lang="en-US" sz="1150" dirty="0"/>
          </a:p>
        </p:txBody>
      </p:sp>
      <p:sp>
        <p:nvSpPr>
          <p:cNvPr id="11" name="Text 9"/>
          <p:cNvSpPr/>
          <p:nvPr/>
        </p:nvSpPr>
        <p:spPr>
          <a:xfrm>
            <a:off x="4480560" y="2432304"/>
            <a:ext cx="310896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noise ceiling 0.757</a:t>
            </a:r>
            <a:endParaRPr lang="en-US" sz="1000" dirty="0"/>
          </a:p>
        </p:txBody>
      </p:sp>
      <p:sp>
        <p:nvSpPr>
          <p:cNvPr id="12" name="Text 10"/>
          <p:cNvSpPr/>
          <p:nvPr/>
        </p:nvSpPr>
        <p:spPr>
          <a:xfrm>
            <a:off x="8138160" y="1463040"/>
            <a:ext cx="3108960" cy="658368"/>
          </a:xfrm>
          <a:prstGeom prst="rect">
            <a:avLst/>
          </a:prstGeom>
          <a:noFill/>
          <a:ln/>
        </p:spPr>
        <p:txBody>
          <a:bodyPr wrap="square" lIns="0" tIns="0" rIns="0" bIns="0" rtlCol="0" anchor="ctr"/>
          <a:lstStyle/>
          <a:p>
            <a:pPr algn="ctr" indent="0" marL="0">
              <a:buNone/>
            </a:pPr>
            <a:r>
              <a:rPr lang="en-US" sz="3200" b="1" dirty="0">
                <a:solidFill>
                  <a:srgbClr val="8FB996"/>
                </a:solidFill>
                <a:latin typeface="Georgia" pitchFamily="34" charset="0"/>
                <a:ea typeface="Georgia" pitchFamily="34" charset="-122"/>
                <a:cs typeface="Georgia" pitchFamily="34" charset="-120"/>
              </a:rPr>
              <a:t>p = 0.0050</a:t>
            </a:r>
            <a:endParaRPr lang="en-US" sz="3200" dirty="0"/>
          </a:p>
        </p:txBody>
      </p:sp>
      <p:sp>
        <p:nvSpPr>
          <p:cNvPr id="13" name="Text 11"/>
          <p:cNvSpPr/>
          <p:nvPr/>
        </p:nvSpPr>
        <p:spPr>
          <a:xfrm>
            <a:off x="8138160" y="2139696"/>
            <a:ext cx="31089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Permutation p, both</a:t>
            </a:r>
            <a:endParaRPr lang="en-US" sz="1150" dirty="0"/>
          </a:p>
        </p:txBody>
      </p:sp>
      <p:sp>
        <p:nvSpPr>
          <p:cNvPr id="14" name="Text 12"/>
          <p:cNvSpPr/>
          <p:nvPr/>
        </p:nvSpPr>
        <p:spPr>
          <a:xfrm>
            <a:off x="8138160" y="2432304"/>
            <a:ext cx="310896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unchanged by adjustment</a:t>
            </a:r>
            <a:endParaRPr lang="en-US" sz="1000" dirty="0"/>
          </a:p>
        </p:txBody>
      </p:sp>
      <p:sp>
        <p:nvSpPr>
          <p:cNvPr id="15" name="Shape 13"/>
          <p:cNvSpPr/>
          <p:nvPr/>
        </p:nvSpPr>
        <p:spPr>
          <a:xfrm>
            <a:off x="548640" y="3108960"/>
            <a:ext cx="11064240" cy="118872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6" name="Shape 14"/>
          <p:cNvSpPr/>
          <p:nvPr/>
        </p:nvSpPr>
        <p:spPr>
          <a:xfrm>
            <a:off x="548640" y="3108960"/>
            <a:ext cx="68580" cy="1188720"/>
          </a:xfrm>
          <a:prstGeom prst="rect">
            <a:avLst/>
          </a:prstGeom>
          <a:solidFill>
            <a:srgbClr val="8FB996"/>
          </a:solidFill>
          <a:ln/>
        </p:spPr>
      </p:sp>
      <p:sp>
        <p:nvSpPr>
          <p:cNvPr id="17" name="Text 15"/>
          <p:cNvSpPr/>
          <p:nvPr/>
        </p:nvSpPr>
        <p:spPr>
          <a:xfrm>
            <a:off x="804672" y="325526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A model trained on 260 wild ducks separates infected from control turkeys</a:t>
            </a:r>
            <a:endParaRPr lang="en-US" sz="1500" dirty="0"/>
          </a:p>
        </p:txBody>
      </p:sp>
      <p:sp>
        <p:nvSpPr>
          <p:cNvPr id="18" name="Text 16"/>
          <p:cNvSpPr/>
          <p:nvPr/>
        </p:nvSpPr>
        <p:spPr>
          <a:xfrm>
            <a:off x="804672" y="3639312"/>
            <a:ext cx="10607040" cy="53035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Using only α diversity and core retention — 13 features, no taxonomic information whatsoever. This is the first cross-host transfer anywhere in this project to clear its own noise ceiling in a non-degenerate way, and depth adjustment leaves it untouched.</a:t>
            </a:r>
            <a:endParaRPr lang="en-US" sz="1200" dirty="0"/>
          </a:p>
        </p:txBody>
      </p:sp>
      <p:sp>
        <p:nvSpPr>
          <p:cNvPr id="19" name="Shape 17"/>
          <p:cNvSpPr/>
          <p:nvPr/>
        </p:nvSpPr>
        <p:spPr>
          <a:xfrm>
            <a:off x="548640" y="4480560"/>
            <a:ext cx="11064240" cy="1325880"/>
          </a:xfrm>
          <a:prstGeom prst="rect">
            <a:avLst/>
          </a:prstGeom>
          <a:solidFill>
            <a:srgbClr val="FBEDE7"/>
          </a:solidFill>
          <a:ln/>
        </p:spPr>
      </p:sp>
      <p:sp>
        <p:nvSpPr>
          <p:cNvPr id="20" name="Shape 18"/>
          <p:cNvSpPr/>
          <p:nvPr/>
        </p:nvSpPr>
        <p:spPr>
          <a:xfrm>
            <a:off x="548640" y="4480560"/>
            <a:ext cx="68580" cy="1325880"/>
          </a:xfrm>
          <a:prstGeom prst="rect">
            <a:avLst/>
          </a:prstGeom>
          <a:solidFill>
            <a:srgbClr val="D2603A"/>
          </a:solidFill>
          <a:ln/>
        </p:spPr>
      </p:sp>
      <p:sp>
        <p:nvSpPr>
          <p:cNvPr id="21" name="Text 19"/>
          <p:cNvSpPr/>
          <p:nvPr/>
        </p:nvSpPr>
        <p:spPr>
          <a:xfrm>
            <a:off x="804672" y="4572000"/>
            <a:ext cx="10607040" cy="1143000"/>
          </a:xfrm>
          <a:prstGeom prst="rect">
            <a:avLst/>
          </a:prstGeom>
          <a:noFill/>
          <a:ln/>
        </p:spPr>
        <p:txBody>
          <a:bodyPr wrap="square" lIns="0" tIns="0" rIns="0" bIns="0" rtlCol="0" anchor="t"/>
          <a:lstStyle/>
          <a:p>
            <a:pPr indent="0" marL="0">
              <a:lnSpc>
                <a:spcPct val="110000"/>
              </a:lnSpc>
              <a:buNone/>
            </a:pPr>
            <a:r>
              <a:rPr lang="en-US" sz="1200" dirty="0">
                <a:solidFill>
                  <a:srgbClr val="7A2E14"/>
                </a:solidFill>
                <a:latin typeface="Calibri" pitchFamily="34" charset="0"/>
                <a:ea typeface="Calibri" pitchFamily="34" charset="-122"/>
                <a:cs typeface="Calibri" pitchFamily="34" charset="-120"/>
              </a:rPr>
              <a:t>Three limits, stated up front. (1) Transfer is asymmetric: turkey → duck gives 0.549, and 0.523 after depth adjustment — no signal. Training on 45 to predict 260 is the harder direction. (2) One direction of one host pair; the swan cohort cannot serve as replication. (3) Turkey's infection status is perfectly collinear with isolator, so the 0.800 is measured against a label inseparable from cage assignment — mitigated by slide 12, not eliminated.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ANATOMY · SECTION 5.1</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What was actually blocking the transfer</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16</a:t>
            </a:r>
            <a:endParaRPr lang="en-US" sz="1000" dirty="0"/>
          </a:p>
        </p:txBody>
      </p:sp>
      <p:sp>
        <p:nvSpPr>
          <p:cNvPr id="6" name="Text 4"/>
          <p:cNvSpPr/>
          <p:nvPr/>
        </p:nvSpPr>
        <p:spPr>
          <a:xfrm>
            <a:off x="548640" y="1280160"/>
            <a:ext cx="11064240" cy="320040"/>
          </a:xfrm>
          <a:prstGeom prst="rect">
            <a:avLst/>
          </a:prstGeom>
          <a:noFill/>
          <a:ln/>
        </p:spPr>
        <p:txBody>
          <a:bodyPr wrap="square" lIns="0" tIns="0" rIns="0" bIns="0" rtlCol="0" anchor="ctr"/>
          <a:lstStyle/>
          <a:p>
            <a:pPr indent="0" marL="0">
              <a:buNone/>
            </a:pPr>
            <a:r>
              <a:rPr lang="en-US" sz="1250" dirty="0">
                <a:solidFill>
                  <a:srgbClr val="5F7580"/>
                </a:solidFill>
                <a:latin typeface="Calibri" pitchFamily="34" charset="0"/>
                <a:ea typeface="Calibri" pitchFamily="34" charset="-122"/>
                <a:cs typeface="Calibri" pitchFamily="34" charset="-120"/>
              </a:rPr>
              <a:t>Repeating every transfer with L2 logistic regression instead of SVM-RBF changes the picture entirely.</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3657600"/>
                <a:gridCol w="2468880"/>
                <a:gridCol w="2468880"/>
                <a:gridCol w="2468880"/>
              </a:tblGrid>
              <a:tr h="43891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 set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SVM-RBF</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Linear</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Linear, depth-adjusted</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38912">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All 13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0.800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0.834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0.856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38912">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α diversity only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0.375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0.714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0.716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38912">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Core retention only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0.469</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0.870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0.904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38912">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Count-type subset (6)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0.591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0.856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8" name="Shape 5"/>
          <p:cNvSpPr/>
          <p:nvPr/>
        </p:nvSpPr>
        <p:spPr>
          <a:xfrm>
            <a:off x="548640" y="3840480"/>
            <a:ext cx="11064240" cy="11430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9" name="Shape 6"/>
          <p:cNvSpPr/>
          <p:nvPr/>
        </p:nvSpPr>
        <p:spPr>
          <a:xfrm>
            <a:off x="548640" y="3840480"/>
            <a:ext cx="68580" cy="1143000"/>
          </a:xfrm>
          <a:prstGeom prst="rect">
            <a:avLst/>
          </a:prstGeom>
          <a:solidFill>
            <a:srgbClr val="18707F"/>
          </a:solidFill>
          <a:ln/>
        </p:spPr>
      </p:sp>
      <p:sp>
        <p:nvSpPr>
          <p:cNvPr id="10" name="Text 7"/>
          <p:cNvSpPr/>
          <p:nvPr/>
        </p:nvSpPr>
        <p:spPr>
          <a:xfrm>
            <a:off x="804672" y="398678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Why the kernel was the obstacle</a:t>
            </a:r>
            <a:endParaRPr lang="en-US" sz="1500" dirty="0"/>
          </a:p>
        </p:txBody>
      </p:sp>
      <p:sp>
        <p:nvSpPr>
          <p:cNvPr id="11" name="Text 8"/>
          <p:cNvSpPr/>
          <p:nvPr/>
        </p:nvSpPr>
        <p:spPr>
          <a:xfrm>
            <a:off x="804672" y="4370832"/>
            <a:ext cx="10607040" cy="48463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An RBF kernel measures Euclidean distance in standardised feature space, and the standardisation is fitted on duck. Turkey's values sit far from duck's centre, so the kernel saturates and every target sample looks equally distant. A linear boundary needs only the direction of the effect to agree between hosts, not its location — which is exactly the property a cross-host transfer requires.</a:t>
            </a:r>
            <a:endParaRPr lang="en-US" sz="1200" dirty="0"/>
          </a:p>
        </p:txBody>
      </p:sp>
      <p:sp>
        <p:nvSpPr>
          <p:cNvPr id="12" name="Shape 9"/>
          <p:cNvSpPr/>
          <p:nvPr/>
        </p:nvSpPr>
        <p:spPr>
          <a:xfrm>
            <a:off x="548640" y="5166360"/>
            <a:ext cx="11064240" cy="685800"/>
          </a:xfrm>
          <a:prstGeom prst="rect">
            <a:avLst/>
          </a:prstGeom>
          <a:solidFill>
            <a:srgbClr val="FBEDE7"/>
          </a:solidFill>
          <a:ln/>
        </p:spPr>
      </p:sp>
      <p:sp>
        <p:nvSpPr>
          <p:cNvPr id="13" name="Shape 10"/>
          <p:cNvSpPr/>
          <p:nvPr/>
        </p:nvSpPr>
        <p:spPr>
          <a:xfrm>
            <a:off x="548640" y="5166360"/>
            <a:ext cx="68580" cy="685800"/>
          </a:xfrm>
          <a:prstGeom prst="rect">
            <a:avLst/>
          </a:prstGeom>
          <a:solidFill>
            <a:srgbClr val="D2603A"/>
          </a:solidFill>
          <a:ln/>
        </p:spPr>
      </p:sp>
      <p:sp>
        <p:nvSpPr>
          <p:cNvPr id="14" name="Text 11"/>
          <p:cNvSpPr/>
          <p:nvPr/>
        </p:nvSpPr>
        <p:spPr>
          <a:xfrm>
            <a:off x="804672" y="5257800"/>
            <a:ext cx="10607040" cy="502920"/>
          </a:xfrm>
          <a:prstGeom prst="rect">
            <a:avLst/>
          </a:prstGeom>
          <a:noFill/>
          <a:ln/>
        </p:spPr>
        <p:txBody>
          <a:bodyPr wrap="square" lIns="0" tIns="0" rIns="0" bIns="0" rtlCol="0" anchor="t"/>
          <a:lstStyle/>
          <a:p>
            <a:pPr indent="0" marL="0">
              <a:lnSpc>
                <a:spcPct val="110000"/>
              </a:lnSpc>
              <a:buNone/>
            </a:pPr>
            <a:r>
              <a:rPr lang="en-US" sz="1150" dirty="0">
                <a:solidFill>
                  <a:srgbClr val="7A2E14"/>
                </a:solidFill>
                <a:latin typeface="Calibri" pitchFamily="34" charset="0"/>
                <a:ea typeface="Calibri" pitchFamily="34" charset="-122"/>
                <a:cs typeface="Calibri" pitchFamily="34" charset="-120"/>
              </a:rPr>
              <a:t>This corrects the earlier reading. It is not an interaction between diversity and core retention — core retention carries the transfer on its own, and adding α diversity makes it worse (0.870 → 0.834).</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ANATOMY · SECTION 5.2</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The mechanism, in one sentence</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474720"/>
                <a:gridCol w="2194560"/>
                <a:gridCol w="2194560"/>
                <a:gridCol w="3200400"/>
              </a:tblGrid>
              <a:tr h="42062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Duck AUC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Turkey AUC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Same direction?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20624">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CoreRetentionProportion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0.397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0.154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yes — lower in infected</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20624">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CoreTaxaLost</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0.603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0.846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yes — higher in infected</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20624">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CoreTaxaPresent</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0.397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0.154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20624">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Observed_Genera</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0.491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0.293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20624">
                <a:tc>
                  <a:txBody>
                    <a:bodyPr/>
                    <a:lstStyle/>
                    <a:p>
                      <a:pPr algn="ctr" indent="0" marL="0">
                        <a:buNone/>
                      </a:pPr>
                      <a:r>
                        <a:rPr lang="en-US" sz="1150" dirty="0">
                          <a:solidFill>
                            <a:srgbClr val="5F7580"/>
                          </a:solidFill>
                          <a:latin typeface="Calibri" pitchFamily="34" charset="0"/>
                          <a:ea typeface="Calibri" pitchFamily="34" charset="-122"/>
                          <a:cs typeface="Calibri" pitchFamily="34" charset="-120"/>
                        </a:rPr>
                        <a:t>Simpson / InvSimpson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5F7580"/>
                          </a:solidFill>
                          <a:latin typeface="Calibri" pitchFamily="34" charset="0"/>
                          <a:ea typeface="Calibri" pitchFamily="34" charset="-122"/>
                          <a:cs typeface="Calibri" pitchFamily="34" charset="-120"/>
                        </a:rPr>
                        <a:t>0.507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5F7580"/>
                          </a:solidFill>
                          <a:latin typeface="Calibri" pitchFamily="34" charset="0"/>
                          <a:ea typeface="Calibri" pitchFamily="34" charset="-122"/>
                          <a:cs typeface="Calibri" pitchFamily="34" charset="-120"/>
                        </a:rPr>
                        <a:t>0.214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5F7580"/>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7" name="Shape 4"/>
          <p:cNvSpPr/>
          <p:nvPr/>
        </p:nvSpPr>
        <p:spPr>
          <a:xfrm>
            <a:off x="548640" y="3977640"/>
            <a:ext cx="11064240" cy="12344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8" name="Shape 5"/>
          <p:cNvSpPr/>
          <p:nvPr/>
        </p:nvSpPr>
        <p:spPr>
          <a:xfrm>
            <a:off x="548640" y="3977640"/>
            <a:ext cx="68580" cy="1234440"/>
          </a:xfrm>
          <a:prstGeom prst="rect">
            <a:avLst/>
          </a:prstGeom>
          <a:solidFill>
            <a:srgbClr val="8FB996"/>
          </a:solidFill>
          <a:ln/>
        </p:spPr>
      </p:sp>
      <p:sp>
        <p:nvSpPr>
          <p:cNvPr id="9" name="Text 6"/>
          <p:cNvSpPr/>
          <p:nvPr/>
        </p:nvSpPr>
        <p:spPr>
          <a:xfrm>
            <a:off x="804672" y="412394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Infected birds lose a larger share of their host-specific baseline core</a:t>
            </a:r>
            <a:endParaRPr lang="en-US" sz="1500" dirty="0"/>
          </a:p>
        </p:txBody>
      </p:sp>
      <p:sp>
        <p:nvSpPr>
          <p:cNvPr id="10" name="Text 7"/>
          <p:cNvSpPr/>
          <p:nvPr/>
        </p:nvSpPr>
        <p:spPr>
          <a:xfrm>
            <a:off x="804672" y="4507992"/>
            <a:ext cx="10607040" cy="57607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Which genera constitute that core differs completely between hosts — 14 in duck, 32 in turkey, with almost no overlap — but the proportion lost behaves the same way in both. That is why a taxonomic model cannot transfer and this one can. 9 of the 13 features agree in direction across hosts.</a:t>
            </a:r>
            <a:endParaRPr lang="en-US" sz="1200" dirty="0"/>
          </a:p>
        </p:txBody>
      </p:sp>
      <p:sp>
        <p:nvSpPr>
          <p:cNvPr id="11" name="Text 8"/>
          <p:cNvSpPr/>
          <p:nvPr/>
        </p:nvSpPr>
        <p:spPr>
          <a:xfrm>
            <a:off x="548640" y="5394960"/>
            <a:ext cx="11064240" cy="365760"/>
          </a:xfrm>
          <a:prstGeom prst="rect">
            <a:avLst/>
          </a:prstGeom>
          <a:noFill/>
          <a:ln/>
        </p:spPr>
        <p:txBody>
          <a:bodyPr wrap="square" lIns="0" tIns="0" rIns="0" bIns="0" rtlCol="0" anchor="ctr"/>
          <a:lstStyle/>
          <a:p>
            <a:pPr indent="0" marL="0">
              <a:buNone/>
            </a:pPr>
            <a:r>
              <a:rPr lang="en-US" sz="1150" i="1" dirty="0">
                <a:solidFill>
                  <a:srgbClr val="5F7580"/>
                </a:solidFill>
                <a:latin typeface="Calibri" pitchFamily="34" charset="0"/>
                <a:ea typeface="Calibri" pitchFamily="34" charset="-122"/>
                <a:cs typeface="Calibri" pitchFamily="34" charset="-120"/>
              </a:rPr>
              <a:t>The two strongest features are the same measurement from opposite ends: what fraction of the core is still there, and how many core taxa are gone.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ANATOMY · SECTION 5.2</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Both searches survive their own selection bias</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18</a:t>
            </a:r>
            <a:endParaRPr lang="en-US" sz="1000" dirty="0"/>
          </a:p>
        </p:txBody>
      </p:sp>
      <p:sp>
        <p:nvSpPr>
          <p:cNvPr id="6" name="Text 4"/>
          <p:cNvSpPr/>
          <p:nvPr/>
        </p:nvSpPr>
        <p:spPr>
          <a:xfrm>
            <a:off x="548640" y="1280160"/>
            <a:ext cx="11064240" cy="365760"/>
          </a:xfrm>
          <a:prstGeom prst="rect">
            <a:avLst/>
          </a:prstGeom>
          <a:noFill/>
          <a:ln/>
        </p:spPr>
        <p:txBody>
          <a:bodyPr wrap="square" lIns="0" tIns="0" rIns="0" bIns="0" rtlCol="0" anchor="ctr"/>
          <a:lstStyle/>
          <a:p>
            <a:pPr indent="0" marL="0">
              <a:buNone/>
            </a:pPr>
            <a:r>
              <a:rPr lang="en-US" sz="1250" dirty="0">
                <a:solidFill>
                  <a:srgbClr val="5F7580"/>
                </a:solidFill>
                <a:latin typeface="Calibri" pitchFamily="34" charset="0"/>
                <a:ea typeface="Calibri" pitchFamily="34" charset="-122"/>
                <a:cs typeface="Calibri" pitchFamily="34" charset="-120"/>
              </a:rPr>
              <a:t>Searching 13 single features and 78 pairs and reporting the best is exactly the best-of-N problem this project documents. The null must therefore be the null of the maximum over the whole search.</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560320"/>
                <a:gridCol w="4206240"/>
                <a:gridCol w="2743200"/>
                <a:gridCol w="1554480"/>
              </a:tblGrid>
              <a:tr h="56692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Search</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Best found</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Null of the max</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Corrected p</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566928">
                <a:tc>
                  <a:txBody>
                    <a:bodyPr/>
                    <a:lstStyle/>
                    <a:p>
                      <a:pPr algn="ctr" indent="0" marL="0">
                        <a:buNone/>
                      </a:pPr>
                      <a:r>
                        <a:rPr lang="en-US" sz="1100" b="1" dirty="0">
                          <a:solidFill>
                            <a:srgbClr val="16252C"/>
                          </a:solidFill>
                          <a:latin typeface="Calibri" pitchFamily="34" charset="0"/>
                          <a:ea typeface="Calibri" pitchFamily="34" charset="-122"/>
                          <a:cs typeface="Calibri" pitchFamily="34" charset="-120"/>
                        </a:rPr>
                        <a:t>13 single features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0.846  CoreRetentionProportion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0.623 ± 0.055  (max 0.867)</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0.0040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566928">
                <a:tc>
                  <a:txBody>
                    <a:bodyPr/>
                    <a:lstStyle/>
                    <a:p>
                      <a:pPr algn="ctr" indent="0" marL="0">
                        <a:buNone/>
                      </a:pPr>
                      <a:r>
                        <a:rPr lang="en-US" sz="1100" b="1" dirty="0">
                          <a:solidFill>
                            <a:srgbClr val="16252C"/>
                          </a:solidFill>
                          <a:latin typeface="Calibri" pitchFamily="34" charset="0"/>
                          <a:ea typeface="Calibri" pitchFamily="34" charset="-122"/>
                          <a:cs typeface="Calibri" pitchFamily="34" charset="-120"/>
                        </a:rPr>
                        <a:t>78 feature pairs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0.862  Observed_Genera + CoreRetentionProportion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0.695 ± 0.051  (max 0.849)</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0.0033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bl>
          </a:graphicData>
        </a:graphic>
      </p:graphicFrame>
      <p:sp>
        <p:nvSpPr>
          <p:cNvPr id="8" name="Shape 5"/>
          <p:cNvSpPr/>
          <p:nvPr/>
        </p:nvSpPr>
        <p:spPr>
          <a:xfrm>
            <a:off x="548640" y="3749040"/>
            <a:ext cx="5394960" cy="11430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9" name="Shape 6"/>
          <p:cNvSpPr/>
          <p:nvPr/>
        </p:nvSpPr>
        <p:spPr>
          <a:xfrm>
            <a:off x="548640" y="3749040"/>
            <a:ext cx="68580" cy="1143000"/>
          </a:xfrm>
          <a:prstGeom prst="rect">
            <a:avLst/>
          </a:prstGeom>
          <a:solidFill>
            <a:srgbClr val="8FB996"/>
          </a:solidFill>
          <a:ln/>
        </p:spPr>
      </p:sp>
      <p:sp>
        <p:nvSpPr>
          <p:cNvPr id="10" name="Text 7"/>
          <p:cNvSpPr/>
          <p:nvPr/>
        </p:nvSpPr>
        <p:spPr>
          <a:xfrm>
            <a:off x="804672" y="3895344"/>
            <a:ext cx="493776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One feature is enough</a:t>
            </a:r>
            <a:endParaRPr lang="en-US" sz="1400" dirty="0"/>
          </a:p>
        </p:txBody>
      </p:sp>
      <p:sp>
        <p:nvSpPr>
          <p:cNvPr id="11" name="Text 8"/>
          <p:cNvSpPr/>
          <p:nvPr/>
        </p:nvSpPr>
        <p:spPr>
          <a:xfrm>
            <a:off x="804672" y="4279392"/>
            <a:ext cx="4937760" cy="484632"/>
          </a:xfrm>
          <a:prstGeom prst="rect">
            <a:avLst/>
          </a:prstGeom>
          <a:noFill/>
          <a:ln/>
        </p:spPr>
        <p:txBody>
          <a:bodyPr wrap="square" lIns="0" tIns="0" rIns="0" bIns="0" rtlCol="0" anchor="t"/>
          <a:lstStyle/>
          <a:p>
            <a:pPr indent="0" marL="0">
              <a:lnSpc>
                <a:spcPct val="112000"/>
              </a:lnSpc>
              <a:buNone/>
            </a:pPr>
            <a:r>
              <a:rPr lang="en-US" sz="1100" dirty="0">
                <a:solidFill>
                  <a:srgbClr val="5F7580"/>
                </a:solidFill>
                <a:latin typeface="Calibri" pitchFamily="34" charset="0"/>
                <a:ea typeface="Calibri" pitchFamily="34" charset="-122"/>
                <a:cs typeface="Calibri" pitchFamily="34" charset="-120"/>
              </a:rPr>
              <a:t>CoreRetentionProportion alone transfers at 0.846 — a single quantity that can go in an abstract, not a black-box combination.</a:t>
            </a:r>
            <a:endParaRPr lang="en-US" sz="1100" dirty="0"/>
          </a:p>
        </p:txBody>
      </p:sp>
      <p:sp>
        <p:nvSpPr>
          <p:cNvPr id="12" name="Shape 9"/>
          <p:cNvSpPr/>
          <p:nvPr/>
        </p:nvSpPr>
        <p:spPr>
          <a:xfrm>
            <a:off x="6217920" y="3749040"/>
            <a:ext cx="5394960" cy="1143000"/>
          </a:xfrm>
          <a:prstGeom prst="rect">
            <a:avLst/>
          </a:prstGeom>
          <a:solidFill>
            <a:srgbClr val="FBEDE7"/>
          </a:solidFill>
          <a:ln/>
        </p:spPr>
      </p:sp>
      <p:sp>
        <p:nvSpPr>
          <p:cNvPr id="13" name="Shape 10"/>
          <p:cNvSpPr/>
          <p:nvPr/>
        </p:nvSpPr>
        <p:spPr>
          <a:xfrm>
            <a:off x="6217920" y="3749040"/>
            <a:ext cx="68580" cy="1143000"/>
          </a:xfrm>
          <a:prstGeom prst="rect">
            <a:avLst/>
          </a:prstGeom>
          <a:solidFill>
            <a:srgbClr val="D2603A"/>
          </a:solidFill>
          <a:ln/>
        </p:spPr>
      </p:sp>
      <p:sp>
        <p:nvSpPr>
          <p:cNvPr id="14" name="Text 11"/>
          <p:cNvSpPr/>
          <p:nvPr/>
        </p:nvSpPr>
        <p:spPr>
          <a:xfrm>
            <a:off x="6473952" y="3840480"/>
            <a:ext cx="4937760" cy="960120"/>
          </a:xfrm>
          <a:prstGeom prst="rect">
            <a:avLst/>
          </a:prstGeom>
          <a:noFill/>
          <a:ln/>
        </p:spPr>
        <p:txBody>
          <a:bodyPr wrap="square" lIns="0" tIns="0" rIns="0" bIns="0" rtlCol="0" anchor="t"/>
          <a:lstStyle/>
          <a:p>
            <a:pPr indent="0" marL="0">
              <a:lnSpc>
                <a:spcPct val="110000"/>
              </a:lnSpc>
              <a:buNone/>
            </a:pPr>
            <a:r>
              <a:rPr lang="en-US" sz="1100" dirty="0">
                <a:solidFill>
                  <a:srgbClr val="7A2E14"/>
                </a:solidFill>
                <a:latin typeface="Calibri" pitchFamily="34" charset="0"/>
                <a:ea typeface="Calibri" pitchFamily="34" charset="-122"/>
                <a:cs typeface="Calibri" pitchFamily="34" charset="-120"/>
              </a:rPr>
              <a:t>It was chosen after inspecting the ranking, so the plain p-value would be optimistic. Judged against the max-of-13 null it still holds at p=0.0040.</a:t>
            </a:r>
            <a:endParaRPr lang="en-US" sz="1100" dirty="0"/>
          </a:p>
        </p:txBody>
      </p:sp>
      <p:sp>
        <p:nvSpPr>
          <p:cNvPr id="15" name="Shape 12"/>
          <p:cNvSpPr/>
          <p:nvPr/>
        </p:nvSpPr>
        <p:spPr>
          <a:xfrm>
            <a:off x="548640" y="5029200"/>
            <a:ext cx="11064240" cy="86868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16" name="Shape 13"/>
          <p:cNvSpPr/>
          <p:nvPr/>
        </p:nvSpPr>
        <p:spPr>
          <a:xfrm>
            <a:off x="548640" y="5029200"/>
            <a:ext cx="68580" cy="868680"/>
          </a:xfrm>
          <a:prstGeom prst="rect">
            <a:avLst/>
          </a:prstGeom>
          <a:solidFill>
            <a:srgbClr val="D2603A"/>
          </a:solidFill>
          <a:ln/>
        </p:spPr>
      </p:sp>
      <p:sp>
        <p:nvSpPr>
          <p:cNvPr id="17" name="Text 14"/>
          <p:cNvSpPr/>
          <p:nvPr/>
        </p:nvSpPr>
        <p:spPr>
          <a:xfrm>
            <a:off x="804672" y="5175504"/>
            <a:ext cx="10607040" cy="329184"/>
          </a:xfrm>
          <a:prstGeom prst="rect">
            <a:avLst/>
          </a:prstGeom>
          <a:noFill/>
          <a:ln/>
        </p:spPr>
        <p:txBody>
          <a:bodyPr wrap="square" lIns="0" tIns="0" rIns="0" bIns="0" rtlCol="0" anchor="t"/>
          <a:lstStyle/>
          <a:p>
            <a:pPr indent="0" marL="0">
              <a:buNone/>
            </a:pPr>
            <a:r>
              <a:rPr lang="en-US" sz="1350" b="1" dirty="0">
                <a:solidFill>
                  <a:srgbClr val="16252C"/>
                </a:solidFill>
                <a:latin typeface="Georgia" pitchFamily="34" charset="0"/>
                <a:ea typeface="Georgia" pitchFamily="34" charset="-122"/>
                <a:cs typeface="Georgia" pitchFamily="34" charset="-120"/>
              </a:rPr>
              <a:t>One pre-registered hypothesis was not supported</a:t>
            </a:r>
            <a:endParaRPr lang="en-US" sz="1350" dirty="0"/>
          </a:p>
        </p:txBody>
      </p:sp>
      <p:sp>
        <p:nvSpPr>
          <p:cNvPr id="18" name="Text 15"/>
          <p:cNvSpPr/>
          <p:nvPr/>
        </p:nvSpPr>
        <p:spPr>
          <a:xfrm>
            <a:off x="804672" y="5559552"/>
            <a:ext cx="10607040" cy="210312"/>
          </a:xfrm>
          <a:prstGeom prst="rect">
            <a:avLst/>
          </a:prstGeom>
          <a:noFill/>
          <a:ln/>
        </p:spPr>
        <p:txBody>
          <a:bodyPr wrap="square" lIns="0" tIns="0" rIns="0" bIns="0" rtlCol="0" anchor="t"/>
          <a:lstStyle/>
          <a:p>
            <a:pPr indent="0" marL="0">
              <a:lnSpc>
                <a:spcPct val="112000"/>
              </a:lnSpc>
              <a:buNone/>
            </a:pPr>
            <a:r>
              <a:rPr lang="en-US" sz="1100" dirty="0">
                <a:solidFill>
                  <a:srgbClr val="7A2E14"/>
                </a:solidFill>
                <a:latin typeface="Calibri" pitchFamily="34" charset="0"/>
                <a:ea typeface="Calibri" pitchFamily="34" charset="-122"/>
                <a:cs typeface="Calibri" pitchFamily="34" charset="-120"/>
              </a:rPr>
              <a:t>The prediction was that only dimensionless features would transfer, because the hosts' core sizes differ. Under a linear model the count-type subset transfers at 0.856. The scale problem was real, but it lived in the kernel, not in the features.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SECTION 6</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Would combining everything be better? No</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19</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657600"/>
                <a:gridCol w="1645920"/>
                <a:gridCol w="1645920"/>
                <a:gridCol w="2468880"/>
                <a:gridCol w="1645920"/>
              </a:tblGrid>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 space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Duck</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Turkey</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Duck → Turkey transfer</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Cage / infection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57200">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Genus abundance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0.836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0.972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0.500  degenerate</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0.94</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457200">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Pure ecological (α + core)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0.613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0.807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0.800  p=0.0050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0.72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57200">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Genus + α + core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0.832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0.960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0.490  p=0.522</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0.95</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457200">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Genus + α + core + Bray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0.831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0.979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0.84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7" name="Shape 4"/>
          <p:cNvSpPr/>
          <p:nvPr/>
        </p:nvSpPr>
        <p:spPr>
          <a:xfrm>
            <a:off x="548640" y="3749040"/>
            <a:ext cx="5394960" cy="13716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8" name="Shape 5"/>
          <p:cNvSpPr/>
          <p:nvPr/>
        </p:nvSpPr>
        <p:spPr>
          <a:xfrm>
            <a:off x="548640" y="3749040"/>
            <a:ext cx="68580" cy="1371600"/>
          </a:xfrm>
          <a:prstGeom prst="rect">
            <a:avLst/>
          </a:prstGeom>
          <a:solidFill>
            <a:srgbClr val="18707F"/>
          </a:solidFill>
          <a:ln/>
        </p:spPr>
      </p:sp>
      <p:sp>
        <p:nvSpPr>
          <p:cNvPr id="9" name="Text 6"/>
          <p:cNvSpPr/>
          <p:nvPr/>
        </p:nvSpPr>
        <p:spPr>
          <a:xfrm>
            <a:off x="804672" y="3895344"/>
            <a:ext cx="493776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No gain within host</a:t>
            </a:r>
            <a:endParaRPr lang="en-US" sz="1400" dirty="0"/>
          </a:p>
        </p:txBody>
      </p:sp>
      <p:sp>
        <p:nvSpPr>
          <p:cNvPr id="10" name="Text 7"/>
          <p:cNvSpPr/>
          <p:nvPr/>
        </p:nvSpPr>
        <p:spPr>
          <a:xfrm>
            <a:off x="804672" y="4279392"/>
            <a:ext cx="4937760" cy="713232"/>
          </a:xfrm>
          <a:prstGeom prst="rect">
            <a:avLst/>
          </a:prstGeom>
          <a:noFill/>
          <a:ln/>
        </p:spPr>
        <p:txBody>
          <a:bodyPr wrap="square" lIns="0" tIns="0" rIns="0" bIns="0" rtlCol="0" anchor="t"/>
          <a:lstStyle/>
          <a:p>
            <a:pPr indent="0" marL="0">
              <a:lnSpc>
                <a:spcPct val="112000"/>
              </a:lnSpc>
              <a:buNone/>
            </a:pPr>
            <a:r>
              <a:rPr lang="en-US" sz="1100" dirty="0">
                <a:solidFill>
                  <a:srgbClr val="5F7580"/>
                </a:solidFill>
                <a:latin typeface="Calibri" pitchFamily="34" charset="0"/>
                <a:ea typeface="Calibri" pitchFamily="34" charset="-122"/>
                <a:cs typeface="Calibri" pitchFamily="34" charset="-120"/>
              </a:rPr>
              <a:t>Every difference is smaller than the repeat-to-repeat standard deviation (0.012–0.025). The ecological features are summary statistics of the same abundance table — a model holding all 70 abundances has nothing to gain from them.</a:t>
            </a:r>
            <a:endParaRPr lang="en-US" sz="1100" dirty="0"/>
          </a:p>
        </p:txBody>
      </p:sp>
      <p:sp>
        <p:nvSpPr>
          <p:cNvPr id="11" name="Shape 8"/>
          <p:cNvSpPr/>
          <p:nvPr/>
        </p:nvSpPr>
        <p:spPr>
          <a:xfrm>
            <a:off x="6217920" y="3749040"/>
            <a:ext cx="5394960" cy="1371600"/>
          </a:xfrm>
          <a:prstGeom prst="rect">
            <a:avLst/>
          </a:prstGeom>
          <a:solidFill>
            <a:srgbClr val="FBEDE7"/>
          </a:solidFill>
          <a:ln/>
        </p:spPr>
      </p:sp>
      <p:sp>
        <p:nvSpPr>
          <p:cNvPr id="12" name="Shape 9"/>
          <p:cNvSpPr/>
          <p:nvPr/>
        </p:nvSpPr>
        <p:spPr>
          <a:xfrm>
            <a:off x="6217920" y="3749040"/>
            <a:ext cx="68580" cy="1371600"/>
          </a:xfrm>
          <a:prstGeom prst="rect">
            <a:avLst/>
          </a:prstGeom>
          <a:solidFill>
            <a:srgbClr val="D2603A"/>
          </a:solidFill>
          <a:ln/>
        </p:spPr>
      </p:sp>
      <p:sp>
        <p:nvSpPr>
          <p:cNvPr id="13" name="Text 10"/>
          <p:cNvSpPr/>
          <p:nvPr/>
        </p:nvSpPr>
        <p:spPr>
          <a:xfrm>
            <a:off x="6473952" y="3840480"/>
            <a:ext cx="4937760" cy="1188720"/>
          </a:xfrm>
          <a:prstGeom prst="rect">
            <a:avLst/>
          </a:prstGeom>
          <a:noFill/>
          <a:ln/>
        </p:spPr>
        <p:txBody>
          <a:bodyPr wrap="square" lIns="0" tIns="0" rIns="0" bIns="0" rtlCol="0" anchor="t"/>
          <a:lstStyle/>
          <a:p>
            <a:pPr indent="0" marL="0">
              <a:lnSpc>
                <a:spcPct val="110000"/>
              </a:lnSpc>
              <a:buNone/>
            </a:pPr>
            <a:r>
              <a:rPr lang="en-US" sz="1100" dirty="0">
                <a:solidFill>
                  <a:srgbClr val="7A2E14"/>
                </a:solidFill>
                <a:latin typeface="Calibri" pitchFamily="34" charset="0"/>
                <a:ea typeface="Calibri" pitchFamily="34" charset="-122"/>
                <a:cs typeface="Calibri" pitchFamily="34" charset="-120"/>
              </a:rPr>
              <a:t>And both good properties are lost. Transfer falls from 0.800 to 0.490 once the genus block is added back, and the combination tracks isolators exactly as well as genus alone. Diluting a confounded block with clean features does not decontaminate it.</a:t>
            </a:r>
            <a:endParaRPr lang="en-US" sz="1100" dirty="0"/>
          </a:p>
        </p:txBody>
      </p:sp>
      <p:sp>
        <p:nvSpPr>
          <p:cNvPr id="14" name="Text 11"/>
          <p:cNvSpPr/>
          <p:nvPr/>
        </p:nvSpPr>
        <p:spPr>
          <a:xfrm>
            <a:off x="548640" y="5303520"/>
            <a:ext cx="11064240" cy="365760"/>
          </a:xfrm>
          <a:prstGeom prst="rect">
            <a:avLst/>
          </a:prstGeom>
          <a:noFill/>
          <a:ln/>
        </p:spPr>
        <p:txBody>
          <a:bodyPr wrap="square" lIns="0" tIns="0" rIns="0" bIns="0" rtlCol="0" anchor="ctr"/>
          <a:lstStyle/>
          <a:p>
            <a:pPr indent="0" marL="0">
              <a:buNone/>
            </a:pPr>
            <a:r>
              <a:rPr lang="en-US" sz="1400" b="1" dirty="0">
                <a:solidFill>
                  <a:srgbClr val="16252C"/>
                </a:solidFill>
                <a:latin typeface="Georgia" pitchFamily="34" charset="0"/>
                <a:ea typeface="Georgia" pitchFamily="34" charset="-122"/>
                <a:cs typeface="Georgia" pitchFamily="34" charset="-120"/>
              </a:rPr>
              <a:t>The two spaces answer different questions. Merging them answers the first no better and the second not at all.</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12191695" cy="292608"/>
          </a:xfrm>
          <a:prstGeom prst="rect">
            <a:avLst/>
          </a:prstGeom>
          <a:solidFill>
            <a:srgbClr val="8FB996"/>
          </a:solidFill>
          <a:ln/>
        </p:spPr>
      </p:sp>
      <p:sp>
        <p:nvSpPr>
          <p:cNvPr id="3" name="Text 1"/>
          <p:cNvSpPr/>
          <p:nvPr/>
        </p:nvSpPr>
        <p:spPr>
          <a:xfrm>
            <a:off x="914400" y="685800"/>
            <a:ext cx="10332720" cy="64008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Which model, and what remains</a:t>
            </a:r>
            <a:endParaRPr lang="en-US" sz="3000" dirty="0"/>
          </a:p>
        </p:txBody>
      </p:sp>
      <p:sp>
        <p:nvSpPr>
          <p:cNvPr id="4" name="Shape 2"/>
          <p:cNvSpPr/>
          <p:nvPr/>
        </p:nvSpPr>
        <p:spPr>
          <a:xfrm>
            <a:off x="914400" y="1463040"/>
            <a:ext cx="10332720" cy="731520"/>
          </a:xfrm>
          <a:prstGeom prst="rect">
            <a:avLst/>
          </a:prstGeom>
          <a:solidFill>
            <a:srgbClr val="12505F"/>
          </a:solidFill>
          <a:ln/>
        </p:spPr>
      </p:sp>
      <p:sp>
        <p:nvSpPr>
          <p:cNvPr id="5" name="Shape 3"/>
          <p:cNvSpPr/>
          <p:nvPr/>
        </p:nvSpPr>
        <p:spPr>
          <a:xfrm>
            <a:off x="914400" y="1463040"/>
            <a:ext cx="68580" cy="731520"/>
          </a:xfrm>
          <a:prstGeom prst="rect">
            <a:avLst/>
          </a:prstGeom>
          <a:solidFill>
            <a:srgbClr val="4E9FAD"/>
          </a:solidFill>
          <a:ln/>
        </p:spPr>
      </p:sp>
      <p:sp>
        <p:nvSpPr>
          <p:cNvPr id="6" name="Text 4"/>
          <p:cNvSpPr/>
          <p:nvPr/>
        </p:nvSpPr>
        <p:spPr>
          <a:xfrm>
            <a:off x="1234440" y="1554480"/>
            <a:ext cx="512064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How well can infection be detected in this cohort?</a:t>
            </a:r>
            <a:endParaRPr lang="en-US" sz="1250" dirty="0"/>
          </a:p>
        </p:txBody>
      </p:sp>
      <p:sp>
        <p:nvSpPr>
          <p:cNvPr id="7" name="Text 5"/>
          <p:cNvSpPr/>
          <p:nvPr/>
        </p:nvSpPr>
        <p:spPr>
          <a:xfrm>
            <a:off x="6492240" y="1554480"/>
            <a:ext cx="2926080" cy="548640"/>
          </a:xfrm>
          <a:prstGeom prst="rect">
            <a:avLst/>
          </a:prstGeom>
          <a:noFill/>
          <a:ln/>
        </p:spPr>
        <p:txBody>
          <a:bodyPr wrap="square" lIns="0" tIns="0" rIns="0" bIns="0" rtlCol="0" anchor="ctr"/>
          <a:lstStyle/>
          <a:p>
            <a:pPr indent="0" marL="0">
              <a:buNone/>
            </a:pPr>
            <a:r>
              <a:rPr lang="en-US" sz="1350" b="1" dirty="0">
                <a:solidFill>
                  <a:srgbClr val="4E9FAD"/>
                </a:solidFill>
                <a:latin typeface="Georgia" pitchFamily="34" charset="0"/>
                <a:ea typeface="Georgia" pitchFamily="34" charset="-122"/>
                <a:cs typeface="Georgia" pitchFamily="34" charset="-120"/>
              </a:rPr>
              <a:t>Genus abundance</a:t>
            </a:r>
            <a:endParaRPr lang="en-US" sz="1350" dirty="0"/>
          </a:p>
        </p:txBody>
      </p:sp>
      <p:sp>
        <p:nvSpPr>
          <p:cNvPr id="8" name="Text 6"/>
          <p:cNvSpPr/>
          <p:nvPr/>
        </p:nvSpPr>
        <p:spPr>
          <a:xfrm>
            <a:off x="9509760" y="1554480"/>
            <a:ext cx="1645920" cy="548640"/>
          </a:xfrm>
          <a:prstGeom prst="rect">
            <a:avLst/>
          </a:prstGeom>
          <a:noFill/>
          <a:ln/>
        </p:spPr>
        <p:txBody>
          <a:bodyPr wrap="square" lIns="0" tIns="0" rIns="0" bIns="0" rtlCol="0" anchor="ctr"/>
          <a:lstStyle/>
          <a:p>
            <a:pPr algn="r" indent="0" marL="0">
              <a:buNone/>
            </a:pPr>
            <a:r>
              <a:rPr lang="en-US" sz="1100" dirty="0">
                <a:solidFill>
                  <a:srgbClr val="8FB996"/>
                </a:solidFill>
                <a:latin typeface="Calibri" pitchFamily="34" charset="0"/>
                <a:ea typeface="Calibri" pitchFamily="34" charset="-122"/>
                <a:cs typeface="Calibri" pitchFamily="34" charset="-120"/>
              </a:rPr>
              <a:t>0.836 duck · 0.972 turkey</a:t>
            </a:r>
            <a:endParaRPr lang="en-US" sz="1100" dirty="0"/>
          </a:p>
        </p:txBody>
      </p:sp>
      <p:sp>
        <p:nvSpPr>
          <p:cNvPr id="9" name="Shape 7"/>
          <p:cNvSpPr/>
          <p:nvPr/>
        </p:nvSpPr>
        <p:spPr>
          <a:xfrm>
            <a:off x="914400" y="2331720"/>
            <a:ext cx="10332720" cy="731520"/>
          </a:xfrm>
          <a:prstGeom prst="rect">
            <a:avLst/>
          </a:prstGeom>
          <a:solidFill>
            <a:srgbClr val="12505F"/>
          </a:solidFill>
          <a:ln/>
        </p:spPr>
      </p:sp>
      <p:sp>
        <p:nvSpPr>
          <p:cNvPr id="10" name="Shape 8"/>
          <p:cNvSpPr/>
          <p:nvPr/>
        </p:nvSpPr>
        <p:spPr>
          <a:xfrm>
            <a:off x="914400" y="2331720"/>
            <a:ext cx="68580" cy="731520"/>
          </a:xfrm>
          <a:prstGeom prst="rect">
            <a:avLst/>
          </a:prstGeom>
          <a:solidFill>
            <a:srgbClr val="8FB996"/>
          </a:solidFill>
          <a:ln/>
        </p:spPr>
      </p:sp>
      <p:sp>
        <p:nvSpPr>
          <p:cNvPr id="11" name="Text 9"/>
          <p:cNvSpPr/>
          <p:nvPr/>
        </p:nvSpPr>
        <p:spPr>
          <a:xfrm>
            <a:off x="1234440" y="2423160"/>
            <a:ext cx="512064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Does the finding hold in another host?</a:t>
            </a:r>
            <a:endParaRPr lang="en-US" sz="1250" dirty="0"/>
          </a:p>
        </p:txBody>
      </p:sp>
      <p:sp>
        <p:nvSpPr>
          <p:cNvPr id="12" name="Text 10"/>
          <p:cNvSpPr/>
          <p:nvPr/>
        </p:nvSpPr>
        <p:spPr>
          <a:xfrm>
            <a:off x="6492240" y="2423160"/>
            <a:ext cx="2926080" cy="548640"/>
          </a:xfrm>
          <a:prstGeom prst="rect">
            <a:avLst/>
          </a:prstGeom>
          <a:noFill/>
          <a:ln/>
        </p:spPr>
        <p:txBody>
          <a:bodyPr wrap="square" lIns="0" tIns="0" rIns="0" bIns="0" rtlCol="0" anchor="ctr"/>
          <a:lstStyle/>
          <a:p>
            <a:pPr indent="0" marL="0">
              <a:buNone/>
            </a:pPr>
            <a:r>
              <a:rPr lang="en-US" sz="1350" b="1" dirty="0">
                <a:solidFill>
                  <a:srgbClr val="8FB996"/>
                </a:solidFill>
                <a:latin typeface="Georgia" pitchFamily="34" charset="0"/>
                <a:ea typeface="Georgia" pitchFamily="34" charset="-122"/>
                <a:cs typeface="Georgia" pitchFamily="34" charset="-120"/>
              </a:rPr>
              <a:t>Core retention + linear model</a:t>
            </a:r>
            <a:endParaRPr lang="en-US" sz="1350" dirty="0"/>
          </a:p>
        </p:txBody>
      </p:sp>
      <p:sp>
        <p:nvSpPr>
          <p:cNvPr id="13" name="Text 11"/>
          <p:cNvSpPr/>
          <p:nvPr/>
        </p:nvSpPr>
        <p:spPr>
          <a:xfrm>
            <a:off x="9509760" y="2423160"/>
            <a:ext cx="1645920" cy="548640"/>
          </a:xfrm>
          <a:prstGeom prst="rect">
            <a:avLst/>
          </a:prstGeom>
          <a:noFill/>
          <a:ln/>
        </p:spPr>
        <p:txBody>
          <a:bodyPr wrap="square" lIns="0" tIns="0" rIns="0" bIns="0" rtlCol="0" anchor="ctr"/>
          <a:lstStyle/>
          <a:p>
            <a:pPr algn="r" indent="0" marL="0">
              <a:buNone/>
            </a:pPr>
            <a:r>
              <a:rPr lang="en-US" sz="1100" dirty="0">
                <a:solidFill>
                  <a:srgbClr val="8FB996"/>
                </a:solidFill>
                <a:latin typeface="Calibri" pitchFamily="34" charset="0"/>
                <a:ea typeface="Calibri" pitchFamily="34" charset="-122"/>
                <a:cs typeface="Calibri" pitchFamily="34" charset="-120"/>
              </a:rPr>
              <a:t>0.870, p=0.0020</a:t>
            </a:r>
            <a:endParaRPr lang="en-US" sz="1100" dirty="0"/>
          </a:p>
        </p:txBody>
      </p:sp>
      <p:sp>
        <p:nvSpPr>
          <p:cNvPr id="14" name="Text 12"/>
          <p:cNvSpPr/>
          <p:nvPr/>
        </p:nvSpPr>
        <p:spPr>
          <a:xfrm>
            <a:off x="914400" y="3337560"/>
            <a:ext cx="10332720" cy="32004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Three usage rules</a:t>
            </a:r>
            <a:endParaRPr lang="en-US" sz="1500" dirty="0"/>
          </a:p>
        </p:txBody>
      </p:sp>
      <p:sp>
        <p:nvSpPr>
          <p:cNvPr id="15" name="Text 13"/>
          <p:cNvSpPr/>
          <p:nvPr/>
        </p:nvSpPr>
        <p:spPr>
          <a:xfrm>
            <a:off x="1234440" y="3703320"/>
            <a:ext cx="10058400" cy="274320"/>
          </a:xfrm>
          <a:prstGeom prst="rect">
            <a:avLst/>
          </a:prstGeom>
          <a:noFill/>
          <a:ln/>
        </p:spPr>
        <p:txBody>
          <a:bodyPr wrap="square" lIns="0" tIns="0" rIns="0" bIns="0" rtlCol="0" anchor="ctr"/>
          <a:lstStyle/>
          <a:p>
            <a:pPr indent="0" marL="0">
              <a:buNone/>
            </a:pPr>
            <a:r>
              <a:rPr lang="en-US" sz="1150" dirty="0">
                <a:solidFill>
                  <a:srgbClr val="4E9FAD"/>
                </a:solidFill>
                <a:latin typeface="Calibri" pitchFamily="34" charset="0"/>
                <a:ea typeface="Calibri" pitchFamily="34" charset="-122"/>
                <a:cs typeface="Calibri" pitchFamily="34" charset="-120"/>
              </a:rPr>
              <a:t>•  Use a linear model, not RBF — same features transfer at 0.469 against 0.870</a:t>
            </a:r>
            <a:endParaRPr lang="en-US" sz="1150" dirty="0"/>
          </a:p>
        </p:txBody>
      </p:sp>
      <p:sp>
        <p:nvSpPr>
          <p:cNvPr id="16" name="Text 14"/>
          <p:cNvSpPr/>
          <p:nvPr/>
        </p:nvSpPr>
        <p:spPr>
          <a:xfrm>
            <a:off x="1234440" y="3995928"/>
            <a:ext cx="10058400" cy="274320"/>
          </a:xfrm>
          <a:prstGeom prst="rect">
            <a:avLst/>
          </a:prstGeom>
          <a:noFill/>
          <a:ln/>
        </p:spPr>
        <p:txBody>
          <a:bodyPr wrap="square" lIns="0" tIns="0" rIns="0" bIns="0" rtlCol="0" anchor="ctr"/>
          <a:lstStyle/>
          <a:p>
            <a:pPr indent="0" marL="0">
              <a:buNone/>
            </a:pPr>
            <a:r>
              <a:rPr lang="en-US" sz="1150" dirty="0">
                <a:solidFill>
                  <a:srgbClr val="4E9FAD"/>
                </a:solidFill>
                <a:latin typeface="Calibri" pitchFamily="34" charset="0"/>
                <a:ea typeface="Calibri" pitchFamily="34" charset="-122"/>
                <a:cs typeface="Calibri" pitchFamily="34" charset="-120"/>
              </a:rPr>
              <a:t>•  Do not add α diversity — it passes none of the checks in this dataset</a:t>
            </a:r>
            <a:endParaRPr lang="en-US" sz="1150" dirty="0"/>
          </a:p>
        </p:txBody>
      </p:sp>
      <p:sp>
        <p:nvSpPr>
          <p:cNvPr id="17" name="Text 15"/>
          <p:cNvSpPr/>
          <p:nvPr/>
        </p:nvSpPr>
        <p:spPr>
          <a:xfrm>
            <a:off x="1234440" y="4288536"/>
            <a:ext cx="10058400" cy="274320"/>
          </a:xfrm>
          <a:prstGeom prst="rect">
            <a:avLst/>
          </a:prstGeom>
          <a:noFill/>
          <a:ln/>
        </p:spPr>
        <p:txBody>
          <a:bodyPr wrap="square" lIns="0" tIns="0" rIns="0" bIns="0" rtlCol="0" anchor="ctr"/>
          <a:lstStyle/>
          <a:p>
            <a:pPr indent="0" marL="0">
              <a:buNone/>
            </a:pPr>
            <a:r>
              <a:rPr lang="en-US" sz="1150" dirty="0">
                <a:solidFill>
                  <a:srgbClr val="4E9FAD"/>
                </a:solidFill>
                <a:latin typeface="Calibri" pitchFamily="34" charset="0"/>
                <a:ea typeface="Calibri" pitchFamily="34" charset="-122"/>
                <a:cs typeface="Calibri" pitchFamily="34" charset="-120"/>
              </a:rPr>
              <a:t>•  Do not merge with genus abundance — transfer falls to 0.490, cage ratio returns to 0.95</a:t>
            </a:r>
            <a:endParaRPr lang="en-US" sz="1150" dirty="0"/>
          </a:p>
        </p:txBody>
      </p:sp>
      <p:sp>
        <p:nvSpPr>
          <p:cNvPr id="18" name="Text 16"/>
          <p:cNvSpPr/>
          <p:nvPr/>
        </p:nvSpPr>
        <p:spPr>
          <a:xfrm>
            <a:off x="914400" y="4709160"/>
            <a:ext cx="10332720" cy="32004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What remains</a:t>
            </a:r>
            <a:endParaRPr lang="en-US" sz="1500" dirty="0"/>
          </a:p>
        </p:txBody>
      </p:sp>
      <p:sp>
        <p:nvSpPr>
          <p:cNvPr id="19" name="Text 17"/>
          <p:cNvSpPr/>
          <p:nvPr/>
        </p:nvSpPr>
        <p:spPr>
          <a:xfrm>
            <a:off x="1234440" y="5074920"/>
            <a:ext cx="10058400" cy="274320"/>
          </a:xfrm>
          <a:prstGeom prst="rect">
            <a:avLst/>
          </a:prstGeom>
          <a:noFill/>
          <a:ln/>
        </p:spPr>
        <p:txBody>
          <a:bodyPr wrap="square" lIns="0" tIns="0" rIns="0" bIns="0" rtlCol="0" anchor="ctr"/>
          <a:lstStyle/>
          <a:p>
            <a:pPr indent="0" marL="0">
              <a:buNone/>
            </a:pPr>
            <a:r>
              <a:rPr lang="en-US" sz="1150" dirty="0">
                <a:solidFill>
                  <a:srgbClr val="8FB996"/>
                </a:solidFill>
                <a:latin typeface="Calibri" pitchFamily="34" charset="0"/>
                <a:ea typeface="Calibri" pitchFamily="34" charset="-122"/>
                <a:cs typeface="Calibri" pitchFamily="34" charset="-120"/>
              </a:rPr>
              <a:t>•  Replicate duck → turkey on a third host — the swan cohort cannot serve</a:t>
            </a:r>
            <a:endParaRPr lang="en-US" sz="1150" dirty="0"/>
          </a:p>
        </p:txBody>
      </p:sp>
      <p:sp>
        <p:nvSpPr>
          <p:cNvPr id="20" name="Text 18"/>
          <p:cNvSpPr/>
          <p:nvPr/>
        </p:nvSpPr>
        <p:spPr>
          <a:xfrm>
            <a:off x="1234440" y="5367528"/>
            <a:ext cx="10058400" cy="274320"/>
          </a:xfrm>
          <a:prstGeom prst="rect">
            <a:avLst/>
          </a:prstGeom>
          <a:noFill/>
          <a:ln/>
        </p:spPr>
        <p:txBody>
          <a:bodyPr wrap="square" lIns="0" tIns="0" rIns="0" bIns="0" rtlCol="0" anchor="ctr"/>
          <a:lstStyle/>
          <a:p>
            <a:pPr indent="0" marL="0">
              <a:buNone/>
            </a:pPr>
            <a:r>
              <a:rPr lang="en-US" sz="1150" dirty="0">
                <a:solidFill>
                  <a:srgbClr val="8FB996"/>
                </a:solidFill>
                <a:latin typeface="Calibri" pitchFamily="34" charset="0"/>
                <a:ea typeface="Calibri" pitchFamily="34" charset="-122"/>
                <a:cs typeface="Calibri" pitchFamily="34" charset="-120"/>
              </a:rPr>
              <a:t>•  Give the genus model a non-degenerate transfer baseline via the feature intersection</a:t>
            </a:r>
            <a:endParaRPr lang="en-US" sz="1150" dirty="0"/>
          </a:p>
        </p:txBody>
      </p:sp>
      <p:sp>
        <p:nvSpPr>
          <p:cNvPr id="21" name="Text 19"/>
          <p:cNvSpPr/>
          <p:nvPr/>
        </p:nvSpPr>
        <p:spPr>
          <a:xfrm>
            <a:off x="1234440" y="5660136"/>
            <a:ext cx="10058400" cy="274320"/>
          </a:xfrm>
          <a:prstGeom prst="rect">
            <a:avLst/>
          </a:prstGeom>
          <a:noFill/>
          <a:ln/>
        </p:spPr>
        <p:txBody>
          <a:bodyPr wrap="square" lIns="0" tIns="0" rIns="0" bIns="0" rtlCol="0" anchor="ctr"/>
          <a:lstStyle/>
          <a:p>
            <a:pPr indent="0" marL="0">
              <a:buNone/>
            </a:pPr>
            <a:r>
              <a:rPr lang="en-US" sz="1150" dirty="0">
                <a:solidFill>
                  <a:srgbClr val="8FB996"/>
                </a:solidFill>
                <a:latin typeface="Calibri" pitchFamily="34" charset="0"/>
                <a:ea typeface="Calibri" pitchFamily="34" charset="-122"/>
                <a:cs typeface="Calibri" pitchFamily="34" charset="-120"/>
              </a:rPr>
              <a:t>•  Rarefy or model depth explicitly — depth reaches AUC 0.650 even in duck</a:t>
            </a:r>
            <a:endParaRPr lang="en-US" sz="1150" dirty="0"/>
          </a:p>
        </p:txBody>
      </p:sp>
      <p:sp>
        <p:nvSpPr>
          <p:cNvPr id="22" name="Text 20"/>
          <p:cNvSpPr/>
          <p:nvPr/>
        </p:nvSpPr>
        <p:spPr>
          <a:xfrm>
            <a:off x="914400" y="6309360"/>
            <a:ext cx="10332720" cy="320040"/>
          </a:xfrm>
          <a:prstGeom prst="rect">
            <a:avLst/>
          </a:prstGeom>
          <a:noFill/>
          <a:ln/>
        </p:spPr>
        <p:txBody>
          <a:bodyPr wrap="square" lIns="0" tIns="0" rIns="0" bIns="0" rtlCol="0" anchor="ctr"/>
          <a:lstStyle/>
          <a:p>
            <a:pPr indent="0" marL="0">
              <a:buNone/>
            </a:pPr>
            <a:r>
              <a:rPr lang="en-US" sz="1050" dirty="0">
                <a:solidFill>
                  <a:srgbClr val="4E9FAD"/>
                </a:solidFill>
                <a:latin typeface="Calibri" pitchFamily="34" charset="0"/>
                <a:ea typeface="Calibri" pitchFamily="34" charset="-122"/>
                <a:cs typeface="Calibri" pitchFamily="34" charset="-120"/>
              </a:rPr>
              <a:t>Full results in summary_ecological_models.md ｜ reproduce: ecological_models.py, ecological_transfer_anatomy.py, ecological_cage_check.py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Georgia, College of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Ecological Feature Spaces vs the Genus-Abundance Model</dc:title>
  <dc:subject>PptxGenJS Presentation</dc:subject>
  <dc:creator>Sihua Peng</dc:creator>
  <cp:lastModifiedBy>Sihua Peng</cp:lastModifiedBy>
  <cp:revision>1</cp:revision>
  <dcterms:created xsi:type="dcterms:W3CDTF">2026-08-26T14:32:35Z</dcterms:created>
  <dcterms:modified xsi:type="dcterms:W3CDTF">2026-08-26T14:32:35Z</dcterms:modified>
</cp:coreProperties>
</file>