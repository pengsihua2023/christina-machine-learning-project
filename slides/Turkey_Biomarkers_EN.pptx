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PRJNA644054 · n=45 (13 negative / 32 positive)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6252C"/>
                </a:solidFill>
                <a:latin typeface="Georgia" pitchFamily="34" charset="0"/>
                <a:ea typeface="Georgia" pitchFamily="34" charset="-122"/>
                <a:cs typeface="Georgia" pitchFamily="34" charset="-120"/>
              </a:rPr>
              <a:t>Turkey cohort biomarkers</a:t>
            </a:r>
            <a:endParaRPr lang="en-US" sz="28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a:t>
            </a:r>
            <a:endParaRPr lang="en-US" sz="1000" dirty="0"/>
          </a:p>
        </p:txBody>
      </p:sp>
      <p:sp>
        <p:nvSpPr>
          <p:cNvPr id="6" name="Text 4"/>
          <p:cNvSpPr/>
          <p:nvPr/>
        </p:nvSpPr>
        <p:spPr>
          <a:xfrm>
            <a:off x="548640" y="1261872"/>
            <a:ext cx="11064240" cy="320040"/>
          </a:xfrm>
          <a:prstGeom prst="rect">
            <a:avLst/>
          </a:prstGeom>
          <a:noFill/>
          <a:ln/>
        </p:spPr>
        <p:txBody>
          <a:bodyPr wrap="square" lIns="0" tIns="0" rIns="0" bIns="0" rtlCol="0" anchor="ctr"/>
          <a:lstStyle/>
          <a:p>
            <a:pPr indent="0" marL="0">
              <a:buNone/>
            </a:pPr>
            <a:r>
              <a:rPr lang="en-US" sz="1250" dirty="0">
                <a:solidFill>
                  <a:srgbClr val="5F7580"/>
                </a:solidFill>
                <a:latin typeface="Calibri" pitchFamily="34" charset="0"/>
                <a:ea typeface="Calibri" pitchFamily="34" charset="-122"/>
                <a:cs typeface="Calibri" pitchFamily="34" charset="-120"/>
              </a:rPr>
              <a:t>Four layers. The first three match the duck cohort (README §6.2) exactly, which is what makes the two comparable; the fourth is unique to this cohort — wild ducks have no cages, so it cannot be applied there.</a:t>
            </a:r>
            <a:endParaRPr lang="en-US" sz="125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822960"/>
                <a:gridCol w="4297680"/>
                <a:gridCol w="4023360"/>
                <a:gridCol w="1920240"/>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tests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Hits of 62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65760">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①</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Differential abundance (CLR + Welch t + BH-FDR)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is the between-group difference real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65760">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②</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Permutation importance (within-fold, 3×5)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does it contribute to the 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65760">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③</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L1 stability selection (200 bootstraps)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is it reproducibly chosen by a sparse 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365760">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④</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Cage screen (unique to this cohort)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attributable to infection, not shared housing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2 of the 4 pass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548640" y="3657600"/>
          <a:ext cx="11064240" cy="914400"/>
        </p:xfrm>
        <a:graphic>
          <a:graphicData uri="http://schemas.openxmlformats.org/drawingml/2006/table">
            <a:tbl>
              <a:tblPr/>
              <a:tblGrid>
                <a:gridCol w="2377440"/>
                <a:gridCol w="2103120"/>
                <a:gridCol w="1280160"/>
                <a:gridCol w="1097280"/>
                <a:gridCol w="1097280"/>
                <a:gridCol w="914400"/>
                <a:gridCol w="1097280"/>
                <a:gridCol w="109728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Importance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Layer ④</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i="1" dirty="0">
                          <a:solidFill>
                            <a:srgbClr val="16252C"/>
                          </a:solidFill>
                          <a:latin typeface="Calibri" pitchFamily="34" charset="0"/>
                          <a:ea typeface="Calibri" pitchFamily="34" charset="-122"/>
                          <a:cs typeface="Calibri" pitchFamily="34" charset="-120"/>
                        </a:rPr>
                        <a:t>Negativibacillus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0.865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+5.87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3.8e-05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fails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384048">
                <a:tc>
                  <a:txBody>
                    <a:bodyPr/>
                    <a:lstStyle/>
                    <a:p>
                      <a:pPr algn="ctr" indent="0" marL="0">
                        <a:buNone/>
                      </a:pPr>
                      <a:r>
                        <a:rPr lang="en-US" sz="1100" b="1" i="1" dirty="0">
                          <a:solidFill>
                            <a:srgbClr val="16252C"/>
                          </a:solidFill>
                          <a:latin typeface="Calibri" pitchFamily="34" charset="0"/>
                          <a:ea typeface="Calibri" pitchFamily="34" charset="-122"/>
                          <a:cs typeface="Calibri" pitchFamily="34" charset="-120"/>
                        </a:rPr>
                        <a:t>HT002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Lactobacillaceae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−3.89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5.7e-03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passes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i="1" dirty="0">
                          <a:solidFill>
                            <a:srgbClr val="16252C"/>
                          </a:solidFill>
                          <a:latin typeface="Calibri" pitchFamily="34" charset="0"/>
                          <a:ea typeface="Calibri" pitchFamily="34" charset="-122"/>
                          <a:cs typeface="Calibri" pitchFamily="34" charset="-120"/>
                        </a:rPr>
                        <a:t>Tissierella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Family_XI</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+4.82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3.8e-04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fails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384048">
                <a:tc>
                  <a:txBody>
                    <a:bodyPr/>
                    <a:lstStyle/>
                    <a:p>
                      <a:pPr algn="ctr" indent="0" marL="0">
                        <a:buNone/>
                      </a:pPr>
                      <a:r>
                        <a:rPr lang="en-US" sz="1100" b="1" i="1" dirty="0">
                          <a:solidFill>
                            <a:srgbClr val="16252C"/>
                          </a:solidFill>
                          <a:latin typeface="Calibri" pitchFamily="34" charset="0"/>
                          <a:ea typeface="Calibri" pitchFamily="34" charset="-122"/>
                          <a:cs typeface="Calibri" pitchFamily="34" charset="-120"/>
                        </a:rPr>
                        <a:t>Escherichia-Shigella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Enterobacteriaceae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0.0015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+5.64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3.8e-04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passes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9" name="Text 5"/>
          <p:cNvSpPr/>
          <p:nvPr/>
        </p:nvSpPr>
        <p:spPr>
          <a:xfrm>
            <a:off x="548640" y="5715000"/>
            <a:ext cx="11064240" cy="411480"/>
          </a:xfrm>
          <a:prstGeom prst="rect">
            <a:avLst/>
          </a:prstGeom>
          <a:noFill/>
          <a:ln/>
        </p:spPr>
        <p:txBody>
          <a:bodyPr wrap="square" lIns="0" tIns="0" rIns="0" bIns="0" rtlCol="0" anchor="ctr"/>
          <a:lstStyle/>
          <a:p>
            <a:pPr indent="0" marL="0">
              <a:buNone/>
            </a:pPr>
            <a:r>
              <a:rPr lang="en-US" sz="1250" b="1" dirty="0">
                <a:solidFill>
                  <a:srgbClr val="16252C"/>
                </a:solidFill>
                <a:latin typeface="Georgia" pitchFamily="34" charset="0"/>
                <a:ea typeface="Georgia" pitchFamily="34" charset="-122"/>
                <a:cs typeface="Georgia" pitchFamily="34" charset="-120"/>
              </a:rPr>
              <a:t>Two are reportable: HT002 (Lactobacillaceae, falls in infected birds) and Escherichia-Shigella (Enterobacteriaceae, rises) — commensal lactic acid bacteria depleted, opportunistic pathogens expanding, the classic dysbiosis pattern.</a:t>
            </a:r>
            <a:endParaRPr lang="en-US" sz="1250" dirty="0"/>
          </a:p>
        </p:txBody>
      </p:sp>
      <p:sp>
        <p:nvSpPr>
          <p:cNvPr id="10" name="Text 6"/>
          <p:cNvSpPr/>
          <p:nvPr/>
        </p:nvSpPr>
        <p:spPr>
          <a:xfrm>
            <a:off x="548640" y="6199632"/>
            <a:ext cx="11064240" cy="320040"/>
          </a:xfrm>
          <a:prstGeom prst="rect">
            <a:avLst/>
          </a:prstGeom>
          <a:noFill/>
          <a:ln/>
        </p:spPr>
        <p:txBody>
          <a:bodyPr wrap="square" lIns="0" tIns="0" rIns="0" bIns="0" rtlCol="0" anchor="ctr"/>
          <a:lstStyle/>
          <a:p>
            <a:pPr indent="0" marL="0">
              <a:buNone/>
            </a:pPr>
            <a:r>
              <a:rPr lang="en-US" sz="1000" i="1" dirty="0">
                <a:solidFill>
                  <a:srgbClr val="5F7580"/>
                </a:solidFill>
                <a:latin typeface="Calibri" pitchFamily="34" charset="0"/>
                <a:ea typeface="Calibri" pitchFamily="34" charset="-122"/>
                <a:cs typeface="Calibri" pitchFamily="34" charset="-120"/>
              </a:rPr>
              <a:t>The L1 penalty does not carry across cohorts: the duck C=0.1 zeroes every coefficient at n=45, so C is treated as a sensitivity axis (0.2 / 1.0 / 10.0, 200 bootstraps each, intersected).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ATTRIBUTION · CROSS-HOST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6252C"/>
                </a:solidFill>
                <a:latin typeface="Georgia" pitchFamily="34" charset="0"/>
                <a:ea typeface="Georgia" pitchFamily="34" charset="-122"/>
                <a:cs typeface="Georgia" pitchFamily="34" charset="-120"/>
              </a:rPr>
              <a:t>Why layer ④ cannot be dropped, and the duck comparison</a:t>
            </a:r>
            <a:endParaRPr lang="en-US" sz="28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Shape 4"/>
          <p:cNvSpPr/>
          <p:nvPr/>
        </p:nvSpPr>
        <p:spPr>
          <a:xfrm>
            <a:off x="548640" y="1280160"/>
            <a:ext cx="11064240" cy="12344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280160"/>
            <a:ext cx="68580" cy="1234440"/>
          </a:xfrm>
          <a:prstGeom prst="rect">
            <a:avLst/>
          </a:prstGeom>
          <a:solidFill>
            <a:srgbClr val="D2603A"/>
          </a:solidFill>
          <a:ln/>
        </p:spPr>
      </p:sp>
      <p:sp>
        <p:nvSpPr>
          <p:cNvPr id="8" name="Text 6"/>
          <p:cNvSpPr/>
          <p:nvPr/>
        </p:nvSpPr>
        <p:spPr>
          <a:xfrm>
            <a:off x="804672" y="142646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statistically strongest feature is precisely the one that cannot be attributed</a:t>
            </a:r>
            <a:endParaRPr lang="en-US" sz="1500" dirty="0"/>
          </a:p>
        </p:txBody>
      </p:sp>
      <p:sp>
        <p:nvSpPr>
          <p:cNvPr id="9" name="Text 7"/>
          <p:cNvSpPr/>
          <p:nvPr/>
        </p:nvSpPr>
        <p:spPr>
          <a:xfrm>
            <a:off x="804672" y="1810512"/>
            <a:ext cx="10607040" cy="576072"/>
          </a:xfrm>
          <a:prstGeom prst="rect">
            <a:avLst/>
          </a:prstGeom>
          <a:noFill/>
          <a:ln/>
        </p:spPr>
        <p:txBody>
          <a:bodyPr wrap="square" lIns="0" tIns="0" rIns="0" bIns="0" rtlCol="0" anchor="t"/>
          <a:lstStyle/>
          <a:p>
            <a:pPr indent="0" marL="0">
              <a:lnSpc>
                <a:spcPct val="112000"/>
              </a:lnSpc>
              <a:buNone/>
            </a:pPr>
            <a:r>
              <a:rPr lang="en-US" sz="1150" dirty="0">
                <a:solidFill>
                  <a:srgbClr val="7A2E14"/>
                </a:solidFill>
                <a:latin typeface="Calibri" pitchFamily="34" charset="0"/>
                <a:ea typeface="Calibri" pitchFamily="34" charset="-122"/>
                <a:cs typeface="Calibri" pitchFamily="34" charset="-120"/>
              </a:rPr>
              <a:t>Negativibacillus leads the cohort under the first three layers — highest permutation importance (0.0133), t=+5.87, stable L1 selection at all three C values. But it also differs significantly across four isolators that are all positive, so whether it reflects infection or the shared cage cannot be determined. The same holds for Tissierella.</a:t>
            </a:r>
            <a:endParaRPr lang="en-US" sz="1150" dirty="0"/>
          </a:p>
          <a:p>
            <a:pPr indent="0" marL="0">
              <a:lnSpc>
                <a:spcPct val="112000"/>
              </a:lnSpc>
              <a:buNone/>
            </a:pPr>
            <a:r>
              <a:rPr lang="en-US" sz="1150" dirty="0">
                <a:solidFill>
                  <a:srgbClr val="7A2E14"/>
                </a:solidFill>
                <a:latin typeface="Calibri" pitchFamily="34" charset="0"/>
                <a:ea typeface="Calibri" pitchFamily="34" charset="-122"/>
                <a:cs typeface="Calibri" pitchFamily="34" charset="-120"/>
              </a:rPr>
              <a:t>Drop layer ④ and the paper reports four rather than two, half of them unattributable.</a:t>
            </a:r>
            <a:endParaRPr lang="en-US" sz="1150" dirty="0"/>
          </a:p>
        </p:txBody>
      </p:sp>
      <p:sp>
        <p:nvSpPr>
          <p:cNvPr id="10" name="Text 8"/>
          <p:cNvSpPr/>
          <p:nvPr/>
        </p:nvSpPr>
        <p:spPr>
          <a:xfrm>
            <a:off x="548640" y="2743200"/>
            <a:ext cx="11064240" cy="320040"/>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Comparison with the duck cohort (layers ①–③ match, so the two are comparable)</a:t>
            </a:r>
            <a:endParaRPr lang="en-US" sz="1500" dirty="0"/>
          </a:p>
        </p:txBody>
      </p:sp>
      <p:sp>
        <p:nvSpPr>
          <p:cNvPr id="11" name="Text 9"/>
          <p:cNvSpPr/>
          <p:nvPr/>
        </p:nvSpPr>
        <p:spPr>
          <a:xfrm>
            <a:off x="548640" y="3090672"/>
            <a:ext cx="11064240" cy="274320"/>
          </a:xfrm>
          <a:prstGeom prst="rect">
            <a:avLst/>
          </a:prstGeom>
          <a:noFill/>
          <a:ln/>
        </p:spPr>
        <p:txBody>
          <a:bodyPr wrap="square" lIns="0" tIns="0" rIns="0" bIns="0" rtlCol="0" anchor="ctr"/>
          <a:lstStyle/>
          <a:p>
            <a:pPr indent="0" marL="0">
              <a:buNone/>
            </a:pPr>
            <a:r>
              <a:rPr lang="en-US" sz="1150" dirty="0">
                <a:solidFill>
                  <a:srgbClr val="5F7580"/>
                </a:solidFill>
                <a:latin typeface="Calibri" pitchFamily="34" charset="0"/>
                <a:ea typeface="Calibri" pitchFamily="34" charset="-122"/>
                <a:cs typeface="Calibri" pitchFamily="34" charset="-120"/>
              </a:rPr>
              <a:t>Rebuilding the duck three-method intersection returns exactly 9, matching README §6.2 — the reconstruction is verified before any comparison is drawn.</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3456432"/>
          <a:ext cx="11064240" cy="914400"/>
        </p:xfrm>
        <a:graphic>
          <a:graphicData uri="http://schemas.openxmlformats.org/drawingml/2006/table">
            <a:tbl>
              <a:tblPr/>
              <a:tblGrid>
                <a:gridCol w="1463040"/>
                <a:gridCol w="2926080"/>
                <a:gridCol w="6675120"/>
              </a:tblGrid>
              <a:tr h="47548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Rank</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Overlap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Detail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the duck 9 and the turkey 4 share no genus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Family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Duck (unnamed genus) Pos↑　|　Turkey Negativibacillus Pos↑　— same 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13" name="Shape 10"/>
          <p:cNvSpPr/>
          <p:nvPr/>
        </p:nvSpPr>
        <p:spPr>
          <a:xfrm>
            <a:off x="548640" y="4983480"/>
            <a:ext cx="11064240" cy="914400"/>
          </a:xfrm>
          <a:prstGeom prst="rect">
            <a:avLst/>
          </a:prstGeom>
          <a:solidFill>
            <a:srgbClr val="FBEDE7"/>
          </a:solidFill>
          <a:ln/>
        </p:spPr>
      </p:sp>
      <p:sp>
        <p:nvSpPr>
          <p:cNvPr id="14" name="Shape 11"/>
          <p:cNvSpPr/>
          <p:nvPr/>
        </p:nvSpPr>
        <p:spPr>
          <a:xfrm>
            <a:off x="548640" y="4983480"/>
            <a:ext cx="68580" cy="914400"/>
          </a:xfrm>
          <a:prstGeom prst="rect">
            <a:avLst/>
          </a:prstGeom>
          <a:solidFill>
            <a:srgbClr val="D2603A"/>
          </a:solidFill>
          <a:ln/>
        </p:spPr>
      </p:sp>
      <p:sp>
        <p:nvSpPr>
          <p:cNvPr id="15" name="Text 12"/>
          <p:cNvSpPr/>
          <p:nvPr/>
        </p:nvSpPr>
        <p:spPr>
          <a:xfrm>
            <a:off x="804672" y="5074920"/>
            <a:ext cx="10607040" cy="731520"/>
          </a:xfrm>
          <a:prstGeom prst="rect">
            <a:avLst/>
          </a:prstGeom>
          <a:noFill/>
          <a:ln/>
        </p:spPr>
        <p:txBody>
          <a:bodyPr wrap="square" lIns="0" tIns="0" rIns="0" bIns="0" rtlCol="0" anchor="t"/>
          <a:lstStyle/>
          <a:p>
            <a:pPr indent="0" marL="0">
              <a:lnSpc>
                <a:spcPct val="110000"/>
              </a:lnSpc>
              <a:buNone/>
            </a:pPr>
            <a:r>
              <a:rPr lang="en-US" sz="1100" dirty="0">
                <a:solidFill>
                  <a:srgbClr val="7A2E14"/>
                </a:solidFill>
                <a:latin typeface="Calibri" pitchFamily="34" charset="0"/>
                <a:ea typeface="Calibri" pitchFamily="34" charset="-122"/>
                <a:cs typeface="Calibri" pitchFamily="34" charset="-120"/>
              </a:rPr>
              <a:t>This is the first taxonomic cross-host consistency anywhere in this project — §3 had concluded that of the duck cohort's nine genera only Staphylococcus entered the turkey pool, pointing the opposite way and not significant. But the turkey member is the Negativibacillus above, confounded by strain or batch, so the agreement cannot be attributed to infection and stands only as a lead.</a:t>
            </a:r>
            <a:endParaRPr lang="en-US" sz="1100" dirty="0"/>
          </a:p>
        </p:txBody>
      </p:sp>
      <p:sp>
        <p:nvSpPr>
          <p:cNvPr id="16" name="Text 13"/>
          <p:cNvSpPr/>
          <p:nvPr/>
        </p:nvSpPr>
        <p:spPr>
          <a:xfrm>
            <a:off x="548640" y="6035040"/>
            <a:ext cx="11064240" cy="411480"/>
          </a:xfrm>
          <a:prstGeom prst="rect">
            <a:avLst/>
          </a:prstGeom>
          <a:noFill/>
          <a:ln/>
        </p:spPr>
        <p:txBody>
          <a:bodyPr wrap="square" lIns="0" tIns="0" rIns="0" bIns="0" rtlCol="0" anchor="ctr"/>
          <a:lstStyle/>
          <a:p>
            <a:pPr indent="0" marL="0">
              <a:buNone/>
            </a:pPr>
            <a:r>
              <a:rPr lang="en-US" sz="1250" b="1" dirty="0">
                <a:solidFill>
                  <a:srgbClr val="16252C"/>
                </a:solidFill>
                <a:latin typeface="Georgia" pitchFamily="34" charset="0"/>
                <a:ea typeface="Georgia" pitchFamily="34" charset="-122"/>
                <a:cs typeface="Georgia" pitchFamily="34" charset="-120"/>
              </a:rPr>
              <a:t>Conclusion: turkey has 2 reportable biomarkers. Cross-host consistency exists only at family rank and carries confounding — the next step is to test Ruminococcaceae and Escherichia-Shigella in a third cohort.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Turkey Cohort Biomarkers: the Three-Method Intersection</dc:title>
  <dc:subject>PptxGenJS Presentation</dc:subject>
  <dc:creator>Sihua Peng</dc:creator>
  <cp:lastModifiedBy>Sihua Peng</cp:lastModifiedBy>
  <cp:revision>1</cp:revision>
  <dcterms:created xsi:type="dcterms:W3CDTF">2026-08-31T21:18:35Z</dcterms:created>
  <dcterms:modified xsi:type="dcterms:W3CDTF">2026-08-31T21:18:35Z</dcterms:modified>
</cp:coreProperties>
</file>