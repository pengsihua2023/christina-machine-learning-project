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METHOD · MATCHING PROTOCOLS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6252C"/>
                </a:solidFill>
                <a:latin typeface="Georgia" pitchFamily="34" charset="0"/>
                <a:ea typeface="Georgia" pitchFamily="34" charset="-122"/>
                <a:cs typeface="Georgia" pitchFamily="34" charset="-120"/>
              </a:rPr>
              <a:t>Why the turkey biomarkers had to be redone</a:t>
            </a:r>
            <a:endParaRPr lang="en-US" sz="28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a:t>
            </a:r>
            <a:endParaRPr lang="en-US" sz="1000" dirty="0"/>
          </a:p>
        </p:txBody>
      </p:sp>
      <p:sp>
        <p:nvSpPr>
          <p:cNvPr id="6" name="Text 4"/>
          <p:cNvSpPr/>
          <p:nvPr/>
        </p:nvSpPr>
        <p:spPr>
          <a:xfrm>
            <a:off x="548640" y="1280160"/>
            <a:ext cx="11064240" cy="320040"/>
          </a:xfrm>
          <a:prstGeom prst="rect">
            <a:avLst/>
          </a:prstGeom>
          <a:noFill/>
          <a:ln/>
        </p:spPr>
        <p:txBody>
          <a:bodyPr wrap="square" lIns="0" tIns="0" rIns="0" bIns="0" rtlCol="0" anchor="ctr"/>
          <a:lstStyle/>
          <a:p>
            <a:pPr indent="0" marL="0">
              <a:buNone/>
            </a:pPr>
            <a:r>
              <a:rPr lang="en-US" sz="1250" dirty="0">
                <a:solidFill>
                  <a:srgbClr val="5F7580"/>
                </a:solidFill>
                <a:latin typeface="Calibri" pitchFamily="34" charset="0"/>
                <a:ea typeface="Calibri" pitchFamily="34" charset="-122"/>
                <a:cs typeface="Calibri" pitchFamily="34" charset="-120"/>
              </a:rPr>
              <a:t>The turkey cohort already had candidate taxa, but from a different protocol than the duck cohort — so the two were never comparable.</a:t>
            </a:r>
            <a:endParaRPr lang="en-US" sz="125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914400"/>
                <a:gridCol w="5120640"/>
                <a:gridCol w="5029200"/>
              </a:tblGrid>
              <a:tr h="457200">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Duck cohort (README §6.2)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Turkey (as run in §2.1–2.4)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①</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Differential abundance: CLR + Welch t + BH-FDR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Differential abundance: CLR + Welch t + BH-FDR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②</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SVM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SVM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③</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L1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Cage screen (unique to this cohort)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9 biomarkers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 candidates (§2.3)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4114800"/>
            <a:ext cx="11064240" cy="8686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114800"/>
            <a:ext cx="68580" cy="868680"/>
          </a:xfrm>
          <a:prstGeom prst="rect">
            <a:avLst/>
          </a:prstGeom>
          <a:solidFill>
            <a:srgbClr val="D2603A"/>
          </a:solidFill>
          <a:ln/>
        </p:spPr>
      </p:sp>
      <p:sp>
        <p:nvSpPr>
          <p:cNvPr id="10" name="Text 7"/>
          <p:cNvSpPr/>
          <p:nvPr/>
        </p:nvSpPr>
        <p:spPr>
          <a:xfrm>
            <a:off x="804672" y="426110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missing piece is ③: L1 stability selection</a:t>
            </a:r>
            <a:endParaRPr lang="en-US" sz="1400" dirty="0"/>
          </a:p>
        </p:txBody>
      </p:sp>
      <p:sp>
        <p:nvSpPr>
          <p:cNvPr id="11" name="Text 8"/>
          <p:cNvSpPr/>
          <p:nvPr/>
        </p:nvSpPr>
        <p:spPr>
          <a:xfrm>
            <a:off x="804672" y="4645152"/>
            <a:ext cx="10607040" cy="210312"/>
          </a:xfrm>
          <a:prstGeom prst="rect">
            <a:avLst/>
          </a:prstGeom>
          <a:noFill/>
          <a:ln/>
        </p:spPr>
        <p:txBody>
          <a:bodyPr wrap="square" lIns="0" tIns="0" rIns="0" bIns="0" rtlCol="0" anchor="t"/>
          <a:lstStyle/>
          <a:p>
            <a:pPr indent="0" marL="0">
              <a:lnSpc>
                <a:spcPct val="112000"/>
              </a:lnSpc>
              <a:buNone/>
            </a:pPr>
            <a:r>
              <a:rPr lang="en-US" sz="1150" dirty="0">
                <a:solidFill>
                  <a:srgbClr val="7A2E14"/>
                </a:solidFill>
                <a:latin typeface="Calibri" pitchFamily="34" charset="0"/>
                <a:ea typeface="Calibri" pitchFamily="34" charset="-122"/>
                <a:cs typeface="Calibri" pitchFamily="34" charset="-120"/>
              </a:rPr>
              <a:t>Each cohort lacked the other's third method. Only after adding L1 does a comparison mean anything. The cage screen is kept as a fourth layer on top — it is a test the duck cohort cannot run, and should not be dropped for the sake of alignment.</a:t>
            </a:r>
            <a:endParaRPr lang="en-US" sz="1150" dirty="0"/>
          </a:p>
        </p:txBody>
      </p:sp>
      <p:sp>
        <p:nvSpPr>
          <p:cNvPr id="12" name="Shape 9"/>
          <p:cNvSpPr/>
          <p:nvPr/>
        </p:nvSpPr>
        <p:spPr>
          <a:xfrm>
            <a:off x="548640" y="5120640"/>
            <a:ext cx="11064240" cy="777240"/>
          </a:xfrm>
          <a:prstGeom prst="rect">
            <a:avLst/>
          </a:prstGeom>
          <a:solidFill>
            <a:srgbClr val="FBEDE7"/>
          </a:solidFill>
          <a:ln/>
        </p:spPr>
      </p:sp>
      <p:sp>
        <p:nvSpPr>
          <p:cNvPr id="13" name="Shape 10"/>
          <p:cNvSpPr/>
          <p:nvPr/>
        </p:nvSpPr>
        <p:spPr>
          <a:xfrm>
            <a:off x="548640" y="5120640"/>
            <a:ext cx="68580" cy="777240"/>
          </a:xfrm>
          <a:prstGeom prst="rect">
            <a:avLst/>
          </a:prstGeom>
          <a:solidFill>
            <a:srgbClr val="D2603A"/>
          </a:solidFill>
          <a:ln/>
        </p:spPr>
      </p:sp>
      <p:sp>
        <p:nvSpPr>
          <p:cNvPr id="14" name="Text 11"/>
          <p:cNvSpPr/>
          <p:nvPr/>
        </p:nvSpPr>
        <p:spPr>
          <a:xfrm>
            <a:off x="804672" y="5212080"/>
            <a:ext cx="10607040" cy="594360"/>
          </a:xfrm>
          <a:prstGeom prst="rect">
            <a:avLst/>
          </a:prstGeom>
          <a:noFill/>
          <a:ln/>
        </p:spPr>
        <p:txBody>
          <a:bodyPr wrap="square" lIns="0" tIns="0" rIns="0" bIns="0" rtlCol="0" anchor="t"/>
          <a:lstStyle/>
          <a:p>
            <a:pPr indent="0" marL="0">
              <a:lnSpc>
                <a:spcPct val="110000"/>
              </a:lnSpc>
              <a:buNone/>
            </a:pPr>
            <a:r>
              <a:rPr lang="en-US" sz="1150" dirty="0">
                <a:solidFill>
                  <a:srgbClr val="7A2E14"/>
                </a:solidFill>
                <a:latin typeface="Calibri" pitchFamily="34" charset="0"/>
                <a:ea typeface="Calibri" pitchFamily="34" charset="-122"/>
                <a:cs typeface="Calibri" pitchFamily="34" charset="-120"/>
              </a:rPr>
              <a:t>This mismatch had never been recorded. The two figures in the documents — 9 and 7 — read as comparable while being products of different pipelines. That is what this rework corrects.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METHOD · THE KEY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6252C"/>
                </a:solidFill>
                <a:latin typeface="Georgia" pitchFamily="34" charset="0"/>
                <a:ea typeface="Georgia" pitchFamily="34" charset="-122"/>
                <a:cs typeface="Georgia" pitchFamily="34" charset="-120"/>
              </a:rPr>
              <a:t>The L1 penalty cannot simply be carried over</a:t>
            </a:r>
            <a:endParaRPr lang="en-US" sz="28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280160"/>
            <a:ext cx="11064240" cy="320040"/>
          </a:xfrm>
          <a:prstGeom prst="rect">
            <a:avLst/>
          </a:prstGeom>
          <a:noFill/>
          <a:ln/>
        </p:spPr>
        <p:txBody>
          <a:bodyPr wrap="square" lIns="0" tIns="0" rIns="0" bIns="0" rtlCol="0" anchor="ctr"/>
          <a:lstStyle/>
          <a:p>
            <a:pPr indent="0" marL="0">
              <a:buNone/>
            </a:pPr>
            <a:r>
              <a:rPr lang="en-US" sz="1250" dirty="0">
                <a:solidFill>
                  <a:srgbClr val="5F7580"/>
                </a:solidFill>
                <a:latin typeface="Calibri" pitchFamily="34" charset="0"/>
                <a:ea typeface="Calibri" pitchFamily="34" charset="-122"/>
                <a:cs typeface="Calibri" pitchFamily="34" charset="-120"/>
              </a:rPr>
              <a:t>The duck cohort used C=0.1 (18 of 70 features). With n=45 and 62 features in turkey, the two ways of matching it contradict each other.</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1280160"/>
                <a:gridCol w="1645920"/>
                <a:gridCol w="2011680"/>
                <a:gridCol w="1463040"/>
                <a:gridCol w="466344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Non-zero</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of 62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CV-AUC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Reading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0.500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penalty too strong — everything zeroed</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matches the duck rule: ~0.03 AUC given 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midpoint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matches the duck sparsity fraction (≈1/4)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50.00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penalty barely active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4434840"/>
            <a:ext cx="53949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434840"/>
            <a:ext cx="68580" cy="1371600"/>
          </a:xfrm>
          <a:prstGeom prst="rect">
            <a:avLst/>
          </a:prstGeom>
          <a:solidFill>
            <a:srgbClr val="D2603A"/>
          </a:solidFill>
          <a:ln/>
        </p:spPr>
      </p:sp>
      <p:sp>
        <p:nvSpPr>
          <p:cNvPr id="10" name="Text 7"/>
          <p:cNvSpPr/>
          <p:nvPr/>
        </p:nvSpPr>
        <p:spPr>
          <a:xfrm>
            <a:off x="80467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two ways of matching disagree</a:t>
            </a:r>
            <a:endParaRPr lang="en-US" sz="1400" dirty="0"/>
          </a:p>
        </p:txBody>
      </p:sp>
      <p:sp>
        <p:nvSpPr>
          <p:cNvPr id="11" name="Text 8"/>
          <p:cNvSpPr/>
          <p:nvPr/>
        </p:nvSpPr>
        <p:spPr>
          <a:xfrm>
            <a:off x="804672" y="4965192"/>
            <a:ext cx="49377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Matching the sparsity fraction needs C≈10, where the penalty barely does anything. Matching the rule the duck cohort actually applied gives C≈0.2 and only 7 non-zero coefficients. There is no correct answer.</a:t>
            </a:r>
            <a:endParaRPr lang="en-US" sz="1100" dirty="0"/>
          </a:p>
        </p:txBody>
      </p:sp>
      <p:sp>
        <p:nvSpPr>
          <p:cNvPr id="12" name="Shape 9"/>
          <p:cNvSpPr/>
          <p:nvPr/>
        </p:nvSpPr>
        <p:spPr>
          <a:xfrm>
            <a:off x="6217920" y="44348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434840"/>
            <a:ext cx="68580" cy="1371600"/>
          </a:xfrm>
          <a:prstGeom prst="rect">
            <a:avLst/>
          </a:prstGeom>
          <a:solidFill>
            <a:srgbClr val="8FB996"/>
          </a:solidFill>
          <a:ln/>
        </p:spPr>
      </p:sp>
      <p:sp>
        <p:nvSpPr>
          <p:cNvPr id="14" name="Text 11"/>
          <p:cNvSpPr/>
          <p:nvPr/>
        </p:nvSpPr>
        <p:spPr>
          <a:xfrm>
            <a:off x="647395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fix: treat C as a sensitivity axis</a:t>
            </a:r>
            <a:endParaRPr lang="en-US" sz="1400" dirty="0"/>
          </a:p>
        </p:txBody>
      </p:sp>
      <p:sp>
        <p:nvSpPr>
          <p:cNvPr id="15" name="Text 12"/>
          <p:cNvSpPr/>
          <p:nvPr/>
        </p:nvSpPr>
        <p:spPr>
          <a:xfrm>
            <a:off x="6473952" y="4965192"/>
            <a:ext cx="49377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200 bootstraps at each of 0.2 / 1.0 / 10.0, and a feature counts as an L1 hit only if it clears 70% selection frequency at all three (4 / 8 / 9 hits; the intersection is taken). The conclusion then rests on no arbitrary choice.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RESULTS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6252C"/>
                </a:solidFill>
                <a:latin typeface="Georgia" pitchFamily="34" charset="0"/>
                <a:ea typeface="Georgia" pitchFamily="34" charset="-122"/>
                <a:cs typeface="Georgia" pitchFamily="34" charset="-120"/>
              </a:rPr>
              <a:t>Four features clear all three methods</a:t>
            </a:r>
            <a:endParaRPr lang="en-US" sz="28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Text 4"/>
          <p:cNvSpPr/>
          <p:nvPr/>
        </p:nvSpPr>
        <p:spPr>
          <a:xfrm>
            <a:off x="548640" y="1280160"/>
            <a:ext cx="11064240" cy="320040"/>
          </a:xfrm>
          <a:prstGeom prst="rect">
            <a:avLst/>
          </a:prstGeom>
          <a:noFill/>
          <a:ln/>
        </p:spPr>
        <p:txBody>
          <a:bodyPr wrap="square" lIns="0" tIns="0" rIns="0" bIns="0" rtlCol="0" anchor="ctr"/>
          <a:lstStyle/>
          <a:p>
            <a:pPr indent="0" marL="0">
              <a:buNone/>
            </a:pPr>
            <a:r>
              <a:rPr lang="en-US" sz="1250" dirty="0">
                <a:solidFill>
                  <a:srgbClr val="5F7580"/>
                </a:solidFill>
                <a:latin typeface="Calibri" pitchFamily="34" charset="0"/>
                <a:ea typeface="Calibri" pitchFamily="34" charset="-122"/>
                <a:cs typeface="Calibri" pitchFamily="34" charset="-120"/>
              </a:rPr>
              <a:t>Hits per method: differential abundance 19, permutation importance 24, L1 (all three C values) 4.</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560320"/>
                <a:gridCol w="2194560"/>
                <a:gridCol w="1280160"/>
                <a:gridCol w="1737360"/>
                <a:gridCol w="1097280"/>
                <a:gridCol w="1097280"/>
                <a:gridCol w="109728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Importance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 (lowest)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Cage screen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i="1" dirty="0">
                          <a:solidFill>
                            <a:srgbClr val="16252C"/>
                          </a:solidFill>
                          <a:latin typeface="Calibri" pitchFamily="34" charset="0"/>
                          <a:ea typeface="Calibri" pitchFamily="34" charset="-122"/>
                          <a:cs typeface="Calibri" pitchFamily="34" charset="-120"/>
                        </a:rPr>
                        <a:t>Negativibacillus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Ruminococcaceae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0.0133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3.8e-05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confounded</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b="1" i="1" dirty="0">
                          <a:solidFill>
                            <a:srgbClr val="16252C"/>
                          </a:solidFill>
                          <a:latin typeface="Calibri" pitchFamily="34" charset="0"/>
                          <a:ea typeface="Calibri" pitchFamily="34" charset="-122"/>
                          <a:cs typeface="Calibri" pitchFamily="34" charset="-120"/>
                        </a:rPr>
                        <a:t>HT002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Lactobacillaceae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0.0130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0.935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5.7e-03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passes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i="1" dirty="0">
                          <a:solidFill>
                            <a:srgbClr val="16252C"/>
                          </a:solidFill>
                          <a:latin typeface="Calibri" pitchFamily="34" charset="0"/>
                          <a:ea typeface="Calibri" pitchFamily="34" charset="-122"/>
                          <a:cs typeface="Calibri" pitchFamily="34" charset="-120"/>
                        </a:rPr>
                        <a:t>Tissierella</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Family_XI</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0.0079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0.885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3.8e-04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confounded</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b="1" i="1" dirty="0">
                          <a:solidFill>
                            <a:srgbClr val="16252C"/>
                          </a:solidFill>
                          <a:latin typeface="Calibri" pitchFamily="34" charset="0"/>
                          <a:ea typeface="Calibri" pitchFamily="34" charset="-122"/>
                          <a:cs typeface="Calibri" pitchFamily="34" charset="-120"/>
                        </a:rPr>
                        <a:t>Escherichia-Shigella</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Enterobacteriaceae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0.0015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3.8e-04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passes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548640" y="4023360"/>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325880"/>
          </a:xfrm>
          <a:prstGeom prst="rect">
            <a:avLst/>
          </a:prstGeom>
          <a:solidFill>
            <a:srgbClr val="18707F"/>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L1 is by far the strictest gate</a:t>
            </a:r>
            <a:endParaRPr lang="en-US" sz="1400" dirty="0"/>
          </a:p>
        </p:txBody>
      </p:sp>
      <p:sp>
        <p:nvSpPr>
          <p:cNvPr id="11" name="Text 8"/>
          <p:cNvSpPr/>
          <p:nvPr/>
        </p:nvSpPr>
        <p:spPr>
          <a:xfrm>
            <a:off x="804672" y="4553712"/>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Nineteen genera reach FDR&lt;0.05; four survive L1. The duck cohort behaves the same way — L1 is the step that narrowed 19 to 9 there.</a:t>
            </a:r>
            <a:endParaRPr lang="en-US" sz="1100" dirty="0"/>
          </a:p>
        </p:txBody>
      </p:sp>
      <p:sp>
        <p:nvSpPr>
          <p:cNvPr id="12" name="Shape 9"/>
          <p:cNvSpPr/>
          <p:nvPr/>
        </p:nvSpPr>
        <p:spPr>
          <a:xfrm>
            <a:off x="6217920" y="4023360"/>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32588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How these relate to the seven in §2.3</a:t>
            </a:r>
            <a:endParaRPr lang="en-US" sz="1400" dirty="0"/>
          </a:p>
        </p:txBody>
      </p:sp>
      <p:sp>
        <p:nvSpPr>
          <p:cNvPr id="15" name="Text 12"/>
          <p:cNvSpPr/>
          <p:nvPr/>
        </p:nvSpPr>
        <p:spPr>
          <a:xfrm>
            <a:off x="6473952" y="4553712"/>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These four are the stricter subset. Once L1 is added, Pediococcus, the unnamed Lactobacillaceae genus, Incertae_Sedis and Weissella fail to be selected consistently across all three C values.</a:t>
            </a:r>
            <a:endParaRPr lang="en-US" sz="1100" dirty="0"/>
          </a:p>
        </p:txBody>
      </p:sp>
      <p:sp>
        <p:nvSpPr>
          <p:cNvPr id="16" name="Text 13"/>
          <p:cNvSpPr/>
          <p:nvPr/>
        </p:nvSpPr>
        <p:spPr>
          <a:xfrm>
            <a:off x="548640" y="5486400"/>
            <a:ext cx="11064240" cy="365760"/>
          </a:xfrm>
          <a:prstGeom prst="rect">
            <a:avLst/>
          </a:prstGeom>
          <a:noFill/>
          <a:ln/>
        </p:spPr>
        <p:txBody>
          <a:bodyPr wrap="square" lIns="0" tIns="0" rIns="0" bIns="0" rtlCol="0" anchor="ctr"/>
          <a:lstStyle/>
          <a:p>
            <a:pPr indent="0" marL="0">
              <a:buNone/>
            </a:pPr>
            <a:r>
              <a:rPr lang="en-US" sz="1250" b="1" dirty="0">
                <a:solidFill>
                  <a:srgbClr val="16252C"/>
                </a:solidFill>
                <a:latin typeface="Georgia" pitchFamily="34" charset="0"/>
                <a:ea typeface="Georgia" pitchFamily="34" charset="-122"/>
                <a:cs typeface="Georgia" pitchFamily="34" charset="-120"/>
              </a:rPr>
              <a:t>Use these four when comparing against the duck cohort; use the seven in §2.3 when listing every candidate this cohort offers — both are correct at their own strictness.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CONCLUSIONS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2800" b="1" dirty="0">
                <a:solidFill>
                  <a:srgbClr val="16252C"/>
                </a:solidFill>
                <a:latin typeface="Georgia" pitchFamily="34" charset="0"/>
                <a:ea typeface="Georgia" pitchFamily="34" charset="-122"/>
                <a:cs typeface="Georgia" pitchFamily="34" charset="-120"/>
              </a:rPr>
              <a:t>Cross-host comparison, and what it does not license</a:t>
            </a:r>
            <a:endParaRPr lang="en-US" sz="28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4</a:t>
            </a:r>
            <a:endParaRPr lang="en-US" sz="1000" dirty="0"/>
          </a:p>
        </p:txBody>
      </p:sp>
      <p:sp>
        <p:nvSpPr>
          <p:cNvPr id="6" name="Text 4"/>
          <p:cNvSpPr/>
          <p:nvPr/>
        </p:nvSpPr>
        <p:spPr>
          <a:xfrm>
            <a:off x="548640" y="1280160"/>
            <a:ext cx="11064240" cy="320040"/>
          </a:xfrm>
          <a:prstGeom prst="rect">
            <a:avLst/>
          </a:prstGeom>
          <a:noFill/>
          <a:ln/>
        </p:spPr>
        <p:txBody>
          <a:bodyPr wrap="square" lIns="0" tIns="0" rIns="0" bIns="0" rtlCol="0" anchor="ctr"/>
          <a:lstStyle/>
          <a:p>
            <a:pPr indent="0" marL="0">
              <a:buNone/>
            </a:pPr>
            <a:r>
              <a:rPr lang="en-US" sz="1250" dirty="0">
                <a:solidFill>
                  <a:srgbClr val="5F7580"/>
                </a:solidFill>
                <a:latin typeface="Calibri" pitchFamily="34" charset="0"/>
                <a:ea typeface="Calibri" pitchFamily="34" charset="-122"/>
                <a:cs typeface="Calibri" pitchFamily="34" charset="-120"/>
              </a:rPr>
              <a:t>The duck three-method intersection was rebuilt first and returns exactly 9, matching README §6.2 — the reconstruction is verified before any comparison is drawn.</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1463040"/>
                <a:gridCol w="2926080"/>
                <a:gridCol w="6675120"/>
              </a:tblGrid>
              <a:tr h="5303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Rank</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Overlap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Detail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53035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the duck 9 and the turkey 4 share no genus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5303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Family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Ruminococcaceae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Duck (unnamed genus) Pos↑　|　Turkey Negativibacillus Pos↑　— same direction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548640" y="320040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3200400"/>
            <a:ext cx="68580" cy="914400"/>
          </a:xfrm>
          <a:prstGeom prst="rect">
            <a:avLst/>
          </a:prstGeom>
          <a:solidFill>
            <a:srgbClr val="8FB996"/>
          </a:solidFill>
          <a:ln/>
        </p:spPr>
      </p:sp>
      <p:sp>
        <p:nvSpPr>
          <p:cNvPr id="10" name="Text 7"/>
          <p:cNvSpPr/>
          <p:nvPr/>
        </p:nvSpPr>
        <p:spPr>
          <a:xfrm>
            <a:off x="804672" y="334670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first taxonomic cross-host consistency anywhere in this project</a:t>
            </a:r>
            <a:endParaRPr lang="en-US" sz="1400" dirty="0"/>
          </a:p>
        </p:txBody>
      </p:sp>
      <p:sp>
        <p:nvSpPr>
          <p:cNvPr id="11" name="Text 8"/>
          <p:cNvSpPr/>
          <p:nvPr/>
        </p:nvSpPr>
        <p:spPr>
          <a:xfrm>
            <a:off x="804672" y="3730752"/>
            <a:ext cx="10607040" cy="2560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§3 had concluded that of the duck cohort's nine genera only Staphylococcus entered the turkey candidate pool, pointing the opposite way and not significant. Relaxed to family rank, Ruminococcaceae rises in infected birds of both hosts.</a:t>
            </a:r>
            <a:endParaRPr lang="en-US" sz="1150" dirty="0"/>
          </a:p>
        </p:txBody>
      </p:sp>
      <p:sp>
        <p:nvSpPr>
          <p:cNvPr id="12" name="Shape 9"/>
          <p:cNvSpPr/>
          <p:nvPr/>
        </p:nvSpPr>
        <p:spPr>
          <a:xfrm>
            <a:off x="548640" y="4297680"/>
            <a:ext cx="11064240" cy="960120"/>
          </a:xfrm>
          <a:prstGeom prst="rect">
            <a:avLst/>
          </a:prstGeom>
          <a:solidFill>
            <a:srgbClr val="FBEDE7"/>
          </a:solidFill>
          <a:ln/>
        </p:spPr>
      </p:sp>
      <p:sp>
        <p:nvSpPr>
          <p:cNvPr id="13" name="Shape 10"/>
          <p:cNvSpPr/>
          <p:nvPr/>
        </p:nvSpPr>
        <p:spPr>
          <a:xfrm>
            <a:off x="548640" y="4297680"/>
            <a:ext cx="68580" cy="960120"/>
          </a:xfrm>
          <a:prstGeom prst="rect">
            <a:avLst/>
          </a:prstGeom>
          <a:solidFill>
            <a:srgbClr val="D2603A"/>
          </a:solidFill>
          <a:ln/>
        </p:spPr>
      </p:sp>
      <p:sp>
        <p:nvSpPr>
          <p:cNvPr id="14" name="Text 11"/>
          <p:cNvSpPr/>
          <p:nvPr/>
        </p:nvSpPr>
        <p:spPr>
          <a:xfrm>
            <a:off x="804672" y="4389120"/>
            <a:ext cx="10607040" cy="777240"/>
          </a:xfrm>
          <a:prstGeom prst="rect">
            <a:avLst/>
          </a:prstGeom>
          <a:noFill/>
          <a:ln/>
        </p:spPr>
        <p:txBody>
          <a:bodyPr wrap="square" lIns="0" tIns="0" rIns="0" bIns="0" rtlCol="0" anchor="t"/>
          <a:lstStyle/>
          <a:p>
            <a:pPr indent="0" marL="0">
              <a:lnSpc>
                <a:spcPct val="110000"/>
              </a:lnSpc>
              <a:buNone/>
            </a:pPr>
            <a:r>
              <a:rPr lang="en-US" sz="1150" dirty="0">
                <a:solidFill>
                  <a:srgbClr val="7A2E14"/>
                </a:solidFill>
                <a:latin typeface="Calibri" pitchFamily="34" charset="0"/>
                <a:ea typeface="Calibri" pitchFamily="34" charset="-122"/>
                <a:cs typeface="Calibri" pitchFamily="34" charset="-120"/>
              </a:rPr>
              <a:t>But the turkey member, Negativibacillus, is precisely the cautionary case from §2.4 — it differs significantly across four isolators that are all positive, and §4.5 traces the contamination to strain or batch. This family-level agreement therefore cannot be attributed to infection; it is a lead, not a finding.</a:t>
            </a:r>
            <a:endParaRPr lang="en-US" sz="1150" dirty="0"/>
          </a:p>
        </p:txBody>
      </p:sp>
      <p:sp>
        <p:nvSpPr>
          <p:cNvPr id="15" name="Text 12"/>
          <p:cNvSpPr/>
          <p:nvPr/>
        </p:nvSpPr>
        <p:spPr>
          <a:xfrm>
            <a:off x="548640" y="5440680"/>
            <a:ext cx="11064240" cy="457200"/>
          </a:xfrm>
          <a:prstGeom prst="rect">
            <a:avLst/>
          </a:prstGeom>
          <a:noFill/>
          <a:ln/>
        </p:spPr>
        <p:txBody>
          <a:bodyPr wrap="square" lIns="0" tIns="0" rIns="0" bIns="0" rtlCol="0" anchor="ctr"/>
          <a:lstStyle/>
          <a:p>
            <a:pPr indent="0" marL="0">
              <a:buNone/>
            </a:pPr>
            <a:r>
              <a:rPr lang="en-US" sz="1250" b="1" dirty="0">
                <a:solidFill>
                  <a:srgbClr val="16252C"/>
                </a:solidFill>
                <a:latin typeface="Georgia" pitchFamily="34" charset="0"/>
                <a:ea typeface="Georgia" pitchFamily="34" charset="-122"/>
                <a:cs typeface="Georgia" pitchFamily="34" charset="-120"/>
              </a:rPr>
              <a:t>Bottom line: turkey does have biomarkers, but only two clear both the three methods and the cage screen. Cross-host consistency exists only at family rank and carries confounding. The next step is to test Ruminococcaceae and Escherichia-Shigella in a third cohort.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Turkey Cohort Biomarkers: the Three-Method Intersection</dc:title>
  <dc:subject>PptxGenJS Presentation</dc:subject>
  <dc:creator>Sihua Peng</dc:creator>
  <cp:lastModifiedBy>Sihua Peng</cp:lastModifiedBy>
  <cp:revision>1</cp:revision>
  <dcterms:created xsi:type="dcterms:W3CDTF">2026-08-31T20:37:28Z</dcterms:created>
  <dcterms:modified xsi:type="dcterms:W3CDTF">2026-08-31T20:37:28Z</dcterms:modified>
</cp:coreProperties>
</file>