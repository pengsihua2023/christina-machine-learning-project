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METHOD · MATCHING PROTOCOLS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Why the turkey biomarkers had to be redone</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548640" y="1280160"/>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The turkey cohort already had candidate taxa, but from a different protocol than the duck cohort — so the two were never comparable.</a:t>
            </a:r>
            <a:endParaRPr lang="en-US" sz="12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914400"/>
                <a:gridCol w="5120640"/>
                <a:gridCol w="5029200"/>
              </a:tblGrid>
              <a:tr h="457200">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Duck cohort (README §6.2)</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Turkey (as run in §2.1–2.4)</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①</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Differential abundance: CLR + Welch t + BH-FDR</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Differential abundance: CLR + Welch t + BH-FDR</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②</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SVM permutation importance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SVM permutation importance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③</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L1 stability selection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Cage screen (unique to this cohort)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9 biomarkers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7 candidates (incomplete protocol, retired)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4114800"/>
            <a:ext cx="11064240" cy="86868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4114800"/>
            <a:ext cx="68580" cy="868680"/>
          </a:xfrm>
          <a:prstGeom prst="rect">
            <a:avLst/>
          </a:prstGeom>
          <a:solidFill>
            <a:srgbClr val="D2603A"/>
          </a:solidFill>
          <a:ln/>
        </p:spPr>
      </p:sp>
      <p:sp>
        <p:nvSpPr>
          <p:cNvPr id="10" name="Text 7"/>
          <p:cNvSpPr/>
          <p:nvPr/>
        </p:nvSpPr>
        <p:spPr>
          <a:xfrm>
            <a:off x="804672" y="4261104"/>
            <a:ext cx="1060704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The missing piece is ③: L1 stability selection</a:t>
            </a:r>
            <a:endParaRPr lang="en-US" sz="1400" dirty="0"/>
          </a:p>
        </p:txBody>
      </p:sp>
      <p:sp>
        <p:nvSpPr>
          <p:cNvPr id="11" name="Text 8"/>
          <p:cNvSpPr/>
          <p:nvPr/>
        </p:nvSpPr>
        <p:spPr>
          <a:xfrm>
            <a:off x="804672" y="4645152"/>
            <a:ext cx="10607040" cy="210312"/>
          </a:xfrm>
          <a:prstGeom prst="rect">
            <a:avLst/>
          </a:prstGeom>
          <a:noFill/>
          <a:ln/>
        </p:spPr>
        <p:txBody>
          <a:bodyPr wrap="square" lIns="0" tIns="0" rIns="0" bIns="0" rtlCol="0" anchor="t"/>
          <a:lstStyle/>
          <a:p>
            <a:pPr indent="0" marL="0">
              <a:lnSpc>
                <a:spcPct val="112000"/>
              </a:lnSpc>
              <a:buNone/>
            </a:pPr>
            <a:r>
              <a:rPr lang="en-US" sz="1150" dirty="0">
                <a:solidFill>
                  <a:srgbClr val="7A2E14"/>
                </a:solidFill>
                <a:latin typeface="Calibri" pitchFamily="34" charset="0"/>
                <a:ea typeface="Calibri" pitchFamily="34" charset="-122"/>
                <a:cs typeface="Calibri" pitchFamily="34" charset="-120"/>
              </a:rPr>
              <a:t>Each cohort lacked the other's third method. Only after adding L1 does a comparison mean anything. The cage screen is kept as a fourth layer on top — it is a test the duck cohort cannot run, and should not be dropped for the sake of alignment.</a:t>
            </a:r>
            <a:endParaRPr lang="en-US" sz="1150" dirty="0"/>
          </a:p>
        </p:txBody>
      </p:sp>
      <p:sp>
        <p:nvSpPr>
          <p:cNvPr id="12" name="Shape 9"/>
          <p:cNvSpPr/>
          <p:nvPr/>
        </p:nvSpPr>
        <p:spPr>
          <a:xfrm>
            <a:off x="548640" y="5120640"/>
            <a:ext cx="11064240" cy="777240"/>
          </a:xfrm>
          <a:prstGeom prst="rect">
            <a:avLst/>
          </a:prstGeom>
          <a:solidFill>
            <a:srgbClr val="FBEDE7"/>
          </a:solidFill>
          <a:ln/>
        </p:spPr>
      </p:sp>
      <p:sp>
        <p:nvSpPr>
          <p:cNvPr id="13" name="Shape 10"/>
          <p:cNvSpPr/>
          <p:nvPr/>
        </p:nvSpPr>
        <p:spPr>
          <a:xfrm>
            <a:off x="548640" y="5120640"/>
            <a:ext cx="68580" cy="777240"/>
          </a:xfrm>
          <a:prstGeom prst="rect">
            <a:avLst/>
          </a:prstGeom>
          <a:solidFill>
            <a:srgbClr val="D2603A"/>
          </a:solidFill>
          <a:ln/>
        </p:spPr>
      </p:sp>
      <p:sp>
        <p:nvSpPr>
          <p:cNvPr id="14" name="Text 11"/>
          <p:cNvSpPr/>
          <p:nvPr/>
        </p:nvSpPr>
        <p:spPr>
          <a:xfrm>
            <a:off x="804672" y="5212080"/>
            <a:ext cx="10607040" cy="59436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This mismatch had never been recorded. The two figures in the documents — 9 and 7 — read as comparable while being products of different pipelines. That is what this rework corrects.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METHOD · THE KEY CHOICE</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The L1 penalty cannot simply be carried over</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48640" y="1280160"/>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The duck cohort used C=0.1 (18 of 70 features). With n=45 and 62 features in turkey, the two ways of matching it contradict each other.</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1280160"/>
                <a:gridCol w="1645920"/>
                <a:gridCol w="2011680"/>
                <a:gridCol w="1463040"/>
                <a:gridCol w="4663440"/>
              </a:tblGrid>
              <a:tr h="42062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Non-zero</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of 62 features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CV-AUC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Reading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0.500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penalty too strong — everything zeroed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0.20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0.934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matches the duck rule: ~0.03 AUC given up</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0.971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midpoint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0.971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matches the duck sparsity fraction (≈1/4)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0.977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penalty barely active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4434840"/>
            <a:ext cx="5394960" cy="13716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4434840"/>
            <a:ext cx="68580" cy="1371600"/>
          </a:xfrm>
          <a:prstGeom prst="rect">
            <a:avLst/>
          </a:prstGeom>
          <a:solidFill>
            <a:srgbClr val="D2603A"/>
          </a:solidFill>
          <a:ln/>
        </p:spPr>
      </p:sp>
      <p:sp>
        <p:nvSpPr>
          <p:cNvPr id="10" name="Text 7"/>
          <p:cNvSpPr/>
          <p:nvPr/>
        </p:nvSpPr>
        <p:spPr>
          <a:xfrm>
            <a:off x="804672" y="45811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The two ways of matching disagree</a:t>
            </a:r>
            <a:endParaRPr lang="en-US" sz="1400" dirty="0"/>
          </a:p>
        </p:txBody>
      </p:sp>
      <p:sp>
        <p:nvSpPr>
          <p:cNvPr id="11" name="Text 8"/>
          <p:cNvSpPr/>
          <p:nvPr/>
        </p:nvSpPr>
        <p:spPr>
          <a:xfrm>
            <a:off x="804672" y="4965192"/>
            <a:ext cx="4937760" cy="713232"/>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Matching the sparsity fraction needs C≈10, where the penalty barely does anything. Matching the rule the duck cohort actually applied gives C≈0.2 and only 7 non-zero coefficients. There is no correct answer.</a:t>
            </a:r>
            <a:endParaRPr lang="en-US" sz="1100" dirty="0"/>
          </a:p>
        </p:txBody>
      </p:sp>
      <p:sp>
        <p:nvSpPr>
          <p:cNvPr id="12" name="Shape 9"/>
          <p:cNvSpPr/>
          <p:nvPr/>
        </p:nvSpPr>
        <p:spPr>
          <a:xfrm>
            <a:off x="6217920" y="4434840"/>
            <a:ext cx="539496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0"/>
          <p:cNvSpPr/>
          <p:nvPr/>
        </p:nvSpPr>
        <p:spPr>
          <a:xfrm>
            <a:off x="6217920" y="4434840"/>
            <a:ext cx="68580" cy="1371600"/>
          </a:xfrm>
          <a:prstGeom prst="rect">
            <a:avLst/>
          </a:prstGeom>
          <a:solidFill>
            <a:srgbClr val="8FB996"/>
          </a:solidFill>
          <a:ln/>
        </p:spPr>
      </p:sp>
      <p:sp>
        <p:nvSpPr>
          <p:cNvPr id="14" name="Text 11"/>
          <p:cNvSpPr/>
          <p:nvPr/>
        </p:nvSpPr>
        <p:spPr>
          <a:xfrm>
            <a:off x="6473952" y="45811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The fix: treat C as a sensitivity axis</a:t>
            </a:r>
            <a:endParaRPr lang="en-US" sz="1400" dirty="0"/>
          </a:p>
        </p:txBody>
      </p:sp>
      <p:sp>
        <p:nvSpPr>
          <p:cNvPr id="15" name="Text 12"/>
          <p:cNvSpPr/>
          <p:nvPr/>
        </p:nvSpPr>
        <p:spPr>
          <a:xfrm>
            <a:off x="6473952" y="4965192"/>
            <a:ext cx="4937760" cy="71323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200 bootstraps at each of 0.2 / 1.0 / 10.0, and a feature counts as an L1 hit only if it clears 70% selection frequency at all three (4 / 8 / 9 hits; the intersection is taken). The conclusion then rests on no arbitrary choice.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RESULTS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Four features clear all three methods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3</a:t>
            </a:r>
            <a:endParaRPr lang="en-US" sz="1000" dirty="0"/>
          </a:p>
        </p:txBody>
      </p:sp>
      <p:sp>
        <p:nvSpPr>
          <p:cNvPr id="6" name="Text 4"/>
          <p:cNvSpPr/>
          <p:nvPr/>
        </p:nvSpPr>
        <p:spPr>
          <a:xfrm>
            <a:off x="548640" y="1280160"/>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Hits per method: differential abundance 19, permutation importance 24, L1 (all three C values) 4.</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560320"/>
                <a:gridCol w="2194560"/>
                <a:gridCol w="1280160"/>
                <a:gridCol w="1737360"/>
                <a:gridCol w="1097280"/>
                <a:gridCol w="1097280"/>
                <a:gridCol w="109728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Genus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Importance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L1 freq (lowest)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Direction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FDR</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Cage screen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Negativibacillus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Ruminococcaceae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0.0133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0.865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3.8e-05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confounded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57200">
                <a:tc>
                  <a:txBody>
                    <a:bodyPr/>
                    <a:lstStyle/>
                    <a:p>
                      <a:pPr algn="ctr" indent="0" marL="0">
                        <a:buNone/>
                      </a:pPr>
                      <a:r>
                        <a:rPr lang="en-US" sz="1150" b="1" i="1" dirty="0">
                          <a:solidFill>
                            <a:srgbClr val="16252C"/>
                          </a:solidFill>
                          <a:latin typeface="Calibri" pitchFamily="34" charset="0"/>
                          <a:ea typeface="Calibri" pitchFamily="34" charset="-122"/>
                          <a:cs typeface="Calibri" pitchFamily="34" charset="-120"/>
                        </a:rPr>
                        <a:t>HT002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Lactobacillaceae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0.0130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0.935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5.7e-03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passes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57200">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Tissierella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Family_XI</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0.0079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0.885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3.8e-04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confounded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57200">
                <a:tc>
                  <a:txBody>
                    <a:bodyPr/>
                    <a:lstStyle/>
                    <a:p>
                      <a:pPr algn="ctr" indent="0" marL="0">
                        <a:buNone/>
                      </a:pPr>
                      <a:r>
                        <a:rPr lang="en-US" sz="1150" b="1" i="1" dirty="0">
                          <a:solidFill>
                            <a:srgbClr val="16252C"/>
                          </a:solidFill>
                          <a:latin typeface="Calibri" pitchFamily="34" charset="0"/>
                          <a:ea typeface="Calibri" pitchFamily="34" charset="-122"/>
                          <a:cs typeface="Calibri" pitchFamily="34" charset="-120"/>
                        </a:rPr>
                        <a:t>Escherichia-Shigella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Enterobacteriaceae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0.0015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3.8e-04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passes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bl>
          </a:graphicData>
        </a:graphic>
      </p:graphicFrame>
      <p:sp>
        <p:nvSpPr>
          <p:cNvPr id="8" name="Shape 5"/>
          <p:cNvSpPr/>
          <p:nvPr/>
        </p:nvSpPr>
        <p:spPr>
          <a:xfrm>
            <a:off x="548640" y="4023360"/>
            <a:ext cx="5394960" cy="13258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4023360"/>
            <a:ext cx="68580" cy="1325880"/>
          </a:xfrm>
          <a:prstGeom prst="rect">
            <a:avLst/>
          </a:prstGeom>
          <a:solidFill>
            <a:srgbClr val="18707F"/>
          </a:solidFill>
          <a:ln/>
        </p:spPr>
      </p:sp>
      <p:sp>
        <p:nvSpPr>
          <p:cNvPr id="10" name="Text 7"/>
          <p:cNvSpPr/>
          <p:nvPr/>
        </p:nvSpPr>
        <p:spPr>
          <a:xfrm>
            <a:off x="804672" y="416966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L1 is by far the strictest gate</a:t>
            </a:r>
            <a:endParaRPr lang="en-US" sz="1400" dirty="0"/>
          </a:p>
        </p:txBody>
      </p:sp>
      <p:sp>
        <p:nvSpPr>
          <p:cNvPr id="11" name="Text 8"/>
          <p:cNvSpPr/>
          <p:nvPr/>
        </p:nvSpPr>
        <p:spPr>
          <a:xfrm>
            <a:off x="804672" y="4553712"/>
            <a:ext cx="4937760" cy="66751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Nineteen genera reach FDR&lt;0.05; four survive L1. The duck cohort behaves the same way — L1 is the step that narrowed 19 to 9 there.</a:t>
            </a:r>
            <a:endParaRPr lang="en-US" sz="1100" dirty="0"/>
          </a:p>
        </p:txBody>
      </p:sp>
      <p:sp>
        <p:nvSpPr>
          <p:cNvPr id="12" name="Shape 9"/>
          <p:cNvSpPr/>
          <p:nvPr/>
        </p:nvSpPr>
        <p:spPr>
          <a:xfrm>
            <a:off x="6217920" y="4023360"/>
            <a:ext cx="5394960" cy="13258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0"/>
          <p:cNvSpPr/>
          <p:nvPr/>
        </p:nvSpPr>
        <p:spPr>
          <a:xfrm>
            <a:off x="6217920" y="4023360"/>
            <a:ext cx="68580" cy="1325880"/>
          </a:xfrm>
          <a:prstGeom prst="rect">
            <a:avLst/>
          </a:prstGeom>
          <a:solidFill>
            <a:srgbClr val="8FB996"/>
          </a:solidFill>
          <a:ln/>
        </p:spPr>
      </p:sp>
      <p:sp>
        <p:nvSpPr>
          <p:cNvPr id="14" name="Text 11"/>
          <p:cNvSpPr/>
          <p:nvPr/>
        </p:nvSpPr>
        <p:spPr>
          <a:xfrm>
            <a:off x="6473952" y="416966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Why layer ④ cannot be dropped</a:t>
            </a:r>
            <a:endParaRPr lang="en-US" sz="1400" dirty="0"/>
          </a:p>
        </p:txBody>
      </p:sp>
      <p:sp>
        <p:nvSpPr>
          <p:cNvPr id="15" name="Text 12"/>
          <p:cNvSpPr/>
          <p:nvPr/>
        </p:nvSpPr>
        <p:spPr>
          <a:xfrm>
            <a:off x="6473952" y="4553712"/>
            <a:ext cx="4937760" cy="66751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Negativibacillus is the strongest feature under all three methods, yet it also differs across four isolators that are all positive. Drop the cage screen and the reported set is these four, half of them unattributable to infection.</a:t>
            </a:r>
            <a:endParaRPr lang="en-US" sz="1100" dirty="0"/>
          </a:p>
        </p:txBody>
      </p:sp>
      <p:sp>
        <p:nvSpPr>
          <p:cNvPr id="16" name="Text 13"/>
          <p:cNvSpPr/>
          <p:nvPr/>
        </p:nvSpPr>
        <p:spPr>
          <a:xfrm>
            <a:off x="548640" y="5486400"/>
            <a:ext cx="11064240" cy="365760"/>
          </a:xfrm>
          <a:prstGeom prst="rect">
            <a:avLst/>
          </a:prstGeom>
          <a:noFill/>
          <a:ln/>
        </p:spPr>
        <p:txBody>
          <a:bodyPr wrap="square" lIns="0" tIns="0" rIns="0" bIns="0" rtlCol="0" anchor="ctr"/>
          <a:lstStyle/>
          <a:p>
            <a:pPr indent="0" marL="0">
              <a:buNone/>
            </a:pPr>
            <a:r>
              <a:rPr lang="en-US" sz="1250" b="1" dirty="0">
                <a:solidFill>
                  <a:srgbClr val="16252C"/>
                </a:solidFill>
                <a:latin typeface="Georgia" pitchFamily="34" charset="0"/>
                <a:ea typeface="Georgia" pitchFamily="34" charset="-122"/>
                <a:cs typeface="Georgia" pitchFamily="34" charset="-120"/>
              </a:rPr>
              <a:t>Only 2 clear all four layers — HT002 (Pos down) and Escherichia-Shigella (Pos up) — and those are what this cohort can report. Layers ①–③ match the duck cohort, which is what makes the two comparable.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CONCLUSIONS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Cross-host comparison, and what it does not license</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4</a:t>
            </a:r>
            <a:endParaRPr lang="en-US" sz="1000" dirty="0"/>
          </a:p>
        </p:txBody>
      </p:sp>
      <p:sp>
        <p:nvSpPr>
          <p:cNvPr id="6" name="Text 4"/>
          <p:cNvSpPr/>
          <p:nvPr/>
        </p:nvSpPr>
        <p:spPr>
          <a:xfrm>
            <a:off x="548640" y="1280160"/>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The duck three-method intersection was rebuilt first and returns exactly 9, matching README §6.2 — the reconstruction is verified before any comparison is drawn.</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1463040"/>
                <a:gridCol w="2926080"/>
                <a:gridCol w="6675120"/>
              </a:tblGrid>
              <a:tr h="53035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Rank</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Overlap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Detail</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530352">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Genus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the duck 9 and the turkey 4 share no genus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530352">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Family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Ruminococcaceae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Duck (unnamed genus) Pos↑　|　Turkey Negativibacillus Pos↑　— same direction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bl>
          </a:graphicData>
        </a:graphic>
      </p:graphicFrame>
      <p:sp>
        <p:nvSpPr>
          <p:cNvPr id="8" name="Shape 5"/>
          <p:cNvSpPr/>
          <p:nvPr/>
        </p:nvSpPr>
        <p:spPr>
          <a:xfrm>
            <a:off x="548640" y="3200400"/>
            <a:ext cx="11064240" cy="9144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3200400"/>
            <a:ext cx="68580" cy="914400"/>
          </a:xfrm>
          <a:prstGeom prst="rect">
            <a:avLst/>
          </a:prstGeom>
          <a:solidFill>
            <a:srgbClr val="8FB996"/>
          </a:solidFill>
          <a:ln/>
        </p:spPr>
      </p:sp>
      <p:sp>
        <p:nvSpPr>
          <p:cNvPr id="10" name="Text 7"/>
          <p:cNvSpPr/>
          <p:nvPr/>
        </p:nvSpPr>
        <p:spPr>
          <a:xfrm>
            <a:off x="804672" y="3346704"/>
            <a:ext cx="1060704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The first taxonomic cross-host consistency anywhere in this project</a:t>
            </a:r>
            <a:endParaRPr lang="en-US" sz="1400" dirty="0"/>
          </a:p>
        </p:txBody>
      </p:sp>
      <p:sp>
        <p:nvSpPr>
          <p:cNvPr id="11" name="Text 8"/>
          <p:cNvSpPr/>
          <p:nvPr/>
        </p:nvSpPr>
        <p:spPr>
          <a:xfrm>
            <a:off x="804672" y="3730752"/>
            <a:ext cx="10607040" cy="256032"/>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§3 had concluded that of the duck cohort's nine genera only Staphylococcus entered the turkey candidate pool, pointing the opposite way and not significant. Relaxed to family rank, Ruminococcaceae rises in infected birds of both hosts.</a:t>
            </a:r>
            <a:endParaRPr lang="en-US" sz="1150" dirty="0"/>
          </a:p>
        </p:txBody>
      </p:sp>
      <p:sp>
        <p:nvSpPr>
          <p:cNvPr id="12" name="Shape 9"/>
          <p:cNvSpPr/>
          <p:nvPr/>
        </p:nvSpPr>
        <p:spPr>
          <a:xfrm>
            <a:off x="548640" y="4297680"/>
            <a:ext cx="11064240" cy="960120"/>
          </a:xfrm>
          <a:prstGeom prst="rect">
            <a:avLst/>
          </a:prstGeom>
          <a:solidFill>
            <a:srgbClr val="FBEDE7"/>
          </a:solidFill>
          <a:ln/>
        </p:spPr>
      </p:sp>
      <p:sp>
        <p:nvSpPr>
          <p:cNvPr id="13" name="Shape 10"/>
          <p:cNvSpPr/>
          <p:nvPr/>
        </p:nvSpPr>
        <p:spPr>
          <a:xfrm>
            <a:off x="548640" y="4297680"/>
            <a:ext cx="68580" cy="960120"/>
          </a:xfrm>
          <a:prstGeom prst="rect">
            <a:avLst/>
          </a:prstGeom>
          <a:solidFill>
            <a:srgbClr val="D2603A"/>
          </a:solidFill>
          <a:ln/>
        </p:spPr>
      </p:sp>
      <p:sp>
        <p:nvSpPr>
          <p:cNvPr id="14" name="Text 11"/>
          <p:cNvSpPr/>
          <p:nvPr/>
        </p:nvSpPr>
        <p:spPr>
          <a:xfrm>
            <a:off x="804672" y="4389120"/>
            <a:ext cx="10607040" cy="77724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But the turkey member, Negativibacillus, is precisely the cautionary case from §2.4 — it differs significantly across four isolators that are all positive, and §4.5 traces the contamination to strain or batch. This family-level agreement therefore cannot be attributed to infection; it is a lead, not a finding.</a:t>
            </a:r>
            <a:endParaRPr lang="en-US" sz="1150" dirty="0"/>
          </a:p>
        </p:txBody>
      </p:sp>
      <p:sp>
        <p:nvSpPr>
          <p:cNvPr id="15" name="Text 12"/>
          <p:cNvSpPr/>
          <p:nvPr/>
        </p:nvSpPr>
        <p:spPr>
          <a:xfrm>
            <a:off x="548640" y="5440680"/>
            <a:ext cx="11064240" cy="457200"/>
          </a:xfrm>
          <a:prstGeom prst="rect">
            <a:avLst/>
          </a:prstGeom>
          <a:noFill/>
          <a:ln/>
        </p:spPr>
        <p:txBody>
          <a:bodyPr wrap="square" lIns="0" tIns="0" rIns="0" bIns="0" rtlCol="0" anchor="ctr"/>
          <a:lstStyle/>
          <a:p>
            <a:pPr indent="0" marL="0">
              <a:buNone/>
            </a:pPr>
            <a:r>
              <a:rPr lang="en-US" sz="1250" b="1" dirty="0">
                <a:solidFill>
                  <a:srgbClr val="16252C"/>
                </a:solidFill>
                <a:latin typeface="Georgia" pitchFamily="34" charset="0"/>
                <a:ea typeface="Georgia" pitchFamily="34" charset="-122"/>
                <a:cs typeface="Georgia" pitchFamily="34" charset="-120"/>
              </a:rPr>
              <a:t>Bottom line: turkey does have biomarkers, but only two clear both the three methods and the cage screen. Cross-host consistency exists only at family rank and carries confounding. The next step is to test Ruminococcaceae and Escherichia-Shigella in a third cohort.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University of Georgia, College of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Turkey Cohort Biomarkers: the Three-Method Intersection</dc:title>
  <dc:subject>PptxGenJS Presentation</dc:subject>
  <dc:creator>Sihua Peng</dc:creator>
  <cp:lastModifiedBy>Sihua Peng</cp:lastModifiedBy>
  <cp:revision>1</cp:revision>
  <dcterms:created xsi:type="dcterms:W3CDTF">2026-08-31T21:00:13Z</dcterms:created>
  <dcterms:modified xsi:type="dcterms:W3CDTF">2026-08-31T21:00:13Z</dcterms:modified>
</cp:coreProperties>
</file>