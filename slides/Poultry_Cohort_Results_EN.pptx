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8FB996"/>
          </a:solidFill>
          <a:ln/>
        </p:spPr>
      </p:sp>
      <p:sp>
        <p:nvSpPr>
          <p:cNvPr id="3" name="Shape 1"/>
          <p:cNvSpPr/>
          <p:nvPr/>
        </p:nvSpPr>
        <p:spPr>
          <a:xfrm>
            <a:off x="0" y="6035040"/>
            <a:ext cx="12191695" cy="822960"/>
          </a:xfrm>
          <a:prstGeom prst="rect">
            <a:avLst/>
          </a:prstGeom>
          <a:solidFill>
            <a:srgbClr val="12505F"/>
          </a:solidFill>
          <a:ln/>
        </p:spPr>
      </p:sp>
      <p:sp>
        <p:nvSpPr>
          <p:cNvPr id="4" name="Text 2"/>
          <p:cNvSpPr/>
          <p:nvPr/>
        </p:nvSpPr>
        <p:spPr>
          <a:xfrm>
            <a:off x="914400" y="1600200"/>
            <a:ext cx="10332720" cy="548640"/>
          </a:xfrm>
          <a:prstGeom prst="rect">
            <a:avLst/>
          </a:prstGeom>
          <a:noFill/>
          <a:ln/>
        </p:spPr>
        <p:txBody>
          <a:bodyPr wrap="square" lIns="0" tIns="0" rIns="0" bIns="0" rtlCol="0" anchor="ctr"/>
          <a:lstStyle/>
          <a:p>
            <a:pPr indent="0" marL="0">
              <a:buNone/>
            </a:pPr>
            <a:r>
              <a:rPr lang="en-US" sz="1500" b="1" spc="300" kern="0" dirty="0">
                <a:solidFill>
                  <a:srgbClr val="8FB996"/>
                </a:solidFill>
                <a:latin typeface="Calibri" pitchFamily="34" charset="0"/>
                <a:ea typeface="Calibri" pitchFamily="34" charset="-122"/>
                <a:cs typeface="Calibri" pitchFamily="34" charset="-120"/>
              </a:rPr>
              <a:t>POULTRY COHORT · SVM-RBF</a:t>
            </a:r>
            <a:endParaRPr lang="en-US" sz="1500" dirty="0"/>
          </a:p>
        </p:txBody>
      </p:sp>
      <p:sp>
        <p:nvSpPr>
          <p:cNvPr id="5" name="Text 3"/>
          <p:cNvSpPr/>
          <p:nvPr/>
        </p:nvSpPr>
        <p:spPr>
          <a:xfrm>
            <a:off x="914400" y="2148840"/>
            <a:ext cx="1033272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Turkey alone, or</a:t>
            </a:r>
            <a:endParaRPr lang="en-US" sz="4200" dirty="0"/>
          </a:p>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turkey plus chicken?</a:t>
            </a:r>
            <a:endParaRPr lang="en-US" sz="4200" dirty="0"/>
          </a:p>
        </p:txBody>
      </p:sp>
      <p:sp>
        <p:nvSpPr>
          <p:cNvPr id="6" name="Text 4"/>
          <p:cNvSpPr/>
          <p:nvPr/>
        </p:nvSpPr>
        <p:spPr>
          <a:xfrm>
            <a:off x="914400" y="3977640"/>
            <a:ext cx="10332720" cy="411480"/>
          </a:xfrm>
          <a:prstGeom prst="rect">
            <a:avLst/>
          </a:prstGeom>
          <a:noFill/>
          <a:ln/>
        </p:spPr>
        <p:txBody>
          <a:bodyPr wrap="square" lIns="0" tIns="0" rIns="0" bIns="0" rtlCol="0" anchor="ctr"/>
          <a:lstStyle/>
          <a:p>
            <a:pPr indent="0" marL="0">
              <a:buNone/>
            </a:pPr>
            <a:r>
              <a:rPr lang="en-US" sz="1600" dirty="0">
                <a:solidFill>
                  <a:srgbClr val="4E9FAD"/>
                </a:solidFill>
                <a:latin typeface="Calibri" pitchFamily="34" charset="0"/>
                <a:ea typeface="Calibri" pitchFamily="34" charset="-122"/>
                <a:cs typeface="Calibri" pitchFamily="34" charset="-120"/>
              </a:rPr>
              <a:t>A head-to-head analysis of PRJNA644054 (turkey, 45) and PRJNA379944 (chicken, 6)</a:t>
            </a:r>
            <a:endParaRPr lang="en-US" sz="1600" dirty="0"/>
          </a:p>
        </p:txBody>
      </p:sp>
      <p:sp>
        <p:nvSpPr>
          <p:cNvPr id="7" name="Shape 5"/>
          <p:cNvSpPr/>
          <p:nvPr/>
        </p:nvSpPr>
        <p:spPr>
          <a:xfrm>
            <a:off x="914400" y="4617720"/>
            <a:ext cx="3291840" cy="36576"/>
          </a:xfrm>
          <a:prstGeom prst="rect">
            <a:avLst/>
          </a:prstGeom>
          <a:solidFill>
            <a:srgbClr val="8FB996"/>
          </a:solidFill>
          <a:ln/>
        </p:spPr>
      </p:sp>
      <p:sp>
        <p:nvSpPr>
          <p:cNvPr id="8" name="Text 6"/>
          <p:cNvSpPr/>
          <p:nvPr/>
        </p:nvSpPr>
        <p:spPr>
          <a:xfrm>
            <a:off x="914400" y="4800600"/>
            <a:ext cx="10332720" cy="457200"/>
          </a:xfrm>
          <a:prstGeom prst="rect">
            <a:avLst/>
          </a:prstGeom>
          <a:noFill/>
          <a:ln/>
        </p:spPr>
        <p:txBody>
          <a:bodyPr wrap="square" lIns="0" tIns="0" rIns="0" bIns="0" rtlCol="0" anchor="ctr"/>
          <a:lstStyle/>
          <a:p>
            <a:pPr indent="0" marL="0">
              <a:buNone/>
            </a:pPr>
            <a:r>
              <a:rPr lang="en-US" sz="1350" dirty="0">
                <a:solidFill>
                  <a:srgbClr val="8FB996"/>
                </a:solidFill>
                <a:latin typeface="Calibri" pitchFamily="34" charset="0"/>
                <a:ea typeface="Calibri" pitchFamily="34" charset="-122"/>
                <a:cs typeface="Calibri" pitchFamily="34" charset="-120"/>
              </a:rPr>
              <a:t>Merging costs performance on all five metrics — and inside the turkey cohort the cage effect rivals the infection effect</a:t>
            </a:r>
            <a:endParaRPr lang="en-US" sz="1350" dirty="0"/>
          </a:p>
        </p:txBody>
      </p:sp>
      <p:sp>
        <p:nvSpPr>
          <p:cNvPr id="9" name="Text 7"/>
          <p:cNvSpPr/>
          <p:nvPr/>
        </p:nvSpPr>
        <p:spPr>
          <a:xfrm>
            <a:off x="914400" y="6144768"/>
            <a:ext cx="64008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University of Georgia · College of Public Health</a:t>
            </a:r>
            <a:endParaRPr lang="en-US" sz="1200" dirty="0"/>
          </a:p>
        </p:txBody>
      </p:sp>
      <p:sp>
        <p:nvSpPr>
          <p:cNvPr id="10" name="Text 8"/>
          <p:cNvSpPr/>
          <p:nvPr/>
        </p:nvSpPr>
        <p:spPr>
          <a:xfrm>
            <a:off x="5029200" y="6144768"/>
            <a:ext cx="6217920" cy="365760"/>
          </a:xfrm>
          <a:prstGeom prst="rect">
            <a:avLst/>
          </a:prstGeom>
          <a:noFill/>
          <a:ln/>
        </p:spPr>
        <p:txBody>
          <a:bodyPr wrap="square" lIns="0" tIns="0" rIns="0" bIns="0" rtlCol="0" anchor="ctr"/>
          <a:lstStyle/>
          <a:p>
            <a:pPr algn="r" indent="0" marL="0">
              <a:buNone/>
            </a:pPr>
            <a:r>
              <a:rPr lang="en-US" sz="1100" dirty="0">
                <a:solidFill>
                  <a:srgbClr val="4E9FAD"/>
                </a:solidFill>
                <a:latin typeface="Calibri" pitchFamily="34" charset="0"/>
                <a:ea typeface="Calibri" pitchFamily="34" charset="-122"/>
                <a:cs typeface="Calibri" pitchFamily="34" charset="-120"/>
              </a:rPr>
              <a:t>summary_Chicken_51_sample.md ｜ summary_Turkey_45_sample.md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Headline results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48640" y="1371600"/>
            <a:ext cx="260604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0.930</a:t>
            </a:r>
            <a:endParaRPr lang="en-US" sz="4000" dirty="0"/>
          </a:p>
        </p:txBody>
      </p:sp>
      <p:sp>
        <p:nvSpPr>
          <p:cNvPr id="7" name="Text 5"/>
          <p:cNvSpPr/>
          <p:nvPr/>
        </p:nvSpPr>
        <p:spPr>
          <a:xfrm>
            <a:off x="548640" y="2048256"/>
            <a:ext cx="26060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Turkey alone, n=45</a:t>
            </a:r>
            <a:endParaRPr lang="en-US" sz="1150" dirty="0"/>
          </a:p>
        </p:txBody>
      </p:sp>
      <p:sp>
        <p:nvSpPr>
          <p:cNvPr id="8" name="Text 6"/>
          <p:cNvSpPr/>
          <p:nvPr/>
        </p:nvSpPr>
        <p:spPr>
          <a:xfrm>
            <a:off x="548640" y="2340864"/>
            <a:ext cx="260604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AUC — best in this cohort</a:t>
            </a:r>
            <a:endParaRPr lang="en-US" sz="1000" dirty="0"/>
          </a:p>
        </p:txBody>
      </p:sp>
      <p:sp>
        <p:nvSpPr>
          <p:cNvPr id="9" name="Text 7"/>
          <p:cNvSpPr/>
          <p:nvPr/>
        </p:nvSpPr>
        <p:spPr>
          <a:xfrm>
            <a:off x="3291840" y="1371600"/>
            <a:ext cx="2606040" cy="658368"/>
          </a:xfrm>
          <a:prstGeom prst="rect">
            <a:avLst/>
          </a:prstGeom>
          <a:noFill/>
          <a:ln/>
        </p:spPr>
        <p:txBody>
          <a:bodyPr wrap="square" lIns="0" tIns="0" rIns="0" bIns="0" rtlCol="0" anchor="ctr"/>
          <a:lstStyle/>
          <a:p>
            <a:pPr algn="ctr" indent="0" marL="0">
              <a:buNone/>
            </a:pPr>
            <a:r>
              <a:rPr lang="en-US" sz="4000" b="1" dirty="0">
                <a:solidFill>
                  <a:srgbClr val="D2603A"/>
                </a:solidFill>
                <a:latin typeface="Georgia" pitchFamily="34" charset="0"/>
                <a:ea typeface="Georgia" pitchFamily="34" charset="-122"/>
                <a:cs typeface="Georgia" pitchFamily="34" charset="-120"/>
              </a:rPr>
              <a:t>0.895</a:t>
            </a:r>
            <a:endParaRPr lang="en-US" sz="4000" dirty="0"/>
          </a:p>
        </p:txBody>
      </p:sp>
      <p:sp>
        <p:nvSpPr>
          <p:cNvPr id="10" name="Text 8"/>
          <p:cNvSpPr/>
          <p:nvPr/>
        </p:nvSpPr>
        <p:spPr>
          <a:xfrm>
            <a:off x="3291840" y="2048256"/>
            <a:ext cx="26060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Merged, n=51</a:t>
            </a:r>
            <a:endParaRPr lang="en-US" sz="1150" dirty="0"/>
          </a:p>
        </p:txBody>
      </p:sp>
      <p:sp>
        <p:nvSpPr>
          <p:cNvPr id="11" name="Text 9"/>
          <p:cNvSpPr/>
          <p:nvPr/>
        </p:nvSpPr>
        <p:spPr>
          <a:xfrm>
            <a:off x="3291840" y="2340864"/>
            <a:ext cx="260604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AUC — lower, not higher</a:t>
            </a:r>
            <a:endParaRPr lang="en-US" sz="1000" dirty="0"/>
          </a:p>
        </p:txBody>
      </p:sp>
      <p:sp>
        <p:nvSpPr>
          <p:cNvPr id="12" name="Text 10"/>
          <p:cNvSpPr/>
          <p:nvPr/>
        </p:nvSpPr>
        <p:spPr>
          <a:xfrm>
            <a:off x="6035040" y="1371600"/>
            <a:ext cx="2606040" cy="658368"/>
          </a:xfrm>
          <a:prstGeom prst="rect">
            <a:avLst/>
          </a:prstGeom>
          <a:noFill/>
          <a:ln/>
        </p:spPr>
        <p:txBody>
          <a:bodyPr wrap="square" lIns="0" tIns="0" rIns="0" bIns="0" rtlCol="0" anchor="ctr"/>
          <a:lstStyle/>
          <a:p>
            <a:pPr algn="ctr" indent="0" marL="0">
              <a:buNone/>
            </a:pPr>
            <a:r>
              <a:rPr lang="en-US" sz="3600" b="1" dirty="0">
                <a:solidFill>
                  <a:srgbClr val="D2603A"/>
                </a:solidFill>
                <a:latin typeface="Georgia" pitchFamily="34" charset="0"/>
                <a:ea typeface="Georgia" pitchFamily="34" charset="-122"/>
                <a:cs typeface="Georgia" pitchFamily="34" charset="-120"/>
              </a:rPr>
              <a:t>−0.035</a:t>
            </a:r>
            <a:endParaRPr lang="en-US" sz="3600" dirty="0"/>
          </a:p>
        </p:txBody>
      </p:sp>
      <p:sp>
        <p:nvSpPr>
          <p:cNvPr id="13" name="Text 11"/>
          <p:cNvSpPr/>
          <p:nvPr/>
        </p:nvSpPr>
        <p:spPr>
          <a:xfrm>
            <a:off x="6035040" y="2048256"/>
            <a:ext cx="26060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Cost of merging</a:t>
            </a:r>
            <a:endParaRPr lang="en-US" sz="1150" dirty="0"/>
          </a:p>
        </p:txBody>
      </p:sp>
      <p:sp>
        <p:nvSpPr>
          <p:cNvPr id="14" name="Text 12"/>
          <p:cNvSpPr/>
          <p:nvPr/>
        </p:nvSpPr>
        <p:spPr>
          <a:xfrm>
            <a:off x="6035040" y="2340864"/>
            <a:ext cx="260604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all five metrics fall</a:t>
            </a:r>
            <a:endParaRPr lang="en-US" sz="1000" dirty="0"/>
          </a:p>
        </p:txBody>
      </p:sp>
      <p:sp>
        <p:nvSpPr>
          <p:cNvPr id="15" name="Text 13"/>
          <p:cNvSpPr/>
          <p:nvPr/>
        </p:nvSpPr>
        <p:spPr>
          <a:xfrm>
            <a:off x="8778240" y="1371600"/>
            <a:ext cx="2834640" cy="658368"/>
          </a:xfrm>
          <a:prstGeom prst="rect">
            <a:avLst/>
          </a:prstGeom>
          <a:noFill/>
          <a:ln/>
        </p:spPr>
        <p:txBody>
          <a:bodyPr wrap="square" lIns="0" tIns="0" rIns="0" bIns="0" rtlCol="0" anchor="ctr"/>
          <a:lstStyle/>
          <a:p>
            <a:pPr algn="ctr" indent="0" marL="0">
              <a:buNone/>
            </a:pPr>
            <a:r>
              <a:rPr lang="en-US" sz="3000" b="1" dirty="0">
                <a:solidFill>
                  <a:srgbClr val="8FB996"/>
                </a:solidFill>
                <a:latin typeface="Georgia" pitchFamily="34" charset="0"/>
                <a:ea typeface="Georgia" pitchFamily="34" charset="-122"/>
                <a:cs typeface="Georgia" pitchFamily="34" charset="-120"/>
              </a:rPr>
              <a:t>p=0.0050</a:t>
            </a:r>
            <a:endParaRPr lang="en-US" sz="3000" dirty="0"/>
          </a:p>
        </p:txBody>
      </p:sp>
      <p:sp>
        <p:nvSpPr>
          <p:cNvPr id="16" name="Text 14"/>
          <p:cNvSpPr/>
          <p:nvPr/>
        </p:nvSpPr>
        <p:spPr>
          <a:xfrm>
            <a:off x="8778240" y="2048256"/>
            <a:ext cx="283464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Permutation test</a:t>
            </a:r>
            <a:endParaRPr lang="en-US" sz="1150" dirty="0"/>
          </a:p>
        </p:txBody>
      </p:sp>
      <p:sp>
        <p:nvSpPr>
          <p:cNvPr id="17" name="Text 15"/>
          <p:cNvSpPr/>
          <p:nvPr/>
        </p:nvSpPr>
        <p:spPr>
          <a:xfrm>
            <a:off x="8778240" y="2340864"/>
            <a:ext cx="283464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real signal, thin margin</a:t>
            </a:r>
            <a:endParaRPr lang="en-US" sz="1000" dirty="0"/>
          </a:p>
        </p:txBody>
      </p:sp>
      <p:sp>
        <p:nvSpPr>
          <p:cNvPr id="18" name="Text 16"/>
          <p:cNvSpPr/>
          <p:nvPr/>
        </p:nvSpPr>
        <p:spPr>
          <a:xfrm>
            <a:off x="548640" y="2670048"/>
            <a:ext cx="11064240" cy="365760"/>
          </a:xfrm>
          <a:prstGeom prst="rect">
            <a:avLst/>
          </a:prstGeom>
          <a:noFill/>
          <a:ln/>
        </p:spPr>
        <p:txBody>
          <a:bodyPr wrap="square" lIns="0" tIns="0" rIns="0" bIns="0" rtlCol="0" anchor="t"/>
          <a:lstStyle/>
          <a:p>
            <a:pPr indent="0" marL="0">
              <a:buNone/>
            </a:pPr>
            <a:r>
              <a:rPr lang="en-US" sz="1150" i="1" dirty="0">
                <a:solidFill>
                  <a:srgbClr val="5F7580"/>
                </a:solidFill>
                <a:latin typeface="Calibri" pitchFamily="34" charset="0"/>
                <a:ea typeface="Calibri" pitchFamily="34" charset="-122"/>
                <a:cs typeface="Calibri" pitchFamily="34" charset="-120"/>
              </a:rPr>
              <a:t>The AUC is deliberately not set in the largest type: at n=51 the permutation null reaches 0.798, so no single score can be read on its own.</a:t>
            </a:r>
            <a:endParaRPr lang="en-US" sz="1150" dirty="0"/>
          </a:p>
        </p:txBody>
      </p:sp>
      <p:sp>
        <p:nvSpPr>
          <p:cNvPr id="19" name="Shape 17"/>
          <p:cNvSpPr/>
          <p:nvPr/>
        </p:nvSpPr>
        <p:spPr>
          <a:xfrm>
            <a:off x="548640" y="3090672"/>
            <a:ext cx="5486400" cy="1572768"/>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0" name="Shape 18"/>
          <p:cNvSpPr/>
          <p:nvPr/>
        </p:nvSpPr>
        <p:spPr>
          <a:xfrm>
            <a:off x="548640" y="3090672"/>
            <a:ext cx="68580" cy="1572768"/>
          </a:xfrm>
          <a:prstGeom prst="rect">
            <a:avLst/>
          </a:prstGeom>
          <a:solidFill>
            <a:srgbClr val="18707F"/>
          </a:solidFill>
          <a:ln/>
        </p:spPr>
      </p:sp>
      <p:sp>
        <p:nvSpPr>
          <p:cNvPr id="21" name="Text 19"/>
          <p:cNvSpPr/>
          <p:nvPr/>
        </p:nvSpPr>
        <p:spPr>
          <a:xfrm>
            <a:off x="804672" y="3236976"/>
            <a:ext cx="502920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What we did</a:t>
            </a:r>
            <a:endParaRPr lang="en-US" sz="1500" dirty="0"/>
          </a:p>
        </p:txBody>
      </p:sp>
      <p:sp>
        <p:nvSpPr>
          <p:cNvPr id="22" name="Text 20"/>
          <p:cNvSpPr/>
          <p:nvPr/>
        </p:nvSpPr>
        <p:spPr>
          <a:xfrm>
            <a:off x="804672" y="3621024"/>
            <a:ext cx="5029200" cy="914400"/>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Modelled the turkey cohort PRJNA644054 (n=45) on its own, then the 51-sample cohort formed by adding the chicken cohort PRJNA379944 (n=6). Both use the identical leak-free pipeline: raw counts plus PrevalenceCLR fitted inside each fold, nested CV (outer 5×10, inner 4-fold).</a:t>
            </a:r>
            <a:endParaRPr lang="en-US" sz="1150" dirty="0"/>
          </a:p>
        </p:txBody>
      </p:sp>
      <p:sp>
        <p:nvSpPr>
          <p:cNvPr id="23" name="Shape 21"/>
          <p:cNvSpPr/>
          <p:nvPr/>
        </p:nvSpPr>
        <p:spPr>
          <a:xfrm>
            <a:off x="6309360" y="3090672"/>
            <a:ext cx="5303520" cy="1572768"/>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4" name="Shape 22"/>
          <p:cNvSpPr/>
          <p:nvPr/>
        </p:nvSpPr>
        <p:spPr>
          <a:xfrm>
            <a:off x="6309360" y="3090672"/>
            <a:ext cx="68580" cy="1572768"/>
          </a:xfrm>
          <a:prstGeom prst="rect">
            <a:avLst/>
          </a:prstGeom>
          <a:solidFill>
            <a:srgbClr val="8FB996"/>
          </a:solidFill>
          <a:ln/>
        </p:spPr>
      </p:sp>
      <p:sp>
        <p:nvSpPr>
          <p:cNvPr id="25" name="Text 23"/>
          <p:cNvSpPr/>
          <p:nvPr/>
        </p:nvSpPr>
        <p:spPr>
          <a:xfrm>
            <a:off x="6565392" y="3236976"/>
            <a:ext cx="484632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Two conclusions</a:t>
            </a:r>
            <a:endParaRPr lang="en-US" sz="1500" dirty="0"/>
          </a:p>
        </p:txBody>
      </p:sp>
      <p:sp>
        <p:nvSpPr>
          <p:cNvPr id="26" name="Text 24"/>
          <p:cNvSpPr/>
          <p:nvPr/>
        </p:nvSpPr>
        <p:spPr>
          <a:xfrm>
            <a:off x="6565392" y="3621024"/>
            <a:ext cx="4846320" cy="914400"/>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(1) Merging buys nothing — the 6 chicken samples are pure noise to the model.</a:t>
            </a:r>
            <a:endParaRPr lang="en-US" sz="1150" dirty="0"/>
          </a:p>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(2) But turkey alone cannot be read at face value either: isolator is perfectly collinear with infection status, and the pure cage effect averages AUC 0.908 against an infection effect of 0.967.</a:t>
            </a:r>
            <a:endParaRPr lang="en-US" sz="1150" dirty="0"/>
          </a:p>
        </p:txBody>
      </p:sp>
      <p:sp>
        <p:nvSpPr>
          <p:cNvPr id="27" name="Shape 25"/>
          <p:cNvSpPr/>
          <p:nvPr/>
        </p:nvSpPr>
        <p:spPr>
          <a:xfrm>
            <a:off x="548640" y="4800600"/>
            <a:ext cx="11064240" cy="1051560"/>
          </a:xfrm>
          <a:prstGeom prst="rect">
            <a:avLst/>
          </a:prstGeom>
          <a:solidFill>
            <a:srgbClr val="FBEDE7"/>
          </a:solidFill>
          <a:ln/>
        </p:spPr>
      </p:sp>
      <p:sp>
        <p:nvSpPr>
          <p:cNvPr id="28" name="Shape 26"/>
          <p:cNvSpPr/>
          <p:nvPr/>
        </p:nvSpPr>
        <p:spPr>
          <a:xfrm>
            <a:off x="548640" y="4800600"/>
            <a:ext cx="68580" cy="1051560"/>
          </a:xfrm>
          <a:prstGeom prst="rect">
            <a:avLst/>
          </a:prstGeom>
          <a:solidFill>
            <a:srgbClr val="D2603A"/>
          </a:solidFill>
          <a:ln/>
        </p:spPr>
      </p:sp>
      <p:sp>
        <p:nvSpPr>
          <p:cNvPr id="29" name="Text 27"/>
          <p:cNvSpPr/>
          <p:nvPr/>
        </p:nvSpPr>
        <p:spPr>
          <a:xfrm>
            <a:off x="804672" y="4892040"/>
            <a:ext cx="10607040" cy="86868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Three boundaries. (1) With n=51 and only 16 in the minority class, the confidence interval on a specificity of 0.581 is very wide. (2) At a prevalence threshold of 10% the p/n ratio is 1.33 — already a p &gt; n problem, not comparable to the duck primary cohort. (3) How much of AUC 0.930 comes from infection and how much from cage assignment cannot be separated under this design.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DATA</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What the two cohorts contain</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03120"/>
                <a:gridCol w="1280160"/>
                <a:gridCol w="3291840"/>
                <a:gridCol w="1005840"/>
                <a:gridCol w="1005840"/>
                <a:gridCol w="1005840"/>
                <a:gridCol w="137160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BioProject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Host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Centre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Neg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Positive rate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PRJNA644054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Turkey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Ohio State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71.1%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PRJNA379944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Chicken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South China Agricultural Univ.</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Merged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5F758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51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68.6%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3657600"/>
            <a:ext cx="11064240" cy="13716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3657600"/>
            <a:ext cx="68580" cy="1371600"/>
          </a:xfrm>
          <a:prstGeom prst="rect">
            <a:avLst/>
          </a:prstGeom>
          <a:solidFill>
            <a:srgbClr val="D2603A"/>
          </a:solidFill>
          <a:ln/>
        </p:spPr>
      </p:sp>
      <p:sp>
        <p:nvSpPr>
          <p:cNvPr id="9" name="Text 6"/>
          <p:cNvSpPr/>
          <p:nvPr/>
        </p:nvSpPr>
        <p:spPr>
          <a:xfrm>
            <a:off x="804672" y="380390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The two projects are technically incomparable</a:t>
            </a:r>
            <a:endParaRPr lang="en-US" sz="1500" dirty="0"/>
          </a:p>
        </p:txBody>
      </p:sp>
      <p:sp>
        <p:nvSpPr>
          <p:cNvPr id="10" name="Text 7"/>
          <p:cNvSpPr/>
          <p:nvPr/>
        </p:nvSpPr>
        <p:spPr>
          <a:xfrm>
            <a:off x="804672" y="4187952"/>
            <a:ext cx="10607040" cy="713232"/>
          </a:xfrm>
          <a:prstGeom prst="rect">
            <a:avLst/>
          </a:prstGeom>
          <a:noFill/>
          <a:ln/>
        </p:spPr>
        <p:txBody>
          <a:bodyPr wrap="square" lIns="0" tIns="0" rIns="0" bIns="0" rtlCol="0" anchor="t"/>
          <a:lstStyle/>
          <a:p>
            <a:pPr indent="0" marL="0">
              <a:lnSpc>
                <a:spcPct val="112000"/>
              </a:lnSpc>
              <a:buNone/>
            </a:pPr>
            <a:r>
              <a:rPr lang="en-US" sz="1150" dirty="0">
                <a:solidFill>
                  <a:srgbClr val="7A2E14"/>
                </a:solidFill>
                <a:latin typeface="Calibri" pitchFamily="34" charset="0"/>
                <a:ea typeface="Calibri" pitchFamily="34" charset="-122"/>
                <a:cs typeface="Calibri" pitchFamily="34" charset="-120"/>
              </a:rPr>
              <a:t>Four attributes are perfectly collinear with BioProject — not one sample breaks the correspondence:</a:t>
            </a:r>
            <a:endParaRPr lang="en-US" sz="1150" dirty="0"/>
          </a:p>
          <a:p>
            <a:pPr indent="0" marL="0">
              <a:lnSpc>
                <a:spcPct val="112000"/>
              </a:lnSpc>
              <a:buNone/>
            </a:pPr>
            <a:endParaRPr lang="en-US" sz="1150" dirty="0"/>
          </a:p>
          <a:p>
            <a:pPr indent="0" marL="0">
              <a:lnSpc>
                <a:spcPct val="112000"/>
              </a:lnSpc>
              <a:buNone/>
            </a:pPr>
            <a:r>
              <a:rPr lang="en-US" sz="1150" dirty="0">
                <a:solidFill>
                  <a:srgbClr val="7A2E14"/>
                </a:solidFill>
                <a:latin typeface="Calibri" pitchFamily="34" charset="0"/>
                <a:ea typeface="Calibri" pitchFamily="34" charset="-122"/>
                <a:cs typeface="Calibri" pitchFamily="34" charset="-120"/>
              </a:rPr>
              <a:t>    Host  turkey 45 / chicken 6        Centre  Ohio State / SCAU</a:t>
            </a:r>
            <a:endParaRPr lang="en-US" sz="1150" dirty="0"/>
          </a:p>
          <a:p>
            <a:pPr indent="0" marL="0">
              <a:lnSpc>
                <a:spcPct val="112000"/>
              </a:lnSpc>
              <a:buNone/>
            </a:pPr>
            <a:r>
              <a:rPr lang="en-US" sz="1150" dirty="0">
                <a:solidFill>
                  <a:srgbClr val="7A2E14"/>
                </a:solidFill>
                <a:latin typeface="Calibri" pitchFamily="34" charset="0"/>
                <a:ea typeface="Calibri" pitchFamily="34" charset="-122"/>
                <a:cs typeface="Calibri" pitchFamily="34" charset="-120"/>
              </a:rPr>
              <a:t>    Assay.Type  OTHER / CTS               LibrarySource  OTHER / METAGENOMIC</a:t>
            </a:r>
            <a:endParaRPr lang="en-US" sz="1150" dirty="0"/>
          </a:p>
          <a:p>
            <a:pPr indent="0" marL="0">
              <a:lnSpc>
                <a:spcPct val="112000"/>
              </a:lnSpc>
              <a:buNone/>
            </a:pPr>
            <a:endParaRPr lang="en-US" sz="1150" dirty="0"/>
          </a:p>
          <a:p>
            <a:pPr indent="0" marL="0">
              <a:lnSpc>
                <a:spcPct val="112000"/>
              </a:lnSpc>
              <a:buNone/>
            </a:pPr>
            <a:r>
              <a:rPr lang="en-US" sz="1150" dirty="0">
                <a:solidFill>
                  <a:srgbClr val="7A2E14"/>
                </a:solidFill>
                <a:latin typeface="Calibri" pitchFamily="34" charset="0"/>
                <a:ea typeface="Calibri" pitchFamily="34" charset="-122"/>
                <a:cs typeface="Calibri" pitchFamily="34" charset="-120"/>
              </a:rPr>
              <a:t>Merging therefore pools two batches sequenced with different library preparations, in different laboratories, from different species.</a:t>
            </a:r>
            <a:endParaRPr lang="en-US" sz="1150" dirty="0"/>
          </a:p>
        </p:txBody>
      </p:sp>
      <p:sp>
        <p:nvSpPr>
          <p:cNvPr id="11" name="Text 8"/>
          <p:cNvSpPr/>
          <p:nvPr/>
        </p:nvSpPr>
        <p:spPr>
          <a:xfrm>
            <a:off x="548640" y="5212080"/>
            <a:ext cx="11064240" cy="274320"/>
          </a:xfrm>
          <a:prstGeom prst="rect">
            <a:avLst/>
          </a:prstGeom>
          <a:noFill/>
          <a:ln/>
        </p:spPr>
        <p:txBody>
          <a:bodyPr wrap="square" lIns="0" tIns="0" rIns="0" bIns="0" rtlCol="0" anchor="ctr"/>
          <a:lstStyle/>
          <a:p>
            <a:pPr indent="0" marL="0">
              <a:buNone/>
            </a:pPr>
            <a:r>
              <a:rPr lang="en-US" sz="1100" i="1" dirty="0">
                <a:solidFill>
                  <a:srgbClr val="5F7580"/>
                </a:solidFill>
                <a:latin typeface="Calibri" pitchFamily="34" charset="0"/>
                <a:ea typeface="Calibri" pitchFamily="34" charset="-122"/>
                <a:cs typeface="Calibri" pitchFamily="34" charset="-120"/>
              </a:rPr>
              <a:t>The filename keeps the word Chicken from summary_Chicken_51_sample.md, but the cohort is overwhelmingly turkey (45/51 = 88%); only 6 samples are chicken.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DATA · STRUCTURAL DIFFERENCES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Why the primary cohort's reading does not carry over</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2743200"/>
                <a:gridCol w="2743200"/>
                <a:gridCol w="283464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Primary cohort (duck)</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This cohort (poultry)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Consequence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Sample size 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51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far larger estimation variance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Minority class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about 3 negatives per test fold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Baseline accuracy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0.581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0.686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a higher bar for real gain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p/n (prevalence ≥10%)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70/260 = 0.27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68/51 = 1.33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p &gt; n, high-dimensional</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Permutation null maximum</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0.614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0.798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ceiling reachable by noise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7" name="Shape 4"/>
          <p:cNvSpPr/>
          <p:nvPr/>
        </p:nvSpPr>
        <p:spPr>
          <a:xfrm>
            <a:off x="548640" y="4434840"/>
            <a:ext cx="5394960" cy="146304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8" name="Shape 5"/>
          <p:cNvSpPr/>
          <p:nvPr/>
        </p:nvSpPr>
        <p:spPr>
          <a:xfrm>
            <a:off x="548640" y="4434840"/>
            <a:ext cx="68580" cy="1463040"/>
          </a:xfrm>
          <a:prstGeom prst="rect">
            <a:avLst/>
          </a:prstGeom>
          <a:solidFill>
            <a:srgbClr val="D2603A"/>
          </a:solidFill>
          <a:ln/>
        </p:spPr>
      </p:sp>
      <p:sp>
        <p:nvSpPr>
          <p:cNvPr id="9" name="Text 6"/>
          <p:cNvSpPr/>
          <p:nvPr/>
        </p:nvSpPr>
        <p:spPr>
          <a:xfrm>
            <a:off x="804672" y="45811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p/n flips from 0.27 to 1.33</a:t>
            </a:r>
            <a:endParaRPr lang="en-US" sz="1400" dirty="0"/>
          </a:p>
        </p:txBody>
      </p:sp>
      <p:sp>
        <p:nvSpPr>
          <p:cNvPr id="10" name="Text 7"/>
          <p:cNvSpPr/>
          <p:nvPr/>
        </p:nvSpPr>
        <p:spPr>
          <a:xfrm>
            <a:off x="804672" y="4965192"/>
            <a:ext cx="4937760" cy="804672"/>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There are more features than samples, so the model can fit the training set perfectly. The primary cohort's verdict — no PCA, no aggressive feature selection needed — does not hold here.</a:t>
            </a:r>
            <a:endParaRPr lang="en-US" sz="1100" dirty="0"/>
          </a:p>
        </p:txBody>
      </p:sp>
      <p:sp>
        <p:nvSpPr>
          <p:cNvPr id="11" name="Shape 8"/>
          <p:cNvSpPr/>
          <p:nvPr/>
        </p:nvSpPr>
        <p:spPr>
          <a:xfrm>
            <a:off x="6217920" y="4434840"/>
            <a:ext cx="5394960" cy="146304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2" name="Shape 9"/>
          <p:cNvSpPr/>
          <p:nvPr/>
        </p:nvSpPr>
        <p:spPr>
          <a:xfrm>
            <a:off x="6217920" y="4434840"/>
            <a:ext cx="68580" cy="1463040"/>
          </a:xfrm>
          <a:prstGeom prst="rect">
            <a:avLst/>
          </a:prstGeom>
          <a:solidFill>
            <a:srgbClr val="D2603A"/>
          </a:solidFill>
          <a:ln/>
        </p:spPr>
      </p:sp>
      <p:sp>
        <p:nvSpPr>
          <p:cNvPr id="13" name="Text 10"/>
          <p:cNvSpPr/>
          <p:nvPr/>
        </p:nvSpPr>
        <p:spPr>
          <a:xfrm>
            <a:off x="6473952" y="45811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Noise ceiling 0.798</a:t>
            </a:r>
            <a:endParaRPr lang="en-US" sz="1400" dirty="0"/>
          </a:p>
        </p:txBody>
      </p:sp>
      <p:sp>
        <p:nvSpPr>
          <p:cNvPr id="14" name="Text 11"/>
          <p:cNvSpPr/>
          <p:nvPr/>
        </p:nvSpPr>
        <p:spPr>
          <a:xfrm>
            <a:off x="6473952" y="4965192"/>
            <a:ext cx="4937760" cy="804672"/>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At n=51 pure chance can reach an AUC near 0.8 (only 0.614 in the primary cohort). Any AUC below 0.80 in this cohort is therefore close to uninterpretable.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01</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Modelling results</a:t>
            </a:r>
            <a:endParaRPr lang="en-US" sz="3600" dirty="0"/>
          </a:p>
        </p:txBody>
      </p:sp>
      <p:sp>
        <p:nvSpPr>
          <p:cNvPr id="5" name="Text 3"/>
          <p:cNvSpPr/>
          <p:nvPr/>
        </p:nvSpPr>
        <p:spPr>
          <a:xfrm>
            <a:off x="2880360" y="320040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Two cohorts side by side, one leak-free pipeline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RESULTS · MAIN TABLE</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All metrics, both cohorts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6</a:t>
            </a:r>
            <a:endParaRPr lang="en-US" sz="1000" dirty="0"/>
          </a:p>
        </p:txBody>
      </p:sp>
      <p:sp>
        <p:nvSpPr>
          <p:cNvPr id="6" name="Text 4"/>
          <p:cNvSpPr/>
          <p:nvPr/>
        </p:nvSpPr>
        <p:spPr>
          <a:xfrm>
            <a:off x="548640" y="1298448"/>
            <a:ext cx="11064240" cy="411480"/>
          </a:xfrm>
          <a:prstGeom prst="rect">
            <a:avLst/>
          </a:prstGeom>
          <a:noFill/>
          <a:ln/>
        </p:spPr>
        <p:txBody>
          <a:bodyPr wrap="square" lIns="0" tIns="0" rIns="0" bIns="0" rtlCol="0" anchor="t"/>
          <a:lstStyle/>
          <a:p>
            <a:pPr indent="0" marL="0">
              <a:buNone/>
            </a:pPr>
            <a:r>
              <a:rPr lang="en-US" sz="1200" dirty="0">
                <a:solidFill>
                  <a:srgbClr val="5F7580"/>
                </a:solidFill>
                <a:latin typeface="Calibri" pitchFamily="34" charset="0"/>
                <a:ea typeface="Calibri" pitchFamily="34" charset="-122"/>
                <a:cs typeface="Calibri" pitchFamily="34" charset="-120"/>
              </a:rPr>
              <a:t>Nested CV: outer RepeatedStratifiedKFold (5 folds × 10 repeats = 50 folds), inner 4-fold tuning; prevalence threshold 0.10. Both cohorts selected C = 1.0, gamma = scale.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194560"/>
                <a:gridCol w="2286000"/>
                <a:gridCol w="1828800"/>
                <a:gridCol w="1554480"/>
                <a:gridCol w="3200400"/>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Turkey alone, n=45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Merged, n=51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Δ</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365760">
                <a:tc>
                  <a:txBody>
                    <a:bodyPr/>
                    <a:lstStyle/>
                    <a:p>
                      <a:pPr algn="ctr" indent="0" marL="0">
                        <a:buNone/>
                      </a:pPr>
                      <a:r>
                        <a:rPr lang="en-US" sz="1100" b="1" dirty="0">
                          <a:solidFill>
                            <a:srgbClr val="16252C"/>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0.930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0.895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D2603A"/>
                          </a:solidFill>
                          <a:latin typeface="Calibri" pitchFamily="34" charset="0"/>
                          <a:ea typeface="Calibri" pitchFamily="34" charset="-122"/>
                          <a:cs typeface="Calibri" pitchFamily="34" charset="-120"/>
                        </a:rPr>
                        <a:t>−0.035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5F7580"/>
                          </a:solidFill>
                          <a:latin typeface="Calibri" pitchFamily="34" charset="0"/>
                          <a:ea typeface="Calibri" pitchFamily="34" charset="-122"/>
                          <a:cs typeface="Calibri" pitchFamily="34" charset="-120"/>
                        </a:rPr>
                        <a:t>noise ceiling 0.798</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6576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PR-AUC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0.971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0.952</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D2603A"/>
                          </a:solidFill>
                          <a:latin typeface="Calibri" pitchFamily="34" charset="0"/>
                          <a:ea typeface="Calibri" pitchFamily="34" charset="-122"/>
                          <a:cs typeface="Calibri" pitchFamily="34" charset="-120"/>
                        </a:rPr>
                        <a:t>−0.019</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5F7580"/>
                          </a:solidFill>
                          <a:latin typeface="Calibri" pitchFamily="34" charset="0"/>
                          <a:ea typeface="Calibri" pitchFamily="34" charset="-122"/>
                          <a:cs typeface="Calibri" pitchFamily="34" charset="-120"/>
                        </a:rPr>
                        <a:t>baseline = positive rate</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6576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0.825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D2603A"/>
                          </a:solidFill>
                          <a:latin typeface="Calibri" pitchFamily="34" charset="0"/>
                          <a:ea typeface="Calibri" pitchFamily="34" charset="-122"/>
                          <a:cs typeface="Calibri" pitchFamily="34" charset="-120"/>
                        </a:rPr>
                        <a:t>−0.035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5F7580"/>
                          </a:solidFill>
                          <a:latin typeface="Calibri" pitchFamily="34" charset="0"/>
                          <a:ea typeface="Calibri" pitchFamily="34" charset="-122"/>
                          <a:cs typeface="Calibri" pitchFamily="34" charset="-120"/>
                        </a:rPr>
                        <a:t>baseline 0.711 / 0.686</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6576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Balanced accuracy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0.806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0.759</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D2603A"/>
                          </a:solidFill>
                          <a:latin typeface="Calibri" pitchFamily="34" charset="0"/>
                          <a:ea typeface="Calibri" pitchFamily="34" charset="-122"/>
                          <a:cs typeface="Calibri" pitchFamily="34" charset="-120"/>
                        </a:rPr>
                        <a:t>−0.047</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5F7580"/>
                          </a:solidFill>
                          <a:latin typeface="Calibri" pitchFamily="34" charset="0"/>
                          <a:ea typeface="Calibri" pitchFamily="34" charset="-122"/>
                          <a:cs typeface="Calibri" pitchFamily="34" charset="-120"/>
                        </a:rPr>
                        <a:t>baseline 0.500</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6576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Sensitivity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0.934</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0.937</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5F7580"/>
                          </a:solidFill>
                          <a:latin typeface="Calibri" pitchFamily="34" charset="0"/>
                          <a:ea typeface="Calibri" pitchFamily="34" charset="-122"/>
                          <a:cs typeface="Calibri" pitchFamily="34" charset="-120"/>
                        </a:rPr>
                        <a:t>+0.003</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5F7580"/>
                          </a:solidFill>
                          <a:latin typeface="Calibri" pitchFamily="34" charset="0"/>
                          <a:ea typeface="Calibri" pitchFamily="34" charset="-122"/>
                          <a:cs typeface="Calibri" pitchFamily="34" charset="-120"/>
                        </a:rPr>
                        <a:t>inflated by class imbalance</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65760">
                <a:tc>
                  <a:txBody>
                    <a:bodyPr/>
                    <a:lstStyle/>
                    <a:p>
                      <a:pPr algn="ctr" indent="0" marL="0">
                        <a:buNone/>
                      </a:pPr>
                      <a:r>
                        <a:rPr lang="en-US" sz="1100" b="1" dirty="0">
                          <a:solidFill>
                            <a:srgbClr val="16252C"/>
                          </a:solidFill>
                          <a:latin typeface="Calibri" pitchFamily="34" charset="0"/>
                          <a:ea typeface="Calibri" pitchFamily="34" charset="-122"/>
                          <a:cs typeface="Calibri" pitchFamily="34" charset="-120"/>
                        </a:rPr>
                        <a:t>Specificity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0.677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0.581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00" b="1" dirty="0">
                          <a:solidFill>
                            <a:srgbClr val="D2603A"/>
                          </a:solidFill>
                          <a:latin typeface="Calibri" pitchFamily="34" charset="0"/>
                          <a:ea typeface="Calibri" pitchFamily="34" charset="-122"/>
                          <a:cs typeface="Calibri" pitchFamily="34" charset="-120"/>
                        </a:rPr>
                        <a:t>−0.096</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D2603A"/>
                          </a:solidFill>
                          <a:latin typeface="Calibri" pitchFamily="34" charset="0"/>
                          <a:ea typeface="Calibri" pitchFamily="34" charset="-122"/>
                          <a:cs typeface="Calibri" pitchFamily="34" charset="-120"/>
                        </a:rPr>
                        <a:t>both weak — see slide 8</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6576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0.877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0.830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D2603A"/>
                          </a:solidFill>
                          <a:latin typeface="Calibri" pitchFamily="34" charset="0"/>
                          <a:ea typeface="Calibri" pitchFamily="34" charset="-122"/>
                          <a:cs typeface="Calibri" pitchFamily="34" charset="-120"/>
                        </a:rPr>
                        <a:t>−0.047</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65760">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0.905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0.881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D2603A"/>
                          </a:solidFill>
                          <a:latin typeface="Calibri" pitchFamily="34" charset="0"/>
                          <a:ea typeface="Calibri" pitchFamily="34" charset="-122"/>
                          <a:cs typeface="Calibri" pitchFamily="34" charset="-120"/>
                        </a:rPr>
                        <a:t>−0.024</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5F7580"/>
                          </a:solidFill>
                          <a:latin typeface="Calibri" pitchFamily="34" charset="0"/>
                          <a:ea typeface="Calibri" pitchFamily="34" charset="-122"/>
                          <a:cs typeface="Calibri" pitchFamily="34" charset="-120"/>
                        </a:rPr>
                        <a:t>baseline F1 0.831 / 0.814</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65760">
                <a:tc>
                  <a:txBody>
                    <a:bodyPr/>
                    <a:lstStyle/>
                    <a:p>
                      <a:pPr algn="ctr" indent="0" marL="0">
                        <a:buNone/>
                      </a:pPr>
                      <a:r>
                        <a:rPr lang="en-US" sz="1100" b="1" dirty="0">
                          <a:solidFill>
                            <a:srgbClr val="16252C"/>
                          </a:solidFill>
                          <a:latin typeface="Calibri" pitchFamily="34" charset="0"/>
                          <a:ea typeface="Calibri" pitchFamily="34" charset="-122"/>
                          <a:cs typeface="Calibri" pitchFamily="34" charset="-120"/>
                        </a:rPr>
                        <a:t>MCC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0.647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0.576</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D2603A"/>
                          </a:solidFill>
                          <a:latin typeface="Calibri" pitchFamily="34" charset="0"/>
                          <a:ea typeface="Calibri" pitchFamily="34" charset="-122"/>
                          <a:cs typeface="Calibri" pitchFamily="34" charset="-120"/>
                        </a:rPr>
                        <a:t>−0.071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000" dirty="0">
                          <a:solidFill>
                            <a:srgbClr val="5F7580"/>
                          </a:solidFill>
                          <a:latin typeface="Calibri" pitchFamily="34" charset="0"/>
                          <a:ea typeface="Calibri" pitchFamily="34" charset="-122"/>
                          <a:cs typeface="Calibri" pitchFamily="34" charset="-120"/>
                        </a:rPr>
                        <a:t>baseline 0 — most reliable</a:t>
                      </a:r>
                      <a:endParaRPr lang="en-US" sz="10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5669280"/>
            <a:ext cx="11064240" cy="6858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5669280"/>
            <a:ext cx="68580" cy="685800"/>
          </a:xfrm>
          <a:prstGeom prst="rect">
            <a:avLst/>
          </a:prstGeom>
          <a:solidFill>
            <a:srgbClr val="18707F"/>
          </a:solidFill>
          <a:ln/>
        </p:spPr>
      </p:sp>
      <p:sp>
        <p:nvSpPr>
          <p:cNvPr id="10" name="Text 7"/>
          <p:cNvSpPr/>
          <p:nvPr/>
        </p:nvSpPr>
        <p:spPr>
          <a:xfrm>
            <a:off x="804672" y="5833872"/>
            <a:ext cx="10607040" cy="356616"/>
          </a:xfrm>
          <a:prstGeom prst="rect">
            <a:avLst/>
          </a:prstGeom>
          <a:noFill/>
          <a:ln/>
        </p:spPr>
        <p:txBody>
          <a:bodyPr wrap="square" lIns="0" tIns="0" rIns="0" bIns="0" rtlCol="0" anchor="t"/>
          <a:lstStyle/>
          <a:p>
            <a:pPr indent="0" marL="0">
              <a:lnSpc>
                <a:spcPct val="112000"/>
              </a:lnSpc>
              <a:buNone/>
            </a:pPr>
            <a:r>
              <a:rPr lang="en-US" sz="1150" dirty="0">
                <a:solidFill>
                  <a:srgbClr val="5F7580"/>
                </a:solidFill>
                <a:latin typeface="Calibri" pitchFamily="34" charset="0"/>
                <a:ea typeface="Calibri" pitchFamily="34" charset="-122"/>
                <a:cs typeface="Calibri" pitchFamily="34" charset="-120"/>
              </a:rPr>
              <a:t>Turkey alone beats the merged cohort on every metric except sensitivity, and the +0.003 there is not a genuine exception — sensitivity rises with the positive rate, which actually fell from 71.1% to 68.6% on merging, so it should have dipped slightly.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RESULTS · ERROR STRUCTURE</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Confusion matrices: where the errors are</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7</a:t>
            </a:r>
            <a:endParaRPr lang="en-US" sz="1000" dirty="0"/>
          </a:p>
        </p:txBody>
      </p:sp>
      <p:sp>
        <p:nvSpPr>
          <p:cNvPr id="6" name="Text 4"/>
          <p:cNvSpPr/>
          <p:nvPr/>
        </p:nvSpPr>
        <p:spPr>
          <a:xfrm>
            <a:off x="548640" y="1298448"/>
            <a:ext cx="11064240" cy="320040"/>
          </a:xfrm>
          <a:prstGeom prst="rect">
            <a:avLst/>
          </a:prstGeom>
          <a:noFill/>
          <a:ln/>
        </p:spPr>
        <p:txBody>
          <a:bodyPr wrap="square" lIns="0" tIns="0" rIns="0" bIns="0" rtlCol="0" anchor="ctr"/>
          <a:lstStyle/>
          <a:p>
            <a:pPr indent="0" marL="0">
              <a:buNone/>
            </a:pPr>
            <a:r>
              <a:rPr lang="en-US" sz="1200" dirty="0">
                <a:solidFill>
                  <a:srgbClr val="5F7580"/>
                </a:solidFill>
                <a:latin typeface="Calibri" pitchFamily="34" charset="0"/>
                <a:ea typeface="Calibri" pitchFamily="34" charset="-122"/>
                <a:cs typeface="Calibri" pitchFamily="34" charset="-120"/>
              </a:rPr>
              <a:t>Out-of-fold predictions pooled over 50 folds, counts divided by the 10 repeats — so these read directly as "one average cross-validation run".</a:t>
            </a:r>
            <a:endParaRPr lang="en-US" sz="1200" dirty="0"/>
          </a:p>
        </p:txBody>
      </p:sp>
      <p:sp>
        <p:nvSpPr>
          <p:cNvPr id="7" name="Text 5"/>
          <p:cNvSpPr/>
          <p:nvPr/>
        </p:nvSpPr>
        <p:spPr>
          <a:xfrm>
            <a:off x="1097280" y="1828800"/>
            <a:ext cx="4389120" cy="320040"/>
          </a:xfrm>
          <a:prstGeom prst="rect">
            <a:avLst/>
          </a:prstGeom>
          <a:noFill/>
          <a:ln/>
        </p:spPr>
        <p:txBody>
          <a:bodyPr wrap="square" lIns="0" tIns="0" rIns="0" bIns="0" rtlCol="0" anchor="ctr"/>
          <a:lstStyle/>
          <a:p>
            <a:pPr indent="0" marL="0">
              <a:buNone/>
            </a:pPr>
            <a:r>
              <a:rPr lang="en-US" sz="1500" b="1" dirty="0">
                <a:solidFill>
                  <a:srgbClr val="16252C"/>
                </a:solidFill>
                <a:latin typeface="Georgia" pitchFamily="34" charset="0"/>
                <a:ea typeface="Georgia" pitchFamily="34" charset="-122"/>
                <a:cs typeface="Georgia" pitchFamily="34" charset="-120"/>
              </a:rPr>
              <a:t>Turkey alone, n=45</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97280" y="2240280"/>
          <a:ext cx="4206240" cy="914400"/>
        </p:xfrm>
        <a:graphic>
          <a:graphicData uri="http://schemas.openxmlformats.org/drawingml/2006/table">
            <a:tbl>
              <a:tblPr/>
              <a:tblGrid>
                <a:gridCol w="1463040"/>
                <a:gridCol w="1371600"/>
                <a:gridCol w="1371600"/>
              </a:tblGrid>
              <a:tr h="45720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Pred. Neg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Pred. 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True Neg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16252C"/>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200" dirty="0">
                          <a:solidFill>
                            <a:srgbClr val="D2603A"/>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True 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200" dirty="0">
                          <a:solidFill>
                            <a:srgbClr val="D2603A"/>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16252C"/>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bl>
          </a:graphicData>
        </a:graphic>
      </p:graphicFrame>
      <p:sp>
        <p:nvSpPr>
          <p:cNvPr id="9" name="Text 6"/>
          <p:cNvSpPr/>
          <p:nvPr/>
        </p:nvSpPr>
        <p:spPr>
          <a:xfrm>
            <a:off x="6675120" y="1828800"/>
            <a:ext cx="4389120" cy="320040"/>
          </a:xfrm>
          <a:prstGeom prst="rect">
            <a:avLst/>
          </a:prstGeom>
          <a:noFill/>
          <a:ln/>
        </p:spPr>
        <p:txBody>
          <a:bodyPr wrap="square" lIns="0" tIns="0" rIns="0" bIns="0" rtlCol="0" anchor="ctr"/>
          <a:lstStyle/>
          <a:p>
            <a:pPr indent="0" marL="0">
              <a:buNone/>
            </a:pPr>
            <a:r>
              <a:rPr lang="en-US" sz="1500" b="1" dirty="0">
                <a:solidFill>
                  <a:srgbClr val="16252C"/>
                </a:solidFill>
                <a:latin typeface="Georgia" pitchFamily="34" charset="0"/>
                <a:ea typeface="Georgia" pitchFamily="34" charset="-122"/>
                <a:cs typeface="Georgia" pitchFamily="34" charset="-120"/>
              </a:rPr>
              <a:t>Merged, n=51</a:t>
            </a:r>
            <a:endParaRPr lang="en-US" sz="15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675120" y="2240280"/>
          <a:ext cx="4206240" cy="914400"/>
        </p:xfrm>
        <a:graphic>
          <a:graphicData uri="http://schemas.openxmlformats.org/drawingml/2006/table">
            <a:tbl>
              <a:tblPr/>
              <a:tblGrid>
                <a:gridCol w="1463040"/>
                <a:gridCol w="1371600"/>
                <a:gridCol w="1371600"/>
              </a:tblGrid>
              <a:tr h="45720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Pred. Neg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Pred. 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True Neg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200" b="1" dirty="0">
                          <a:solidFill>
                            <a:srgbClr val="16252C"/>
                          </a:solidFill>
                          <a:latin typeface="Calibri" pitchFamily="34" charset="0"/>
                          <a:ea typeface="Calibri" pitchFamily="34" charset="-122"/>
                          <a:cs typeface="Calibri" pitchFamily="34" charset="-120"/>
                        </a:rPr>
                        <a:t>9.3</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200" b="1" dirty="0">
                          <a:solidFill>
                            <a:srgbClr val="D2603A"/>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True 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200" dirty="0">
                          <a:solidFill>
                            <a:srgbClr val="D2603A"/>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200" b="1" dirty="0">
                          <a:solidFill>
                            <a:srgbClr val="16252C"/>
                          </a:solidFill>
                          <a:latin typeface="Calibri" pitchFamily="34" charset="0"/>
                          <a:ea typeface="Calibri" pitchFamily="34" charset="-122"/>
                          <a:cs typeface="Calibri" pitchFamily="34" charset="-120"/>
                        </a:rPr>
                        <a:t>32.8</a:t>
                      </a:r>
                      <a:endParaRPr lang="en-US" sz="12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bl>
          </a:graphicData>
        </a:graphic>
      </p:graphicFrame>
      <p:sp>
        <p:nvSpPr>
          <p:cNvPr id="11" name="Shape 7"/>
          <p:cNvSpPr/>
          <p:nvPr/>
        </p:nvSpPr>
        <p:spPr>
          <a:xfrm>
            <a:off x="548640" y="3977640"/>
            <a:ext cx="5394960" cy="173736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2" name="Shape 8"/>
          <p:cNvSpPr/>
          <p:nvPr/>
        </p:nvSpPr>
        <p:spPr>
          <a:xfrm>
            <a:off x="548640" y="3977640"/>
            <a:ext cx="68580" cy="1737360"/>
          </a:xfrm>
          <a:prstGeom prst="rect">
            <a:avLst/>
          </a:prstGeom>
          <a:solidFill>
            <a:srgbClr val="D2603A"/>
          </a:solidFill>
          <a:ln/>
        </p:spPr>
      </p:sp>
      <p:sp>
        <p:nvSpPr>
          <p:cNvPr id="13" name="Text 9"/>
          <p:cNvSpPr/>
          <p:nvPr/>
        </p:nvSpPr>
        <p:spPr>
          <a:xfrm>
            <a:off x="804672" y="41239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The errors sit on the negatives</a:t>
            </a:r>
            <a:endParaRPr lang="en-US" sz="1400" dirty="0"/>
          </a:p>
        </p:txBody>
      </p:sp>
      <p:sp>
        <p:nvSpPr>
          <p:cNvPr id="14" name="Text 10"/>
          <p:cNvSpPr/>
          <p:nvPr/>
        </p:nvSpPr>
        <p:spPr>
          <a:xfrm>
            <a:off x="804672" y="4507992"/>
            <a:ext cx="4937760" cy="1078992"/>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Turkey: 4.2 of 13 negatives misclassified (32%)</a:t>
            </a:r>
            <a:endParaRPr lang="en-US" sz="1100" dirty="0"/>
          </a:p>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Merged: 6.7 of 16 negatives misclassified (42%)</a:t>
            </a:r>
            <a:endParaRPr lang="en-US" sz="1100" dirty="0"/>
          </a:p>
          <a:p>
            <a:pPr indent="0" marL="0">
              <a:lnSpc>
                <a:spcPct val="112000"/>
              </a:lnSpc>
              <a:buNone/>
            </a:pPr>
            <a:endParaRPr lang="en-US" sz="1100" dirty="0"/>
          </a:p>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Positives are almost never missed (2.2 of 35), because positives are 68.6% of the data to begin with — following the majority class already yields high sensitivity.</a:t>
            </a:r>
            <a:endParaRPr lang="en-US" sz="1100" dirty="0"/>
          </a:p>
        </p:txBody>
      </p:sp>
      <p:sp>
        <p:nvSpPr>
          <p:cNvPr id="15" name="Shape 11"/>
          <p:cNvSpPr/>
          <p:nvPr/>
        </p:nvSpPr>
        <p:spPr>
          <a:xfrm>
            <a:off x="6217920" y="3977640"/>
            <a:ext cx="5394960" cy="17373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6" name="Shape 12"/>
          <p:cNvSpPr/>
          <p:nvPr/>
        </p:nvSpPr>
        <p:spPr>
          <a:xfrm>
            <a:off x="6217920" y="3977640"/>
            <a:ext cx="68580" cy="1737360"/>
          </a:xfrm>
          <a:prstGeom prst="rect">
            <a:avLst/>
          </a:prstGeom>
          <a:solidFill>
            <a:srgbClr val="18707F"/>
          </a:solidFill>
          <a:ln/>
        </p:spPr>
      </p:sp>
      <p:sp>
        <p:nvSpPr>
          <p:cNvPr id="17" name="Text 13"/>
          <p:cNvSpPr/>
          <p:nvPr/>
        </p:nvSpPr>
        <p:spPr>
          <a:xfrm>
            <a:off x="6473952" y="41239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Why the matrix has to be shown</a:t>
            </a:r>
            <a:endParaRPr lang="en-US" sz="1400" dirty="0"/>
          </a:p>
        </p:txBody>
      </p:sp>
      <p:sp>
        <p:nvSpPr>
          <p:cNvPr id="18" name="Text 14"/>
          <p:cNvSpPr/>
          <p:nvPr/>
        </p:nvSpPr>
        <p:spPr>
          <a:xfrm>
            <a:off x="6473952" y="4507992"/>
            <a:ext cx="4937760" cy="107899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TP rising from 29.9 to 32.8 on merging looks like progress, but it only reflects the larger sample. What actually changed is FP: 4.2 to 6.7.</a:t>
            </a:r>
            <a:endParaRPr lang="en-US" sz="1100" dirty="0"/>
          </a:p>
          <a:p>
            <a:pPr indent="0" marL="0">
              <a:lnSpc>
                <a:spcPct val="112000"/>
              </a:lnSpc>
              <a:buNone/>
            </a:pPr>
            <a:endParaRPr lang="en-US" sz="1100" dirty="0"/>
          </a:p>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Accuracy alone (0.860 → 0.825) says the model got 0.035 worse; only the matrix says where.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RESULTS · LIMITATIONS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The number to watch: specificity</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8</a:t>
            </a:r>
            <a:endParaRPr lang="en-US" sz="1000" dirty="0"/>
          </a:p>
        </p:txBody>
      </p:sp>
      <p:sp>
        <p:nvSpPr>
          <p:cNvPr id="6" name="Text 4"/>
          <p:cNvSpPr/>
          <p:nvPr/>
        </p:nvSpPr>
        <p:spPr>
          <a:xfrm>
            <a:off x="822960" y="1463040"/>
            <a:ext cx="310896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0.677</a:t>
            </a:r>
            <a:endParaRPr lang="en-US" sz="4000" dirty="0"/>
          </a:p>
        </p:txBody>
      </p:sp>
      <p:sp>
        <p:nvSpPr>
          <p:cNvPr id="7" name="Text 5"/>
          <p:cNvSpPr/>
          <p:nvPr/>
        </p:nvSpPr>
        <p:spPr>
          <a:xfrm>
            <a:off x="822960" y="213969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Turkey alone, n=45</a:t>
            </a:r>
            <a:endParaRPr lang="en-US" sz="1150" dirty="0"/>
          </a:p>
        </p:txBody>
      </p:sp>
      <p:sp>
        <p:nvSpPr>
          <p:cNvPr id="8" name="Text 6"/>
          <p:cNvSpPr/>
          <p:nvPr/>
        </p:nvSpPr>
        <p:spPr>
          <a:xfrm>
            <a:off x="822960" y="243230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8.8 of 13 negatives correct</a:t>
            </a:r>
            <a:endParaRPr lang="en-US" sz="1000" dirty="0"/>
          </a:p>
        </p:txBody>
      </p:sp>
      <p:sp>
        <p:nvSpPr>
          <p:cNvPr id="9" name="Text 7"/>
          <p:cNvSpPr/>
          <p:nvPr/>
        </p:nvSpPr>
        <p:spPr>
          <a:xfrm>
            <a:off x="4480560" y="1463040"/>
            <a:ext cx="3108960" cy="658368"/>
          </a:xfrm>
          <a:prstGeom prst="rect">
            <a:avLst/>
          </a:prstGeom>
          <a:noFill/>
          <a:ln/>
        </p:spPr>
        <p:txBody>
          <a:bodyPr wrap="square" lIns="0" tIns="0" rIns="0" bIns="0" rtlCol="0" anchor="ctr"/>
          <a:lstStyle/>
          <a:p>
            <a:pPr algn="ctr" indent="0" marL="0">
              <a:buNone/>
            </a:pPr>
            <a:r>
              <a:rPr lang="en-US" sz="4000" b="1" dirty="0">
                <a:solidFill>
                  <a:srgbClr val="D2603A"/>
                </a:solidFill>
                <a:latin typeface="Georgia" pitchFamily="34" charset="0"/>
                <a:ea typeface="Georgia" pitchFamily="34" charset="-122"/>
                <a:cs typeface="Georgia" pitchFamily="34" charset="-120"/>
              </a:rPr>
              <a:t>0.581</a:t>
            </a:r>
            <a:endParaRPr lang="en-US" sz="4000" dirty="0"/>
          </a:p>
        </p:txBody>
      </p:sp>
      <p:sp>
        <p:nvSpPr>
          <p:cNvPr id="10" name="Text 8"/>
          <p:cNvSpPr/>
          <p:nvPr/>
        </p:nvSpPr>
        <p:spPr>
          <a:xfrm>
            <a:off x="4480560" y="213969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Merged, n=51</a:t>
            </a:r>
            <a:endParaRPr lang="en-US" sz="1150" dirty="0"/>
          </a:p>
        </p:txBody>
      </p:sp>
      <p:sp>
        <p:nvSpPr>
          <p:cNvPr id="11" name="Text 9"/>
          <p:cNvSpPr/>
          <p:nvPr/>
        </p:nvSpPr>
        <p:spPr>
          <a:xfrm>
            <a:off x="4480560" y="243230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9.3 of 16 negatives correct</a:t>
            </a:r>
            <a:endParaRPr lang="en-US" sz="1000" dirty="0"/>
          </a:p>
        </p:txBody>
      </p:sp>
      <p:sp>
        <p:nvSpPr>
          <p:cNvPr id="12" name="Text 10"/>
          <p:cNvSpPr/>
          <p:nvPr/>
        </p:nvSpPr>
        <p:spPr>
          <a:xfrm>
            <a:off x="8138160" y="1463040"/>
            <a:ext cx="3108960" cy="658368"/>
          </a:xfrm>
          <a:prstGeom prst="rect">
            <a:avLst/>
          </a:prstGeom>
          <a:noFill/>
          <a:ln/>
        </p:spPr>
        <p:txBody>
          <a:bodyPr wrap="square" lIns="0" tIns="0" rIns="0" bIns="0" rtlCol="0" anchor="ctr"/>
          <a:lstStyle/>
          <a:p>
            <a:pPr algn="ctr" indent="0" marL="0">
              <a:buNone/>
            </a:pPr>
            <a:r>
              <a:rPr lang="en-US" sz="4000" b="1" dirty="0">
                <a:solidFill>
                  <a:srgbClr val="5F7580"/>
                </a:solidFill>
                <a:latin typeface="Georgia" pitchFamily="34" charset="0"/>
                <a:ea typeface="Georgia" pitchFamily="34" charset="-122"/>
                <a:cs typeface="Georgia" pitchFamily="34" charset="-120"/>
              </a:rPr>
              <a:t>0.937</a:t>
            </a:r>
            <a:endParaRPr lang="en-US" sz="4000" dirty="0"/>
          </a:p>
        </p:txBody>
      </p:sp>
      <p:sp>
        <p:nvSpPr>
          <p:cNvPr id="13" name="Text 11"/>
          <p:cNvSpPr/>
          <p:nvPr/>
        </p:nvSpPr>
        <p:spPr>
          <a:xfrm>
            <a:off x="8138160" y="213969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For contrast: sensitivity</a:t>
            </a:r>
            <a:endParaRPr lang="en-US" sz="1150" dirty="0"/>
          </a:p>
        </p:txBody>
      </p:sp>
      <p:sp>
        <p:nvSpPr>
          <p:cNvPr id="14" name="Text 12"/>
          <p:cNvSpPr/>
          <p:nvPr/>
        </p:nvSpPr>
        <p:spPr>
          <a:xfrm>
            <a:off x="8138160" y="243230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looks strong, but…</a:t>
            </a:r>
            <a:endParaRPr lang="en-US" sz="1000" dirty="0"/>
          </a:p>
        </p:txBody>
      </p:sp>
      <p:sp>
        <p:nvSpPr>
          <p:cNvPr id="15" name="Shape 13"/>
          <p:cNvSpPr/>
          <p:nvPr/>
        </p:nvSpPr>
        <p:spPr>
          <a:xfrm>
            <a:off x="548640" y="3200400"/>
            <a:ext cx="11064240" cy="13716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6" name="Shape 14"/>
          <p:cNvSpPr/>
          <p:nvPr/>
        </p:nvSpPr>
        <p:spPr>
          <a:xfrm>
            <a:off x="548640" y="3200400"/>
            <a:ext cx="68580" cy="1371600"/>
          </a:xfrm>
          <a:prstGeom prst="rect">
            <a:avLst/>
          </a:prstGeom>
          <a:solidFill>
            <a:srgbClr val="D2603A"/>
          </a:solidFill>
          <a:ln/>
        </p:spPr>
      </p:sp>
      <p:sp>
        <p:nvSpPr>
          <p:cNvPr id="17" name="Text 15"/>
          <p:cNvSpPr/>
          <p:nvPr/>
        </p:nvSpPr>
        <p:spPr>
          <a:xfrm>
            <a:off x="804672" y="334670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Why this number is unreliable</a:t>
            </a:r>
            <a:endParaRPr lang="en-US" sz="1500" dirty="0"/>
          </a:p>
        </p:txBody>
      </p:sp>
      <p:sp>
        <p:nvSpPr>
          <p:cNvPr id="18" name="Text 16"/>
          <p:cNvSpPr/>
          <p:nvPr/>
        </p:nvSpPr>
        <p:spPr>
          <a:xfrm>
            <a:off x="804672" y="3730752"/>
            <a:ext cx="10607040" cy="713232"/>
          </a:xfrm>
          <a:prstGeom prst="rect">
            <a:avLst/>
          </a:prstGeom>
          <a:noFill/>
          <a:ln/>
        </p:spPr>
        <p:txBody>
          <a:bodyPr wrap="square" lIns="0" tIns="0" rIns="0" bIns="0" rtlCol="0" anchor="t"/>
          <a:lstStyle/>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The minority class holds only 13 samples (turkey) or 16 (merged). Under 5-fold CV each test fold contains roughly 3 negatives — one extra mistake moves that fold's specificity by 33 percentage points.</a:t>
            </a:r>
            <a:endParaRPr lang="en-US" sz="1200" dirty="0"/>
          </a:p>
          <a:p>
            <a:pPr indent="0" marL="0">
              <a:lnSpc>
                <a:spcPct val="112000"/>
              </a:lnSpc>
              <a:buNone/>
            </a:pPr>
            <a:endParaRPr lang="en-US" sz="1200" dirty="0"/>
          </a:p>
          <a:p>
            <a:pPr indent="0" marL="0">
              <a:lnSpc>
                <a:spcPct val="112000"/>
              </a:lnSpc>
              <a:buNone/>
            </a:pPr>
            <a:r>
              <a:rPr lang="en-US" sz="1200" dirty="0">
                <a:solidFill>
                  <a:srgbClr val="7A2E14"/>
                </a:solidFill>
                <a:latin typeface="Calibri" pitchFamily="34" charset="0"/>
                <a:ea typeface="Calibri" pitchFamily="34" charset="-122"/>
                <a:cs typeface="Calibri" pitchFamily="34" charset="-120"/>
              </a:rPr>
              <a:t>The gap between 0.581 and 0.677 is therefore directionally clear, but both figures carry very wide confidence intervals.</a:t>
            </a:r>
            <a:endParaRPr lang="en-US" sz="1200" dirty="0"/>
          </a:p>
        </p:txBody>
      </p:sp>
      <p:sp>
        <p:nvSpPr>
          <p:cNvPr id="19" name="Shape 17"/>
          <p:cNvSpPr/>
          <p:nvPr/>
        </p:nvSpPr>
        <p:spPr>
          <a:xfrm>
            <a:off x="548640" y="4754880"/>
            <a:ext cx="11064240" cy="11430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0" name="Shape 18"/>
          <p:cNvSpPr/>
          <p:nvPr/>
        </p:nvSpPr>
        <p:spPr>
          <a:xfrm>
            <a:off x="548640" y="4754880"/>
            <a:ext cx="68580" cy="1143000"/>
          </a:xfrm>
          <a:prstGeom prst="rect">
            <a:avLst/>
          </a:prstGeom>
          <a:solidFill>
            <a:srgbClr val="18707F"/>
          </a:solidFill>
          <a:ln/>
        </p:spPr>
      </p:sp>
      <p:sp>
        <p:nvSpPr>
          <p:cNvPr id="21" name="Text 19"/>
          <p:cNvSpPr/>
          <p:nvPr/>
        </p:nvSpPr>
        <p:spPr>
          <a:xfrm>
            <a:off x="804672" y="490118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A hard reporting requirement</a:t>
            </a:r>
            <a:endParaRPr lang="en-US" sz="1500" dirty="0"/>
          </a:p>
        </p:txBody>
      </p:sp>
      <p:sp>
        <p:nvSpPr>
          <p:cNvPr id="22" name="Text 20"/>
          <p:cNvSpPr/>
          <p:nvPr/>
        </p:nvSpPr>
        <p:spPr>
          <a:xfrm>
            <a:off x="804672" y="5285232"/>
            <a:ext cx="10607040" cy="48463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Sensitivity 0.937 and specificity 0.581 must always appear together. Reporting sensitivity alone would suggest a nearly usable model, when in fact it discriminates negatives barely better than a coin flip — the same problem as the October stratum of the primary cohort (specificity 0.533).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VALIDATION · OVERFITTING</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Is the signal real? Permutation test</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9</a:t>
            </a:r>
            <a:endParaRPr lang="en-US" sz="1000" dirty="0"/>
          </a:p>
        </p:txBody>
      </p:sp>
      <p:sp>
        <p:nvSpPr>
          <p:cNvPr id="6" name="Text 4"/>
          <p:cNvSpPr/>
          <p:nvPr/>
        </p:nvSpPr>
        <p:spPr>
          <a:xfrm>
            <a:off x="548640" y="1298448"/>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Labels were shuffled 200 times and the whole pipeline re-run each time. If the model can find structure in noise, the observed score means nothing.</a:t>
            </a:r>
            <a:endParaRPr lang="en-US" sz="1250" dirty="0"/>
          </a:p>
        </p:txBody>
      </p:sp>
      <p:sp>
        <p:nvSpPr>
          <p:cNvPr id="7" name="Text 5"/>
          <p:cNvSpPr/>
          <p:nvPr/>
        </p:nvSpPr>
        <p:spPr>
          <a:xfrm>
            <a:off x="822960" y="1828800"/>
            <a:ext cx="310896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0.967</a:t>
            </a:r>
            <a:endParaRPr lang="en-US" sz="4000" dirty="0"/>
          </a:p>
        </p:txBody>
      </p:sp>
      <p:sp>
        <p:nvSpPr>
          <p:cNvPr id="8" name="Text 6"/>
          <p:cNvSpPr/>
          <p:nvPr/>
        </p:nvSpPr>
        <p:spPr>
          <a:xfrm>
            <a:off x="822960" y="250545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Observed AUC</a:t>
            </a:r>
            <a:endParaRPr lang="en-US" sz="1150" dirty="0"/>
          </a:p>
        </p:txBody>
      </p:sp>
      <p:sp>
        <p:nvSpPr>
          <p:cNvPr id="9" name="Text 7"/>
          <p:cNvSpPr/>
          <p:nvPr/>
        </p:nvSpPr>
        <p:spPr>
          <a:xfrm>
            <a:off x="822960" y="279806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single-layer CV, fixed hyperparameters</a:t>
            </a:r>
            <a:endParaRPr lang="en-US" sz="1000" dirty="0"/>
          </a:p>
        </p:txBody>
      </p:sp>
      <p:sp>
        <p:nvSpPr>
          <p:cNvPr id="10" name="Text 8"/>
          <p:cNvSpPr/>
          <p:nvPr/>
        </p:nvSpPr>
        <p:spPr>
          <a:xfrm>
            <a:off x="4480560" y="1828800"/>
            <a:ext cx="3108960" cy="658368"/>
          </a:xfrm>
          <a:prstGeom prst="rect">
            <a:avLst/>
          </a:prstGeom>
          <a:noFill/>
          <a:ln/>
        </p:spPr>
        <p:txBody>
          <a:bodyPr wrap="square" lIns="0" tIns="0" rIns="0" bIns="0" rtlCol="0" anchor="ctr"/>
          <a:lstStyle/>
          <a:p>
            <a:pPr algn="ctr" indent="0" marL="0">
              <a:buNone/>
            </a:pPr>
            <a:r>
              <a:rPr lang="en-US" sz="4000" b="1" dirty="0">
                <a:solidFill>
                  <a:srgbClr val="5F7580"/>
                </a:solidFill>
                <a:latin typeface="Georgia" pitchFamily="34" charset="0"/>
                <a:ea typeface="Georgia" pitchFamily="34" charset="-122"/>
                <a:cs typeface="Georgia" pitchFamily="34" charset="-120"/>
              </a:rPr>
              <a:t>0.492</a:t>
            </a:r>
            <a:endParaRPr lang="en-US" sz="4000" dirty="0"/>
          </a:p>
        </p:txBody>
      </p:sp>
      <p:sp>
        <p:nvSpPr>
          <p:cNvPr id="11" name="Text 9"/>
          <p:cNvSpPr/>
          <p:nvPr/>
        </p:nvSpPr>
        <p:spPr>
          <a:xfrm>
            <a:off x="4480560" y="250545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Null mean</a:t>
            </a:r>
            <a:endParaRPr lang="en-US" sz="1150" dirty="0"/>
          </a:p>
        </p:txBody>
      </p:sp>
      <p:sp>
        <p:nvSpPr>
          <p:cNvPr id="12" name="Text 10"/>
          <p:cNvSpPr/>
          <p:nvPr/>
        </p:nvSpPr>
        <p:spPr>
          <a:xfrm>
            <a:off x="4480560" y="279806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 0.121</a:t>
            </a:r>
            <a:endParaRPr lang="en-US" sz="1000" dirty="0"/>
          </a:p>
        </p:txBody>
      </p:sp>
      <p:sp>
        <p:nvSpPr>
          <p:cNvPr id="13" name="Text 11"/>
          <p:cNvSpPr/>
          <p:nvPr/>
        </p:nvSpPr>
        <p:spPr>
          <a:xfrm>
            <a:off x="8138160" y="1828800"/>
            <a:ext cx="3108960" cy="658368"/>
          </a:xfrm>
          <a:prstGeom prst="rect">
            <a:avLst/>
          </a:prstGeom>
          <a:noFill/>
          <a:ln/>
        </p:spPr>
        <p:txBody>
          <a:bodyPr wrap="square" lIns="0" tIns="0" rIns="0" bIns="0" rtlCol="0" anchor="ctr"/>
          <a:lstStyle/>
          <a:p>
            <a:pPr algn="ctr" indent="0" marL="0">
              <a:buNone/>
            </a:pPr>
            <a:r>
              <a:rPr lang="en-US" sz="3200" b="1" dirty="0">
                <a:solidFill>
                  <a:srgbClr val="8FB996"/>
                </a:solidFill>
                <a:latin typeface="Georgia" pitchFamily="34" charset="0"/>
                <a:ea typeface="Georgia" pitchFamily="34" charset="-122"/>
                <a:cs typeface="Georgia" pitchFamily="34" charset="-120"/>
              </a:rPr>
              <a:t>p = 0.0050</a:t>
            </a:r>
            <a:endParaRPr lang="en-US" sz="3200" dirty="0"/>
          </a:p>
        </p:txBody>
      </p:sp>
      <p:sp>
        <p:nvSpPr>
          <p:cNvPr id="14" name="Text 12"/>
          <p:cNvSpPr/>
          <p:nvPr/>
        </p:nvSpPr>
        <p:spPr>
          <a:xfrm>
            <a:off x="8138160" y="2505456"/>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Empirical p-value</a:t>
            </a:r>
            <a:endParaRPr lang="en-US" sz="1150" dirty="0"/>
          </a:p>
        </p:txBody>
      </p:sp>
      <p:sp>
        <p:nvSpPr>
          <p:cNvPr id="15" name="Text 13"/>
          <p:cNvSpPr/>
          <p:nvPr/>
        </p:nvSpPr>
        <p:spPr>
          <a:xfrm>
            <a:off x="8138160" y="2798064"/>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0 of 200 reached the observed value</a:t>
            </a:r>
            <a:endParaRPr lang="en-US" sz="1000" dirty="0"/>
          </a:p>
        </p:txBody>
      </p:sp>
      <p:sp>
        <p:nvSpPr>
          <p:cNvPr id="16" name="Shape 14"/>
          <p:cNvSpPr/>
          <p:nvPr/>
        </p:nvSpPr>
        <p:spPr>
          <a:xfrm>
            <a:off x="548640" y="3520440"/>
            <a:ext cx="5394960" cy="160020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7" name="Shape 15"/>
          <p:cNvSpPr/>
          <p:nvPr/>
        </p:nvSpPr>
        <p:spPr>
          <a:xfrm>
            <a:off x="548640" y="3520440"/>
            <a:ext cx="68580" cy="1600200"/>
          </a:xfrm>
          <a:prstGeom prst="rect">
            <a:avLst/>
          </a:prstGeom>
          <a:solidFill>
            <a:srgbClr val="8FB996"/>
          </a:solidFill>
          <a:ln/>
        </p:spPr>
      </p:sp>
      <p:sp>
        <p:nvSpPr>
          <p:cNvPr id="18" name="Text 16"/>
          <p:cNvSpPr/>
          <p:nvPr/>
        </p:nvSpPr>
        <p:spPr>
          <a:xfrm>
            <a:off x="804672" y="3666744"/>
            <a:ext cx="493776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It passes</a:t>
            </a:r>
            <a:endParaRPr lang="en-US" sz="1400" dirty="0"/>
          </a:p>
        </p:txBody>
      </p:sp>
      <p:sp>
        <p:nvSpPr>
          <p:cNvPr id="19" name="Text 17"/>
          <p:cNvSpPr/>
          <p:nvPr/>
        </p:nvSpPr>
        <p:spPr>
          <a:xfrm>
            <a:off x="804672" y="4050792"/>
            <a:ext cx="4937760" cy="94183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The null mean is 0.492, sitting right on the theoretical 0.5 — evidence that the pipeline itself does not leak.</a:t>
            </a:r>
            <a:endParaRPr lang="en-US" sz="1100" dirty="0"/>
          </a:p>
          <a:p>
            <a:pPr indent="0" marL="0">
              <a:lnSpc>
                <a:spcPct val="112000"/>
              </a:lnSpc>
              <a:buNone/>
            </a:pPr>
            <a:endParaRPr lang="en-US" sz="1100" dirty="0"/>
          </a:p>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The observed 0.967 lies far above the null, p = 0.0050.</a:t>
            </a:r>
            <a:endParaRPr lang="en-US" sz="1100" dirty="0"/>
          </a:p>
        </p:txBody>
      </p:sp>
      <p:sp>
        <p:nvSpPr>
          <p:cNvPr id="20" name="Shape 18"/>
          <p:cNvSpPr/>
          <p:nvPr/>
        </p:nvSpPr>
        <p:spPr>
          <a:xfrm>
            <a:off x="6217920" y="3520440"/>
            <a:ext cx="5394960" cy="16002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21" name="Shape 19"/>
          <p:cNvSpPr/>
          <p:nvPr/>
        </p:nvSpPr>
        <p:spPr>
          <a:xfrm>
            <a:off x="6217920" y="3520440"/>
            <a:ext cx="68580" cy="1600200"/>
          </a:xfrm>
          <a:prstGeom prst="rect">
            <a:avLst/>
          </a:prstGeom>
          <a:solidFill>
            <a:srgbClr val="D2603A"/>
          </a:solidFill>
          <a:ln/>
        </p:spPr>
      </p:sp>
      <p:sp>
        <p:nvSpPr>
          <p:cNvPr id="22" name="Text 20"/>
          <p:cNvSpPr/>
          <p:nvPr/>
        </p:nvSpPr>
        <p:spPr>
          <a:xfrm>
            <a:off x="6473952" y="3666744"/>
            <a:ext cx="4937760" cy="329184"/>
          </a:xfrm>
          <a:prstGeom prst="rect">
            <a:avLst/>
          </a:prstGeom>
          <a:noFill/>
          <a:ln/>
        </p:spPr>
        <p:txBody>
          <a:bodyPr wrap="square" lIns="0" tIns="0" rIns="0" bIns="0" rtlCol="0" anchor="t"/>
          <a:lstStyle/>
          <a:p>
            <a:pPr indent="0" marL="0">
              <a:buNone/>
            </a:pPr>
            <a:r>
              <a:rPr lang="en-US" sz="1350" b="1" dirty="0">
                <a:solidFill>
                  <a:srgbClr val="16252C"/>
                </a:solidFill>
                <a:latin typeface="Georgia" pitchFamily="34" charset="0"/>
                <a:ea typeface="Georgia" pitchFamily="34" charset="-122"/>
                <a:cs typeface="Georgia" pitchFamily="34" charset="-120"/>
              </a:rPr>
              <a:t>But the margin is far thinner than the primary cohort's</a:t>
            </a:r>
            <a:endParaRPr lang="en-US" sz="1350" dirty="0"/>
          </a:p>
        </p:txBody>
      </p:sp>
      <p:sp>
        <p:nvSpPr>
          <p:cNvPr id="23" name="Text 21"/>
          <p:cNvSpPr/>
          <p:nvPr/>
        </p:nvSpPr>
        <p:spPr>
          <a:xfrm>
            <a:off x="6473952" y="4050792"/>
            <a:ext cx="4937760" cy="941832"/>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The null has SD 0.121 (0.049 in the primary cohort) and a maximum of 0.798.</a:t>
            </a:r>
            <a:endParaRPr lang="en-US" sz="1100" dirty="0"/>
          </a:p>
          <a:p>
            <a:pPr indent="0" marL="0">
              <a:lnSpc>
                <a:spcPct val="112000"/>
              </a:lnSpc>
              <a:buNone/>
            </a:pPr>
            <a:endParaRPr lang="en-US" sz="1100" dirty="0"/>
          </a:p>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In other words, at n=51 pure noise can reach an AUC near 0.8 — results below 0.80 in this cohort are essentially uninterpretable.</a:t>
            </a:r>
            <a:endParaRPr lang="en-US" sz="1100" dirty="0"/>
          </a:p>
        </p:txBody>
      </p:sp>
      <p:sp>
        <p:nvSpPr>
          <p:cNvPr id="24" name="Shape 22"/>
          <p:cNvSpPr/>
          <p:nvPr/>
        </p:nvSpPr>
        <p:spPr>
          <a:xfrm>
            <a:off x="548640" y="5303520"/>
            <a:ext cx="11064240" cy="685800"/>
          </a:xfrm>
          <a:prstGeom prst="rect">
            <a:avLst/>
          </a:prstGeom>
          <a:solidFill>
            <a:srgbClr val="FBEDE7"/>
          </a:solidFill>
          <a:ln/>
        </p:spPr>
      </p:sp>
      <p:sp>
        <p:nvSpPr>
          <p:cNvPr id="25" name="Shape 23"/>
          <p:cNvSpPr/>
          <p:nvPr/>
        </p:nvSpPr>
        <p:spPr>
          <a:xfrm>
            <a:off x="548640" y="5303520"/>
            <a:ext cx="68580" cy="685800"/>
          </a:xfrm>
          <a:prstGeom prst="rect">
            <a:avLst/>
          </a:prstGeom>
          <a:solidFill>
            <a:srgbClr val="D2603A"/>
          </a:solidFill>
          <a:ln/>
        </p:spPr>
      </p:sp>
      <p:sp>
        <p:nvSpPr>
          <p:cNvPr id="26" name="Text 24"/>
          <p:cNvSpPr/>
          <p:nvPr/>
        </p:nvSpPr>
        <p:spPr>
          <a:xfrm>
            <a:off x="804672" y="5394960"/>
            <a:ext cx="10607040" cy="50292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Note that the observed 0.967 here comes from single-layer CV with fixed hyperparameters, a different protocol from the 0.895 in the main table. The nested-CV 0.895 is the defensible performance estimate; 0.967 is used only for comparison against the null, which was generated under the same protocol.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VALIDATION · ROBUSTNESS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How robust is the conclusion? Two checks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10</a:t>
            </a:r>
            <a:endParaRPr lang="en-US" sz="1000" dirty="0"/>
          </a:p>
        </p:txBody>
      </p:sp>
      <p:sp>
        <p:nvSpPr>
          <p:cNvPr id="6" name="Text 4"/>
          <p:cNvSpPr/>
          <p:nvPr/>
        </p:nvSpPr>
        <p:spPr>
          <a:xfrm>
            <a:off x="548640" y="1298448"/>
            <a:ext cx="11064240" cy="274320"/>
          </a:xfrm>
          <a:prstGeom prst="rect">
            <a:avLst/>
          </a:prstGeom>
          <a:noFill/>
          <a:ln/>
        </p:spPr>
        <p:txBody>
          <a:bodyPr wrap="square" lIns="0" tIns="0" rIns="0" bIns="0" rtlCol="0" anchor="ctr"/>
          <a:lstStyle/>
          <a:p>
            <a:pPr indent="0" marL="0">
              <a:buNone/>
            </a:pPr>
            <a:r>
              <a:rPr lang="en-US" sz="1350" b="1" dirty="0">
                <a:solidFill>
                  <a:srgbClr val="16252C"/>
                </a:solidFill>
                <a:latin typeface="Georgia" pitchFamily="34" charset="0"/>
                <a:ea typeface="Georgia" pitchFamily="34" charset="-122"/>
                <a:cs typeface="Georgia" pitchFamily="34" charset="-120"/>
              </a:rPr>
              <a:t>① Prevalence threshold sweep (fixed C=5, single-layer CV — for trend comparison only)</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486400" cy="914400"/>
        </p:xfrm>
        <a:graphic>
          <a:graphicData uri="http://schemas.openxmlformats.org/drawingml/2006/table">
            <a:tbl>
              <a:tblPr/>
              <a:tblGrid>
                <a:gridCol w="1920240"/>
                <a:gridCol w="1188720"/>
                <a:gridCol w="1188720"/>
                <a:gridCol w="1188720"/>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Threshold</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347472">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 0.05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92</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D2603A"/>
                          </a:solidFill>
                          <a:latin typeface="Calibri" pitchFamily="34" charset="0"/>
                          <a:ea typeface="Calibri" pitchFamily="34" charset="-122"/>
                          <a:cs typeface="Calibri" pitchFamily="34" charset="-120"/>
                        </a:rPr>
                        <a:t>1.80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0.976</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47472">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 0.10 (used)</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68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1.33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0.976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r>
              <a:tr h="347472">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 0.15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0.940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47472">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 0.20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0.945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47472">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 0.30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0.88</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0.949</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47472">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 0.40</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0.76</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00" dirty="0">
                          <a:solidFill>
                            <a:srgbClr val="16252C"/>
                          </a:solidFill>
                          <a:latin typeface="Calibri" pitchFamily="34" charset="0"/>
                          <a:ea typeface="Calibri" pitchFamily="34" charset="-122"/>
                          <a:cs typeface="Calibri" pitchFamily="34" charset="-120"/>
                        </a:rPr>
                        <a:t>0.955</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6400800" y="1645920"/>
            <a:ext cx="5212080" cy="12344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6400800" y="1645920"/>
            <a:ext cx="68580" cy="1234440"/>
          </a:xfrm>
          <a:prstGeom prst="rect">
            <a:avLst/>
          </a:prstGeom>
          <a:solidFill>
            <a:srgbClr val="8FB996"/>
          </a:solidFill>
          <a:ln/>
        </p:spPr>
      </p:sp>
      <p:sp>
        <p:nvSpPr>
          <p:cNvPr id="10" name="Text 7"/>
          <p:cNvSpPr/>
          <p:nvPr/>
        </p:nvSpPr>
        <p:spPr>
          <a:xfrm>
            <a:off x="6656832" y="1792224"/>
            <a:ext cx="475488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The threshold does not drive the result</a:t>
            </a:r>
            <a:endParaRPr lang="en-US" sz="1400" dirty="0"/>
          </a:p>
        </p:txBody>
      </p:sp>
      <p:sp>
        <p:nvSpPr>
          <p:cNvPr id="11" name="Text 8"/>
          <p:cNvSpPr/>
          <p:nvPr/>
        </p:nvSpPr>
        <p:spPr>
          <a:xfrm>
            <a:off x="6656832" y="2176272"/>
            <a:ext cx="4754880" cy="57607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AUC moves between 0.940 and 0.976 with no systematic relation to the threshold. The main result keeps 0.10 for consistency with the primary cohort.</a:t>
            </a:r>
            <a:endParaRPr lang="en-US" sz="1100" dirty="0"/>
          </a:p>
        </p:txBody>
      </p:sp>
      <p:sp>
        <p:nvSpPr>
          <p:cNvPr id="12" name="Text 9"/>
          <p:cNvSpPr/>
          <p:nvPr/>
        </p:nvSpPr>
        <p:spPr>
          <a:xfrm>
            <a:off x="6400800" y="3063240"/>
            <a:ext cx="5212080" cy="274320"/>
          </a:xfrm>
          <a:prstGeom prst="rect">
            <a:avLst/>
          </a:prstGeom>
          <a:noFill/>
          <a:ln/>
        </p:spPr>
        <p:txBody>
          <a:bodyPr wrap="square" lIns="0" tIns="0" rIns="0" bIns="0" rtlCol="0" anchor="ctr"/>
          <a:lstStyle/>
          <a:p>
            <a:pPr indent="0" marL="0">
              <a:buNone/>
            </a:pPr>
            <a:r>
              <a:rPr lang="en-US" sz="1350" b="1" dirty="0">
                <a:solidFill>
                  <a:srgbClr val="16252C"/>
                </a:solidFill>
                <a:latin typeface="Georgia" pitchFamily="34" charset="0"/>
                <a:ea typeface="Georgia" pitchFamily="34" charset="-122"/>
                <a:cs typeface="Georgia" pitchFamily="34" charset="-120"/>
              </a:rPr>
              <a:t>② Leave-one-out versus 5-fold</a:t>
            </a:r>
            <a:endParaRPr lang="en-US" sz="1350" dirty="0"/>
          </a:p>
        </p:txBody>
      </p:sp>
      <p:sp>
        <p:nvSpPr>
          <p:cNvPr id="13" name="Shape 10"/>
          <p:cNvSpPr/>
          <p:nvPr/>
        </p:nvSpPr>
        <p:spPr>
          <a:xfrm>
            <a:off x="6400800" y="3401568"/>
            <a:ext cx="5212080" cy="141732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4" name="Shape 11"/>
          <p:cNvSpPr/>
          <p:nvPr/>
        </p:nvSpPr>
        <p:spPr>
          <a:xfrm>
            <a:off x="6400800" y="3401568"/>
            <a:ext cx="68580" cy="1417320"/>
          </a:xfrm>
          <a:prstGeom prst="rect">
            <a:avLst/>
          </a:prstGeom>
          <a:solidFill>
            <a:srgbClr val="D2603A"/>
          </a:solidFill>
          <a:ln/>
        </p:spPr>
      </p:sp>
      <p:sp>
        <p:nvSpPr>
          <p:cNvPr id="15" name="Text 12"/>
          <p:cNvSpPr/>
          <p:nvPr/>
        </p:nvSpPr>
        <p:spPr>
          <a:xfrm>
            <a:off x="6656832" y="3547872"/>
            <a:ext cx="4754880" cy="329184"/>
          </a:xfrm>
          <a:prstGeom prst="rect">
            <a:avLst/>
          </a:prstGeom>
          <a:noFill/>
          <a:ln/>
        </p:spPr>
        <p:txBody>
          <a:bodyPr wrap="square" lIns="0" tIns="0" rIns="0" bIns="0" rtlCol="0" anchor="t"/>
          <a:lstStyle/>
          <a:p>
            <a:pPr indent="0" marL="0">
              <a:buNone/>
            </a:pPr>
            <a:r>
              <a:rPr lang="en-US" sz="1400" b="1" dirty="0">
                <a:solidFill>
                  <a:srgbClr val="16252C"/>
                </a:solidFill>
                <a:latin typeface="Georgia" pitchFamily="34" charset="0"/>
                <a:ea typeface="Georgia" pitchFamily="34" charset="-122"/>
                <a:cs typeface="Georgia" pitchFamily="34" charset="-120"/>
              </a:rPr>
              <a:t>A 0.078 gap — that is split variance</a:t>
            </a:r>
            <a:endParaRPr lang="en-US" sz="1400" dirty="0"/>
          </a:p>
        </p:txBody>
      </p:sp>
      <p:sp>
        <p:nvSpPr>
          <p:cNvPr id="16" name="Text 13"/>
          <p:cNvSpPr/>
          <p:nvPr/>
        </p:nvSpPr>
        <p:spPr>
          <a:xfrm>
            <a:off x="6656832" y="3931920"/>
            <a:ext cx="4754880" cy="758952"/>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Leave-one-out         AUC 0.973</a:t>
            </a:r>
            <a:endParaRPr lang="en-US" sz="1100" dirty="0"/>
          </a:p>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5-fold × 10 repeats   AUC 0.895</a:t>
            </a:r>
            <a:endParaRPr lang="en-US" sz="1100" dirty="0"/>
          </a:p>
          <a:p>
            <a:pPr indent="0" marL="0">
              <a:lnSpc>
                <a:spcPct val="112000"/>
              </a:lnSpc>
              <a:buNone/>
            </a:pPr>
            <a:endParaRPr lang="en-US" sz="1100" dirty="0"/>
          </a:p>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LOO trains on more data and is therefore more optimistic. Neither should be quoted alone; the nested 5-fold 0.895 is the conservative, defensible figure.</a:t>
            </a:r>
            <a:endParaRPr lang="en-US" sz="1100" dirty="0"/>
          </a:p>
        </p:txBody>
      </p:sp>
      <p:sp>
        <p:nvSpPr>
          <p:cNvPr id="17" name="Shape 14"/>
          <p:cNvSpPr/>
          <p:nvPr/>
        </p:nvSpPr>
        <p:spPr>
          <a:xfrm>
            <a:off x="548640" y="4069080"/>
            <a:ext cx="5486400" cy="1234440"/>
          </a:xfrm>
          <a:prstGeom prst="rect">
            <a:avLst/>
          </a:prstGeom>
          <a:solidFill>
            <a:srgbClr val="FBEDE7"/>
          </a:solidFill>
          <a:ln/>
        </p:spPr>
      </p:sp>
      <p:sp>
        <p:nvSpPr>
          <p:cNvPr id="18" name="Shape 15"/>
          <p:cNvSpPr/>
          <p:nvPr/>
        </p:nvSpPr>
        <p:spPr>
          <a:xfrm>
            <a:off x="548640" y="4069080"/>
            <a:ext cx="68580" cy="1234440"/>
          </a:xfrm>
          <a:prstGeom prst="rect">
            <a:avLst/>
          </a:prstGeom>
          <a:solidFill>
            <a:srgbClr val="D2603A"/>
          </a:solidFill>
          <a:ln/>
        </p:spPr>
      </p:sp>
      <p:sp>
        <p:nvSpPr>
          <p:cNvPr id="19" name="Text 16"/>
          <p:cNvSpPr/>
          <p:nvPr/>
        </p:nvSpPr>
        <p:spPr>
          <a:xfrm>
            <a:off x="804672" y="4160520"/>
            <a:ext cx="5029200" cy="105156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p/n stays at or above 1 across every threshold. Even at ≥0.40 the sample size is still 51 — high dimensionality is not something a threshold can fix, only more samples can.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VALIDATION · BATCH</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Why merging did not help: batch checks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11</a:t>
            </a:r>
            <a:endParaRPr lang="en-US" sz="1000" dirty="0"/>
          </a:p>
        </p:txBody>
      </p:sp>
      <p:sp>
        <p:nvSpPr>
          <p:cNvPr id="6" name="Text 4"/>
          <p:cNvSpPr/>
          <p:nvPr/>
        </p:nvSpPr>
        <p:spPr>
          <a:xfrm>
            <a:off x="548640" y="1298448"/>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If the model were merely learning "turkey or chicken", a high AUC would be meaningless. Two tests settle the question.</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5120640"/>
                <a:gridCol w="1828800"/>
                <a:gridCol w="4114800"/>
              </a:tblGrid>
              <a:tr h="47548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Reading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7548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Microbiome → predict project (chicken vs turkey)</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the two projects are fully separable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7548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Project → predict infection status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0.499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project membership carries no label information</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3200400"/>
            <a:ext cx="11064240" cy="123444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3200400"/>
            <a:ext cx="68580" cy="1234440"/>
          </a:xfrm>
          <a:prstGeom prst="rect">
            <a:avLst/>
          </a:prstGeom>
          <a:solidFill>
            <a:srgbClr val="8FB996"/>
          </a:solidFill>
          <a:ln/>
        </p:spPr>
      </p:sp>
      <p:sp>
        <p:nvSpPr>
          <p:cNvPr id="10" name="Text 7"/>
          <p:cNvSpPr/>
          <p:nvPr/>
        </p:nvSpPr>
        <p:spPr>
          <a:xfrm>
            <a:off x="804672" y="334670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Together these say the batch effect dilutes rather than confounds</a:t>
            </a:r>
            <a:endParaRPr lang="en-US" sz="1500" dirty="0"/>
          </a:p>
        </p:txBody>
      </p:sp>
      <p:sp>
        <p:nvSpPr>
          <p:cNvPr id="11" name="Text 8"/>
          <p:cNvSpPr/>
          <p:nvPr/>
        </p:nvSpPr>
        <p:spPr>
          <a:xfrm>
            <a:off x="804672" y="3730752"/>
            <a:ext cx="10607040" cy="57607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The microbiome tells chicken from turkey perfectly (different host, different laboratory — unsurprising), yet project membership is unrelated to infection status. The batch therefore does not inflate the AUC; it only adds irrelevant variation the model must work around. To the model, those 6 chicken samples are pure noise.</a:t>
            </a:r>
            <a:endParaRPr lang="en-US" sz="1200" dirty="0"/>
          </a:p>
        </p:txBody>
      </p:sp>
      <p:sp>
        <p:nvSpPr>
          <p:cNvPr id="12" name="Shape 9"/>
          <p:cNvSpPr/>
          <p:nvPr/>
        </p:nvSpPr>
        <p:spPr>
          <a:xfrm>
            <a:off x="548640" y="4617720"/>
            <a:ext cx="11064240" cy="128016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0"/>
          <p:cNvSpPr/>
          <p:nvPr/>
        </p:nvSpPr>
        <p:spPr>
          <a:xfrm>
            <a:off x="548640" y="4617720"/>
            <a:ext cx="68580" cy="1280160"/>
          </a:xfrm>
          <a:prstGeom prst="rect">
            <a:avLst/>
          </a:prstGeom>
          <a:solidFill>
            <a:srgbClr val="18707F"/>
          </a:solidFill>
          <a:ln/>
        </p:spPr>
      </p:sp>
      <p:sp>
        <p:nvSpPr>
          <p:cNvPr id="14" name="Text 11"/>
          <p:cNvSpPr/>
          <p:nvPr/>
        </p:nvSpPr>
        <p:spPr>
          <a:xfrm>
            <a:off x="804672" y="4764024"/>
            <a:ext cx="10607040" cy="329184"/>
          </a:xfrm>
          <a:prstGeom prst="rect">
            <a:avLst/>
          </a:prstGeom>
          <a:noFill/>
          <a:ln/>
        </p:spPr>
        <p:txBody>
          <a:bodyPr wrap="square" lIns="0" tIns="0" rIns="0" bIns="0" rtlCol="0" anchor="t"/>
          <a:lstStyle/>
          <a:p>
            <a:pPr indent="0" marL="0">
              <a:buNone/>
            </a:pPr>
            <a:r>
              <a:rPr lang="en-US" sz="1500" b="1" dirty="0">
                <a:solidFill>
                  <a:srgbClr val="16252C"/>
                </a:solidFill>
                <a:latin typeface="Georgia" pitchFamily="34" charset="0"/>
                <a:ea typeface="Georgia" pitchFamily="34" charset="-122"/>
                <a:cs typeface="Georgia" pitchFamily="34" charset="-120"/>
              </a:rPr>
              <a:t>Contrast with confounding in the primary cohort</a:t>
            </a:r>
            <a:endParaRPr lang="en-US" sz="1500" dirty="0"/>
          </a:p>
        </p:txBody>
      </p:sp>
      <p:sp>
        <p:nvSpPr>
          <p:cNvPr id="15" name="Text 12"/>
          <p:cNvSpPr/>
          <p:nvPr/>
        </p:nvSpPr>
        <p:spPr>
          <a:xfrm>
            <a:off x="804672" y="5148072"/>
            <a:ext cx="10607040" cy="621792"/>
          </a:xfrm>
          <a:prstGeom prst="rect">
            <a:avLst/>
          </a:prstGeom>
          <a:noFill/>
          <a:ln/>
        </p:spPr>
        <p:txBody>
          <a:bodyPr wrap="square" lIns="0" tIns="0" rIns="0" bIns="0" rtlCol="0" anchor="t"/>
          <a:lstStyle/>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There, sampling month affects both the microbiome and the label (covariates alone reach AUC 0.881) — genuine confounding, which has to be handled by stratification.</a:t>
            </a:r>
            <a:endParaRPr lang="en-US" sz="1200" dirty="0"/>
          </a:p>
          <a:p>
            <a:pPr indent="0" marL="0">
              <a:lnSpc>
                <a:spcPct val="112000"/>
              </a:lnSpc>
              <a:buNone/>
            </a:pPr>
            <a:r>
              <a:rPr lang="en-US" sz="1200" dirty="0">
                <a:solidFill>
                  <a:srgbClr val="5F7580"/>
                </a:solidFill>
                <a:latin typeface="Calibri" pitchFamily="34" charset="0"/>
                <a:ea typeface="Calibri" pitchFamily="34" charset="-122"/>
                <a:cs typeface="Calibri" pitchFamily="34" charset="-120"/>
              </a:rPr>
              <a:t>Here the batch affects only the features, not the label. Different problem, different remedy: confounding calls for stratification, dilution calls for exclusion.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02</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Confounding inside the cohort</a:t>
            </a:r>
            <a:endParaRPr lang="en-US" sz="3600" dirty="0"/>
          </a:p>
        </p:txBody>
      </p:sp>
      <p:sp>
        <p:nvSpPr>
          <p:cNvPr id="5" name="Text 3"/>
          <p:cNvSpPr/>
          <p:nvPr/>
        </p:nvSpPr>
        <p:spPr>
          <a:xfrm>
            <a:off x="2880360" y="320040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Taking the turkey cohort on its own raises a new problem</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CONFOUNDING · PRJNA644054</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Isolator is perfectly collinear with infection status</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13</a:t>
            </a:r>
            <a:endParaRPr lang="en-US" sz="1000" dirty="0"/>
          </a:p>
        </p:txBody>
      </p:sp>
      <p:sp>
        <p:nvSpPr>
          <p:cNvPr id="6" name="Text 4"/>
          <p:cNvSpPr/>
          <p:nvPr/>
        </p:nvSpPr>
        <p:spPr>
          <a:xfrm>
            <a:off x="548640" y="1298448"/>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The first ten slides only checked the batch effect between the two projects. Inside the turkey cohort there is another layer: the housing isolator.</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4663440" cy="914400"/>
        </p:xfrm>
        <a:graphic>
          <a:graphicData uri="http://schemas.openxmlformats.org/drawingml/2006/table">
            <a:tbl>
              <a:tblPr/>
              <a:tblGrid>
                <a:gridCol w="1554480"/>
                <a:gridCol w="1554480"/>
                <a:gridCol w="155448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Isolator</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Neg</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r h="38404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r>
            </a:tbl>
          </a:graphicData>
        </a:graphic>
      </p:graphicFrame>
      <p:sp>
        <p:nvSpPr>
          <p:cNvPr id="8" name="Shape 5"/>
          <p:cNvSpPr/>
          <p:nvPr/>
        </p:nvSpPr>
        <p:spPr>
          <a:xfrm>
            <a:off x="5669280" y="1737360"/>
            <a:ext cx="5943600" cy="1572768"/>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9" name="Shape 6"/>
          <p:cNvSpPr/>
          <p:nvPr/>
        </p:nvSpPr>
        <p:spPr>
          <a:xfrm>
            <a:off x="5669280" y="1737360"/>
            <a:ext cx="68580" cy="1572768"/>
          </a:xfrm>
          <a:prstGeom prst="rect">
            <a:avLst/>
          </a:prstGeom>
          <a:solidFill>
            <a:srgbClr val="D2603A"/>
          </a:solidFill>
          <a:ln/>
        </p:spPr>
      </p:sp>
      <p:sp>
        <p:nvSpPr>
          <p:cNvPr id="10" name="Text 7"/>
          <p:cNvSpPr/>
          <p:nvPr/>
        </p:nvSpPr>
        <p:spPr>
          <a:xfrm>
            <a:off x="5925312" y="1883664"/>
            <a:ext cx="5486400" cy="329184"/>
          </a:xfrm>
          <a:prstGeom prst="rect">
            <a:avLst/>
          </a:prstGeom>
          <a:noFill/>
          <a:ln/>
        </p:spPr>
        <p:txBody>
          <a:bodyPr wrap="square" lIns="0" tIns="0" rIns="0" bIns="0" rtlCol="0" anchor="t"/>
          <a:lstStyle/>
          <a:p>
            <a:pPr indent="0" marL="0">
              <a:buNone/>
            </a:pPr>
            <a:r>
              <a:rPr lang="en-US" sz="1350" b="1" dirty="0">
                <a:solidFill>
                  <a:srgbClr val="16252C"/>
                </a:solidFill>
                <a:latin typeface="Georgia" pitchFamily="34" charset="0"/>
                <a:ea typeface="Georgia" pitchFamily="34" charset="-122"/>
                <a:cs typeface="Georgia" pitchFamily="34" charset="-120"/>
              </a:rPr>
              <a:t>DNA extraction batch: independent and partly collinear</a:t>
            </a:r>
            <a:endParaRPr lang="en-US" sz="1350" dirty="0"/>
          </a:p>
        </p:txBody>
      </p:sp>
      <p:sp>
        <p:nvSpPr>
          <p:cNvPr id="11" name="Text 8"/>
          <p:cNvSpPr/>
          <p:nvPr/>
        </p:nvSpPr>
        <p:spPr>
          <a:xfrm>
            <a:off x="5925312" y="2267712"/>
            <a:ext cx="5486400" cy="914400"/>
          </a:xfrm>
          <a:prstGeom prst="rect">
            <a:avLst/>
          </a:prstGeom>
          <a:noFill/>
          <a:ln/>
        </p:spPr>
        <p:txBody>
          <a:bodyPr wrap="square" lIns="0" tIns="0" rIns="0" bIns="0" rtlCol="0" anchor="t"/>
          <a:lstStyle/>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All 16 samples in the 18-11-06 batch are positive.</a:t>
            </a:r>
            <a:endParaRPr lang="en-US" sz="1100" dirty="0"/>
          </a:p>
          <a:p>
            <a:pPr indent="0" marL="0">
              <a:lnSpc>
                <a:spcPct val="112000"/>
              </a:lnSpc>
              <a:buNone/>
            </a:pPr>
            <a:endParaRPr lang="en-US" sz="1100" dirty="0"/>
          </a:p>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    Microbiome → predict batch          AUC 0.921</a:t>
            </a:r>
            <a:endParaRPr lang="en-US" sz="1100" dirty="0"/>
          </a:p>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    Within positives (label fixed)      AUC 0.940</a:t>
            </a:r>
            <a:endParaRPr lang="en-US" sz="1100" dirty="0"/>
          </a:p>
          <a:p>
            <a:pPr indent="0" marL="0">
              <a:lnSpc>
                <a:spcPct val="112000"/>
              </a:lnSpc>
              <a:buNone/>
            </a:pPr>
            <a:endParaRPr lang="en-US" sz="1100" dirty="0"/>
          </a:p>
          <a:p>
            <a:pPr indent="0" marL="0">
              <a:lnSpc>
                <a:spcPct val="112000"/>
              </a:lnSpc>
              <a:buNone/>
            </a:pPr>
            <a:r>
              <a:rPr lang="en-US" sz="1100" dirty="0">
                <a:solidFill>
                  <a:srgbClr val="7A2E14"/>
                </a:solidFill>
                <a:latin typeface="Calibri" pitchFamily="34" charset="0"/>
                <a:ea typeface="Calibri" pitchFamily="34" charset="-122"/>
                <a:cs typeface="Calibri" pitchFamily="34" charset="-120"/>
              </a:rPr>
              <a:t>The second figure is the telling one: with the label held constant the batch is still highly predictable.</a:t>
            </a:r>
            <a:endParaRPr lang="en-US" sz="1100" dirty="0"/>
          </a:p>
        </p:txBody>
      </p:sp>
      <p:sp>
        <p:nvSpPr>
          <p:cNvPr id="12" name="Shape 9"/>
          <p:cNvSpPr/>
          <p:nvPr/>
        </p:nvSpPr>
        <p:spPr>
          <a:xfrm>
            <a:off x="5669280" y="3493008"/>
            <a:ext cx="5943600" cy="1243584"/>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3" name="Shape 10"/>
          <p:cNvSpPr/>
          <p:nvPr/>
        </p:nvSpPr>
        <p:spPr>
          <a:xfrm>
            <a:off x="5669280" y="3493008"/>
            <a:ext cx="68580" cy="1243584"/>
          </a:xfrm>
          <a:prstGeom prst="rect">
            <a:avLst/>
          </a:prstGeom>
          <a:solidFill>
            <a:srgbClr val="8FB996"/>
          </a:solidFill>
          <a:ln/>
        </p:spPr>
      </p:sp>
      <p:sp>
        <p:nvSpPr>
          <p:cNvPr id="14" name="Text 11"/>
          <p:cNvSpPr/>
          <p:nvPr/>
        </p:nvSpPr>
        <p:spPr>
          <a:xfrm>
            <a:off x="5925312" y="3639312"/>
            <a:ext cx="5486400" cy="329184"/>
          </a:xfrm>
          <a:prstGeom prst="rect">
            <a:avLst/>
          </a:prstGeom>
          <a:noFill/>
          <a:ln/>
        </p:spPr>
        <p:txBody>
          <a:bodyPr wrap="square" lIns="0" tIns="0" rIns="0" bIns="0" rtlCol="0" anchor="t"/>
          <a:lstStyle/>
          <a:p>
            <a:pPr indent="0" marL="0">
              <a:buNone/>
            </a:pPr>
            <a:r>
              <a:rPr lang="en-US" sz="1350" b="1" dirty="0">
                <a:solidFill>
                  <a:srgbClr val="16252C"/>
                </a:solidFill>
                <a:latin typeface="Georgia" pitchFamily="34" charset="0"/>
                <a:ea typeface="Georgia" pitchFamily="34" charset="-122"/>
                <a:cs typeface="Georgia" pitchFamily="34" charset="-120"/>
              </a:rPr>
              <a:t>Negative control: sex, AUC 0.454</a:t>
            </a:r>
            <a:endParaRPr lang="en-US" sz="1350" dirty="0"/>
          </a:p>
        </p:txBody>
      </p:sp>
      <p:sp>
        <p:nvSpPr>
          <p:cNvPr id="15" name="Text 12"/>
          <p:cNvSpPr/>
          <p:nvPr/>
        </p:nvSpPr>
        <p:spPr>
          <a:xfrm>
            <a:off x="5925312" y="4023360"/>
            <a:ext cx="5486400" cy="585216"/>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Sex is balanced across the two groups and the microbiome predicts it at chance. The same pipeline applied to an unconfounded variable yields nothing — so the high AUCs above are not a methodological artefact.</a:t>
            </a:r>
            <a:endParaRPr lang="en-US" sz="1100" dirty="0"/>
          </a:p>
        </p:txBody>
      </p:sp>
      <p:sp>
        <p:nvSpPr>
          <p:cNvPr id="16" name="Shape 13"/>
          <p:cNvSpPr/>
          <p:nvPr/>
        </p:nvSpPr>
        <p:spPr>
          <a:xfrm>
            <a:off x="548640" y="4937760"/>
            <a:ext cx="11064240" cy="868680"/>
          </a:xfrm>
          <a:prstGeom prst="rect">
            <a:avLst/>
          </a:prstGeom>
          <a:solidFill>
            <a:srgbClr val="FBEDE7"/>
          </a:solidFill>
          <a:ln/>
        </p:spPr>
      </p:sp>
      <p:sp>
        <p:nvSpPr>
          <p:cNvPr id="17" name="Shape 14"/>
          <p:cNvSpPr/>
          <p:nvPr/>
        </p:nvSpPr>
        <p:spPr>
          <a:xfrm>
            <a:off x="548640" y="4937760"/>
            <a:ext cx="68580" cy="868680"/>
          </a:xfrm>
          <a:prstGeom prst="rect">
            <a:avLst/>
          </a:prstGeom>
          <a:solidFill>
            <a:srgbClr val="D2603A"/>
          </a:solidFill>
          <a:ln/>
        </p:spPr>
      </p:sp>
      <p:sp>
        <p:nvSpPr>
          <p:cNvPr id="18" name="Text 15"/>
          <p:cNvSpPr/>
          <p:nvPr/>
        </p:nvSpPr>
        <p:spPr>
          <a:xfrm>
            <a:off x="804672" y="5029200"/>
            <a:ext cx="10607040" cy="685800"/>
          </a:xfrm>
          <a:prstGeom prst="rect">
            <a:avLst/>
          </a:prstGeom>
          <a:noFill/>
          <a:ln/>
        </p:spPr>
        <p:txBody>
          <a:bodyPr wrap="square" lIns="0" tIns="0" rIns="0" bIns="0" rtlCol="0" anchor="t"/>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Each isolator holds exactly one infection status. That follows from the experimental design (controls and infected birds must be housed apart to prevent cross-infection), but the price is that isolator effect and infection effect are statistically inseparable — no bird exists in a cage containing both positives and negatives.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CONFOUNDING · DECISIVE TEST</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The pure cage effect nearly matches the infection effect</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14</a:t>
            </a:r>
            <a:endParaRPr lang="en-US" sz="1000" dirty="0"/>
          </a:p>
        </p:txBody>
      </p:sp>
      <p:sp>
        <p:nvSpPr>
          <p:cNvPr id="6" name="Text 4"/>
          <p:cNvSpPr/>
          <p:nvPr/>
        </p:nvSpPr>
        <p:spPr>
          <a:xfrm>
            <a:off x="548640" y="1298448"/>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Collinearity does not prevent quantification: CK/PA occupies isolators 3 and 4, so the 3-vs-4 contrast fixes strain, batch and infection status and varies only the cage.</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55648"/>
          <a:ext cx="11064240" cy="914400"/>
        </p:xfrm>
        <a:graphic>
          <a:graphicData uri="http://schemas.openxmlformats.org/drawingml/2006/table">
            <a:tbl>
              <a:tblPr/>
              <a:tblGrid>
                <a:gridCol w="2286000"/>
                <a:gridCol w="3749040"/>
                <a:gridCol w="914400"/>
                <a:gridCol w="1554480"/>
                <a:gridCol w="1645920"/>
                <a:gridCol w="914400"/>
              </a:tblGrid>
              <a:tr h="42062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Contrast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Held constant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Null max</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Isolator 3 vs 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CK/PA, batch 10-30, all positive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0.919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0.938</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0.0066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Isolator 5 vs 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TK/MN, batch 11-06, all positive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0.906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0.0166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420624">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Isolator 1 vs 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Mock, batch 10-30, all negative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0.900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0.969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0.0332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Text 5"/>
          <p:cNvSpPr/>
          <p:nvPr/>
        </p:nvSpPr>
        <p:spPr>
          <a:xfrm>
            <a:off x="1005840" y="3639312"/>
            <a:ext cx="3108960" cy="658368"/>
          </a:xfrm>
          <a:prstGeom prst="rect">
            <a:avLst/>
          </a:prstGeom>
          <a:noFill/>
          <a:ln/>
        </p:spPr>
        <p:txBody>
          <a:bodyPr wrap="square" lIns="0" tIns="0" rIns="0" bIns="0" rtlCol="0" anchor="ctr"/>
          <a:lstStyle/>
          <a:p>
            <a:pPr algn="ctr" indent="0" marL="0">
              <a:buNone/>
            </a:pPr>
            <a:r>
              <a:rPr lang="en-US" sz="4000" b="1" dirty="0">
                <a:solidFill>
                  <a:srgbClr val="D2603A"/>
                </a:solidFill>
                <a:latin typeface="Georgia" pitchFamily="34" charset="0"/>
                <a:ea typeface="Georgia" pitchFamily="34" charset="-122"/>
                <a:cs typeface="Georgia" pitchFamily="34" charset="-120"/>
              </a:rPr>
              <a:t>0.908</a:t>
            </a:r>
            <a:endParaRPr lang="en-US" sz="4000" dirty="0"/>
          </a:p>
        </p:txBody>
      </p:sp>
      <p:sp>
        <p:nvSpPr>
          <p:cNvPr id="9" name="Text 6"/>
          <p:cNvSpPr/>
          <p:nvPr/>
        </p:nvSpPr>
        <p:spPr>
          <a:xfrm>
            <a:off x="1005840" y="4315968"/>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Mean pure cage effect</a:t>
            </a:r>
            <a:endParaRPr lang="en-US" sz="1150" dirty="0"/>
          </a:p>
        </p:txBody>
      </p:sp>
      <p:sp>
        <p:nvSpPr>
          <p:cNvPr id="10" name="Text 7"/>
          <p:cNvSpPr/>
          <p:nvPr/>
        </p:nvSpPr>
        <p:spPr>
          <a:xfrm>
            <a:off x="1005840" y="4608576"/>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three contrasts</a:t>
            </a:r>
            <a:endParaRPr lang="en-US" sz="1000" dirty="0"/>
          </a:p>
        </p:txBody>
      </p:sp>
      <p:sp>
        <p:nvSpPr>
          <p:cNvPr id="11" name="Text 8"/>
          <p:cNvSpPr/>
          <p:nvPr/>
        </p:nvSpPr>
        <p:spPr>
          <a:xfrm>
            <a:off x="4572000" y="3639312"/>
            <a:ext cx="3108960" cy="658368"/>
          </a:xfrm>
          <a:prstGeom prst="rect">
            <a:avLst/>
          </a:prstGeom>
          <a:noFill/>
          <a:ln/>
        </p:spPr>
        <p:txBody>
          <a:bodyPr wrap="square" lIns="0" tIns="0" rIns="0" bIns="0" rtlCol="0" anchor="ctr"/>
          <a:lstStyle/>
          <a:p>
            <a:pPr algn="ctr" indent="0" marL="0">
              <a:buNone/>
            </a:pPr>
            <a:r>
              <a:rPr lang="en-US" sz="4000" b="1" dirty="0">
                <a:solidFill>
                  <a:srgbClr val="18707F"/>
                </a:solidFill>
                <a:latin typeface="Georgia" pitchFamily="34" charset="0"/>
                <a:ea typeface="Georgia" pitchFamily="34" charset="-122"/>
                <a:cs typeface="Georgia" pitchFamily="34" charset="-120"/>
              </a:rPr>
              <a:t>0.967</a:t>
            </a:r>
            <a:endParaRPr lang="en-US" sz="4000" dirty="0"/>
          </a:p>
        </p:txBody>
      </p:sp>
      <p:sp>
        <p:nvSpPr>
          <p:cNvPr id="12" name="Text 9"/>
          <p:cNvSpPr/>
          <p:nvPr/>
        </p:nvSpPr>
        <p:spPr>
          <a:xfrm>
            <a:off x="4572000" y="4315968"/>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Infection effect</a:t>
            </a:r>
            <a:endParaRPr lang="en-US" sz="1150" dirty="0"/>
          </a:p>
        </p:txBody>
      </p:sp>
      <p:sp>
        <p:nvSpPr>
          <p:cNvPr id="13" name="Text 10"/>
          <p:cNvSpPr/>
          <p:nvPr/>
        </p:nvSpPr>
        <p:spPr>
          <a:xfrm>
            <a:off x="4572000" y="4608576"/>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n=45, whole cohort</a:t>
            </a:r>
            <a:endParaRPr lang="en-US" sz="1000" dirty="0"/>
          </a:p>
        </p:txBody>
      </p:sp>
      <p:sp>
        <p:nvSpPr>
          <p:cNvPr id="14" name="Text 11"/>
          <p:cNvSpPr/>
          <p:nvPr/>
        </p:nvSpPr>
        <p:spPr>
          <a:xfrm>
            <a:off x="8138160" y="3639312"/>
            <a:ext cx="3108960" cy="658368"/>
          </a:xfrm>
          <a:prstGeom prst="rect">
            <a:avLst/>
          </a:prstGeom>
          <a:noFill/>
          <a:ln/>
        </p:spPr>
        <p:txBody>
          <a:bodyPr wrap="square" lIns="0" tIns="0" rIns="0" bIns="0" rtlCol="0" anchor="ctr"/>
          <a:lstStyle/>
          <a:p>
            <a:pPr algn="ctr" indent="0" marL="0">
              <a:buNone/>
            </a:pPr>
            <a:r>
              <a:rPr lang="en-US" sz="3600" b="1" dirty="0">
                <a:solidFill>
                  <a:srgbClr val="8FB996"/>
                </a:solidFill>
                <a:latin typeface="Georgia" pitchFamily="34" charset="0"/>
                <a:ea typeface="Georgia" pitchFamily="34" charset="-122"/>
                <a:cs typeface="Georgia" pitchFamily="34" charset="-120"/>
              </a:rPr>
              <a:t>3 / 3</a:t>
            </a:r>
            <a:endParaRPr lang="en-US" sz="3600" dirty="0"/>
          </a:p>
        </p:txBody>
      </p:sp>
      <p:sp>
        <p:nvSpPr>
          <p:cNvPr id="15" name="Text 12"/>
          <p:cNvSpPr/>
          <p:nvPr/>
        </p:nvSpPr>
        <p:spPr>
          <a:xfrm>
            <a:off x="8138160" y="4315968"/>
            <a:ext cx="3108960" cy="310896"/>
          </a:xfrm>
          <a:prstGeom prst="rect">
            <a:avLst/>
          </a:prstGeom>
          <a:noFill/>
          <a:ln/>
        </p:spPr>
        <p:txBody>
          <a:bodyPr wrap="square" lIns="0" tIns="0" rIns="0" bIns="0" rtlCol="0" anchor="ctr"/>
          <a:lstStyle/>
          <a:p>
            <a:pPr algn="ctr" indent="0" marL="0">
              <a:buNone/>
            </a:pPr>
            <a:r>
              <a:rPr lang="en-US" sz="1150" b="1" dirty="0">
                <a:solidFill>
                  <a:srgbClr val="16252C"/>
                </a:solidFill>
                <a:latin typeface="Calibri" pitchFamily="34" charset="0"/>
                <a:ea typeface="Calibri" pitchFamily="34" charset="-122"/>
                <a:cs typeface="Calibri" pitchFamily="34" charset="-120"/>
              </a:rPr>
              <a:t>Significant by permutation</a:t>
            </a:r>
            <a:endParaRPr lang="en-US" sz="1150" dirty="0"/>
          </a:p>
        </p:txBody>
      </p:sp>
      <p:sp>
        <p:nvSpPr>
          <p:cNvPr id="16" name="Text 13"/>
          <p:cNvSpPr/>
          <p:nvPr/>
        </p:nvSpPr>
        <p:spPr>
          <a:xfrm>
            <a:off x="8138160" y="4608576"/>
            <a:ext cx="3108960" cy="310896"/>
          </a:xfrm>
          <a:prstGeom prst="rect">
            <a:avLst/>
          </a:prstGeom>
          <a:noFill/>
          <a:ln/>
        </p:spPr>
        <p:txBody>
          <a:bodyPr wrap="square" lIns="0" tIns="0" rIns="0" bIns="0" rtlCol="0" anchor="ctr"/>
          <a:lstStyle/>
          <a:p>
            <a:pPr algn="ctr" indent="0" marL="0">
              <a:buNone/>
            </a:pPr>
            <a:r>
              <a:rPr lang="en-US" sz="1000" dirty="0">
                <a:solidFill>
                  <a:srgbClr val="5F7580"/>
                </a:solidFill>
                <a:latin typeface="Calibri" pitchFamily="34" charset="0"/>
                <a:ea typeface="Calibri" pitchFamily="34" charset="-122"/>
                <a:cs typeface="Calibri" pitchFamily="34" charset="-120"/>
              </a:rPr>
              <a:t>300 draws, all p&lt;0.05</a:t>
            </a:r>
            <a:endParaRPr lang="en-US" sz="1000" dirty="0"/>
          </a:p>
        </p:txBody>
      </p:sp>
      <p:sp>
        <p:nvSpPr>
          <p:cNvPr id="17" name="Shape 14"/>
          <p:cNvSpPr/>
          <p:nvPr/>
        </p:nvSpPr>
        <p:spPr>
          <a:xfrm>
            <a:off x="548640" y="4956048"/>
            <a:ext cx="5394960" cy="1078992"/>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8" name="Shape 15"/>
          <p:cNvSpPr/>
          <p:nvPr/>
        </p:nvSpPr>
        <p:spPr>
          <a:xfrm>
            <a:off x="548640" y="4956048"/>
            <a:ext cx="68580" cy="1078992"/>
          </a:xfrm>
          <a:prstGeom prst="rect">
            <a:avLst/>
          </a:prstGeom>
          <a:solidFill>
            <a:srgbClr val="18707F"/>
          </a:solidFill>
          <a:ln/>
        </p:spPr>
      </p:sp>
      <p:sp>
        <p:nvSpPr>
          <p:cNvPr id="19" name="Text 16"/>
          <p:cNvSpPr/>
          <p:nvPr/>
        </p:nvSpPr>
        <p:spPr>
          <a:xfrm>
            <a:off x="804672" y="5102352"/>
            <a:ext cx="4937760" cy="329184"/>
          </a:xfrm>
          <a:prstGeom prst="rect">
            <a:avLst/>
          </a:prstGeom>
          <a:noFill/>
          <a:ln/>
        </p:spPr>
        <p:txBody>
          <a:bodyPr wrap="square" lIns="0" tIns="0" rIns="0" bIns="0" rtlCol="0" anchor="t"/>
          <a:lstStyle/>
          <a:p>
            <a:pPr indent="0" marL="0">
              <a:buNone/>
            </a:pPr>
            <a:r>
              <a:rPr lang="en-US" sz="1350" b="1" dirty="0">
                <a:solidFill>
                  <a:srgbClr val="16252C"/>
                </a:solidFill>
                <a:latin typeface="Georgia" pitchFamily="34" charset="0"/>
                <a:ea typeface="Georgia" pitchFamily="34" charset="-122"/>
                <a:cs typeface="Georgia" pitchFamily="34" charset="-120"/>
              </a:rPr>
              <a:t>The cage effect is multivariate</a:t>
            </a:r>
            <a:endParaRPr lang="en-US" sz="1350" dirty="0"/>
          </a:p>
        </p:txBody>
      </p:sp>
      <p:sp>
        <p:nvSpPr>
          <p:cNvPr id="20" name="Text 17"/>
          <p:cNvSpPr/>
          <p:nvPr/>
        </p:nvSpPr>
        <p:spPr>
          <a:xfrm>
            <a:off x="804672" y="5486400"/>
            <a:ext cx="4937760" cy="420624"/>
          </a:xfrm>
          <a:prstGeom prst="rect">
            <a:avLst/>
          </a:prstGeom>
          <a:noFill/>
          <a:ln/>
        </p:spPr>
        <p:txBody>
          <a:bodyPr wrap="square" lIns="0" tIns="0" rIns="0" bIns="0" rtlCol="0" anchor="t"/>
          <a:lstStyle/>
          <a:p>
            <a:pPr indent="0" marL="0">
              <a:lnSpc>
                <a:spcPct val="112000"/>
              </a:lnSpc>
              <a:buNone/>
            </a:pPr>
            <a:r>
              <a:rPr lang="en-US" sz="1050" dirty="0">
                <a:solidFill>
                  <a:srgbClr val="5F7580"/>
                </a:solidFill>
                <a:latin typeface="Calibri" pitchFamily="34" charset="0"/>
                <a:ea typeface="Calibri" pitchFamily="34" charset="-122"/>
                <a:cs typeface="Calibri" pitchFamily="34" charset="-120"/>
              </a:rPr>
              <a:t>Per-taxon differential abundance finds only 0, 1 and 3 features at FDR&lt;0.05 across the three contrasts — barely any single genus is significant, yet the model reaches AUC 0.90. Cage-mates converge as whole communities.</a:t>
            </a:r>
            <a:endParaRPr lang="en-US" sz="1050" dirty="0"/>
          </a:p>
        </p:txBody>
      </p:sp>
      <p:sp>
        <p:nvSpPr>
          <p:cNvPr id="21" name="Shape 18"/>
          <p:cNvSpPr/>
          <p:nvPr/>
        </p:nvSpPr>
        <p:spPr>
          <a:xfrm>
            <a:off x="6217920" y="4956048"/>
            <a:ext cx="5394960" cy="1078992"/>
          </a:xfrm>
          <a:prstGeom prst="rect">
            <a:avLst/>
          </a:prstGeom>
          <a:solidFill>
            <a:srgbClr val="FBEDE7"/>
          </a:solidFill>
          <a:ln/>
        </p:spPr>
      </p:sp>
      <p:sp>
        <p:nvSpPr>
          <p:cNvPr id="22" name="Shape 19"/>
          <p:cNvSpPr/>
          <p:nvPr/>
        </p:nvSpPr>
        <p:spPr>
          <a:xfrm>
            <a:off x="6217920" y="4956048"/>
            <a:ext cx="68580" cy="1078992"/>
          </a:xfrm>
          <a:prstGeom prst="rect">
            <a:avLst/>
          </a:prstGeom>
          <a:solidFill>
            <a:srgbClr val="D2603A"/>
          </a:solidFill>
          <a:ln/>
        </p:spPr>
      </p:sp>
      <p:sp>
        <p:nvSpPr>
          <p:cNvPr id="23" name="Text 20"/>
          <p:cNvSpPr/>
          <p:nvPr/>
        </p:nvSpPr>
        <p:spPr>
          <a:xfrm>
            <a:off x="6473952" y="5047488"/>
            <a:ext cx="4937760" cy="896112"/>
          </a:xfrm>
          <a:prstGeom prst="rect">
            <a:avLst/>
          </a:prstGeom>
          <a:noFill/>
          <a:ln/>
        </p:spPr>
        <p:txBody>
          <a:bodyPr wrap="square" lIns="0" tIns="0" rIns="0" bIns="0" rtlCol="0" anchor="t"/>
          <a:lstStyle/>
          <a:p>
            <a:pPr indent="0" marL="0">
              <a:lnSpc>
                <a:spcPct val="110000"/>
              </a:lnSpc>
              <a:buNone/>
            </a:pPr>
            <a:r>
              <a:rPr lang="en-US" sz="1050" dirty="0">
                <a:solidFill>
                  <a:srgbClr val="7A2E14"/>
                </a:solidFill>
                <a:latin typeface="Calibri" pitchFamily="34" charset="0"/>
                <a:ea typeface="Calibri" pitchFamily="34" charset="-122"/>
                <a:cs typeface="Calibri" pitchFamily="34" charset="-120"/>
              </a:rPr>
              <a:t>Sample-size caveat: the cage estimates rest on n=16 or 13, with null SDs of 0.19–0.22. We can say 0.908 and 0.967 are the same order of magnitude; we cannot say which is larger.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BIOLOGY · DIFFERENTIAL ABUNDANCE</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Driving taxa: one extra screen for cage effect</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15</a:t>
            </a:r>
            <a:endParaRPr lang="en-US" sz="1000" dirty="0"/>
          </a:p>
        </p:txBody>
      </p:sp>
      <p:sp>
        <p:nvSpPr>
          <p:cNvPr id="6" name="Text 4"/>
          <p:cNvSpPr/>
          <p:nvPr/>
        </p:nvSpPr>
        <p:spPr>
          <a:xfrm>
            <a:off x="548640" y="1298448"/>
            <a:ext cx="11064240" cy="320040"/>
          </a:xfrm>
          <a:prstGeom prst="rect">
            <a:avLst/>
          </a:prstGeom>
          <a:noFill/>
          <a:ln/>
        </p:spPr>
        <p:txBody>
          <a:bodyPr wrap="square" lIns="0" tIns="0" rIns="0" bIns="0" rtlCol="0" anchor="ctr"/>
          <a:lstStyle/>
          <a:p>
            <a:pPr indent="0" marL="0">
              <a:buNone/>
            </a:pPr>
            <a:r>
              <a:rPr lang="en-US" sz="1250" dirty="0">
                <a:solidFill>
                  <a:srgbClr val="5F7580"/>
                </a:solidFill>
                <a:latin typeface="Calibri" pitchFamily="34" charset="0"/>
                <a:ea typeface="Calibri" pitchFamily="34" charset="-122"/>
                <a:cs typeface="Calibri" pitchFamily="34" charset="-120"/>
              </a:rPr>
              <a:t>Of 62 features, 19 reach FDR&lt;0.05; intersecting with permutation importance leaves 11; removing those that already differ between isolators within the positives leaves 7.</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651760"/>
                <a:gridCol w="2743200"/>
                <a:gridCol w="1463040"/>
                <a:gridCol w="1554480"/>
                <a:gridCol w="1280160"/>
                <a:gridCol w="1371600"/>
              </a:tblGrid>
              <a:tr h="33832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Genus</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Direction</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Importance</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FDR</a:t>
                      </a:r>
                      <a:endParaRPr lang="en-US" sz="110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0B3C49"/>
                    </a:solidFill>
                  </a:tcPr>
                </a:tc>
              </a:tr>
              <a:tr h="33832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HT002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Lactobacillaceae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0.0130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−3.89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0.0057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3832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Pediococcus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Lactobacillaceae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0.0129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+4.32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0.0010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3832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(unnamed genus)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Lactobacillaceae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0.0064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−4.15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0.0017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3832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Incertae_Sedis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0.0022</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−2.60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0.0499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3832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Weissella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Lactobacillaceae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E4F0F0"/>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0.0020</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−3.56</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0.0087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38328">
                <a:tc>
                  <a:txBody>
                    <a:bodyPr/>
                    <a:lstStyle/>
                    <a:p>
                      <a:pPr algn="ctr" indent="0" marL="0">
                        <a:buNone/>
                      </a:pPr>
                      <a:r>
                        <a:rPr lang="en-US" sz="1150" b="1" dirty="0">
                          <a:solidFill>
                            <a:srgbClr val="16252C"/>
                          </a:solidFill>
                          <a:latin typeface="Calibri" pitchFamily="34" charset="0"/>
                          <a:ea typeface="Calibri" pitchFamily="34" charset="-122"/>
                          <a:cs typeface="Calibri" pitchFamily="34" charset="-120"/>
                        </a:rPr>
                        <a:t>Escherichia-Shigella</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Enterobacteriaceae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0.0015</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+5.64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0.0004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r h="338328">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Pseudomonas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Pseudomonadaceae</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b="1" dirty="0">
                          <a:solidFill>
                            <a:srgbClr val="D2603A"/>
                          </a:solidFill>
                          <a:latin typeface="Calibri" pitchFamily="34" charset="0"/>
                          <a:ea typeface="Calibri" pitchFamily="34" charset="-122"/>
                          <a:cs typeface="Calibri" pitchFamily="34" charset="-120"/>
                        </a:rPr>
                        <a:t>Pos↑</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solidFill>
                      <a:srgbClr val="FBEDE7"/>
                    </a:solidFill>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0.00004</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+3.49</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c>
                  <a:txBody>
                    <a:bodyPr/>
                    <a:lstStyle/>
                    <a:p>
                      <a:pPr algn="ctr" indent="0" marL="0">
                        <a:buNone/>
                      </a:pPr>
                      <a:r>
                        <a:rPr lang="en-US" sz="1150" dirty="0">
                          <a:solidFill>
                            <a:srgbClr val="16252C"/>
                          </a:solidFill>
                          <a:latin typeface="Calibri" pitchFamily="34" charset="0"/>
                          <a:ea typeface="Calibri" pitchFamily="34" charset="-122"/>
                          <a:cs typeface="Calibri" pitchFamily="34" charset="-120"/>
                        </a:rPr>
                        <a:t>0.0057</a:t>
                      </a:r>
                      <a:endParaRPr lang="en-US" sz="1150" dirty="0">
                        <a:latin typeface="Calibri" charset="0"/>
                        <a:ea typeface="Calibri" charset="0"/>
                        <a:cs typeface="Calibri" charset="0"/>
                      </a:endParaRPr>
                    </a:p>
                  </a:txBody>
                  <a:tcPr marL="91440" marR="91440" marT="45720" marB="45720" anchor="ctr">
                    <a:lnL w="6350" cap="flat" cmpd="sng" algn="ctr">
                      <a:solidFill>
                        <a:srgbClr val="DDE5E8"/>
                      </a:solidFill>
                      <a:prstDash val="solid"/>
                      <a:round/>
                      <a:headEnd type="none" w="med" len="med"/>
                      <a:tailEnd type="none" w="med" len="med"/>
                    </a:lnL>
                    <a:lnR w="6350" cap="flat" cmpd="sng" algn="ctr">
                      <a:solidFill>
                        <a:srgbClr val="DDE5E8"/>
                      </a:solidFill>
                      <a:prstDash val="solid"/>
                      <a:round/>
                      <a:headEnd type="none" w="med" len="med"/>
                      <a:tailEnd type="none" w="med" len="med"/>
                    </a:lnR>
                    <a:lnT w="6350" cap="flat" cmpd="sng" algn="ctr">
                      <a:solidFill>
                        <a:srgbClr val="DDE5E8"/>
                      </a:solidFill>
                      <a:prstDash val="solid"/>
                      <a:round/>
                      <a:headEnd type="none" w="med" len="med"/>
                      <a:tailEnd type="none" w="med" len="med"/>
                    </a:lnT>
                    <a:lnB w="6350" cap="flat" cmpd="sng" algn="ctr">
                      <a:solidFill>
                        <a:srgbClr val="DDE5E8"/>
                      </a:solidFill>
                      <a:prstDash val="solid"/>
                      <a:round/>
                      <a:headEnd type="none" w="med" len="med"/>
                      <a:tailEnd type="none" w="med" len="med"/>
                    </a:lnB>
                  </a:tcPr>
                </a:tc>
              </a:tr>
            </a:tbl>
          </a:graphicData>
        </a:graphic>
      </p:graphicFrame>
      <p:sp>
        <p:nvSpPr>
          <p:cNvPr id="8" name="Shape 5"/>
          <p:cNvSpPr/>
          <p:nvPr/>
        </p:nvSpPr>
        <p:spPr>
          <a:xfrm>
            <a:off x="548640" y="4572000"/>
            <a:ext cx="5394960" cy="13258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9" name="Shape 6"/>
          <p:cNvSpPr/>
          <p:nvPr/>
        </p:nvSpPr>
        <p:spPr>
          <a:xfrm>
            <a:off x="548640" y="4572000"/>
            <a:ext cx="68580" cy="1325880"/>
          </a:xfrm>
          <a:prstGeom prst="rect">
            <a:avLst/>
          </a:prstGeom>
          <a:solidFill>
            <a:srgbClr val="8FB996"/>
          </a:solidFill>
          <a:ln/>
        </p:spPr>
      </p:sp>
      <p:sp>
        <p:nvSpPr>
          <p:cNvPr id="10" name="Text 7"/>
          <p:cNvSpPr/>
          <p:nvPr/>
        </p:nvSpPr>
        <p:spPr>
          <a:xfrm>
            <a:off x="804672" y="4718304"/>
            <a:ext cx="4937760" cy="329184"/>
          </a:xfrm>
          <a:prstGeom prst="rect">
            <a:avLst/>
          </a:prstGeom>
          <a:noFill/>
          <a:ln/>
        </p:spPr>
        <p:txBody>
          <a:bodyPr wrap="square" lIns="0" tIns="0" rIns="0" bIns="0" rtlCol="0" anchor="t"/>
          <a:lstStyle/>
          <a:p>
            <a:pPr indent="0" marL="0">
              <a:buNone/>
            </a:pPr>
            <a:r>
              <a:rPr lang="en-US" sz="1350" b="1" dirty="0">
                <a:solidFill>
                  <a:srgbClr val="16252C"/>
                </a:solidFill>
                <a:latin typeface="Georgia" pitchFamily="34" charset="0"/>
                <a:ea typeface="Georgia" pitchFamily="34" charset="-122"/>
                <a:cs typeface="Georgia" pitchFamily="34" charset="-120"/>
              </a:rPr>
              <a:t>The pattern matches immunological expectation</a:t>
            </a:r>
            <a:endParaRPr lang="en-US" sz="1350" dirty="0"/>
          </a:p>
        </p:txBody>
      </p:sp>
      <p:sp>
        <p:nvSpPr>
          <p:cNvPr id="11" name="Text 8"/>
          <p:cNvSpPr/>
          <p:nvPr/>
        </p:nvSpPr>
        <p:spPr>
          <a:xfrm>
            <a:off x="804672" y="5102352"/>
            <a:ext cx="4937760" cy="667512"/>
          </a:xfrm>
          <a:prstGeom prst="rect">
            <a:avLst/>
          </a:prstGeom>
          <a:noFill/>
          <a:ln/>
        </p:spPr>
        <p:txBody>
          <a:bodyPr wrap="square" lIns="0" tIns="0" rIns="0" bIns="0" rtlCol="0" anchor="t"/>
          <a:lstStyle/>
          <a:p>
            <a:pPr indent="0" marL="0">
              <a:lnSpc>
                <a:spcPct val="112000"/>
              </a:lnSpc>
              <a:buNone/>
            </a:pPr>
            <a:r>
              <a:rPr lang="en-US" sz="1100" dirty="0">
                <a:solidFill>
                  <a:srgbClr val="5F7580"/>
                </a:solidFill>
                <a:latin typeface="Calibri" pitchFamily="34" charset="0"/>
                <a:ea typeface="Calibri" pitchFamily="34" charset="-122"/>
                <a:cs typeface="Calibri" pitchFamily="34" charset="-120"/>
              </a:rPr>
              <a:t>Three of the four Lactobacillaceae genera fall in infected birds while the opportunistic pathogens Escherichia-Shigella and Pseudomonas rise — the classic dysbiosis signature of commensal loss and opportunist expansion.</a:t>
            </a:r>
            <a:endParaRPr lang="en-US" sz="1100" dirty="0"/>
          </a:p>
        </p:txBody>
      </p:sp>
      <p:sp>
        <p:nvSpPr>
          <p:cNvPr id="12" name="Shape 9"/>
          <p:cNvSpPr/>
          <p:nvPr/>
        </p:nvSpPr>
        <p:spPr>
          <a:xfrm>
            <a:off x="6217920" y="4572000"/>
            <a:ext cx="5394960" cy="1325880"/>
          </a:xfrm>
          <a:prstGeom prst="rect">
            <a:avLst/>
          </a:prstGeom>
          <a:solidFill>
            <a:srgbClr val="FBEDE7"/>
          </a:solidFill>
          <a:ln/>
        </p:spPr>
      </p:sp>
      <p:sp>
        <p:nvSpPr>
          <p:cNvPr id="13" name="Shape 10"/>
          <p:cNvSpPr/>
          <p:nvPr/>
        </p:nvSpPr>
        <p:spPr>
          <a:xfrm>
            <a:off x="6217920" y="4572000"/>
            <a:ext cx="68580" cy="1325880"/>
          </a:xfrm>
          <a:prstGeom prst="rect">
            <a:avLst/>
          </a:prstGeom>
          <a:solidFill>
            <a:srgbClr val="D2603A"/>
          </a:solidFill>
          <a:ln/>
        </p:spPr>
      </p:sp>
      <p:sp>
        <p:nvSpPr>
          <p:cNvPr id="14" name="Text 11"/>
          <p:cNvSpPr/>
          <p:nvPr/>
        </p:nvSpPr>
        <p:spPr>
          <a:xfrm>
            <a:off x="6473952" y="4663440"/>
            <a:ext cx="4937760" cy="1143000"/>
          </a:xfrm>
          <a:prstGeom prst="rect">
            <a:avLst/>
          </a:prstGeom>
          <a:noFill/>
          <a:ln/>
        </p:spPr>
        <p:txBody>
          <a:bodyPr wrap="square" lIns="0" tIns="0" rIns="0" bIns="0" rtlCol="0" anchor="t"/>
          <a:lstStyle/>
          <a:p>
            <a:pPr indent="0" marL="0">
              <a:lnSpc>
                <a:spcPct val="110000"/>
              </a:lnSpc>
              <a:buNone/>
            </a:pPr>
            <a:r>
              <a:rPr lang="en-US" sz="1100" dirty="0">
                <a:solidFill>
                  <a:srgbClr val="7A2E14"/>
                </a:solidFill>
                <a:latin typeface="Calibri" pitchFamily="34" charset="0"/>
                <a:ea typeface="Calibri" pitchFamily="34" charset="-122"/>
                <a:cs typeface="Calibri" pitchFamily="34" charset="-120"/>
              </a:rPr>
              <a:t>The strongest cautionary case, excluded: Negativibacillus has the highest importance (0.0133), t=+5.87 and FDR&lt;0.0001 — on those two columns alone it would look like the best biomarker. But it also differs significantly across the four isolators that are all positive, so it cannot be attributed to infection.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FB996"/>
          </a:solidFill>
          <a:ln/>
        </p:spPr>
      </p:sp>
      <p:sp>
        <p:nvSpPr>
          <p:cNvPr id="3" name="Text 1"/>
          <p:cNvSpPr/>
          <p:nvPr/>
        </p:nvSpPr>
        <p:spPr>
          <a:xfrm>
            <a:off x="1005840" y="2057400"/>
            <a:ext cx="2011680" cy="1463040"/>
          </a:xfrm>
          <a:prstGeom prst="rect">
            <a:avLst/>
          </a:prstGeom>
          <a:noFill/>
          <a:ln/>
        </p:spPr>
        <p:txBody>
          <a:bodyPr wrap="square" lIns="0" tIns="0" rIns="0" bIns="0" rtlCol="0" anchor="ctr"/>
          <a:lstStyle/>
          <a:p>
            <a:pPr indent="0" marL="0">
              <a:buNone/>
            </a:pPr>
            <a:r>
              <a:rPr lang="en-US" sz="9600" b="1" dirty="0">
                <a:solidFill>
                  <a:srgbClr val="4E9FAD"/>
                </a:solidFill>
                <a:latin typeface="Georgia" pitchFamily="34" charset="0"/>
                <a:ea typeface="Georgia" pitchFamily="34" charset="-122"/>
                <a:cs typeface="Georgia" pitchFamily="34" charset="-120"/>
              </a:rPr>
              <a:t>03</a:t>
            </a:r>
            <a:endParaRPr lang="en-US" sz="9600" dirty="0"/>
          </a:p>
        </p:txBody>
      </p:sp>
      <p:sp>
        <p:nvSpPr>
          <p:cNvPr id="4" name="Text 2"/>
          <p:cNvSpPr/>
          <p:nvPr/>
        </p:nvSpPr>
        <p:spPr>
          <a:xfrm>
            <a:off x="2834640" y="2286000"/>
            <a:ext cx="8412480" cy="8686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Conclusions</a:t>
            </a:r>
            <a:endParaRPr lang="en-US" sz="3600" dirty="0"/>
          </a:p>
        </p:txBody>
      </p:sp>
      <p:sp>
        <p:nvSpPr>
          <p:cNvPr id="5" name="Text 3"/>
          <p:cNvSpPr/>
          <p:nvPr/>
        </p:nvSpPr>
        <p:spPr>
          <a:xfrm>
            <a:off x="2880360" y="3200400"/>
            <a:ext cx="8229600" cy="822960"/>
          </a:xfrm>
          <a:prstGeom prst="rect">
            <a:avLst/>
          </a:prstGeom>
          <a:noFill/>
          <a:ln/>
        </p:spPr>
        <p:txBody>
          <a:bodyPr wrap="square" lIns="0" tIns="0" rIns="0" bIns="0" rtlCol="0" anchor="ctr"/>
          <a:lstStyle/>
          <a:p>
            <a:pPr indent="0" marL="0">
              <a:buNone/>
            </a:pPr>
            <a:r>
              <a:rPr lang="en-US" sz="1500" dirty="0">
                <a:solidFill>
                  <a:srgbClr val="8FB996"/>
                </a:solidFill>
                <a:latin typeface="Calibri" pitchFamily="34" charset="0"/>
                <a:ea typeface="Calibri" pitchFamily="34" charset="-122"/>
                <a:cs typeface="Calibri" pitchFamily="34" charset="-120"/>
              </a:rPr>
              <a:t>What merging costs, and what to do next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707F"/>
          </a:solidFill>
          <a:ln/>
        </p:spPr>
      </p:sp>
      <p:sp>
        <p:nvSpPr>
          <p:cNvPr id="3" name="Text 1"/>
          <p:cNvSpPr/>
          <p:nvPr/>
        </p:nvSpPr>
        <p:spPr>
          <a:xfrm>
            <a:off x="548640" y="310896"/>
            <a:ext cx="7315200" cy="256032"/>
          </a:xfrm>
          <a:prstGeom prst="rect">
            <a:avLst/>
          </a:prstGeom>
          <a:noFill/>
          <a:ln/>
        </p:spPr>
        <p:txBody>
          <a:bodyPr wrap="square" lIns="0" tIns="0" rIns="0" bIns="0" rtlCol="0" anchor="ctr"/>
          <a:lstStyle/>
          <a:p>
            <a:pPr indent="0" marL="0">
              <a:buNone/>
            </a:pPr>
            <a:r>
              <a:rPr lang="en-US" sz="1100" b="1" spc="200" kern="0" dirty="0">
                <a:solidFill>
                  <a:srgbClr val="18707F"/>
                </a:solidFill>
                <a:latin typeface="Calibri" pitchFamily="34" charset="0"/>
                <a:ea typeface="Calibri" pitchFamily="34" charset="-122"/>
                <a:cs typeface="Calibri" pitchFamily="34" charset="-120"/>
              </a:rPr>
              <a:t>CONCLUSIONS</a:t>
            </a:r>
            <a:endParaRPr lang="en-US" sz="1100" dirty="0"/>
          </a:p>
        </p:txBody>
      </p:sp>
      <p:sp>
        <p:nvSpPr>
          <p:cNvPr id="4" name="Text 2"/>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6252C"/>
                </a:solidFill>
                <a:latin typeface="Georgia" pitchFamily="34" charset="0"/>
                <a:ea typeface="Georgia" pitchFamily="34" charset="-122"/>
                <a:cs typeface="Georgia" pitchFamily="34" charset="-120"/>
              </a:rPr>
              <a:t>Do not merge; model the turkey cohort alone</a:t>
            </a:r>
            <a:endParaRPr lang="en-US" sz="2800" dirty="0"/>
          </a:p>
        </p:txBody>
      </p:sp>
      <p:sp>
        <p:nvSpPr>
          <p:cNvPr id="5" name="Text 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5F7580"/>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48640" y="1463040"/>
            <a:ext cx="11064240" cy="13716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7" name="Shape 5"/>
          <p:cNvSpPr/>
          <p:nvPr/>
        </p:nvSpPr>
        <p:spPr>
          <a:xfrm>
            <a:off x="548640" y="1463040"/>
            <a:ext cx="68580" cy="1371600"/>
          </a:xfrm>
          <a:prstGeom prst="rect">
            <a:avLst/>
          </a:prstGeom>
          <a:solidFill>
            <a:srgbClr val="D2603A"/>
          </a:solidFill>
          <a:ln/>
        </p:spPr>
      </p:sp>
      <p:sp>
        <p:nvSpPr>
          <p:cNvPr id="8" name="Shape 6"/>
          <p:cNvSpPr/>
          <p:nvPr/>
        </p:nvSpPr>
        <p:spPr>
          <a:xfrm>
            <a:off x="868680" y="1773936"/>
            <a:ext cx="566928" cy="566928"/>
          </a:xfrm>
          <a:prstGeom prst="ellipse">
            <a:avLst/>
          </a:prstGeom>
          <a:solidFill>
            <a:srgbClr val="0B3C49"/>
          </a:solidFill>
          <a:ln/>
        </p:spPr>
      </p:sp>
      <p:sp>
        <p:nvSpPr>
          <p:cNvPr id="9" name="Text 7"/>
          <p:cNvSpPr/>
          <p:nvPr/>
        </p:nvSpPr>
        <p:spPr>
          <a:xfrm>
            <a:off x="868680" y="1847088"/>
            <a:ext cx="56692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691640" y="1645920"/>
            <a:ext cx="9601200" cy="329184"/>
          </a:xfrm>
          <a:prstGeom prst="rect">
            <a:avLst/>
          </a:prstGeom>
          <a:noFill/>
          <a:ln/>
        </p:spPr>
        <p:txBody>
          <a:bodyPr wrap="square" lIns="0" tIns="0" rIns="0" bIns="0" rtlCol="0" anchor="ctr"/>
          <a:lstStyle/>
          <a:p>
            <a:pPr indent="0" marL="0">
              <a:buNone/>
            </a:pPr>
            <a:r>
              <a:rPr lang="en-US" sz="1450" b="1" dirty="0">
                <a:solidFill>
                  <a:srgbClr val="16252C"/>
                </a:solidFill>
                <a:latin typeface="Georgia" pitchFamily="34" charset="0"/>
                <a:ea typeface="Georgia" pitchFamily="34" charset="-122"/>
                <a:cs typeface="Georgia" pitchFamily="34" charset="-120"/>
              </a:rPr>
              <a:t>All five metrics fall on merging</a:t>
            </a:r>
            <a:endParaRPr lang="en-US" sz="1450" dirty="0"/>
          </a:p>
        </p:txBody>
      </p:sp>
      <p:sp>
        <p:nvSpPr>
          <p:cNvPr id="11" name="Text 9"/>
          <p:cNvSpPr/>
          <p:nvPr/>
        </p:nvSpPr>
        <p:spPr>
          <a:xfrm>
            <a:off x="1691640" y="2011680"/>
            <a:ext cx="9601200" cy="731520"/>
          </a:xfrm>
          <a:prstGeom prst="rect">
            <a:avLst/>
          </a:prstGeom>
          <a:noFill/>
          <a:ln/>
        </p:spPr>
        <p:txBody>
          <a:bodyPr wrap="square" lIns="0" tIns="0" rIns="0" bIns="0" rtlCol="0" anchor="ctr"/>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AUC −0.035, accuracy −0.035, specificity −0.096, F1 −0.024, MCC −0.071. The lone rise in sensitivity (+0.003) is inflated by the positive rate and is not an exception.</a:t>
            </a:r>
            <a:endParaRPr lang="en-US" sz="1150" dirty="0"/>
          </a:p>
        </p:txBody>
      </p:sp>
      <p:sp>
        <p:nvSpPr>
          <p:cNvPr id="12" name="Shape 10"/>
          <p:cNvSpPr/>
          <p:nvPr/>
        </p:nvSpPr>
        <p:spPr>
          <a:xfrm>
            <a:off x="548640" y="3035808"/>
            <a:ext cx="11064240" cy="13716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3" name="Shape 11"/>
          <p:cNvSpPr/>
          <p:nvPr/>
        </p:nvSpPr>
        <p:spPr>
          <a:xfrm>
            <a:off x="548640" y="3035808"/>
            <a:ext cx="68580" cy="1371600"/>
          </a:xfrm>
          <a:prstGeom prst="rect">
            <a:avLst/>
          </a:prstGeom>
          <a:solidFill>
            <a:srgbClr val="D2603A"/>
          </a:solidFill>
          <a:ln/>
        </p:spPr>
      </p:sp>
      <p:sp>
        <p:nvSpPr>
          <p:cNvPr id="14" name="Shape 12"/>
          <p:cNvSpPr/>
          <p:nvPr/>
        </p:nvSpPr>
        <p:spPr>
          <a:xfrm>
            <a:off x="868680" y="3346704"/>
            <a:ext cx="566928" cy="566928"/>
          </a:xfrm>
          <a:prstGeom prst="ellipse">
            <a:avLst/>
          </a:prstGeom>
          <a:solidFill>
            <a:srgbClr val="0B3C49"/>
          </a:solidFill>
          <a:ln/>
        </p:spPr>
      </p:sp>
      <p:sp>
        <p:nvSpPr>
          <p:cNvPr id="15" name="Text 13"/>
          <p:cNvSpPr/>
          <p:nvPr/>
        </p:nvSpPr>
        <p:spPr>
          <a:xfrm>
            <a:off x="868680" y="3419856"/>
            <a:ext cx="56692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6" name="Text 14"/>
          <p:cNvSpPr/>
          <p:nvPr/>
        </p:nvSpPr>
        <p:spPr>
          <a:xfrm>
            <a:off x="1691640" y="3218688"/>
            <a:ext cx="9601200" cy="329184"/>
          </a:xfrm>
          <a:prstGeom prst="rect">
            <a:avLst/>
          </a:prstGeom>
          <a:noFill/>
          <a:ln/>
        </p:spPr>
        <p:txBody>
          <a:bodyPr wrap="square" lIns="0" tIns="0" rIns="0" bIns="0" rtlCol="0" anchor="ctr"/>
          <a:lstStyle/>
          <a:p>
            <a:pPr indent="0" marL="0">
              <a:buNone/>
            </a:pPr>
            <a:r>
              <a:rPr lang="en-US" sz="1450" b="1" dirty="0">
                <a:solidFill>
                  <a:srgbClr val="16252C"/>
                </a:solidFill>
                <a:latin typeface="Georgia" pitchFamily="34" charset="0"/>
                <a:ea typeface="Georgia" pitchFamily="34" charset="-122"/>
                <a:cs typeface="Georgia" pitchFamily="34" charset="-120"/>
              </a:rPr>
              <a:t>Six samples cannot support any cross-host claim</a:t>
            </a:r>
            <a:endParaRPr lang="en-US" sz="1450" dirty="0"/>
          </a:p>
        </p:txBody>
      </p:sp>
      <p:sp>
        <p:nvSpPr>
          <p:cNvPr id="17" name="Text 15"/>
          <p:cNvSpPr/>
          <p:nvPr/>
        </p:nvSpPr>
        <p:spPr>
          <a:xfrm>
            <a:off x="1691640" y="3584448"/>
            <a:ext cx="9601200" cy="731520"/>
          </a:xfrm>
          <a:prstGeom prst="rect">
            <a:avLst/>
          </a:prstGeom>
          <a:noFill/>
          <a:ln/>
        </p:spPr>
        <p:txBody>
          <a:bodyPr wrap="square" lIns="0" tIns="0" rIns="0" bIns="0" rtlCol="0" anchor="ctr"/>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PRJNA379944 holds 3 positives and 3 negatives. If the goal is cross-host generalisation, the right design is train-on-turkey, test-on-chicken rather than merging — but 6 samples cannot support that either, since the AUC would be decided by individual birds.</a:t>
            </a:r>
            <a:endParaRPr lang="en-US" sz="1150" dirty="0"/>
          </a:p>
        </p:txBody>
      </p:sp>
      <p:sp>
        <p:nvSpPr>
          <p:cNvPr id="18" name="Shape 16"/>
          <p:cNvSpPr/>
          <p:nvPr/>
        </p:nvSpPr>
        <p:spPr>
          <a:xfrm>
            <a:off x="548640" y="4608576"/>
            <a:ext cx="11064240" cy="1371600"/>
          </a:xfrm>
          <a:prstGeom prst="rect">
            <a:avLst/>
          </a:prstGeom>
          <a:solidFill>
            <a:srgbClr val="FBEDE7"/>
          </a:solidFill>
          <a:ln/>
          <a:effectLst>
            <a:outerShdw sx="100000" sy="100000" kx="0" ky="0" algn="bl" rotWithShape="0" blurRad="101600" dist="25400" dir="8100000">
              <a:srgbClr val="000000">
                <a:alpha val="10000"/>
              </a:srgbClr>
            </a:outerShdw>
          </a:effectLst>
        </p:spPr>
      </p:sp>
      <p:sp>
        <p:nvSpPr>
          <p:cNvPr id="19" name="Shape 17"/>
          <p:cNvSpPr/>
          <p:nvPr/>
        </p:nvSpPr>
        <p:spPr>
          <a:xfrm>
            <a:off x="548640" y="4608576"/>
            <a:ext cx="68580" cy="1371600"/>
          </a:xfrm>
          <a:prstGeom prst="rect">
            <a:avLst/>
          </a:prstGeom>
          <a:solidFill>
            <a:srgbClr val="D2603A"/>
          </a:solidFill>
          <a:ln/>
        </p:spPr>
      </p:sp>
      <p:sp>
        <p:nvSpPr>
          <p:cNvPr id="20" name="Shape 18"/>
          <p:cNvSpPr/>
          <p:nvPr/>
        </p:nvSpPr>
        <p:spPr>
          <a:xfrm>
            <a:off x="868680" y="4919472"/>
            <a:ext cx="566928" cy="566928"/>
          </a:xfrm>
          <a:prstGeom prst="ellipse">
            <a:avLst/>
          </a:prstGeom>
          <a:solidFill>
            <a:srgbClr val="0B3C49"/>
          </a:solidFill>
          <a:ln/>
        </p:spPr>
      </p:sp>
      <p:sp>
        <p:nvSpPr>
          <p:cNvPr id="21" name="Text 19"/>
          <p:cNvSpPr/>
          <p:nvPr/>
        </p:nvSpPr>
        <p:spPr>
          <a:xfrm>
            <a:off x="868680" y="4992624"/>
            <a:ext cx="56692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2" name="Text 20"/>
          <p:cNvSpPr/>
          <p:nvPr/>
        </p:nvSpPr>
        <p:spPr>
          <a:xfrm>
            <a:off x="1691640" y="4791456"/>
            <a:ext cx="9601200" cy="329184"/>
          </a:xfrm>
          <a:prstGeom prst="rect">
            <a:avLst/>
          </a:prstGeom>
          <a:noFill/>
          <a:ln/>
        </p:spPr>
        <p:txBody>
          <a:bodyPr wrap="square" lIns="0" tIns="0" rIns="0" bIns="0" rtlCol="0" anchor="ctr"/>
          <a:lstStyle/>
          <a:p>
            <a:pPr indent="0" marL="0">
              <a:buNone/>
            </a:pPr>
            <a:r>
              <a:rPr lang="en-US" sz="1450" b="1" dirty="0">
                <a:solidFill>
                  <a:srgbClr val="16252C"/>
                </a:solidFill>
                <a:latin typeface="Georgia" pitchFamily="34" charset="0"/>
                <a:ea typeface="Georgia" pitchFamily="34" charset="-122"/>
                <a:cs typeface="Georgia" pitchFamily="34" charset="-120"/>
              </a:rPr>
              <a:t>Turkey alone is better, yet 0.930 cannot be read as an infection signal</a:t>
            </a:r>
            <a:endParaRPr lang="en-US" sz="1450" dirty="0"/>
          </a:p>
        </p:txBody>
      </p:sp>
      <p:sp>
        <p:nvSpPr>
          <p:cNvPr id="23" name="Text 21"/>
          <p:cNvSpPr/>
          <p:nvPr/>
        </p:nvSpPr>
        <p:spPr>
          <a:xfrm>
            <a:off x="1691640" y="5157216"/>
            <a:ext cx="9601200" cy="731520"/>
          </a:xfrm>
          <a:prstGeom prst="rect">
            <a:avLst/>
          </a:prstGeom>
          <a:noFill/>
          <a:ln/>
        </p:spPr>
        <p:txBody>
          <a:bodyPr wrap="square" lIns="0" tIns="0" rIns="0" bIns="0" rtlCol="0" anchor="ctr"/>
          <a:lstStyle/>
          <a:p>
            <a:pPr indent="0" marL="0">
              <a:lnSpc>
                <a:spcPct val="110000"/>
              </a:lnSpc>
              <a:buNone/>
            </a:pPr>
            <a:r>
              <a:rPr lang="en-US" sz="1150" dirty="0">
                <a:solidFill>
                  <a:srgbClr val="7A2E14"/>
                </a:solidFill>
                <a:latin typeface="Calibri" pitchFamily="34" charset="0"/>
                <a:ea typeface="Calibri" pitchFamily="34" charset="-122"/>
                <a:cs typeface="Calibri" pitchFamily="34" charset="-120"/>
              </a:rPr>
              <a:t>AUC 0.930, MCC 0.647, F1 0.905, and the cohort is internally homogeneous (one host, one centre, one library preparation). But isolator is perfectly collinear with infection status and the pure cage effect averages 0.908, so the cage figure has to be reported alongside 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8FB996"/>
          </a:solidFill>
          <a:ln/>
        </p:spPr>
      </p:sp>
      <p:sp>
        <p:nvSpPr>
          <p:cNvPr id="3" name="Text 1"/>
          <p:cNvSpPr/>
          <p:nvPr/>
        </p:nvSpPr>
        <p:spPr>
          <a:xfrm>
            <a:off x="914400" y="1188720"/>
            <a:ext cx="10332720" cy="73152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Outstanding before this cohort goes into a paper</a:t>
            </a:r>
            <a:endParaRPr lang="en-US" sz="3000" dirty="0"/>
          </a:p>
        </p:txBody>
      </p:sp>
      <p:sp>
        <p:nvSpPr>
          <p:cNvPr id="4" name="Text 2"/>
          <p:cNvSpPr/>
          <p:nvPr/>
        </p:nvSpPr>
        <p:spPr>
          <a:xfrm>
            <a:off x="914400" y="1920240"/>
            <a:ext cx="10332720" cy="365760"/>
          </a:xfrm>
          <a:prstGeom prst="rect">
            <a:avLst/>
          </a:prstGeom>
          <a:noFill/>
          <a:ln/>
        </p:spPr>
        <p:txBody>
          <a:bodyPr wrap="square" lIns="0" tIns="0" rIns="0" bIns="0" rtlCol="0" anchor="ctr"/>
          <a:lstStyle/>
          <a:p>
            <a:pPr indent="0" marL="0">
              <a:buNone/>
            </a:pPr>
            <a:r>
              <a:rPr lang="en-US" sz="1400" dirty="0">
                <a:solidFill>
                  <a:srgbClr val="8FB996"/>
                </a:solidFill>
                <a:latin typeface="Calibri" pitchFamily="34" charset="0"/>
                <a:ea typeface="Calibri" pitchFamily="34" charset="-122"/>
                <a:cs typeface="Calibri" pitchFamily="34" charset="-120"/>
              </a:rPr>
              <a:t>The first three items — confounding structure, driving taxa, cross-host comparison — are done; see slides 13–15. These remain.</a:t>
            </a:r>
            <a:endParaRPr lang="en-US" sz="1400" dirty="0"/>
          </a:p>
        </p:txBody>
      </p:sp>
      <p:sp>
        <p:nvSpPr>
          <p:cNvPr id="5" name="Shape 3"/>
          <p:cNvSpPr/>
          <p:nvPr/>
        </p:nvSpPr>
        <p:spPr>
          <a:xfrm>
            <a:off x="914400" y="2514600"/>
            <a:ext cx="10332720" cy="804672"/>
          </a:xfrm>
          <a:prstGeom prst="rect">
            <a:avLst/>
          </a:prstGeom>
          <a:solidFill>
            <a:srgbClr val="12505F"/>
          </a:solidFill>
          <a:ln/>
        </p:spPr>
      </p:sp>
      <p:sp>
        <p:nvSpPr>
          <p:cNvPr id="6" name="Shape 4"/>
          <p:cNvSpPr/>
          <p:nvPr/>
        </p:nvSpPr>
        <p:spPr>
          <a:xfrm>
            <a:off x="914400" y="2514600"/>
            <a:ext cx="68580" cy="804672"/>
          </a:xfrm>
          <a:prstGeom prst="rect">
            <a:avLst/>
          </a:prstGeom>
          <a:solidFill>
            <a:srgbClr val="8FB996"/>
          </a:solidFill>
          <a:ln/>
        </p:spPr>
      </p:sp>
      <p:sp>
        <p:nvSpPr>
          <p:cNvPr id="7" name="Text 5"/>
          <p:cNvSpPr/>
          <p:nvPr/>
        </p:nvSpPr>
        <p:spPr>
          <a:xfrm>
            <a:off x="1234440" y="2587752"/>
            <a:ext cx="9692640" cy="292608"/>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Separating cage from infection needs a new experiment</a:t>
            </a:r>
            <a:endParaRPr lang="en-US" sz="1400" dirty="0"/>
          </a:p>
        </p:txBody>
      </p:sp>
      <p:sp>
        <p:nvSpPr>
          <p:cNvPr id="8" name="Text 6"/>
          <p:cNvSpPr/>
          <p:nvPr/>
        </p:nvSpPr>
        <p:spPr>
          <a:xfrm>
            <a:off x="1234440" y="2898648"/>
            <a:ext cx="9692640" cy="365760"/>
          </a:xfrm>
          <a:prstGeom prst="rect">
            <a:avLst/>
          </a:prstGeom>
          <a:noFill/>
          <a:ln/>
        </p:spPr>
        <p:txBody>
          <a:bodyPr wrap="square" lIns="0" tIns="0" rIns="0" bIns="0" rtlCol="0" anchor="ctr"/>
          <a:lstStyle/>
          <a:p>
            <a:pPr indent="0" marL="0">
              <a:buNone/>
            </a:pPr>
            <a:r>
              <a:rPr lang="en-US" sz="1100" dirty="0">
                <a:solidFill>
                  <a:srgbClr val="8FB996"/>
                </a:solidFill>
                <a:latin typeface="Calibri" pitchFamily="34" charset="0"/>
                <a:ea typeface="Calibri" pitchFamily="34" charset="-122"/>
                <a:cs typeface="Calibri" pitchFamily="34" charset="-120"/>
              </a:rPr>
              <a:t>Each isolator would have to house both positive and negative birds. This is a design problem, not an analysis problem — no amount of modelling can repair the existing data</a:t>
            </a:r>
            <a:endParaRPr lang="en-US" sz="1100" dirty="0"/>
          </a:p>
        </p:txBody>
      </p:sp>
      <p:sp>
        <p:nvSpPr>
          <p:cNvPr id="9" name="Shape 7"/>
          <p:cNvSpPr/>
          <p:nvPr/>
        </p:nvSpPr>
        <p:spPr>
          <a:xfrm>
            <a:off x="914400" y="3447288"/>
            <a:ext cx="10332720" cy="804672"/>
          </a:xfrm>
          <a:prstGeom prst="rect">
            <a:avLst/>
          </a:prstGeom>
          <a:solidFill>
            <a:srgbClr val="12505F"/>
          </a:solidFill>
          <a:ln/>
        </p:spPr>
      </p:sp>
      <p:sp>
        <p:nvSpPr>
          <p:cNvPr id="10" name="Shape 8"/>
          <p:cNvSpPr/>
          <p:nvPr/>
        </p:nvSpPr>
        <p:spPr>
          <a:xfrm>
            <a:off x="914400" y="3447288"/>
            <a:ext cx="68580" cy="804672"/>
          </a:xfrm>
          <a:prstGeom prst="rect">
            <a:avLst/>
          </a:prstGeom>
          <a:solidFill>
            <a:srgbClr val="8FB996"/>
          </a:solidFill>
          <a:ln/>
        </p:spPr>
      </p:sp>
      <p:sp>
        <p:nvSpPr>
          <p:cNvPr id="11" name="Text 9"/>
          <p:cNvSpPr/>
          <p:nvPr/>
        </p:nvSpPr>
        <p:spPr>
          <a:xfrm>
            <a:off x="1234440" y="3520440"/>
            <a:ext cx="9692640" cy="292608"/>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Redo the cross-host test on the intersection of both feature sets</a:t>
            </a:r>
            <a:endParaRPr lang="en-US" sz="1400" dirty="0"/>
          </a:p>
        </p:txBody>
      </p:sp>
      <p:sp>
        <p:nvSpPr>
          <p:cNvPr id="12" name="Text 10"/>
          <p:cNvSpPr/>
          <p:nvPr/>
        </p:nvSpPr>
        <p:spPr>
          <a:xfrm>
            <a:off x="1234440" y="3831336"/>
            <a:ext cx="9692640" cy="365760"/>
          </a:xfrm>
          <a:prstGeom prst="rect">
            <a:avLst/>
          </a:prstGeom>
          <a:noFill/>
          <a:ln/>
        </p:spPr>
        <p:txBody>
          <a:bodyPr wrap="square" lIns="0" tIns="0" rIns="0" bIns="0" rtlCol="0" anchor="ctr"/>
          <a:lstStyle/>
          <a:p>
            <a:pPr indent="0" marL="0">
              <a:buNone/>
            </a:pPr>
            <a:r>
              <a:rPr lang="en-US" sz="1100" dirty="0">
                <a:solidFill>
                  <a:srgbClr val="8FB996"/>
                </a:solidFill>
                <a:latin typeface="Calibri" pitchFamily="34" charset="0"/>
                <a:ea typeface="Calibri" pitchFamily="34" charset="-122"/>
                <a:cs typeface="Calibri" pitchFamily="34" charset="-120"/>
              </a:rPr>
              <a:t>Only 62 features survive in turkey, and most of the duck cohort's nine genera never enter the candidate pool — today's "disagreement" more likely reflects different feature spaces</a:t>
            </a:r>
            <a:endParaRPr lang="en-US" sz="1100" dirty="0"/>
          </a:p>
        </p:txBody>
      </p:sp>
      <p:sp>
        <p:nvSpPr>
          <p:cNvPr id="13" name="Shape 11"/>
          <p:cNvSpPr/>
          <p:nvPr/>
        </p:nvSpPr>
        <p:spPr>
          <a:xfrm>
            <a:off x="914400" y="4379976"/>
            <a:ext cx="10332720" cy="804672"/>
          </a:xfrm>
          <a:prstGeom prst="rect">
            <a:avLst/>
          </a:prstGeom>
          <a:solidFill>
            <a:srgbClr val="12505F"/>
          </a:solidFill>
          <a:ln/>
        </p:spPr>
      </p:sp>
      <p:sp>
        <p:nvSpPr>
          <p:cNvPr id="14" name="Shape 12"/>
          <p:cNvSpPr/>
          <p:nvPr/>
        </p:nvSpPr>
        <p:spPr>
          <a:xfrm>
            <a:off x="914400" y="4379976"/>
            <a:ext cx="68580" cy="804672"/>
          </a:xfrm>
          <a:prstGeom prst="rect">
            <a:avLst/>
          </a:prstGeom>
          <a:solidFill>
            <a:srgbClr val="8FB996"/>
          </a:solidFill>
          <a:ln/>
        </p:spPr>
      </p:sp>
      <p:sp>
        <p:nvSpPr>
          <p:cNvPr id="15" name="Text 13"/>
          <p:cNvSpPr/>
          <p:nvPr/>
        </p:nvSpPr>
        <p:spPr>
          <a:xfrm>
            <a:off x="1234440" y="4453128"/>
            <a:ext cx="9692640" cy="292608"/>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Bring this cohort into the consistency check</a:t>
            </a:r>
            <a:endParaRPr lang="en-US" sz="1400" dirty="0"/>
          </a:p>
        </p:txBody>
      </p:sp>
      <p:sp>
        <p:nvSpPr>
          <p:cNvPr id="16" name="Text 14"/>
          <p:cNvSpPr/>
          <p:nvPr/>
        </p:nvSpPr>
        <p:spPr>
          <a:xfrm>
            <a:off x="1234440" y="4764024"/>
            <a:ext cx="9692640" cy="365760"/>
          </a:xfrm>
          <a:prstGeom prst="rect">
            <a:avLst/>
          </a:prstGeom>
          <a:noFill/>
          <a:ln/>
        </p:spPr>
        <p:txBody>
          <a:bodyPr wrap="square" lIns="0" tIns="0" rIns="0" bIns="0" rtlCol="0" anchor="ctr"/>
          <a:lstStyle/>
          <a:p>
            <a:pPr indent="0" marL="0">
              <a:buNone/>
            </a:pPr>
            <a:r>
              <a:rPr lang="en-US" sz="1100" dirty="0">
                <a:solidFill>
                  <a:srgbClr val="8FB996"/>
                </a:solidFill>
                <a:latin typeface="Calibri" pitchFamily="34" charset="0"/>
                <a:ea typeface="Calibri" pitchFamily="34" charset="-122"/>
                <a:cs typeface="Calibri" pitchFamily="34" charset="-120"/>
              </a:rPr>
              <a:t>Wire its results/ archive into check_consistency.py and the pre-commit hook</a:t>
            </a:r>
            <a:endParaRPr lang="en-US" sz="1100" dirty="0"/>
          </a:p>
        </p:txBody>
      </p:sp>
      <p:sp>
        <p:nvSpPr>
          <p:cNvPr id="17" name="Shape 15"/>
          <p:cNvSpPr/>
          <p:nvPr/>
        </p:nvSpPr>
        <p:spPr>
          <a:xfrm>
            <a:off x="914400" y="5312664"/>
            <a:ext cx="10332720" cy="804672"/>
          </a:xfrm>
          <a:prstGeom prst="rect">
            <a:avLst/>
          </a:prstGeom>
          <a:solidFill>
            <a:srgbClr val="12505F"/>
          </a:solidFill>
          <a:ln/>
        </p:spPr>
      </p:sp>
      <p:sp>
        <p:nvSpPr>
          <p:cNvPr id="18" name="Shape 16"/>
          <p:cNvSpPr/>
          <p:nvPr/>
        </p:nvSpPr>
        <p:spPr>
          <a:xfrm>
            <a:off x="914400" y="5312664"/>
            <a:ext cx="68580" cy="804672"/>
          </a:xfrm>
          <a:prstGeom prst="rect">
            <a:avLst/>
          </a:prstGeom>
          <a:solidFill>
            <a:srgbClr val="8FB996"/>
          </a:solidFill>
          <a:ln/>
        </p:spPr>
      </p:sp>
      <p:sp>
        <p:nvSpPr>
          <p:cNvPr id="19" name="Text 17"/>
          <p:cNvSpPr/>
          <p:nvPr/>
        </p:nvSpPr>
        <p:spPr>
          <a:xfrm>
            <a:off x="1234440" y="5385816"/>
            <a:ext cx="9692640" cy="292608"/>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Resolve the duplicated body-weight columns</a:t>
            </a:r>
            <a:endParaRPr lang="en-US" sz="1400" dirty="0"/>
          </a:p>
        </p:txBody>
      </p:sp>
      <p:sp>
        <p:nvSpPr>
          <p:cNvPr id="20" name="Text 18"/>
          <p:cNvSpPr/>
          <p:nvPr/>
        </p:nvSpPr>
        <p:spPr>
          <a:xfrm>
            <a:off x="1234440" y="5696712"/>
            <a:ext cx="9692640" cy="365760"/>
          </a:xfrm>
          <a:prstGeom prst="rect">
            <a:avLst/>
          </a:prstGeom>
          <a:noFill/>
          <a:ln/>
        </p:spPr>
        <p:txBody>
          <a:bodyPr wrap="square" lIns="0" tIns="0" rIns="0" bIns="0" rtlCol="0" anchor="ctr"/>
          <a:lstStyle/>
          <a:p>
            <a:pPr indent="0" marL="0">
              <a:buNone/>
            </a:pPr>
            <a:r>
              <a:rPr lang="en-US" sz="1100" dirty="0">
                <a:solidFill>
                  <a:srgbClr val="8FB996"/>
                </a:solidFill>
                <a:latin typeface="Calibri" pitchFamily="34" charset="0"/>
                <a:ea typeface="Calibri" pitchFamily="34" charset="-122"/>
                <a:cs typeface="Calibri" pitchFamily="34" charset="-120"/>
              </a:rPr>
              <a:t>Bird_weight.g. and Bursa.BodyWeight.Ratio1000 hold identical values; the data provider needs to confirm</a:t>
            </a:r>
            <a:endParaRPr lang="en-US" sz="1100" dirty="0"/>
          </a:p>
        </p:txBody>
      </p:sp>
      <p:sp>
        <p:nvSpPr>
          <p:cNvPr id="21" name="Text 19"/>
          <p:cNvSpPr/>
          <p:nvPr/>
        </p:nvSpPr>
        <p:spPr>
          <a:xfrm>
            <a:off x="914400" y="6327648"/>
            <a:ext cx="10332720" cy="320040"/>
          </a:xfrm>
          <a:prstGeom prst="rect">
            <a:avLst/>
          </a:prstGeom>
          <a:noFill/>
          <a:ln/>
        </p:spPr>
        <p:txBody>
          <a:bodyPr wrap="square" lIns="0" tIns="0" rIns="0" bIns="0" rtlCol="0" anchor="ctr"/>
          <a:lstStyle/>
          <a:p>
            <a:pPr indent="0" marL="0">
              <a:buNone/>
            </a:pPr>
            <a:r>
              <a:rPr lang="en-US" sz="1050" dirty="0">
                <a:solidFill>
                  <a:srgbClr val="4E9FAD"/>
                </a:solidFill>
                <a:latin typeface="Calibri" pitchFamily="34" charset="0"/>
                <a:ea typeface="Calibri" pitchFamily="34" charset="-122"/>
                <a:cs typeface="Calibri" pitchFamily="34" charset="-120"/>
              </a:rPr>
              <a:t>Full results: summary_Chicken_51_sample.md, summary_Turkey_45_sample.md ｜ reproduce: poultry_cohort.py, turkey_confounding_biomarkers.py, turkey_strain_cage.py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University of Georgia, College of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Poultry Cohort Results: Turkey Alone vs Turkey + Chicken</dc:title>
  <dc:subject>PptxGenJS Presentation</dc:subject>
  <dc:creator>Sihua Peng</dc:creator>
  <cp:lastModifiedBy>Sihua Peng</cp:lastModifiedBy>
  <cp:revision>1</cp:revision>
  <dcterms:created xsi:type="dcterms:W3CDTF">2026-08-25T00:18:55Z</dcterms:created>
  <dcterms:modified xsi:type="dcterms:W3CDTF">2026-08-25T00:18:55Z</dcterms:modified>
</cp:coreProperties>
</file>